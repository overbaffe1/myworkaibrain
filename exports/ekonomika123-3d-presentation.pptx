
<file path=[Content_Types].xml><?xml version="1.0" encoding="utf-8"?>
<Types xmlns="http://schemas.openxmlformats.org/package/2006/content-types">
  <Default Extension="glb" ContentType="model/gltf.binary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Представьте: вы открыли маркетплейс «на минутку», а через несколько нажатий в корзине уже то, что не планировали. Исходная работа была о психологии импульсивных трат; я сохранила её тему, шутки и коллажный визуальный язык, но собрала проект заново. Здесь мемы — не украшение поверх сухого доклада, а способ показать знакомые ситуации. При этом исследовательская часть остаётся аккуратной: опрос ещё не проводился, проценты и выводы не выдуманы. Мы пройдём путь от триггера до плана пилотного опроса, отдельно проверим гипотезы и закончим памяткой. В сцене — корзина с анимированной 3D-моделью.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Почему эта тема актуальна? В исходном deck уже была шутка про 106 рублей на карте и несколько экранов маркетплейсов — я возвращаю её как узнаваемую сцену, но не выдаю за данные исследования. По оценке сервиса «Долями» от Т-Банка, оборот BNPL в России за 2025 год составил около 940 миллиардов рублей. Это оценка объёма оплат частями, не измерение импульсивных покупок и не статистика по студентам. Закон № 283-ФЗ о деятельности сервисов рассрочки действует с 1 апреля 2026 года. Это регуляторный контекст, а не доказательство вреда или причины трат. Вопрос проекта — какие психологические и ситуационные факторы связаны с незапланированными покупками.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Рабочая схема проекта короткая: сигнал — внутренний отклик — действие — оценка покупки после оплаты. В сигнал могут попасть уведомление, рекомендация или акция; откликом могут стать интерес, предвкушение либо FOMO. Затем человек может добавить товар в корзину или оплатить его; после покупки эмоции и оценка необходимости у всех будут разными. Это иллюстрация для исследования, а не диагноз и не обязательный сценарий для каждого покупателя. На нижней ленте — товары и логотипы из исходного коллажа: энергетик, шаурма, фастфуд и сладости. Их присутствие — визуальная шутка, а не реклама и не утверждение о конкретном поведении.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Здесь я восстановил логику исходного четвёртого слайда: слева перечислены задачи проекта, а справа вместе стоят мем «ГДЕ ПАПА?» и фото каштана. Каштан не отдельная тема исследования и не переменная анкеты — это тот самый визуальный прикол из оригинального коллажа. Подпись «100%» относится к обязательному возвращению этого фрагмента в презентацию, не к результатам. Сами задачи — ещё план: разобрать теорию, описать цифровой контекст, подготовить и провести пилотный опрос, проверить гипотезы и на его основе сделать памятку. На фото и рядом с ним оставлен исходный мемный абсурд; научные выводы из него не извлекаются.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Проверяем не «слабую волю», а возможные условия выбора. В первом блоке — FOMO: опасение упустить опыт или выгоду. Во втором — социальное сравнение и ощущение «у всех уже есть». Третий блок — срочность и дефицит, например таймер или сообщение «осталось мало». Четвёртый — низкое трение интерфейса: сохранённая карта и покупка в несколько касаний. Метаанализ исследований онлайн-покупок описывает связи с контекстными, маркетинговыми и платформенными факторами. Но литература не доказывает, что один триггер обязательно вызовет покупку у каждого студента. Мем «инвестировала в серотонин» — узнаваемый внутренний монолог, а не измерение настроения или научный результат.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Сохраняю три гипотезы исходного проекта и обозначаю, как именно их планируется проверять. H1: более высокий FoMO связан с большей частотой незапланированных покупок за последние тридцать дней; оплату частями разумно описать отдельно. H2: выраженная склонность к социальному сравнению связана с самоотчётами о трендовых или статусных покупках. H3: финансовые знания могут быть связаны с выраженностью импульсивных покупок, но мы не предполагаем заранее защитный эффект. Это предположения, не результаты: ни одна связь пока не измерялась. Одномоментная анкета позволит обсуждать связи, но не причины. Мемная подпись на фото — шутка, а не результат опроса.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Целевая аудитория — совершеннолетние студенты вузов 18–25 лет; результаты адресованы студентам, преподавателям и центрам финансовой грамотности. Планируется анонимный добровольный пилотный онлайн-опрос, ориентир — не менее пятидесяти ответов. Такая удобная выборка не представляет всех студентов России. В анкете — эпизоды незапланированных покупок за последние тридцать дней, способ оплаты, FoMO, социальное сравнение и короткий блок базовых финансовых знаний. Для шкал нужно использовать опубликованные формулировки и проверить перевод. Не собираем имена, контакты и номера карт; до старта — согласие и понятное объяснение цели. Мем с банками — оригинальная иллюстрация бюджета, а не характеристика каждого студента.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Для анализа пилота сначала описать распределения и пропуски, затем проверить качество измерительных блоков и только после этого смотреть ранговые корреляции Спирмена с доверительными интервалами. Частоту незапланированных покупок лучше задать заранее как основной показатель; BNPL описать отдельным пунктом, не подменяя им импульсивность. При N около пятидесяти не перегружать модель предикторами. Удобная выборка, самоотчёт и одномоментный срез ограничивают обобщение и не доказывают причинность. Баночка «Доктор Мом» — ещё одна вырезка из исходного коллажа: это не сироп от статистики, а просто мемная подпись. Результаты появятся только после реального сбора данных.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Практический финал проекта — короткая памятка без стыда и запретов. Первое: поставить паузу на необязательную покупку, особенно если её подгоняет таймер. Второе: проверить, была ли вещь в плане, нужна ли она вне скидки и какая у неё полная стоимость. Третье: посмотреть на уже запланированные платежи за месяц; полезное трение — отключить лишние уведомления и убрать сохранённую карту там, где это удобно. Оплата частями может менять расписание платежей, но не уменьшает полную цену. Это предложения для памятки, а не гарантированный способ изменить поведение и не клиническая рекомендация. Их эффект потребует отдельной проверки.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Спасибо за внимание. На последнем слайде — источники и тот самый мем «с вас списано 100 рублей» из оригинала. Это шутка, никаких списаний нет. Полные библиографические записи и привязка источников к слайдам находятся в отдельном файле. Ключевые опоры — классическая работа о buying impulse, систематический обзор онлайн-покупок, первоисточники FoMO и социального сравнения, инструмент OECD по финансовой грамотности, оценка BNPL от отраслевого участника и официальный текст 283-ФЗ. Снова оговорка: 940 миллиардов — оценка оборота оплат частями, а не результат опроса или показатель количества импульсивных покупок. Наш опрос пока в планах; гипотезы ещё предстоит проверить.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image" Target="../media/image-1-2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jpeg"/><Relationship Id="rId7" Type="http://schemas.openxmlformats.org/officeDocument/2006/relationships/image" Target="../media/image-1-7.png"/><Relationship Id="rId8" Type="http://schemas.openxmlformats.org/officeDocument/2006/relationships/image" Target="../media/image-1-8.png"/><Relationship Id="rId9" Type="http://schemas.openxmlformats.org/officeDocument/2006/relationships/image" Target="../media/image-1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1.xml"/><Relationship Id="rIdM3d1" Type="http://schemas.microsoft.com/office/2017/06/relationships/model3d" Target="../media/model3d1.glb"/><Relationship Id="rIdM3d2" Type="http://schemas.microsoft.com/office/2017/06/relationships/model3d" Target="../media/model3d2.glb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image" Target="../media/image-1-2.png"/><Relationship Id="rId4" Type="http://schemas.openxmlformats.org/officeDocument/2006/relationships/image" Target="../media/image-1-5.png"/><Relationship Id="rId5" Type="http://schemas.openxmlformats.org/officeDocument/2006/relationships/image" Target="../media/image-2-5.jpeg"/><Relationship Id="rId6" Type="http://schemas.openxmlformats.org/officeDocument/2006/relationships/image" Target="../media/image-1-7.png"/><Relationship Id="rId7" Type="http://schemas.openxmlformats.org/officeDocument/2006/relationships/image" Target="../media/image-2-7.png"/><Relationship Id="rId8" Type="http://schemas.openxmlformats.org/officeDocument/2006/relationships/image" Target="../media/image-1-9.png"/><Relationship Id="rId9" Type="http://schemas.openxmlformats.org/officeDocument/2006/relationships/image" Target="../media/image-1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2.xml"/><Relationship Id="rIdM3d3" Type="http://schemas.microsoft.com/office/2017/06/relationships/model3d" Target="../media/model3d3.glb"/><Relationship Id="rIdM3d4" Type="http://schemas.microsoft.com/office/2017/06/relationships/model3d" Target="../media/model3d4.glb"/><Relationship Id="rIdM3d5" Type="http://schemas.microsoft.com/office/2017/06/relationships/model3d" Target="../media/model3d5.glb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image" Target="../media/image-1-5.png"/><Relationship Id="rId4" Type="http://schemas.openxmlformats.org/officeDocument/2006/relationships/image" Target="../media/image-3-4.jpe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jpeg"/><Relationship Id="rId8" Type="http://schemas.openxmlformats.org/officeDocument/2006/relationships/image" Target="../media/image-3-8.jpeg"/><Relationship Id="rId9" Type="http://schemas.openxmlformats.org/officeDocument/2006/relationships/image" Target="../media/image-1-7.png"/><Relationship Id="rId10" Type="http://schemas.openxmlformats.org/officeDocument/2006/relationships/image" Target="../media/image-3-10.png"/><Relationship Id="rId11" Type="http://schemas.openxmlformats.org/officeDocument/2006/relationships/image" Target="../media/image-1-9.png"/><Relationship Id="rId12" Type="http://schemas.openxmlformats.org/officeDocument/2006/relationships/image" Target="../media/image-1-9.pn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3.xml"/><Relationship Id="rIdM3d6" Type="http://schemas.microsoft.com/office/2017/06/relationships/model3d" Target="../media/model3d6.glb"/><Relationship Id="rIdM3d7" Type="http://schemas.microsoft.com/office/2017/06/relationships/model3d" Target="../media/model3d7.glb"/><Relationship Id="rIdM3d8" Type="http://schemas.microsoft.com/office/2017/06/relationships/model3d" Target="../media/model3d8.glb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image" Target="../media/image-1-2.png"/><Relationship Id="rId4" Type="http://schemas.openxmlformats.org/officeDocument/2006/relationships/image" Target="../media/image-1-5.png"/><Relationship Id="rId5" Type="http://schemas.openxmlformats.org/officeDocument/2006/relationships/image" Target="../media/image-4-5.jpeg"/><Relationship Id="rId6" Type="http://schemas.openxmlformats.org/officeDocument/2006/relationships/image" Target="../media/image-4-6.jpeg"/><Relationship Id="rId7" Type="http://schemas.openxmlformats.org/officeDocument/2006/relationships/image" Target="../media/image-1-7.png"/><Relationship Id="rId8" Type="http://schemas.openxmlformats.org/officeDocument/2006/relationships/image" Target="../media/image-4-8.png"/><Relationship Id="rId9" Type="http://schemas.openxmlformats.org/officeDocument/2006/relationships/image" Target="../media/image-1-9.png"/><Relationship Id="rId10" Type="http://schemas.openxmlformats.org/officeDocument/2006/relationships/image" Target="../media/image-1-9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4.xml"/><Relationship Id="rIdM3d9" Type="http://schemas.microsoft.com/office/2017/06/relationships/model3d" Target="../media/model3d9.glb"/><Relationship Id="rIdM3d10" Type="http://schemas.microsoft.com/office/2017/06/relationships/model3d" Target="../media/model3d10.glb"/><Relationship Id="rIdM3d11" Type="http://schemas.microsoft.com/office/2017/06/relationships/model3d" Target="../media/model3d11.glb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image" Target="../media/image-1-2.png"/><Relationship Id="rId4" Type="http://schemas.openxmlformats.org/officeDocument/2006/relationships/image" Target="../media/image-1-5.png"/><Relationship Id="rId5" Type="http://schemas.openxmlformats.org/officeDocument/2006/relationships/image" Target="../media/image-5-5.jpeg"/><Relationship Id="rId6" Type="http://schemas.openxmlformats.org/officeDocument/2006/relationships/image" Target="../media/image-1-7.png"/><Relationship Id="rId7" Type="http://schemas.openxmlformats.org/officeDocument/2006/relationships/image" Target="../media/image-5-7.png"/><Relationship Id="rId8" Type="http://schemas.openxmlformats.org/officeDocument/2006/relationships/image" Target="../media/image-1-9.png"/><Relationship Id="rId9" Type="http://schemas.openxmlformats.org/officeDocument/2006/relationships/image" Target="../media/image-1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5.xml"/><Relationship Id="rIdM3d12" Type="http://schemas.microsoft.com/office/2017/06/relationships/model3d" Target="../media/model3d12.glb"/><Relationship Id="rIdM3d13" Type="http://schemas.microsoft.com/office/2017/06/relationships/model3d" Target="../media/model3d13.glb"/><Relationship Id="rIdM3d14" Type="http://schemas.microsoft.com/office/2017/06/relationships/model3d" Target="../media/model3d14.glb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image" Target="../media/image-1-2.png"/><Relationship Id="rId4" Type="http://schemas.openxmlformats.org/officeDocument/2006/relationships/image" Target="../media/image-1-5.png"/><Relationship Id="rId5" Type="http://schemas.openxmlformats.org/officeDocument/2006/relationships/image" Target="../media/image-1-5.png"/><Relationship Id="rId6" Type="http://schemas.openxmlformats.org/officeDocument/2006/relationships/image" Target="../media/image-1-5.png"/><Relationship Id="rId7" Type="http://schemas.openxmlformats.org/officeDocument/2006/relationships/image" Target="../media/image-6-7.jpeg"/><Relationship Id="rId8" Type="http://schemas.openxmlformats.org/officeDocument/2006/relationships/image" Target="../media/image-1-7.png"/><Relationship Id="rId9" Type="http://schemas.openxmlformats.org/officeDocument/2006/relationships/image" Target="../media/image-6-9.png"/><Relationship Id="rId10" Type="http://schemas.openxmlformats.org/officeDocument/2006/relationships/image" Target="../media/image-1-9.png"/><Relationship Id="rId11" Type="http://schemas.openxmlformats.org/officeDocument/2006/relationships/image" Target="../media/image-1-9.pn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6.xml"/><Relationship Id="rIdM3d15" Type="http://schemas.microsoft.com/office/2017/06/relationships/model3d" Target="../media/model3d15.glb"/><Relationship Id="rIdM3d16" Type="http://schemas.microsoft.com/office/2017/06/relationships/model3d" Target="../media/model3d16.glb"/><Relationship Id="rIdM3d17" Type="http://schemas.microsoft.com/office/2017/06/relationships/model3d" Target="../media/model3d17.glb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image" Target="../media/image-1-2.png"/><Relationship Id="rId4" Type="http://schemas.openxmlformats.org/officeDocument/2006/relationships/image" Target="../media/image-1-5.png"/><Relationship Id="rId5" Type="http://schemas.openxmlformats.org/officeDocument/2006/relationships/image" Target="../media/image-7-5.jpeg"/><Relationship Id="rId6" Type="http://schemas.openxmlformats.org/officeDocument/2006/relationships/image" Target="../media/image-1-7.png"/><Relationship Id="rId7" Type="http://schemas.openxmlformats.org/officeDocument/2006/relationships/image" Target="../media/image-7-7.png"/><Relationship Id="rId8" Type="http://schemas.openxmlformats.org/officeDocument/2006/relationships/image" Target="../media/image-1-9.png"/><Relationship Id="rId9" Type="http://schemas.openxmlformats.org/officeDocument/2006/relationships/image" Target="../media/image-1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7.xml"/><Relationship Id="rIdM3d18" Type="http://schemas.microsoft.com/office/2017/06/relationships/model3d" Target="../media/model3d18.glb"/><Relationship Id="rIdM3d19" Type="http://schemas.microsoft.com/office/2017/06/relationships/model3d" Target="../media/model3d19.glb"/><Relationship Id="rIdM3d20" Type="http://schemas.microsoft.com/office/2017/06/relationships/model3d" Target="../media/model3d20.glb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image" Target="../media/image-1-2.png"/><Relationship Id="rId4" Type="http://schemas.openxmlformats.org/officeDocument/2006/relationships/image" Target="../media/image-8-4.jpeg"/><Relationship Id="rId5" Type="http://schemas.openxmlformats.org/officeDocument/2006/relationships/image" Target="../media/image-1-5.png"/><Relationship Id="rId6" Type="http://schemas.openxmlformats.org/officeDocument/2006/relationships/image" Target="../media/image-1-7.png"/><Relationship Id="rId7" Type="http://schemas.openxmlformats.org/officeDocument/2006/relationships/image" Target="../media/image-8-7.png"/><Relationship Id="rId8" Type="http://schemas.openxmlformats.org/officeDocument/2006/relationships/image" Target="../media/image-1-9.png"/><Relationship Id="rId9" Type="http://schemas.openxmlformats.org/officeDocument/2006/relationships/image" Target="../media/image-1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8.xml"/><Relationship Id="rIdM3d21" Type="http://schemas.microsoft.com/office/2017/06/relationships/model3d" Target="../media/model3d21.glb"/><Relationship Id="rIdM3d22" Type="http://schemas.microsoft.com/office/2017/06/relationships/model3d" Target="../media/model3d22.glb"/><Relationship Id="rIdM3d23" Type="http://schemas.microsoft.com/office/2017/06/relationships/model3d" Target="../media/model3d23.glb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image" Target="../media/image-1-2.png"/><Relationship Id="rId4" Type="http://schemas.openxmlformats.org/officeDocument/2006/relationships/image" Target="../media/image-1-5.png"/><Relationship Id="rId5" Type="http://schemas.openxmlformats.org/officeDocument/2006/relationships/image" Target="../media/image-1-5.png"/><Relationship Id="rId6" Type="http://schemas.openxmlformats.org/officeDocument/2006/relationships/image" Target="../media/image-1-5.png"/><Relationship Id="rId7" Type="http://schemas.openxmlformats.org/officeDocument/2006/relationships/image" Target="../media/image-1-7.png"/><Relationship Id="rId8" Type="http://schemas.openxmlformats.org/officeDocument/2006/relationships/image" Target="../media/image-9-8.png"/><Relationship Id="rId9" Type="http://schemas.openxmlformats.org/officeDocument/2006/relationships/image" Target="../media/image-6-7.jpeg"/><Relationship Id="rId10" Type="http://schemas.openxmlformats.org/officeDocument/2006/relationships/image" Target="../media/image-1-9.png"/><Relationship Id="rId11" Type="http://schemas.openxmlformats.org/officeDocument/2006/relationships/image" Target="../media/image-1-9.pn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9.xml"/><Relationship Id="rIdM3d24" Type="http://schemas.microsoft.com/office/2017/06/relationships/model3d" Target="../media/model3d24.glb"/><Relationship Id="rIdM3d25" Type="http://schemas.microsoft.com/office/2017/06/relationships/model3d" Target="../media/model3d25.glb"/><Relationship Id="rIdM3d26" Type="http://schemas.microsoft.com/office/2017/06/relationships/model3d" Target="../media/model3d26.glb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image" Target="../media/image-1-2.png"/><Relationship Id="rId4" Type="http://schemas.openxmlformats.org/officeDocument/2006/relationships/image" Target="../media/image-1-5.png"/><Relationship Id="rId5" Type="http://schemas.openxmlformats.org/officeDocument/2006/relationships/image" Target="../media/image-10-5.jpeg"/><Relationship Id="rId6" Type="http://schemas.openxmlformats.org/officeDocument/2006/relationships/image" Target="../media/image-1-7.png"/><Relationship Id="rId7" Type="http://schemas.openxmlformats.org/officeDocument/2006/relationships/image" Target="../media/image-10-7.png"/><Relationship Id="rId8" Type="http://schemas.openxmlformats.org/officeDocument/2006/relationships/image" Target="../media/image-1-9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0.xml"/><Relationship Id="rIdM3d27" Type="http://schemas.microsoft.com/office/2017/06/relationships/model3d" Target="../media/model3d27.glb"/><Relationship Id="rIdM3d28" Type="http://schemas.microsoft.com/office/2017/06/relationships/model3d" Target="../media/model3d28.glb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am3d="http://schemas.microsoft.com/office/drawing/2017/model3d" mc:Ignorable="am3d">
  <p:cSld name="Slide 1">
    <p:bg>
      <p:bgPr>
        <a:solidFill>
          <a:srgbClr val="22528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blue-grunge" descr="/home/user/MyWorkAiBrain/presentations/impulse/assets/memes/blue-grunge-16x9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series"/>
          <p:cNvSpPr/>
          <p:nvPr/>
        </p:nvSpPr>
        <p:spPr>
          <a:xfrm>
            <a:off x="658368" y="182880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40" b="1" spc="110" kern="0" dirty="0">
                <a:solidFill>
                  <a:srgbClr val="FFFD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ПСИХОЛОГИЯ ИМПУЛЬСИВНЫХ ПОКУПОК</a:t>
            </a:r>
            <a:endParaRPr lang="en-US" sz="940" dirty="0"/>
          </a:p>
        </p:txBody>
      </p:sp>
      <p:pic>
        <p:nvPicPr>
          <p:cNvPr id="4" name="!!red-swash" descr="/home/user/MyWorkAiBrain/presentations/impulse/assets/memes/red-brush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438912"/>
            <a:ext cx="2057400" cy="164592"/>
          </a:xfrm>
          <a:prstGeom prst="rect">
            <a:avLst/>
          </a:prstGeom>
        </p:spPr>
      </p:pic>
      <p:sp>
        <p:nvSpPr>
          <p:cNvPr id="5" name="!!page-sticker"/>
          <p:cNvSpPr/>
          <p:nvPr/>
        </p:nvSpPr>
        <p:spPr>
          <a:xfrm rot="120000">
            <a:off x="10488168" y="146304"/>
            <a:ext cx="1051560" cy="393192"/>
          </a:xfrm>
          <a:prstGeom prst="rect">
            <a:avLst/>
          </a:prstGeom>
          <a:solidFill>
            <a:srgbClr val="FFD84A"/>
          </a:solidFill>
          <a:ln w="10160">
            <a:solidFill>
              <a:srgbClr val="171C22"/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sp>
        <p:nvSpPr>
          <p:cNvPr id="6" name="!!page"/>
          <p:cNvSpPr/>
          <p:nvPr/>
        </p:nvSpPr>
        <p:spPr>
          <a:xfrm>
            <a:off x="10543032" y="237744"/>
            <a:ext cx="9326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71C2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01 / 10</a:t>
            </a:r>
            <a:endParaRPr lang="en-US" sz="1050" dirty="0"/>
          </a:p>
        </p:txBody>
      </p:sp>
      <p:sp>
        <p:nvSpPr>
          <p:cNvPr id="7" name="!!footer"/>
          <p:cNvSpPr/>
          <p:nvPr/>
        </p:nvSpPr>
        <p:spPr>
          <a:xfrm>
            <a:off x="658368" y="6547104"/>
            <a:ext cx="7863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40" b="1" spc="35" kern="0" dirty="0">
                <a:solidFill>
                  <a:srgbClr val="FFFD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#план_исследования  ·  СОБСТВЕННЫХ ДАННЫХ ПОКА НЕТ</a:t>
            </a:r>
            <a:endParaRPr lang="en-US" sz="840" dirty="0"/>
          </a:p>
        </p:txBody>
      </p:sp>
      <p:sp>
        <p:nvSpPr>
          <p:cNvPr id="8" name="Text 4"/>
          <p:cNvSpPr/>
          <p:nvPr/>
        </p:nvSpPr>
        <p:spPr>
          <a:xfrm>
            <a:off x="658368" y="758952"/>
            <a:ext cx="4937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20" b="1" spc="45" kern="0" dirty="0">
                <a:solidFill>
                  <a:srgbClr val="FFD84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ВЕРСИЯ 2.0 · МЕМЫ СОХРАНЕНЫ</a:t>
            </a:r>
            <a:endParaRPr lang="en-US" sz="920" dirty="0"/>
          </a:p>
        </p:txBody>
      </p:sp>
      <p:sp>
        <p:nvSpPr>
          <p:cNvPr id="9" name="!!meme-title"/>
          <p:cNvSpPr/>
          <p:nvPr/>
        </p:nvSpPr>
        <p:spPr>
          <a:xfrm>
            <a:off x="658368" y="1078992"/>
            <a:ext cx="5486400" cy="2523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3900" b="1" dirty="0">
                <a:solidFill>
                  <a:srgbClr val="FFFD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ПОЧЕМУ МЫ</a:t>
            </a:r>
            <a:endParaRPr lang="en-US" sz="3900" dirty="0"/>
          </a:p>
          <a:p>
            <a:pPr algn="l" indent="0" marL="0">
              <a:lnSpc>
                <a:spcPct val="90000"/>
              </a:lnSpc>
              <a:buNone/>
            </a:pPr>
            <a:r>
              <a:rPr lang="en-US" sz="3900" b="1" dirty="0">
                <a:solidFill>
                  <a:srgbClr val="FFFD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ПОКУПАЕМ</a:t>
            </a:r>
            <a:endParaRPr lang="en-US" sz="3900" dirty="0"/>
          </a:p>
          <a:p>
            <a:pPr algn="l" indent="0" marL="0">
              <a:lnSpc>
                <a:spcPct val="90000"/>
              </a:lnSpc>
              <a:buNone/>
            </a:pPr>
            <a:r>
              <a:rPr lang="en-US" sz="3900" b="1" dirty="0">
                <a:solidFill>
                  <a:srgbClr val="FFFD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НЕНУЖНОЕ?</a:t>
            </a:r>
            <a:endParaRPr lang="en-US" sz="3900" dirty="0"/>
          </a:p>
        </p:txBody>
      </p:sp>
      <p:pic>
        <p:nvPicPr>
          <p:cNvPr id="10" name="!!red-underline" descr="/home/user/MyWorkAiBrain/presentations/impulse/assets/memes/red-brush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3703320"/>
            <a:ext cx="4434840" cy="283464"/>
          </a:xfrm>
          <a:prstGeom prst="rect">
            <a:avLst/>
          </a:prstGeom>
        </p:spPr>
      </p:pic>
      <p:sp>
        <p:nvSpPr>
          <p:cNvPr id="11" name="fx1_2_0"/>
          <p:cNvSpPr/>
          <p:nvPr/>
        </p:nvSpPr>
        <p:spPr>
          <a:xfrm>
            <a:off x="658368" y="4151376"/>
            <a:ext cx="5257800" cy="1389888"/>
          </a:xfrm>
          <a:prstGeom prst="roundRect">
            <a:avLst>
              <a:gd name="adj" fmla="val 1645"/>
            </a:avLst>
          </a:prstGeom>
          <a:solidFill>
            <a:srgbClr val="F5F1E7"/>
          </a:solidFill>
          <a:ln w="12700">
            <a:solidFill>
              <a:srgbClr val="171C22"/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pic>
        <p:nvPicPr>
          <p:cNvPr id="12" name="fx1_2_1" descr="/home/user/MyWorkAiBrain/presentations/impulse/assets/memes/notebook-lines-horizontal.png">    </p:cNvPr>
          <p:cNvPicPr>
            <a:picLocks noChangeAspect="1"/>
          </p:cNvPicPr>
          <p:nvPr/>
        </p:nvPicPr>
        <p:blipFill>
          <a:blip r:embed="rId4">
            <a:alphaModFix amt="72000"/>
          </a:blip>
          <a:stretch>
            <a:fillRect/>
          </a:stretch>
        </p:blipFill>
        <p:spPr>
          <a:xfrm>
            <a:off x="690372" y="4192524"/>
            <a:ext cx="5193792" cy="1307592"/>
          </a:xfrm>
          <a:prstGeom prst="rect">
            <a:avLst/>
          </a:prstGeom>
        </p:spPr>
      </p:pic>
      <p:pic>
        <p:nvPicPr>
          <p:cNvPr id="13" name="fx1_2_2" descr="/home/user/MyWorkAiBrain/presentations/impulse/assets/memes/torn-paper.png">    </p:cNvPr>
          <p:cNvPicPr>
            <a:picLocks noChangeAspect="1"/>
          </p:cNvPicPr>
          <p:nvPr/>
        </p:nvPicPr>
        <p:blipFill>
          <a:blip r:embed="rId5">
            <a:alphaModFix amt="96000"/>
          </a:blip>
          <a:stretch>
            <a:fillRect/>
          </a:stretch>
        </p:blipFill>
        <p:spPr>
          <a:xfrm>
            <a:off x="685800" y="4174236"/>
            <a:ext cx="5202936" cy="155448"/>
          </a:xfrm>
          <a:prstGeom prst="rect">
            <a:avLst/>
          </a:prstGeom>
        </p:spPr>
      </p:pic>
      <p:sp>
        <p:nvSpPr>
          <p:cNvPr id="14" name="fx1_2_3"/>
          <p:cNvSpPr/>
          <p:nvPr/>
        </p:nvSpPr>
        <p:spPr>
          <a:xfrm>
            <a:off x="914400" y="4453128"/>
            <a:ext cx="4736592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700" b="1" dirty="0">
                <a:solidFill>
                  <a:srgbClr val="171C2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Я: «просто посмотрю»</a:t>
            </a:r>
            <a:endParaRPr lang="en-US" sz="1700" dirty="0"/>
          </a:p>
          <a:p>
            <a:pPr algn="l" indent="0" marL="0">
              <a:lnSpc>
                <a:spcPct val="95000"/>
              </a:lnSpc>
              <a:buNone/>
            </a:pPr>
            <a:r>
              <a:rPr lang="en-US" sz="1700" b="1" dirty="0">
                <a:solidFill>
                  <a:srgbClr val="171C2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Маркетплейс: «держи 18 товаров»</a:t>
            </a:r>
            <a:endParaRPr lang="en-US" sz="1700" dirty="0"/>
          </a:p>
        </p:txBody>
      </p:sp>
      <p:sp>
        <p:nvSpPr>
          <p:cNvPr id="15" name="Text 8"/>
          <p:cNvSpPr/>
          <p:nvPr/>
        </p:nvSpPr>
        <p:spPr>
          <a:xfrm>
            <a:off x="658368" y="5843016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10" b="1" spc="45" kern="0" dirty="0">
                <a:solidFill>
                  <a:srgbClr val="FFD84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ПСИХОЛОГИЯ ИМПУЛЬСИВНЫХ ТРАТ · СТУДЕНТЫ 18–25</a:t>
            </a:r>
            <a:endParaRPr lang="en-US" sz="910" dirty="0"/>
          </a:p>
        </p:txBody>
      </p:sp>
      <p:sp>
        <p:nvSpPr>
          <p:cNvPr id="16" name="fx1_2_4"/>
          <p:cNvSpPr/>
          <p:nvPr/>
        </p:nvSpPr>
        <p:spPr>
          <a:xfrm>
            <a:off x="6446520" y="932688"/>
            <a:ext cx="5029200" cy="3401568"/>
          </a:xfrm>
          <a:prstGeom prst="rect">
            <a:avLst/>
          </a:prstGeom>
          <a:solidFill>
            <a:srgbClr val="FFFFFF"/>
          </a:solidFill>
          <a:ln w="12700">
            <a:solidFill>
              <a:srgbClr val="171C22"/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pic>
        <p:nvPicPr>
          <p:cNvPr id="17" name="fx1_2_5" descr="/home/user/MyWorkAiBrain/presentations/impulse/assets/memes/rich-money.jpe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05956" y="992124"/>
            <a:ext cx="4910328" cy="3282696"/>
          </a:xfrm>
          <a:prstGeom prst="rect">
            <a:avLst/>
          </a:prstGeom>
        </p:spPr>
      </p:pic>
      <p:pic>
        <p:nvPicPr>
          <p:cNvPr id="18" name="!!warm-glow" descr="/home/user/MyWorkAiBrain/presentations/impulse/assets/glow.png">    </p:cNvPr>
          <p:cNvPicPr>
            <a:picLocks noChangeAspect="1"/>
          </p:cNvPicPr>
          <p:nvPr/>
        </p:nvPicPr>
        <p:blipFill>
          <a:blip r:embed="rId7">
            <a:alphaModFix amt="62000"/>
          </a:blip>
          <a:stretch>
            <a:fillRect/>
          </a:stretch>
        </p:blipFill>
        <p:spPr>
          <a:xfrm>
            <a:off x="7756307" y="2489363"/>
            <a:ext cx="4055547" cy="4055547"/>
          </a:xfrm>
          <a:prstGeom prst="rect">
            <a:avLst/>
          </a:prstGeom>
        </p:spPr>
      </p:pic>
      <p:sp>
        <p:nvSpPr>
          <p:cNvPr id="19" name="!!paper-sticker"/>
          <p:cNvSpPr/>
          <p:nvPr/>
        </p:nvSpPr>
        <p:spPr>
          <a:xfrm>
            <a:off x="8364639" y="3097695"/>
            <a:ext cx="2838883" cy="2838883"/>
          </a:xfrm>
          <a:prstGeom prst="ellipse">
            <a:avLst/>
          </a:prstGeom>
          <a:solidFill>
            <a:srgbClr val="F5F1E7">
              <a:alpha val="78000"/>
            </a:srgbClr>
          </a:solidFill>
          <a:ln w="15240">
            <a:solidFill>
              <a:srgbClr val="FFFDF6">
                <a:alpha val="92000"/>
              </a:srgbClr>
            </a:solidFill>
            <a:prstDash val="solid"/>
          </a:ln>
        </p:spPr>
      </p:sp>
      <p:sp>
        <p:nvSpPr>
          <p:cNvPr id="20" name="!!comic-ring"/>
          <p:cNvSpPr/>
          <p:nvPr/>
        </p:nvSpPr>
        <p:spPr>
          <a:xfrm>
            <a:off x="8161861" y="2894917"/>
            <a:ext cx="3244438" cy="3244438"/>
          </a:xfrm>
          <a:prstGeom prst="ellipse">
            <a:avLst/>
          </a:prstGeom>
          <a:ln w="19050">
            <a:solidFill>
              <a:srgbClr val="EF2634">
                <a:alpha val="94000"/>
              </a:srgbClr>
            </a:solidFill>
            <a:prstDash val="dash"/>
          </a:ln>
        </p:spPr>
      </p:sp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21" name="!!m-cart">
                <a:extLst>
                  <a:ext uri="{FF2B5EF4-FFF2-40B4-BE49-F238E27FC236}">
                    <a16:creationId xmlns:a16="http://schemas.microsoft.com/office/drawing/2014/main" id="{5E9ADCAD-BCBD-2AAA-218F-B69B6D22515C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8174736" y="2907792"/>
              <a:ext cx="3218688" cy="3218688"/>
            </p:xfrm>
            <a:graphic>
              <a:graphicData uri="http://schemas.microsoft.com/office/drawing/2017/model3d">
                <am3d:model3d r:embed="rIdM3d1">
                  <am3d:spPr>
                    <a:xfrm>
                      <a:off x="0" y="0"/>
                      <a:ext cx="3218688" cy="3218688"/>
                    </a:xfrm>
                    <a:prstGeom prst="rect">
                      <a:avLst/>
                    </a:prstGeom>
                  </am3d:spPr>
                  <am3d:camera>
                    <am3d:pos x="0" y="0" z="68066024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595238" d="1000000"/>
                    <am3d:preTrans dx="4500000" dy="-1285714" dz="-548044"/>
                    <am3d:scale>
                      <am3d:sx n="1000000" d="1000000"/>
                      <am3d:sy n="1000000" d="1000000"/>
                      <am3d:sz n="1000000" d="1000000"/>
                    </am3d:scale>
                    <am3d:rot ax="480000" ay="-1020000" az="0"/>
                    <am3d:postTrans dx="0" dy="0" dz="0"/>
                  </am3d:trans>
                  <am3d:raster rName="Office3DRenderer" rVer="16.0.8326">
                    <am3d:blip r:embed="rId8"/>
                  </am3d:raster>
                  <am3d:extLst>
                    <a:ext uri="{9A65AA19-BECB-4387-8358-8AD5134E1D82}">
                      <a3danim:embedAnim xmlns:a3danim="http://schemas.microsoft.com/office/drawing/2018/animation/model3d" animId="0">
                        <a3danim:animPr length="4000" count="indefinite"/>
                      </a3danim:embedAnim>
                    </a:ext>
                    <a:ext uri="{E9DE012E-A134-456F-84FE-255F9AAD75C6}">
                      <a3danim:posterFrame xmlns:a3danim="http://schemas.microsoft.com/office/drawing/2018/animation/model3d" animId="0"/>
                    </a:ext>
                  </am3d:extLst>
                  <am3d:objViewport viewportSz="3218688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21" name="!!m-cart">
                <a:extLst>
                  <a:ext uri="{FF2B5EF4-FFF2-40B4-BE49-F238E27FC236}">
                    <a16:creationId xmlns:a16="http://schemas.microsoft.com/office/drawing/2014/main" id="{5E9ADCAD-BCBD-2AAA-218F-B69B6D22515C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8174736" y="2907792"/>
                <a:ext cx="3218688" cy="3218688"/>
              </a:xfrm>
              <a:prstGeom prst="rect">
                <a:avLst/>
              </a:prstGeom>
            </p:spPr>
          </p:pic>
        </mc:Fallback>
      </mc:AlternateContent>
      <p:sp>
        <p:nvSpPr>
          <p:cNvPr id="22" name="Shape 12"/>
          <p:cNvSpPr/>
          <p:nvPr/>
        </p:nvSpPr>
        <p:spPr>
          <a:xfrm rot="120000">
            <a:off x="10363444" y="3004353"/>
            <a:ext cx="1078992" cy="365760"/>
          </a:xfrm>
          <a:prstGeom prst="rect">
            <a:avLst/>
          </a:prstGeom>
          <a:solidFill>
            <a:srgbClr val="FFD84A"/>
          </a:solidFill>
          <a:ln w="10795">
            <a:solidFill>
              <a:srgbClr val="171C22"/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sp>
        <p:nvSpPr>
          <p:cNvPr id="23" name="Text 13"/>
          <p:cNvSpPr/>
          <p:nvPr/>
        </p:nvSpPr>
        <p:spPr>
          <a:xfrm>
            <a:off x="10418308" y="3045501"/>
            <a:ext cx="96926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900" b="1" dirty="0">
                <a:solidFill>
                  <a:srgbClr val="171C2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В КОРЗИНУ</a:t>
            </a:r>
            <a:endParaRPr lang="en-US" sz="900" dirty="0"/>
          </a:p>
        </p:txBody>
      </p:sp>
      <p:sp>
        <p:nvSpPr>
          <p:cNvPr id="24" name="fx1_3_6"/>
          <p:cNvSpPr/>
          <p:nvPr/>
        </p:nvSpPr>
        <p:spPr>
          <a:xfrm rot="120000">
            <a:off x="9738360" y="722376"/>
            <a:ext cx="1600200" cy="420624"/>
          </a:xfrm>
          <a:prstGeom prst="rect">
            <a:avLst/>
          </a:prstGeom>
          <a:solidFill>
            <a:srgbClr val="FFD84A"/>
          </a:solidFill>
          <a:ln w="10795">
            <a:solidFill>
              <a:srgbClr val="171C22"/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sp>
        <p:nvSpPr>
          <p:cNvPr id="25" name="fx1_3_7"/>
          <p:cNvSpPr/>
          <p:nvPr/>
        </p:nvSpPr>
        <p:spPr>
          <a:xfrm>
            <a:off x="9793224" y="763524"/>
            <a:ext cx="1490472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1000" b="1" dirty="0">
                <a:solidFill>
                  <a:srgbClr val="171C2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НЕ ПЛАНИРОВАЛА</a:t>
            </a:r>
            <a:endParaRPr lang="en-US" sz="1000" dirty="0"/>
          </a:p>
        </p:txBody>
      </p:sp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26" name="!!m-wallet">
                <a:extLst>
                  <a:ext uri="{FF2B5EF4-FFF2-40B4-BE49-F238E27FC236}">
                    <a16:creationId xmlns:a16="http://schemas.microsoft.com/office/drawing/2014/main" id="{0F6B1141-C4DC-4F5D-BD4E-5AFF607B92A8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12786055" y="3675888"/>
              <a:ext cx="2926080" cy="2926080"/>
            </p:xfrm>
            <a:graphic>
              <a:graphicData uri="http://schemas.microsoft.com/office/drawing/2017/model3d">
                <am3d:model3d r:embed="rIdM3d2">
                  <am3d:spPr>
                    <a:xfrm>
                      <a:off x="0" y="0"/>
                      <a:ext cx="2926080" cy="2926080"/>
                    </a:xfrm>
                    <a:prstGeom prst="rect">
                      <a:avLst/>
                    </a:prstGeom>
                  </am3d:spPr>
                  <am3d:camera>
                    <am3d:pos x="0" y="0" z="60059661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823045" d="1000000"/>
                    <am3d:preTrans dx="-518519" dy="3585185" dz="-2533333"/>
                    <am3d:scale>
                      <am3d:sx n="1000000" d="1000000"/>
                      <am3d:sy n="1000000" d="1000000"/>
                      <am3d:sz n="1000000" d="1000000"/>
                    </am3d:scale>
                    <am3d:rot ax="600000" ay="3240000" az="0"/>
                    <am3d:postTrans dx="0" dy="0" dz="0"/>
                  </am3d:trans>
                  <am3d:raster rName="Office3DRenderer" rVer="16.0.8326">
                    <am3d:blip r:embed="rId9"/>
                  </am3d:raster>
                  <am3d:extLst>
                    <a:ext uri="{9A65AA19-BECB-4387-8358-8AD5134E1D82}">
                      <a3danim:embedAnim xmlns:a3danim="http://schemas.microsoft.com/office/drawing/2018/animation/model3d" animId="0">
                        <a3danim:animPr length="4208" count="indefinite"/>
                      </a3danim:embedAnim>
                    </a:ext>
                    <a:ext uri="{E9DE012E-A134-456F-84FE-255F9AAD75C6}">
                      <a3danim:posterFrame xmlns:a3danim="http://schemas.microsoft.com/office/drawing/2018/animation/model3d" animId="0"/>
                    </a:ext>
                  </am3d:extLst>
                  <am3d:objViewport viewportSz="292608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26" name="!!m-wallet">
                <a:extLst>
                  <a:ext uri="{FF2B5EF4-FFF2-40B4-BE49-F238E27FC236}">
                    <a16:creationId xmlns:a16="http://schemas.microsoft.com/office/drawing/2014/main" id="{0F6B1141-C4DC-4F5D-BD4E-5AFF607B92A8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12786055" y="3675888"/>
                <a:ext cx="2926080" cy="292608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7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70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70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7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70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70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7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70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70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7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70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70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7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7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7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7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7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7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7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7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7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7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7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7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100" presetClass="emph" presetSubtype="1" repeatCount="indefinite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46" dur="4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embedded1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4" grpId="0" animBg="1"/>
      <p:bldP spid="16" grpId="0" animBg="1"/>
      <p:bldP spid="24" grpId="0" animBg="1"/>
      <p:bldP spid="25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am3d="http://schemas.microsoft.com/office/drawing/2017/model3d" mc:Ignorable="am3d">
  <p:cSld name="Slide 2">
    <p:bg>
      <p:bgPr>
        <a:solidFill>
          <a:srgbClr val="22528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blue-grunge" descr="/home/user/MyWorkAiBrain/presentations/impulse/assets/memes/blue-grunge-16x9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series"/>
          <p:cNvSpPr/>
          <p:nvPr/>
        </p:nvSpPr>
        <p:spPr>
          <a:xfrm>
            <a:off x="658368" y="182880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40" b="1" spc="110" kern="0" dirty="0">
                <a:solidFill>
                  <a:srgbClr val="FFFD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ПСИХОЛОГИЯ ИМПУЛЬСИВНЫХ ПОКУПОК</a:t>
            </a:r>
            <a:endParaRPr lang="en-US" sz="940" dirty="0"/>
          </a:p>
        </p:txBody>
      </p:sp>
      <p:pic>
        <p:nvPicPr>
          <p:cNvPr id="4" name="!!red-swash" descr="/home/user/MyWorkAiBrain/presentations/impulse/assets/memes/red-brush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438912"/>
            <a:ext cx="2057400" cy="164592"/>
          </a:xfrm>
          <a:prstGeom prst="rect">
            <a:avLst/>
          </a:prstGeom>
        </p:spPr>
      </p:pic>
      <p:sp>
        <p:nvSpPr>
          <p:cNvPr id="5" name="!!page-sticker"/>
          <p:cNvSpPr/>
          <p:nvPr/>
        </p:nvSpPr>
        <p:spPr>
          <a:xfrm rot="120000">
            <a:off x="10488168" y="146304"/>
            <a:ext cx="1051560" cy="393192"/>
          </a:xfrm>
          <a:prstGeom prst="rect">
            <a:avLst/>
          </a:prstGeom>
          <a:solidFill>
            <a:srgbClr val="FFD84A"/>
          </a:solidFill>
          <a:ln w="10160">
            <a:solidFill>
              <a:srgbClr val="171C22"/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sp>
        <p:nvSpPr>
          <p:cNvPr id="6" name="!!page"/>
          <p:cNvSpPr/>
          <p:nvPr/>
        </p:nvSpPr>
        <p:spPr>
          <a:xfrm>
            <a:off x="10543032" y="237744"/>
            <a:ext cx="9326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71C2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02 / 10</a:t>
            </a:r>
            <a:endParaRPr lang="en-US" sz="1050" dirty="0"/>
          </a:p>
        </p:txBody>
      </p:sp>
      <p:sp>
        <p:nvSpPr>
          <p:cNvPr id="7" name="!!footer"/>
          <p:cNvSpPr/>
          <p:nvPr/>
        </p:nvSpPr>
        <p:spPr>
          <a:xfrm>
            <a:off x="658368" y="6547104"/>
            <a:ext cx="7863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40" b="1" spc="35" kern="0" dirty="0">
                <a:solidFill>
                  <a:srgbClr val="FFFD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#план_исследования  ·  СОБСТВЕННЫХ ДАННЫХ ПОКА НЕТ</a:t>
            </a:r>
            <a:endParaRPr lang="en-US" sz="840" dirty="0"/>
          </a:p>
        </p:txBody>
      </p:sp>
      <p:sp>
        <p:nvSpPr>
          <p:cNvPr id="8" name="!!meme-title"/>
          <p:cNvSpPr/>
          <p:nvPr/>
        </p:nvSpPr>
        <p:spPr>
          <a:xfrm>
            <a:off x="658368" y="859536"/>
            <a:ext cx="6583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2700" b="1" dirty="0">
                <a:solidFill>
                  <a:srgbClr val="FFFD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КАРТА: 106 ₽.</a:t>
            </a:r>
            <a:endParaRPr lang="en-US" sz="270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2700" b="1" dirty="0">
                <a:solidFill>
                  <a:srgbClr val="FFFD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КОРЗИНА: «УЖЕ ОФОРМЛЕНО»</a:t>
            </a:r>
            <a:endParaRPr lang="en-US" sz="2700" dirty="0"/>
          </a:p>
        </p:txBody>
      </p:sp>
      <p:pic>
        <p:nvPicPr>
          <p:cNvPr id="9" name="!!red-underline" descr="/home/user/MyWorkAiBrain/presentations/impulse/assets/memes/red-brush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1938528"/>
            <a:ext cx="3566160" cy="219456"/>
          </a:xfrm>
          <a:prstGeom prst="rect">
            <a:avLst/>
          </a:prstGeom>
        </p:spPr>
      </p:pic>
      <p:sp>
        <p:nvSpPr>
          <p:cNvPr id="10" name="fx2_2_0"/>
          <p:cNvSpPr/>
          <p:nvPr/>
        </p:nvSpPr>
        <p:spPr>
          <a:xfrm>
            <a:off x="658368" y="2249424"/>
            <a:ext cx="6272784" cy="3218688"/>
          </a:xfrm>
          <a:prstGeom prst="roundRect">
            <a:avLst>
              <a:gd name="adj" fmla="val 710"/>
            </a:avLst>
          </a:prstGeom>
          <a:solidFill>
            <a:srgbClr val="F5F1E7"/>
          </a:solidFill>
          <a:ln w="12700">
            <a:solidFill>
              <a:srgbClr val="171C22"/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pic>
        <p:nvPicPr>
          <p:cNvPr id="11" name="fx2_2_1" descr="/home/user/MyWorkAiBrain/presentations/impulse/assets/memes/torn-paper.png">    </p:cNvPr>
          <p:cNvPicPr>
            <a:picLocks noChangeAspect="1"/>
          </p:cNvPicPr>
          <p:nvPr/>
        </p:nvPicPr>
        <p:blipFill>
          <a:blip r:embed="rId4">
            <a:alphaModFix amt="96000"/>
          </a:blip>
          <a:stretch>
            <a:fillRect/>
          </a:stretch>
        </p:blipFill>
        <p:spPr>
          <a:xfrm>
            <a:off x="685800" y="2272284"/>
            <a:ext cx="6217920" cy="155448"/>
          </a:xfrm>
          <a:prstGeom prst="rect">
            <a:avLst/>
          </a:prstGeom>
        </p:spPr>
      </p:pic>
      <p:sp>
        <p:nvSpPr>
          <p:cNvPr id="12" name="fx2_2_2"/>
          <p:cNvSpPr/>
          <p:nvPr/>
        </p:nvSpPr>
        <p:spPr>
          <a:xfrm>
            <a:off x="914400" y="2542032"/>
            <a:ext cx="3840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00" b="1" spc="45" kern="0" dirty="0">
                <a:solidFill>
                  <a:srgbClr val="EF263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ОЦЕНКА РЫНКА · 2025</a:t>
            </a:r>
            <a:endParaRPr lang="en-US" sz="900" dirty="0"/>
          </a:p>
        </p:txBody>
      </p:sp>
      <p:sp>
        <p:nvSpPr>
          <p:cNvPr id="13" name="fx2_2_3"/>
          <p:cNvSpPr/>
          <p:nvPr/>
        </p:nvSpPr>
        <p:spPr>
          <a:xfrm>
            <a:off x="914400" y="2825496"/>
            <a:ext cx="44805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71C2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≈ 940 млрд ₽</a:t>
            </a:r>
            <a:endParaRPr lang="en-US" sz="2800" dirty="0"/>
          </a:p>
        </p:txBody>
      </p:sp>
      <p:sp>
        <p:nvSpPr>
          <p:cNvPr id="14" name="fx2_2_4"/>
          <p:cNvSpPr/>
          <p:nvPr/>
        </p:nvSpPr>
        <p:spPr>
          <a:xfrm>
            <a:off x="932688" y="3419856"/>
            <a:ext cx="56509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171C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оборот BNPL в России по оценке сервиса «Долями» (Т-Банк).</a:t>
            </a:r>
            <a:endParaRPr lang="en-US" sz="1200" dirty="0"/>
          </a:p>
        </p:txBody>
      </p:sp>
      <p:sp>
        <p:nvSpPr>
          <p:cNvPr id="15" name="fx2_2_5"/>
          <p:cNvSpPr/>
          <p:nvPr/>
        </p:nvSpPr>
        <p:spPr>
          <a:xfrm>
            <a:off x="905256" y="3941064"/>
            <a:ext cx="5733288" cy="91"/>
          </a:xfrm>
          <a:prstGeom prst="line">
            <a:avLst/>
          </a:prstGeom>
          <a:noFill/>
          <a:ln w="17780">
            <a:solidFill>
              <a:srgbClr val="EF2634"/>
            </a:solidFill>
            <a:prstDash val="solid"/>
          </a:ln>
        </p:spPr>
      </p:sp>
      <p:sp>
        <p:nvSpPr>
          <p:cNvPr id="16" name="fx2_2_6"/>
          <p:cNvSpPr/>
          <p:nvPr/>
        </p:nvSpPr>
        <p:spPr>
          <a:xfrm>
            <a:off x="932688" y="4096512"/>
            <a:ext cx="5632704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40" b="1" dirty="0">
                <a:solidFill>
                  <a:srgbClr val="171C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283-ФЗ · действует с 01.04.2026</a:t>
            </a:r>
            <a:endParaRPr lang="en-US" sz="114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140" b="1" dirty="0">
                <a:solidFill>
                  <a:srgbClr val="171C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Новые требования к сервисам рассрочки — финансовый контекст, не ярлык поведения.</a:t>
            </a:r>
            <a:endParaRPr lang="en-US" sz="1140" dirty="0"/>
          </a:p>
        </p:txBody>
      </p:sp>
      <p:sp>
        <p:nvSpPr>
          <p:cNvPr id="17" name="fx2_3_7"/>
          <p:cNvSpPr/>
          <p:nvPr/>
        </p:nvSpPr>
        <p:spPr>
          <a:xfrm rot="-60000">
            <a:off x="914400" y="5001768"/>
            <a:ext cx="2907792" cy="338328"/>
          </a:xfrm>
          <a:prstGeom prst="rect">
            <a:avLst/>
          </a:prstGeom>
          <a:solidFill>
            <a:srgbClr val="FFD84A"/>
          </a:solidFill>
          <a:ln w="10795">
            <a:solidFill>
              <a:srgbClr val="171C22"/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sp>
        <p:nvSpPr>
          <p:cNvPr id="18" name="fx2_3_8"/>
          <p:cNvSpPr/>
          <p:nvPr/>
        </p:nvSpPr>
        <p:spPr>
          <a:xfrm>
            <a:off x="969264" y="5042916"/>
            <a:ext cx="2798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910" b="1" dirty="0">
                <a:solidFill>
                  <a:srgbClr val="171C2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BNPL ≠ ИМПУЛЬСИВНОСТЬ</a:t>
            </a:r>
            <a:endParaRPr lang="en-US" sz="910" dirty="0"/>
          </a:p>
        </p:txBody>
      </p:sp>
      <p:sp>
        <p:nvSpPr>
          <p:cNvPr id="19" name="fx2_2_9"/>
          <p:cNvSpPr/>
          <p:nvPr/>
        </p:nvSpPr>
        <p:spPr>
          <a:xfrm>
            <a:off x="7552944" y="1261872"/>
            <a:ext cx="3621024" cy="2999232"/>
          </a:xfrm>
          <a:prstGeom prst="rect">
            <a:avLst/>
          </a:prstGeom>
          <a:solidFill>
            <a:srgbClr val="FFFFFF"/>
          </a:solidFill>
          <a:ln w="12700">
            <a:solidFill>
              <a:srgbClr val="171C22"/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pic>
        <p:nvPicPr>
          <p:cNvPr id="20" name="fx2_2_10" descr="/home/user/MyWorkAiBrain/presentations/impulse/assets/memes/106-rubles.jpe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12380" y="1321308"/>
            <a:ext cx="3502152" cy="2880360"/>
          </a:xfrm>
          <a:prstGeom prst="rect">
            <a:avLst/>
          </a:prstGeom>
        </p:spPr>
      </p:pic>
      <p:pic>
        <p:nvPicPr>
          <p:cNvPr id="21" name="!!warm-glow" descr="/home/user/MyWorkAiBrain/presentations/impulse/assets/glow.png">    </p:cNvPr>
          <p:cNvPicPr>
            <a:picLocks noChangeAspect="1"/>
          </p:cNvPicPr>
          <p:nvPr/>
        </p:nvPicPr>
        <p:blipFill>
          <a:blip r:embed="rId6">
            <a:alphaModFix amt="62000"/>
          </a:blip>
          <a:stretch>
            <a:fillRect/>
          </a:stretch>
        </p:blipFill>
        <p:spPr>
          <a:xfrm>
            <a:off x="7977226" y="2975458"/>
            <a:ext cx="3686861" cy="3686861"/>
          </a:xfrm>
          <a:prstGeom prst="rect">
            <a:avLst/>
          </a:prstGeom>
        </p:spPr>
      </p:pic>
      <p:sp>
        <p:nvSpPr>
          <p:cNvPr id="22" name="!!paper-sticker"/>
          <p:cNvSpPr/>
          <p:nvPr/>
        </p:nvSpPr>
        <p:spPr>
          <a:xfrm>
            <a:off x="8530255" y="3528487"/>
            <a:ext cx="2580803" cy="2580803"/>
          </a:xfrm>
          <a:prstGeom prst="ellipse">
            <a:avLst/>
          </a:prstGeom>
          <a:solidFill>
            <a:srgbClr val="F5F1E7">
              <a:alpha val="78000"/>
            </a:srgbClr>
          </a:solidFill>
          <a:ln w="15240">
            <a:solidFill>
              <a:srgbClr val="FFFDF6">
                <a:alpha val="92000"/>
              </a:srgbClr>
            </a:solidFill>
            <a:prstDash val="solid"/>
          </a:ln>
        </p:spPr>
      </p:sp>
      <p:sp>
        <p:nvSpPr>
          <p:cNvPr id="23" name="!!comic-ring"/>
          <p:cNvSpPr/>
          <p:nvPr/>
        </p:nvSpPr>
        <p:spPr>
          <a:xfrm>
            <a:off x="8345912" y="3344144"/>
            <a:ext cx="2949489" cy="2949489"/>
          </a:xfrm>
          <a:prstGeom prst="ellipse">
            <a:avLst/>
          </a:prstGeom>
          <a:ln w="19050">
            <a:solidFill>
              <a:srgbClr val="EF2634">
                <a:alpha val="94000"/>
              </a:srgbClr>
            </a:solidFill>
            <a:prstDash val="dash"/>
          </a:ln>
        </p:spPr>
      </p:sp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24" name="!!m-wallet">
                <a:extLst>
                  <a:ext uri="{FF2B5EF4-FFF2-40B4-BE49-F238E27FC236}">
                    <a16:creationId xmlns:a16="http://schemas.microsoft.com/office/drawing/2014/main" id="{DFA2817D-C2AF-9787-D32E-511F8E124F63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8357616" y="3355848"/>
              <a:ext cx="2926080" cy="2926080"/>
            </p:xfrm>
            <a:graphic>
              <a:graphicData uri="http://schemas.microsoft.com/office/drawing/2017/model3d">
                <am3d:model3d r:embed="rIdM3d3">
                  <am3d:spPr>
                    <a:xfrm>
                      <a:off x="0" y="0"/>
                      <a:ext cx="2926080" cy="2926080"/>
                    </a:xfrm>
                    <a:prstGeom prst="rect">
                      <a:avLst/>
                    </a:prstGeom>
                  </am3d:spPr>
                  <am3d:camera>
                    <am3d:pos x="0" y="0" z="60059661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823045" d="1000000"/>
                    <am3d:preTrans dx="-518519" dy="3585185" dz="-2533333"/>
                    <am3d:scale>
                      <am3d:sx n="1000000" d="1000000"/>
                      <am3d:sy n="1000000" d="1000000"/>
                      <am3d:sz n="1000000" d="1000000"/>
                    </am3d:scale>
                    <am3d:rot ax="600000" ay="-1080000" az="0"/>
                    <am3d:postTrans dx="0" dy="0" dz="0"/>
                  </am3d:trans>
                  <am3d:raster rName="Office3DRenderer" rVer="16.0.8326">
                    <am3d:blip r:embed="rId7"/>
                  </am3d:raster>
                  <am3d:extLst>
                    <a:ext uri="{9A65AA19-BECB-4387-8358-8AD5134E1D82}">
                      <a3danim:embedAnim xmlns:a3danim="http://schemas.microsoft.com/office/drawing/2018/animation/model3d" animId="0">
                        <a3danim:animPr length="4208" count="indefinite"/>
                      </a3danim:embedAnim>
                    </a:ext>
                    <a:ext uri="{E9DE012E-A134-456F-84FE-255F9AAD75C6}">
                      <a3danim:posterFrame xmlns:a3danim="http://schemas.microsoft.com/office/drawing/2018/animation/model3d" animId="0"/>
                    </a:ext>
                  </am3d:extLst>
                  <am3d:objViewport viewportSz="292608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24" name="!!m-wallet">
                <a:extLst>
                  <a:ext uri="{FF2B5EF4-FFF2-40B4-BE49-F238E27FC236}">
                    <a16:creationId xmlns:a16="http://schemas.microsoft.com/office/drawing/2014/main" id="{DFA2817D-C2AF-9787-D32E-511F8E124F63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8357616" y="3355848"/>
                <a:ext cx="2926080" cy="2926080"/>
              </a:xfrm>
              <a:prstGeom prst="rect">
                <a:avLst/>
              </a:prstGeom>
            </p:spPr>
          </p:pic>
        </mc:Fallback>
      </mc:AlternateContent>
      <p:sp>
        <p:nvSpPr>
          <p:cNvPr id="25" name="Shape 16"/>
          <p:cNvSpPr/>
          <p:nvPr/>
        </p:nvSpPr>
        <p:spPr>
          <a:xfrm rot="120000">
            <a:off x="10347350" y="3443630"/>
            <a:ext cx="868680" cy="310896"/>
          </a:xfrm>
          <a:prstGeom prst="rect">
            <a:avLst/>
          </a:prstGeom>
          <a:solidFill>
            <a:srgbClr val="FFD84A"/>
          </a:solidFill>
          <a:ln w="10795">
            <a:solidFill>
              <a:srgbClr val="171C22"/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sp>
        <p:nvSpPr>
          <p:cNvPr id="26" name="Text 17"/>
          <p:cNvSpPr/>
          <p:nvPr/>
        </p:nvSpPr>
        <p:spPr>
          <a:xfrm>
            <a:off x="10402214" y="3484778"/>
            <a:ext cx="758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900" b="1" dirty="0">
                <a:solidFill>
                  <a:srgbClr val="171C2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ПЛАТЁЖ</a:t>
            </a:r>
            <a:endParaRPr lang="en-US" sz="900" dirty="0"/>
          </a:p>
        </p:txBody>
      </p:sp>
      <p:sp>
        <p:nvSpPr>
          <p:cNvPr id="27" name="fx2_3_11"/>
          <p:cNvSpPr/>
          <p:nvPr/>
        </p:nvSpPr>
        <p:spPr>
          <a:xfrm rot="-60000">
            <a:off x="7708392" y="4828032"/>
            <a:ext cx="3246120" cy="429768"/>
          </a:xfrm>
          <a:prstGeom prst="rect">
            <a:avLst/>
          </a:prstGeom>
          <a:solidFill>
            <a:srgbClr val="F5F1E7"/>
          </a:solidFill>
          <a:ln w="10795">
            <a:solidFill>
              <a:srgbClr val="171C22"/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sp>
        <p:nvSpPr>
          <p:cNvPr id="28" name="fx2_3_12"/>
          <p:cNvSpPr/>
          <p:nvPr/>
        </p:nvSpPr>
        <p:spPr>
          <a:xfrm>
            <a:off x="7763256" y="4869180"/>
            <a:ext cx="31363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1000" b="1" dirty="0">
                <a:solidFill>
                  <a:srgbClr val="171C2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я только зашла посмотреть</a:t>
            </a:r>
            <a:endParaRPr lang="en-US" sz="1000" dirty="0"/>
          </a:p>
        </p:txBody>
      </p:sp>
      <p:sp>
        <p:nvSpPr>
          <p:cNvPr id="29" name="Text 20"/>
          <p:cNvSpPr/>
          <p:nvPr/>
        </p:nvSpPr>
        <p:spPr>
          <a:xfrm>
            <a:off x="658368" y="6144768"/>
            <a:ext cx="10698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20" b="1" dirty="0">
                <a:solidFill>
                  <a:srgbClr val="FFFD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[1] «Ведомости» / оценка «Долями»; [2] официальный текст 283-ФЗ. Подробности — в файле источников.</a:t>
            </a:r>
            <a:endParaRPr lang="en-US" sz="820" dirty="0"/>
          </a:p>
        </p:txBody>
      </p:sp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30" name="!!m-cart">
                <a:extLst>
                  <a:ext uri="{FF2B5EF4-FFF2-40B4-BE49-F238E27FC236}">
                    <a16:creationId xmlns:a16="http://schemas.microsoft.com/office/drawing/2014/main" id="{A23A52D4-4026-D65F-FA03-0DE6EBC5CF17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-3813048" y="3227832"/>
              <a:ext cx="3218688" cy="3218688"/>
            </p:xfrm>
            <a:graphic>
              <a:graphicData uri="http://schemas.microsoft.com/office/drawing/2017/model3d">
                <am3d:model3d r:embed="rIdM3d4">
                  <am3d:spPr>
                    <a:xfrm>
                      <a:off x="0" y="0"/>
                      <a:ext cx="3218688" cy="3218688"/>
                    </a:xfrm>
                    <a:prstGeom prst="rect">
                      <a:avLst/>
                    </a:prstGeom>
                  </am3d:spPr>
                  <am3d:camera>
                    <am3d:pos x="0" y="0" z="68066024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595238" d="1000000"/>
                    <am3d:preTrans dx="4500000" dy="-1285714" dz="-548044"/>
                    <am3d:scale>
                      <am3d:sx n="1000000" d="1000000"/>
                      <am3d:sy n="1000000" d="1000000"/>
                      <am3d:sz n="1000000" d="1000000"/>
                    </am3d:scale>
                    <am3d:rot ax="480000" ay="-5340000" az="0"/>
                    <am3d:postTrans dx="0" dy="0" dz="0"/>
                  </am3d:trans>
                  <am3d:raster rName="Office3DRenderer" rVer="16.0.8326">
                    <am3d:blip r:embed="rId8"/>
                  </am3d:raster>
                  <am3d:extLst>
                    <a:ext uri="{9A65AA19-BECB-4387-8358-8AD5134E1D82}">
                      <a3danim:embedAnim xmlns:a3danim="http://schemas.microsoft.com/office/drawing/2018/animation/model3d" animId="0">
                        <a3danim:animPr length="4000" count="indefinite"/>
                      </a3danim:embedAnim>
                    </a:ext>
                    <a:ext uri="{E9DE012E-A134-456F-84FE-255F9AAD75C6}">
                      <a3danim:posterFrame xmlns:a3danim="http://schemas.microsoft.com/office/drawing/2018/animation/model3d" animId="0"/>
                    </a:ext>
                  </am3d:extLst>
                  <am3d:objViewport viewportSz="3218688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30" name="!!m-cart">
                <a:extLst>
                  <a:ext uri="{FF2B5EF4-FFF2-40B4-BE49-F238E27FC236}">
                    <a16:creationId xmlns:a16="http://schemas.microsoft.com/office/drawing/2014/main" id="{A23A52D4-4026-D65F-FA03-0DE6EBC5CF17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-3813048" y="3227832"/>
                <a:ext cx="3218688" cy="3218688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31" name="!!m-cycle">
                <a:extLst>
                  <a:ext uri="{FF2B5EF4-FFF2-40B4-BE49-F238E27FC236}">
                    <a16:creationId xmlns:a16="http://schemas.microsoft.com/office/drawing/2014/main" id="{71DEC743-98CB-74EE-0E7A-8F1D9D4A0F92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12786055" y="1700784"/>
              <a:ext cx="3438144" cy="3438144"/>
            </p:xfrm>
            <a:graphic>
              <a:graphicData uri="http://schemas.microsoft.com/office/drawing/2017/model3d">
                <am3d:model3d r:embed="rIdM3d5">
                  <am3d:spPr>
                    <a:xfrm>
                      <a:off x="0" y="0"/>
                      <a:ext cx="3438144" cy="3438144"/>
                    </a:xfrm>
                    <a:prstGeom prst="rect">
                      <a:avLst/>
                    </a:prstGeom>
                  </am3d:spPr>
                  <am3d:camera>
                    <am3d:pos x="0" y="0" z="68501711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621118" d="1000000"/>
                    <am3d:preTrans dx="1" dy="-894410" dz="-1453417"/>
                    <am3d:scale>
                      <am3d:sx n="1000000" d="1000000"/>
                      <am3d:sy n="1000000" d="1000000"/>
                      <am3d:sz n="1000000" d="1000000"/>
                    </am3d:scale>
                    <am3d:rot ax="660000" ay="3120000" az="0"/>
                    <am3d:postTrans dx="0" dy="0" dz="0"/>
                  </am3d:trans>
                  <am3d:raster rName="Office3DRenderer" rVer="16.0.8326">
                    <am3d:blip r:embed="rId9"/>
                  </am3d:raster>
                  <am3d:extLst>
                    <a:ext uri="{9A65AA19-BECB-4387-8358-8AD5134E1D82}">
                      <a3danim:embedAnim xmlns:a3danim="http://schemas.microsoft.com/office/drawing/2018/animation/model3d" animId="0">
                        <a3danim:animPr length="5000" count="indefinite"/>
                      </a3danim:embedAnim>
                    </a:ext>
                    <a:ext uri="{E9DE012E-A134-456F-84FE-255F9AAD75C6}">
                      <a3danim:posterFrame xmlns:a3danim="http://schemas.microsoft.com/office/drawing/2018/animation/model3d" animId="0"/>
                    </a:ext>
                  </am3d:extLst>
                  <am3d:objViewport viewportSz="3438144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31" name="!!m-cycle">
                <a:extLst>
                  <a:ext uri="{FF2B5EF4-FFF2-40B4-BE49-F238E27FC236}">
                    <a16:creationId xmlns:a16="http://schemas.microsoft.com/office/drawing/2014/main" id="{71DEC743-98CB-74EE-0E7A-8F1D9D4A0F92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12786055" y="1700784"/>
                <a:ext cx="3438144" cy="3438144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7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70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70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7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70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70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7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70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70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7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70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70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7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70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70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7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7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7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7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7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7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2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7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7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7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7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7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7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7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7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7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7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8" dur="7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7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7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3" dur="70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" dur="70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7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7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70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70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100" presetClass="emph" presetSubtype="1" repeatCount="indefinite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71" dur="4208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embedded1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9" grpId="0" animBg="1"/>
      <p:bldP spid="17" grpId="0" animBg="1"/>
      <p:bldP spid="18" grpId="0" animBg="1"/>
      <p:bldP spid="27" grpId="0" animBg="1"/>
      <p:bldP spid="28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am3d="http://schemas.microsoft.com/office/drawing/2017/model3d" mc:Ignorable="am3d">
  <p:cSld name="Slide 3">
    <p:bg>
      <p:bgPr>
        <a:solidFill>
          <a:srgbClr val="22528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blue-grunge" descr="/home/user/MyWorkAiBrain/presentations/impulse/assets/memes/blue-grunge-16x9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series"/>
          <p:cNvSpPr/>
          <p:nvPr/>
        </p:nvSpPr>
        <p:spPr>
          <a:xfrm>
            <a:off x="658368" y="182880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40" b="1" spc="110" kern="0" dirty="0">
                <a:solidFill>
                  <a:srgbClr val="FFFD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ПСИХОЛОГИЯ ИМПУЛЬСИВНЫХ ПОКУПОК</a:t>
            </a:r>
            <a:endParaRPr lang="en-US" sz="940" dirty="0"/>
          </a:p>
        </p:txBody>
      </p:sp>
      <p:pic>
        <p:nvPicPr>
          <p:cNvPr id="4" name="!!red-swash" descr="/home/user/MyWorkAiBrain/presentations/impulse/assets/memes/red-brush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438912"/>
            <a:ext cx="2057400" cy="164592"/>
          </a:xfrm>
          <a:prstGeom prst="rect">
            <a:avLst/>
          </a:prstGeom>
        </p:spPr>
      </p:pic>
      <p:sp>
        <p:nvSpPr>
          <p:cNvPr id="5" name="!!page-sticker"/>
          <p:cNvSpPr/>
          <p:nvPr/>
        </p:nvSpPr>
        <p:spPr>
          <a:xfrm rot="120000">
            <a:off x="10488168" y="146304"/>
            <a:ext cx="1051560" cy="393192"/>
          </a:xfrm>
          <a:prstGeom prst="rect">
            <a:avLst/>
          </a:prstGeom>
          <a:solidFill>
            <a:srgbClr val="FFD84A"/>
          </a:solidFill>
          <a:ln w="10160">
            <a:solidFill>
              <a:srgbClr val="171C22"/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sp>
        <p:nvSpPr>
          <p:cNvPr id="6" name="!!page"/>
          <p:cNvSpPr/>
          <p:nvPr/>
        </p:nvSpPr>
        <p:spPr>
          <a:xfrm>
            <a:off x="10543032" y="237744"/>
            <a:ext cx="9326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71C2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03 / 10</a:t>
            </a:r>
            <a:endParaRPr lang="en-US" sz="1050" dirty="0"/>
          </a:p>
        </p:txBody>
      </p:sp>
      <p:sp>
        <p:nvSpPr>
          <p:cNvPr id="7" name="!!footer"/>
          <p:cNvSpPr/>
          <p:nvPr/>
        </p:nvSpPr>
        <p:spPr>
          <a:xfrm>
            <a:off x="658368" y="6547104"/>
            <a:ext cx="7863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40" b="1" spc="35" kern="0" dirty="0">
                <a:solidFill>
                  <a:srgbClr val="FFFD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#план_исследования  ·  СОБСТВЕННЫХ ДАННЫХ ПОКА НЕТ</a:t>
            </a:r>
            <a:endParaRPr lang="en-US" sz="840" dirty="0"/>
          </a:p>
        </p:txBody>
      </p:sp>
      <p:sp>
        <p:nvSpPr>
          <p:cNvPr id="8" name="!!meme-title"/>
          <p:cNvSpPr/>
          <p:nvPr/>
        </p:nvSpPr>
        <p:spPr>
          <a:xfrm>
            <a:off x="658368" y="859536"/>
            <a:ext cx="73152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3000" b="1" dirty="0">
                <a:solidFill>
                  <a:srgbClr val="FFFD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ВИЖУ → ХОЧУ → КУПИЛ → «ОЙ»</a:t>
            </a:r>
            <a:endParaRPr lang="en-US" sz="3000" dirty="0"/>
          </a:p>
        </p:txBody>
      </p:sp>
      <p:sp>
        <p:nvSpPr>
          <p:cNvPr id="9" name="Text 5"/>
          <p:cNvSpPr/>
          <p:nvPr/>
        </p:nvSpPr>
        <p:spPr>
          <a:xfrm>
            <a:off x="658368" y="1536192"/>
            <a:ext cx="653796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20" b="1" dirty="0">
                <a:solidFill>
                  <a:srgbClr val="FFFD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Упрощённая модель: внешний сигнал и эмоция могут ускорить выбор — исход у людей разный.</a:t>
            </a:r>
            <a:endParaRPr lang="en-US" sz="1220" dirty="0"/>
          </a:p>
        </p:txBody>
      </p:sp>
      <p:sp>
        <p:nvSpPr>
          <p:cNvPr id="10" name="fx3_2_0"/>
          <p:cNvSpPr/>
          <p:nvPr/>
        </p:nvSpPr>
        <p:spPr>
          <a:xfrm>
            <a:off x="658368" y="2002536"/>
            <a:ext cx="6419088" cy="960120"/>
          </a:xfrm>
          <a:prstGeom prst="roundRect">
            <a:avLst>
              <a:gd name="adj" fmla="val 2381"/>
            </a:avLst>
          </a:prstGeom>
          <a:solidFill>
            <a:srgbClr val="F5F1E7"/>
          </a:solidFill>
          <a:ln w="12700">
            <a:solidFill>
              <a:srgbClr val="171C22"/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pic>
        <p:nvPicPr>
          <p:cNvPr id="11" name="fx3_2_1" descr="/home/user/MyWorkAiBrain/presentations/impulse/assets/memes/torn-paper.png">    </p:cNvPr>
          <p:cNvPicPr>
            <a:picLocks noChangeAspect="1"/>
          </p:cNvPicPr>
          <p:nvPr/>
        </p:nvPicPr>
        <p:blipFill>
          <a:blip r:embed="rId3">
            <a:alphaModFix amt="96000"/>
          </a:blip>
          <a:stretch>
            <a:fillRect/>
          </a:stretch>
        </p:blipFill>
        <p:spPr>
          <a:xfrm>
            <a:off x="685800" y="2025396"/>
            <a:ext cx="6364224" cy="155448"/>
          </a:xfrm>
          <a:prstGeom prst="rect">
            <a:avLst/>
          </a:prstGeom>
        </p:spPr>
      </p:pic>
      <p:sp>
        <p:nvSpPr>
          <p:cNvPr id="12" name="fx3_2_2"/>
          <p:cNvSpPr/>
          <p:nvPr/>
        </p:nvSpPr>
        <p:spPr>
          <a:xfrm>
            <a:off x="822960" y="2221992"/>
            <a:ext cx="125272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10" b="1" dirty="0">
                <a:solidFill>
                  <a:srgbClr val="171C2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СИГНАЛ</a:t>
            </a:r>
            <a:endParaRPr lang="en-US" sz="1010" dirty="0"/>
          </a:p>
        </p:txBody>
      </p:sp>
      <p:sp>
        <p:nvSpPr>
          <p:cNvPr id="13" name="fx3_2_3"/>
          <p:cNvSpPr/>
          <p:nvPr/>
        </p:nvSpPr>
        <p:spPr>
          <a:xfrm>
            <a:off x="822960" y="2514600"/>
            <a:ext cx="125272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20" dirty="0">
                <a:solidFill>
                  <a:srgbClr val="171C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таймер</a:t>
            </a:r>
            <a:endParaRPr lang="en-US" sz="920" dirty="0"/>
          </a:p>
        </p:txBody>
      </p:sp>
      <p:sp>
        <p:nvSpPr>
          <p:cNvPr id="14" name="fx3_2_4"/>
          <p:cNvSpPr/>
          <p:nvPr/>
        </p:nvSpPr>
        <p:spPr>
          <a:xfrm>
            <a:off x="2103120" y="2377440"/>
            <a:ext cx="23774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EF263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→</a:t>
            </a:r>
            <a:endParaRPr lang="en-US" sz="1400" dirty="0"/>
          </a:p>
        </p:txBody>
      </p:sp>
      <p:sp>
        <p:nvSpPr>
          <p:cNvPr id="15" name="fx3_2_5"/>
          <p:cNvSpPr/>
          <p:nvPr/>
        </p:nvSpPr>
        <p:spPr>
          <a:xfrm>
            <a:off x="2368296" y="2221992"/>
            <a:ext cx="125272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10" b="1" dirty="0">
                <a:solidFill>
                  <a:srgbClr val="EF263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ОТКЛИК</a:t>
            </a:r>
            <a:endParaRPr lang="en-US" sz="1010" dirty="0"/>
          </a:p>
        </p:txBody>
      </p:sp>
      <p:sp>
        <p:nvSpPr>
          <p:cNvPr id="16" name="fx3_2_6"/>
          <p:cNvSpPr/>
          <p:nvPr/>
        </p:nvSpPr>
        <p:spPr>
          <a:xfrm>
            <a:off x="2368296" y="2514600"/>
            <a:ext cx="125272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20" dirty="0">
                <a:solidFill>
                  <a:srgbClr val="171C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FOMO</a:t>
            </a:r>
            <a:endParaRPr lang="en-US" sz="920" dirty="0"/>
          </a:p>
        </p:txBody>
      </p:sp>
      <p:sp>
        <p:nvSpPr>
          <p:cNvPr id="17" name="fx3_2_7"/>
          <p:cNvSpPr/>
          <p:nvPr/>
        </p:nvSpPr>
        <p:spPr>
          <a:xfrm>
            <a:off x="3648456" y="2377440"/>
            <a:ext cx="23774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EF263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→</a:t>
            </a:r>
            <a:endParaRPr lang="en-US" sz="1400" dirty="0"/>
          </a:p>
        </p:txBody>
      </p:sp>
      <p:sp>
        <p:nvSpPr>
          <p:cNvPr id="18" name="fx3_2_8"/>
          <p:cNvSpPr/>
          <p:nvPr/>
        </p:nvSpPr>
        <p:spPr>
          <a:xfrm>
            <a:off x="3913632" y="2221992"/>
            <a:ext cx="125272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10" b="1" dirty="0">
                <a:solidFill>
                  <a:srgbClr val="171C2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ДЕЙСТВИЕ</a:t>
            </a:r>
            <a:endParaRPr lang="en-US" sz="1010" dirty="0"/>
          </a:p>
        </p:txBody>
      </p:sp>
      <p:sp>
        <p:nvSpPr>
          <p:cNvPr id="19" name="fx3_2_9"/>
          <p:cNvSpPr/>
          <p:nvPr/>
        </p:nvSpPr>
        <p:spPr>
          <a:xfrm>
            <a:off x="3913632" y="2514600"/>
            <a:ext cx="125272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20" dirty="0">
                <a:solidFill>
                  <a:srgbClr val="171C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корзина</a:t>
            </a:r>
            <a:endParaRPr lang="en-US" sz="920" dirty="0"/>
          </a:p>
        </p:txBody>
      </p:sp>
      <p:sp>
        <p:nvSpPr>
          <p:cNvPr id="20" name="fx3_2_10"/>
          <p:cNvSpPr/>
          <p:nvPr/>
        </p:nvSpPr>
        <p:spPr>
          <a:xfrm>
            <a:off x="5193792" y="2377440"/>
            <a:ext cx="23774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EF263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→</a:t>
            </a:r>
            <a:endParaRPr lang="en-US" sz="1400" dirty="0"/>
          </a:p>
        </p:txBody>
      </p:sp>
      <p:sp>
        <p:nvSpPr>
          <p:cNvPr id="21" name="fx3_2_11"/>
          <p:cNvSpPr/>
          <p:nvPr/>
        </p:nvSpPr>
        <p:spPr>
          <a:xfrm>
            <a:off x="5458968" y="2221992"/>
            <a:ext cx="125272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10" b="1" dirty="0">
                <a:solidFill>
                  <a:srgbClr val="171C2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ПОСЛЕ</a:t>
            </a:r>
            <a:endParaRPr lang="en-US" sz="1010" dirty="0"/>
          </a:p>
        </p:txBody>
      </p:sp>
      <p:sp>
        <p:nvSpPr>
          <p:cNvPr id="22" name="fx3_2_12"/>
          <p:cNvSpPr/>
          <p:nvPr/>
        </p:nvSpPr>
        <p:spPr>
          <a:xfrm>
            <a:off x="5458968" y="2514600"/>
            <a:ext cx="125272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20" dirty="0">
                <a:solidFill>
                  <a:srgbClr val="171C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радость / «ой»</a:t>
            </a:r>
            <a:endParaRPr lang="en-US" sz="920" dirty="0"/>
          </a:p>
        </p:txBody>
      </p:sp>
      <p:sp>
        <p:nvSpPr>
          <p:cNvPr id="23" name="fx3_3_13"/>
          <p:cNvSpPr/>
          <p:nvPr/>
        </p:nvSpPr>
        <p:spPr>
          <a:xfrm>
            <a:off x="658368" y="3227832"/>
            <a:ext cx="1024128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171C22"/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pic>
        <p:nvPicPr>
          <p:cNvPr id="24" name="fx3_3_14" descr="/home/user/MyWorkAiBrain/presentations/impulse/assets/memes/redbull.jpe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9516" y="3268980"/>
            <a:ext cx="941832" cy="941832"/>
          </a:xfrm>
          <a:prstGeom prst="rect">
            <a:avLst/>
          </a:prstGeom>
        </p:spPr>
      </p:pic>
      <p:sp>
        <p:nvSpPr>
          <p:cNvPr id="25" name="fx3_3_15"/>
          <p:cNvSpPr/>
          <p:nvPr/>
        </p:nvSpPr>
        <p:spPr>
          <a:xfrm>
            <a:off x="630936" y="4315968"/>
            <a:ext cx="10789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20" b="1" dirty="0">
                <a:solidFill>
                  <a:srgbClr val="FFFD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энергетик</a:t>
            </a:r>
            <a:endParaRPr lang="en-US" sz="820" dirty="0"/>
          </a:p>
        </p:txBody>
      </p:sp>
      <p:sp>
        <p:nvSpPr>
          <p:cNvPr id="26" name="fx3_3_16"/>
          <p:cNvSpPr/>
          <p:nvPr/>
        </p:nvSpPr>
        <p:spPr>
          <a:xfrm>
            <a:off x="1883664" y="3227832"/>
            <a:ext cx="1024128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171C22"/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pic>
        <p:nvPicPr>
          <p:cNvPr id="27" name="fx3_3_17" descr="/home/user/MyWorkAiBrain/presentations/impulse/assets/memes/shaverma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24812" y="3268980"/>
            <a:ext cx="941832" cy="941832"/>
          </a:xfrm>
          <a:prstGeom prst="rect">
            <a:avLst/>
          </a:prstGeom>
        </p:spPr>
      </p:pic>
      <p:sp>
        <p:nvSpPr>
          <p:cNvPr id="28" name="fx3_3_18"/>
          <p:cNvSpPr/>
          <p:nvPr/>
        </p:nvSpPr>
        <p:spPr>
          <a:xfrm>
            <a:off x="1856232" y="4315968"/>
            <a:ext cx="10789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20" b="1" dirty="0">
                <a:solidFill>
                  <a:srgbClr val="FFFD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шаурма</a:t>
            </a:r>
            <a:endParaRPr lang="en-US" sz="820" dirty="0"/>
          </a:p>
        </p:txBody>
      </p:sp>
      <p:sp>
        <p:nvSpPr>
          <p:cNvPr id="29" name="fx3_3_19"/>
          <p:cNvSpPr/>
          <p:nvPr/>
        </p:nvSpPr>
        <p:spPr>
          <a:xfrm>
            <a:off x="3108960" y="3227832"/>
            <a:ext cx="1024128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171C22"/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pic>
        <p:nvPicPr>
          <p:cNvPr id="30" name="fx3_3_20" descr="/home/user/MyWorkAiBrain/presentations/impulse/assets/memes/rostics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150108" y="3268980"/>
            <a:ext cx="941832" cy="941832"/>
          </a:xfrm>
          <a:prstGeom prst="rect">
            <a:avLst/>
          </a:prstGeom>
        </p:spPr>
      </p:pic>
      <p:sp>
        <p:nvSpPr>
          <p:cNvPr id="31" name="fx3_3_21"/>
          <p:cNvSpPr/>
          <p:nvPr/>
        </p:nvSpPr>
        <p:spPr>
          <a:xfrm>
            <a:off x="3081528" y="4315968"/>
            <a:ext cx="10789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20" b="1" dirty="0">
                <a:solidFill>
                  <a:srgbClr val="FFFD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перекус</a:t>
            </a:r>
            <a:endParaRPr lang="en-US" sz="820" dirty="0"/>
          </a:p>
        </p:txBody>
      </p:sp>
      <p:sp>
        <p:nvSpPr>
          <p:cNvPr id="32" name="fx3_3_22"/>
          <p:cNvSpPr/>
          <p:nvPr/>
        </p:nvSpPr>
        <p:spPr>
          <a:xfrm>
            <a:off x="4334256" y="3227832"/>
            <a:ext cx="1024128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171C22"/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pic>
        <p:nvPicPr>
          <p:cNvPr id="33" name="fx3_3_23" descr="/home/user/MyWorkAiBrain/presentations/impulse/assets/memes/kinder-country.jpe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375404" y="3268980"/>
            <a:ext cx="941832" cy="941832"/>
          </a:xfrm>
          <a:prstGeom prst="rect">
            <a:avLst/>
          </a:prstGeom>
        </p:spPr>
      </p:pic>
      <p:sp>
        <p:nvSpPr>
          <p:cNvPr id="34" name="fx3_3_24"/>
          <p:cNvSpPr/>
          <p:nvPr/>
        </p:nvSpPr>
        <p:spPr>
          <a:xfrm>
            <a:off x="4306824" y="4315968"/>
            <a:ext cx="10789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20" b="1" dirty="0">
                <a:solidFill>
                  <a:srgbClr val="FFFD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сладкое</a:t>
            </a:r>
            <a:endParaRPr lang="en-US" sz="820" dirty="0"/>
          </a:p>
        </p:txBody>
      </p:sp>
      <p:sp>
        <p:nvSpPr>
          <p:cNvPr id="35" name="fx3_3_25"/>
          <p:cNvSpPr/>
          <p:nvPr/>
        </p:nvSpPr>
        <p:spPr>
          <a:xfrm>
            <a:off x="5559552" y="3227832"/>
            <a:ext cx="1024128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171C22"/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pic>
        <p:nvPicPr>
          <p:cNvPr id="36" name="fx3_3_26" descr="/home/user/MyWorkAiBrain/presentations/impulse/assets/memes/coke-zero.jpe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600700" y="3268980"/>
            <a:ext cx="941832" cy="941832"/>
          </a:xfrm>
          <a:prstGeom prst="rect">
            <a:avLst/>
          </a:prstGeom>
        </p:spPr>
      </p:pic>
      <p:sp>
        <p:nvSpPr>
          <p:cNvPr id="37" name="fx3_3_27"/>
          <p:cNvSpPr/>
          <p:nvPr/>
        </p:nvSpPr>
        <p:spPr>
          <a:xfrm>
            <a:off x="5532120" y="4315968"/>
            <a:ext cx="10789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20" b="1" dirty="0">
                <a:solidFill>
                  <a:srgbClr val="FFFD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напиток</a:t>
            </a:r>
            <a:endParaRPr lang="en-US" sz="820" dirty="0"/>
          </a:p>
        </p:txBody>
      </p:sp>
      <p:sp>
        <p:nvSpPr>
          <p:cNvPr id="38" name="fx3_4_28"/>
          <p:cNvSpPr/>
          <p:nvPr/>
        </p:nvSpPr>
        <p:spPr>
          <a:xfrm rot="-24000">
            <a:off x="658368" y="4818888"/>
            <a:ext cx="6382512" cy="566928"/>
          </a:xfrm>
          <a:prstGeom prst="rect">
            <a:avLst/>
          </a:prstGeom>
          <a:solidFill>
            <a:srgbClr val="EF2634"/>
          </a:solidFill>
          <a:ln w="10795">
            <a:solidFill>
              <a:srgbClr val="171C22"/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sp>
        <p:nvSpPr>
          <p:cNvPr id="39" name="fx3_4_29"/>
          <p:cNvSpPr/>
          <p:nvPr/>
        </p:nvSpPr>
        <p:spPr>
          <a:xfrm>
            <a:off x="713232" y="4860036"/>
            <a:ext cx="627278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1520" b="1" dirty="0">
                <a:solidFill>
                  <a:srgbClr val="FFFD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С ЭТОГО ДНЯ БРОСАЮ ЛЁГКИЙ ДОФАМИН</a:t>
            </a:r>
            <a:endParaRPr lang="en-US" sz="1520" dirty="0"/>
          </a:p>
        </p:txBody>
      </p:sp>
      <p:pic>
        <p:nvPicPr>
          <p:cNvPr id="40" name="!!warm-glow" descr="/home/user/MyWorkAiBrain/presentations/impulse/assets/glow.png">    </p:cNvPr>
          <p:cNvPicPr>
            <a:picLocks noChangeAspect="1"/>
          </p:cNvPicPr>
          <p:nvPr/>
        </p:nvPicPr>
        <p:blipFill>
          <a:blip r:embed="rId9">
            <a:alphaModFix amt="62000"/>
          </a:blip>
          <a:stretch>
            <a:fillRect/>
          </a:stretch>
        </p:blipFill>
        <p:spPr>
          <a:xfrm>
            <a:off x="7279721" y="933785"/>
            <a:ext cx="4332061" cy="4332061"/>
          </a:xfrm>
          <a:prstGeom prst="rect">
            <a:avLst/>
          </a:prstGeom>
        </p:spPr>
      </p:pic>
      <p:sp>
        <p:nvSpPr>
          <p:cNvPr id="41" name="!!paper-sticker"/>
          <p:cNvSpPr/>
          <p:nvPr/>
        </p:nvSpPr>
        <p:spPr>
          <a:xfrm>
            <a:off x="7929530" y="1583594"/>
            <a:ext cx="3032443" cy="3032443"/>
          </a:xfrm>
          <a:prstGeom prst="ellipse">
            <a:avLst/>
          </a:prstGeom>
          <a:solidFill>
            <a:srgbClr val="F5F1E7">
              <a:alpha val="78000"/>
            </a:srgbClr>
          </a:solidFill>
          <a:ln w="15240">
            <a:solidFill>
              <a:srgbClr val="FFFDF6">
                <a:alpha val="92000"/>
              </a:srgbClr>
            </a:solidFill>
            <a:prstDash val="solid"/>
          </a:ln>
        </p:spPr>
      </p:sp>
      <p:sp>
        <p:nvSpPr>
          <p:cNvPr id="42" name="!!comic-ring"/>
          <p:cNvSpPr/>
          <p:nvPr/>
        </p:nvSpPr>
        <p:spPr>
          <a:xfrm>
            <a:off x="7712927" y="1366991"/>
            <a:ext cx="3465649" cy="3465649"/>
          </a:xfrm>
          <a:prstGeom prst="ellipse">
            <a:avLst/>
          </a:prstGeom>
          <a:ln w="19050">
            <a:solidFill>
              <a:srgbClr val="EF2634">
                <a:alpha val="94000"/>
              </a:srgbClr>
            </a:solidFill>
            <a:prstDash val="dash"/>
          </a:ln>
        </p:spPr>
      </p:sp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43" name="!!m-cycle">
                <a:extLst>
                  <a:ext uri="{FF2B5EF4-FFF2-40B4-BE49-F238E27FC236}">
                    <a16:creationId xmlns:a16="http://schemas.microsoft.com/office/drawing/2014/main" id="{37A938C4-B580-5C26-27E8-A67740AF3EE6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7726680" y="1380744"/>
              <a:ext cx="3438144" cy="3438144"/>
            </p:xfrm>
            <a:graphic>
              <a:graphicData uri="http://schemas.microsoft.com/office/drawing/2017/model3d">
                <am3d:model3d r:embed="rIdM3d6">
                  <am3d:spPr>
                    <a:xfrm>
                      <a:off x="0" y="0"/>
                      <a:ext cx="3438144" cy="3438144"/>
                    </a:xfrm>
                    <a:prstGeom prst="rect">
                      <a:avLst/>
                    </a:prstGeom>
                  </am3d:spPr>
                  <am3d:camera>
                    <am3d:pos x="0" y="0" z="68501711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621118" d="1000000"/>
                    <am3d:preTrans dx="1" dy="-894410" dz="-1453417"/>
                    <am3d:scale>
                      <am3d:sx n="1000000" d="1000000"/>
                      <am3d:sy n="1000000" d="1000000"/>
                      <am3d:sz n="1000000" d="1000000"/>
                    </am3d:scale>
                    <am3d:rot ax="660000" ay="-1200000" az="0"/>
                    <am3d:postTrans dx="0" dy="0" dz="0"/>
                  </am3d:trans>
                  <am3d:raster rName="Office3DRenderer" rVer="16.0.8326">
                    <am3d:blip r:embed="rId10"/>
                  </am3d:raster>
                  <am3d:extLst>
                    <a:ext uri="{9A65AA19-BECB-4387-8358-8AD5134E1D82}">
                      <a3danim:embedAnim xmlns:a3danim="http://schemas.microsoft.com/office/drawing/2018/animation/model3d" animId="0">
                        <a3danim:animPr length="5000" count="indefinite"/>
                      </a3danim:embedAnim>
                    </a:ext>
                    <a:ext uri="{E9DE012E-A134-456F-84FE-255F9AAD75C6}">
                      <a3danim:posterFrame xmlns:a3danim="http://schemas.microsoft.com/office/drawing/2018/animation/model3d" animId="0"/>
                    </a:ext>
                  </am3d:extLst>
                  <am3d:objViewport viewportSz="3438144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43" name="!!m-cycle">
                <a:extLst>
                  <a:ext uri="{FF2B5EF4-FFF2-40B4-BE49-F238E27FC236}">
                    <a16:creationId xmlns:a16="http://schemas.microsoft.com/office/drawing/2014/main" id="{37A938C4-B580-5C26-27E8-A67740AF3EE6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7726680" y="1380744"/>
                <a:ext cx="3438144" cy="3438144"/>
              </a:xfrm>
              <a:prstGeom prst="rect">
                <a:avLst/>
              </a:prstGeom>
            </p:spPr>
          </p:pic>
        </mc:Fallback>
      </mc:AlternateContent>
      <p:sp>
        <p:nvSpPr>
          <p:cNvPr id="44" name="Shape 32"/>
          <p:cNvSpPr/>
          <p:nvPr/>
        </p:nvSpPr>
        <p:spPr>
          <a:xfrm rot="120000">
            <a:off x="10064618" y="1483888"/>
            <a:ext cx="694944" cy="310896"/>
          </a:xfrm>
          <a:prstGeom prst="rect">
            <a:avLst/>
          </a:prstGeom>
          <a:solidFill>
            <a:srgbClr val="FFD84A"/>
          </a:solidFill>
          <a:ln w="10795">
            <a:solidFill>
              <a:srgbClr val="171C22"/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sp>
        <p:nvSpPr>
          <p:cNvPr id="45" name="Text 33"/>
          <p:cNvSpPr/>
          <p:nvPr/>
        </p:nvSpPr>
        <p:spPr>
          <a:xfrm>
            <a:off x="10119482" y="1525036"/>
            <a:ext cx="58521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900" b="1" dirty="0">
                <a:solidFill>
                  <a:srgbClr val="171C2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ЦИКЛ</a:t>
            </a:r>
            <a:endParaRPr lang="en-US" sz="900" dirty="0"/>
          </a:p>
        </p:txBody>
      </p:sp>
      <p:sp>
        <p:nvSpPr>
          <p:cNvPr id="46" name="Text 34"/>
          <p:cNvSpPr/>
          <p:nvPr/>
        </p:nvSpPr>
        <p:spPr>
          <a:xfrm>
            <a:off x="658368" y="6126480"/>
            <a:ext cx="10515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20" b="1" dirty="0">
                <a:solidFill>
                  <a:srgbClr val="FFFD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Теоретическая опора: Rook (1987); Beatty &amp; Ferrell (1998). Схема — концептуальная, не «универсальный закон».</a:t>
            </a:r>
            <a:endParaRPr lang="en-US" sz="820" dirty="0"/>
          </a:p>
        </p:txBody>
      </p:sp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47" name="!!m-wallet">
                <a:extLst>
                  <a:ext uri="{FF2B5EF4-FFF2-40B4-BE49-F238E27FC236}">
                    <a16:creationId xmlns:a16="http://schemas.microsoft.com/office/drawing/2014/main" id="{4CF671A5-90AE-E585-966E-B9909BC3FEE4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-3520440" y="3675888"/>
              <a:ext cx="2926080" cy="2926080"/>
            </p:xfrm>
            <a:graphic>
              <a:graphicData uri="http://schemas.microsoft.com/office/drawing/2017/model3d">
                <am3d:model3d r:embed="rIdM3d7">
                  <am3d:spPr>
                    <a:xfrm>
                      <a:off x="0" y="0"/>
                      <a:ext cx="2926080" cy="2926080"/>
                    </a:xfrm>
                    <a:prstGeom prst="rect">
                      <a:avLst/>
                    </a:prstGeom>
                  </am3d:spPr>
                  <am3d:camera>
                    <am3d:pos x="0" y="0" z="60059661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823045" d="1000000"/>
                    <am3d:preTrans dx="-518519" dy="3585185" dz="-2533333"/>
                    <am3d:scale>
                      <am3d:sx n="1000000" d="1000000"/>
                      <am3d:sy n="1000000" d="1000000"/>
                      <am3d:sz n="1000000" d="1000000"/>
                    </am3d:scale>
                    <am3d:rot ax="600000" ay="-5400000" az="0"/>
                    <am3d:postTrans dx="0" dy="0" dz="0"/>
                  </am3d:trans>
                  <am3d:raster rName="Office3DRenderer" rVer="16.0.8326">
                    <am3d:blip r:embed="rId11"/>
                  </am3d:raster>
                  <am3d:extLst>
                    <a:ext uri="{9A65AA19-BECB-4387-8358-8AD5134E1D82}">
                      <a3danim:embedAnim xmlns:a3danim="http://schemas.microsoft.com/office/drawing/2018/animation/model3d" animId="0">
                        <a3danim:animPr length="4208" count="indefinite"/>
                      </a3danim:embedAnim>
                    </a:ext>
                    <a:ext uri="{E9DE012E-A134-456F-84FE-255F9AAD75C6}">
                      <a3danim:posterFrame xmlns:a3danim="http://schemas.microsoft.com/office/drawing/2018/animation/model3d" animId="0"/>
                    </a:ext>
                  </am3d:extLst>
                  <am3d:objViewport viewportSz="292608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47" name="!!m-wallet">
                <a:extLst>
                  <a:ext uri="{FF2B5EF4-FFF2-40B4-BE49-F238E27FC236}">
                    <a16:creationId xmlns:a16="http://schemas.microsoft.com/office/drawing/2014/main" id="{4CF671A5-90AE-E585-966E-B9909BC3FEE4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-3520440" y="3675888"/>
                <a:ext cx="2926080" cy="2926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48" name="!!m-chestnut">
                <a:extLst>
                  <a:ext uri="{FF2B5EF4-FFF2-40B4-BE49-F238E27FC236}">
                    <a16:creationId xmlns:a16="http://schemas.microsoft.com/office/drawing/2014/main" id="{A3D33686-FA5A-214E-51F7-74986856E595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12786055" y="4416552"/>
              <a:ext cx="1389888" cy="1389888"/>
            </p:xfrm>
            <a:graphic>
              <a:graphicData uri="http://schemas.microsoft.com/office/drawing/2017/model3d">
                <am3d:model3d r:embed="rIdM3d8">
                  <am3d:spPr>
                    <a:xfrm>
                      <a:off x="0" y="0"/>
                      <a:ext cx="1389888" cy="1389888"/>
                    </a:xfrm>
                    <a:prstGeom prst="rect">
                      <a:avLst/>
                    </a:prstGeom>
                  </am3d:spPr>
                  <am3d:camera>
                    <am3d:pos x="0" y="0" z="77805558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661313" d="1000000"/>
                    <am3d:preTrans dx="-26856" dy="-2766516" dz="1458806"/>
                    <am3d:scale>
                      <am3d:sx n="1000000" d="1000000"/>
                      <am3d:sy n="1000000" d="1000000"/>
                      <am3d:sz n="1000000" d="1000000"/>
                    </am3d:scale>
                    <am3d:rot ax="600000" ay="3240000" az="0"/>
                    <am3d:postTrans dx="0" dy="0" dz="0"/>
                  </am3d:trans>
                  <am3d:raster rName="Office3DRenderer" rVer="16.0.8326">
                    <am3d:blip r:embed="rId12"/>
                  </am3d:raster>
                  <am3d:extLst>
                    <a:ext uri="{9A65AA19-BECB-4387-8358-8AD5134E1D82}">
                      <a3danim:embedAnim xmlns:a3danim="http://schemas.microsoft.com/office/drawing/2018/animation/model3d" animId="0">
                        <a3danim:animPr length="4208" count="indefinite"/>
                      </a3danim:embedAnim>
                    </a:ext>
                    <a:ext uri="{E9DE012E-A134-456F-84FE-255F9AAD75C6}">
                      <a3danim:posterFrame xmlns:a3danim="http://schemas.microsoft.com/office/drawing/2018/animation/model3d" animId="0"/>
                    </a:ext>
                  </am3d:extLst>
                  <am3d:objViewport viewportSz="1389888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48" name="!!m-chestnut">
                <a:extLst>
                  <a:ext uri="{FF2B5EF4-FFF2-40B4-BE49-F238E27FC236}">
                    <a16:creationId xmlns:a16="http://schemas.microsoft.com/office/drawing/2014/main" id="{A3D33686-FA5A-214E-51F7-74986856E595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12786055" y="4416552"/>
                <a:ext cx="1389888" cy="1389888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7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70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70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7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70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70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7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70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70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7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70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70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7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70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70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7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7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7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7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7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7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2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7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7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7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7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7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7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7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7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7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7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8" dur="7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7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2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7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3" dur="7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" dur="7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7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7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7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7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7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3" dur="7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4" dur="7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7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7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8" dur="7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7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7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3" dur="7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4" dur="7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7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7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8" dur="70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9" dur="70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7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3" dur="70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4" dur="70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7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7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8" dur="70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9" dur="70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7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3" dur="70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4" dur="70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7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7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8" dur="70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9" dur="70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7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3" dur="700" decel="100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4" dur="700" decel="100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7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6" dur="7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8" dur="700" decel="100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9" dur="700" decel="100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7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3" dur="700" decel="100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4" dur="700" decel="100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7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6" dur="7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8" dur="700" decel="100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9" dur="700" decel="100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1" dur="7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3" dur="700" decel="1000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4" dur="700" decel="1000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7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6" dur="7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8" dur="700" decel="1000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9" dur="700" decel="1000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1" dur="7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3" dur="700" decel="1000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4" dur="700" decel="1000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7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6" dur="7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8" dur="700" decel="1000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9" dur="700" decel="1000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2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1" dur="7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3" dur="700" decel="1000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4" dur="700" decel="1000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5" presetID="100" presetClass="emph" presetSubtype="1" repeatCount="indefinite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156" dur="50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embedded1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5" grpId="0" animBg="1"/>
      <p:bldP spid="26" grpId="0" animBg="1"/>
      <p:bldP spid="28" grpId="0" animBg="1"/>
      <p:bldP spid="29" grpId="0" animBg="1"/>
      <p:bldP spid="31" grpId="0" animBg="1"/>
      <p:bldP spid="32" grpId="0" animBg="1"/>
      <p:bldP spid="34" grpId="0" animBg="1"/>
      <p:bldP spid="35" grpId="0" animBg="1"/>
      <p:bldP spid="37" grpId="0" animBg="1"/>
      <p:bldP spid="38" grpId="0" animBg="1"/>
      <p:bldP spid="39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am3d="http://schemas.microsoft.com/office/drawing/2017/model3d" mc:Ignorable="am3d">
  <p:cSld name="Slide 4">
    <p:bg>
      <p:bgPr>
        <a:solidFill>
          <a:srgbClr val="22528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blue-grunge" descr="/home/user/MyWorkAiBrain/presentations/impulse/assets/memes/blue-grunge-16x9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series"/>
          <p:cNvSpPr/>
          <p:nvPr/>
        </p:nvSpPr>
        <p:spPr>
          <a:xfrm>
            <a:off x="658368" y="182880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40" b="1" spc="110" kern="0" dirty="0">
                <a:solidFill>
                  <a:srgbClr val="FFFD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ПСИХОЛОГИЯ ИМПУЛЬСИВНЫХ ПОКУПОК</a:t>
            </a:r>
            <a:endParaRPr lang="en-US" sz="940" dirty="0"/>
          </a:p>
        </p:txBody>
      </p:sp>
      <p:pic>
        <p:nvPicPr>
          <p:cNvPr id="4" name="!!red-swash" descr="/home/user/MyWorkAiBrain/presentations/impulse/assets/memes/red-brush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438912"/>
            <a:ext cx="2057400" cy="164592"/>
          </a:xfrm>
          <a:prstGeom prst="rect">
            <a:avLst/>
          </a:prstGeom>
        </p:spPr>
      </p:pic>
      <p:sp>
        <p:nvSpPr>
          <p:cNvPr id="5" name="!!page-sticker"/>
          <p:cNvSpPr/>
          <p:nvPr/>
        </p:nvSpPr>
        <p:spPr>
          <a:xfrm rot="120000">
            <a:off x="10488168" y="146304"/>
            <a:ext cx="1051560" cy="393192"/>
          </a:xfrm>
          <a:prstGeom prst="rect">
            <a:avLst/>
          </a:prstGeom>
          <a:solidFill>
            <a:srgbClr val="FFD84A"/>
          </a:solidFill>
          <a:ln w="10160">
            <a:solidFill>
              <a:srgbClr val="171C22"/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sp>
        <p:nvSpPr>
          <p:cNvPr id="6" name="!!page"/>
          <p:cNvSpPr/>
          <p:nvPr/>
        </p:nvSpPr>
        <p:spPr>
          <a:xfrm>
            <a:off x="10543032" y="237744"/>
            <a:ext cx="9326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71C2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04 / 10</a:t>
            </a:r>
            <a:endParaRPr lang="en-US" sz="1050" dirty="0"/>
          </a:p>
        </p:txBody>
      </p:sp>
      <p:sp>
        <p:nvSpPr>
          <p:cNvPr id="7" name="!!footer"/>
          <p:cNvSpPr/>
          <p:nvPr/>
        </p:nvSpPr>
        <p:spPr>
          <a:xfrm>
            <a:off x="658368" y="6547104"/>
            <a:ext cx="7863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40" b="1" spc="35" kern="0" dirty="0">
                <a:solidFill>
                  <a:srgbClr val="FFFD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#план_исследования  ·  СОБСТВЕННЫХ ДАННЫХ ПОКА НЕТ</a:t>
            </a:r>
            <a:endParaRPr lang="en-US" sz="840" dirty="0"/>
          </a:p>
        </p:txBody>
      </p:sp>
      <p:sp>
        <p:nvSpPr>
          <p:cNvPr id="8" name="!!meme-title"/>
          <p:cNvSpPr/>
          <p:nvPr/>
        </p:nvSpPr>
        <p:spPr>
          <a:xfrm>
            <a:off x="658368" y="859536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3100" b="1" dirty="0">
                <a:solidFill>
                  <a:srgbClr val="FFFD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ЗАДАЧИ ПРОЕКТА</a:t>
            </a:r>
            <a:endParaRPr lang="en-US" sz="3100" dirty="0"/>
          </a:p>
        </p:txBody>
      </p:sp>
      <p:pic>
        <p:nvPicPr>
          <p:cNvPr id="9" name="!!red-underline" descr="/home/user/MyWorkAiBrain/presentations/impulse/assets/memes/red-brush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1536192"/>
            <a:ext cx="3474720" cy="219456"/>
          </a:xfrm>
          <a:prstGeom prst="rect">
            <a:avLst/>
          </a:prstGeom>
        </p:spPr>
      </p:pic>
      <p:sp>
        <p:nvSpPr>
          <p:cNvPr id="10" name="fx4_2_0"/>
          <p:cNvSpPr/>
          <p:nvPr/>
        </p:nvSpPr>
        <p:spPr>
          <a:xfrm>
            <a:off x="658368" y="1856232"/>
            <a:ext cx="5961888" cy="3749040"/>
          </a:xfrm>
          <a:prstGeom prst="roundRect">
            <a:avLst>
              <a:gd name="adj" fmla="val 610"/>
            </a:avLst>
          </a:prstGeom>
          <a:solidFill>
            <a:srgbClr val="F5F1E7"/>
          </a:solidFill>
          <a:ln w="12700">
            <a:solidFill>
              <a:srgbClr val="171C22"/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pic>
        <p:nvPicPr>
          <p:cNvPr id="11" name="fx4_2_1" descr="/home/user/MyWorkAiBrain/presentations/impulse/assets/memes/torn-paper.png">    </p:cNvPr>
          <p:cNvPicPr>
            <a:picLocks noChangeAspect="1"/>
          </p:cNvPicPr>
          <p:nvPr/>
        </p:nvPicPr>
        <p:blipFill>
          <a:blip r:embed="rId4">
            <a:alphaModFix amt="96000"/>
          </a:blip>
          <a:stretch>
            <a:fillRect/>
          </a:stretch>
        </p:blipFill>
        <p:spPr>
          <a:xfrm>
            <a:off x="685800" y="1879092"/>
            <a:ext cx="5907024" cy="155448"/>
          </a:xfrm>
          <a:prstGeom prst="rect">
            <a:avLst/>
          </a:prstGeom>
        </p:spPr>
      </p:pic>
      <p:sp>
        <p:nvSpPr>
          <p:cNvPr id="12" name="fx4_2_2"/>
          <p:cNvSpPr/>
          <p:nvPr/>
        </p:nvSpPr>
        <p:spPr>
          <a:xfrm>
            <a:off x="914400" y="2157984"/>
            <a:ext cx="5394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80" b="1" spc="45" kern="0" dirty="0">
                <a:solidFill>
                  <a:srgbClr val="EF263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ПЛАН РАБОТ · ЕЩЁ НЕ ОТЧЁТ О ВЫПОЛНЕНИИ</a:t>
            </a:r>
            <a:endParaRPr lang="en-US" sz="880" dirty="0"/>
          </a:p>
        </p:txBody>
      </p:sp>
      <p:sp>
        <p:nvSpPr>
          <p:cNvPr id="13" name="fx4_2_3"/>
          <p:cNvSpPr/>
          <p:nvPr/>
        </p:nvSpPr>
        <p:spPr>
          <a:xfrm>
            <a:off x="914400" y="2523744"/>
            <a:ext cx="420624" cy="310896"/>
          </a:xfrm>
          <a:prstGeom prst="rect">
            <a:avLst/>
          </a:prstGeom>
          <a:solidFill>
            <a:srgbClr val="FFD84A"/>
          </a:solidFill>
          <a:ln w="10795">
            <a:solidFill>
              <a:srgbClr val="171C22"/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sp>
        <p:nvSpPr>
          <p:cNvPr id="14" name="fx4_2_4"/>
          <p:cNvSpPr/>
          <p:nvPr/>
        </p:nvSpPr>
        <p:spPr>
          <a:xfrm>
            <a:off x="969264" y="2564892"/>
            <a:ext cx="31089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980" b="1" dirty="0">
                <a:solidFill>
                  <a:srgbClr val="171C2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01</a:t>
            </a:r>
            <a:endParaRPr lang="en-US" sz="980" dirty="0"/>
          </a:p>
        </p:txBody>
      </p:sp>
      <p:sp>
        <p:nvSpPr>
          <p:cNvPr id="15" name="fx4_2_5"/>
          <p:cNvSpPr/>
          <p:nvPr/>
        </p:nvSpPr>
        <p:spPr>
          <a:xfrm>
            <a:off x="1490472" y="2532888"/>
            <a:ext cx="125272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80" b="1" dirty="0">
                <a:solidFill>
                  <a:srgbClr val="171C2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ТЕОРИЯ</a:t>
            </a:r>
            <a:endParaRPr lang="en-US" sz="980" dirty="0"/>
          </a:p>
        </p:txBody>
      </p:sp>
      <p:sp>
        <p:nvSpPr>
          <p:cNvPr id="16" name="fx4_2_6"/>
          <p:cNvSpPr/>
          <p:nvPr/>
        </p:nvSpPr>
        <p:spPr>
          <a:xfrm>
            <a:off x="2670048" y="253288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171C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когнитивные искажения · поведенческая экономика</a:t>
            </a:r>
            <a:endParaRPr lang="en-US" sz="950" dirty="0"/>
          </a:p>
        </p:txBody>
      </p:sp>
      <p:sp>
        <p:nvSpPr>
          <p:cNvPr id="17" name="fx4_2_7"/>
          <p:cNvSpPr/>
          <p:nvPr/>
        </p:nvSpPr>
        <p:spPr>
          <a:xfrm>
            <a:off x="914400" y="3063240"/>
            <a:ext cx="420624" cy="310896"/>
          </a:xfrm>
          <a:prstGeom prst="rect">
            <a:avLst/>
          </a:prstGeom>
          <a:solidFill>
            <a:srgbClr val="FFD84A"/>
          </a:solidFill>
          <a:ln w="10795">
            <a:solidFill>
              <a:srgbClr val="171C22"/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sp>
        <p:nvSpPr>
          <p:cNvPr id="18" name="fx4_2_8"/>
          <p:cNvSpPr/>
          <p:nvPr/>
        </p:nvSpPr>
        <p:spPr>
          <a:xfrm>
            <a:off x="969264" y="3104388"/>
            <a:ext cx="31089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980" b="1" dirty="0">
                <a:solidFill>
                  <a:srgbClr val="171C2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02</a:t>
            </a:r>
            <a:endParaRPr lang="en-US" sz="980" dirty="0"/>
          </a:p>
        </p:txBody>
      </p:sp>
      <p:sp>
        <p:nvSpPr>
          <p:cNvPr id="19" name="fx4_2_9"/>
          <p:cNvSpPr/>
          <p:nvPr/>
        </p:nvSpPr>
        <p:spPr>
          <a:xfrm>
            <a:off x="1490472" y="3072384"/>
            <a:ext cx="125272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80" b="1" dirty="0">
                <a:solidFill>
                  <a:srgbClr val="171C2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КОНТЕКСТ</a:t>
            </a:r>
            <a:endParaRPr lang="en-US" sz="980" dirty="0"/>
          </a:p>
        </p:txBody>
      </p:sp>
      <p:sp>
        <p:nvSpPr>
          <p:cNvPr id="20" name="fx4_2_10"/>
          <p:cNvSpPr/>
          <p:nvPr/>
        </p:nvSpPr>
        <p:spPr>
          <a:xfrm>
            <a:off x="2670048" y="307238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171C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BNPL · кредиты · цифровые триггеры</a:t>
            </a:r>
            <a:endParaRPr lang="en-US" sz="950" dirty="0"/>
          </a:p>
        </p:txBody>
      </p:sp>
      <p:sp>
        <p:nvSpPr>
          <p:cNvPr id="21" name="fx4_2_11"/>
          <p:cNvSpPr/>
          <p:nvPr/>
        </p:nvSpPr>
        <p:spPr>
          <a:xfrm>
            <a:off x="914400" y="3602736"/>
            <a:ext cx="420624" cy="310896"/>
          </a:xfrm>
          <a:prstGeom prst="rect">
            <a:avLst/>
          </a:prstGeom>
          <a:solidFill>
            <a:srgbClr val="FFD84A"/>
          </a:solidFill>
          <a:ln w="10795">
            <a:solidFill>
              <a:srgbClr val="171C22"/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sp>
        <p:nvSpPr>
          <p:cNvPr id="22" name="fx4_2_12"/>
          <p:cNvSpPr/>
          <p:nvPr/>
        </p:nvSpPr>
        <p:spPr>
          <a:xfrm>
            <a:off x="969264" y="3643884"/>
            <a:ext cx="31089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980" b="1" dirty="0">
                <a:solidFill>
                  <a:srgbClr val="171C2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03</a:t>
            </a:r>
            <a:endParaRPr lang="en-US" sz="980" dirty="0"/>
          </a:p>
        </p:txBody>
      </p:sp>
      <p:sp>
        <p:nvSpPr>
          <p:cNvPr id="23" name="fx4_2_13"/>
          <p:cNvSpPr/>
          <p:nvPr/>
        </p:nvSpPr>
        <p:spPr>
          <a:xfrm>
            <a:off x="1490472" y="3611880"/>
            <a:ext cx="125272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80" b="1" dirty="0">
                <a:solidFill>
                  <a:srgbClr val="171C2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АНКЕТА</a:t>
            </a:r>
            <a:endParaRPr lang="en-US" sz="980" dirty="0"/>
          </a:p>
        </p:txBody>
      </p:sp>
      <p:sp>
        <p:nvSpPr>
          <p:cNvPr id="24" name="fx4_2_14"/>
          <p:cNvSpPr/>
          <p:nvPr/>
        </p:nvSpPr>
        <p:spPr>
          <a:xfrm>
            <a:off x="2670048" y="36118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171C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собрать вопросы и проверить понятность</a:t>
            </a:r>
            <a:endParaRPr lang="en-US" sz="950" dirty="0"/>
          </a:p>
        </p:txBody>
      </p:sp>
      <p:sp>
        <p:nvSpPr>
          <p:cNvPr id="25" name="fx4_2_15"/>
          <p:cNvSpPr/>
          <p:nvPr/>
        </p:nvSpPr>
        <p:spPr>
          <a:xfrm>
            <a:off x="914400" y="4142232"/>
            <a:ext cx="420624" cy="310896"/>
          </a:xfrm>
          <a:prstGeom prst="rect">
            <a:avLst/>
          </a:prstGeom>
          <a:solidFill>
            <a:srgbClr val="FFD84A"/>
          </a:solidFill>
          <a:ln w="10795">
            <a:solidFill>
              <a:srgbClr val="171C22"/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sp>
        <p:nvSpPr>
          <p:cNvPr id="26" name="fx4_2_16"/>
          <p:cNvSpPr/>
          <p:nvPr/>
        </p:nvSpPr>
        <p:spPr>
          <a:xfrm>
            <a:off x="969264" y="4183380"/>
            <a:ext cx="31089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980" b="1" dirty="0">
                <a:solidFill>
                  <a:srgbClr val="171C2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04</a:t>
            </a:r>
            <a:endParaRPr lang="en-US" sz="980" dirty="0"/>
          </a:p>
        </p:txBody>
      </p:sp>
      <p:sp>
        <p:nvSpPr>
          <p:cNvPr id="27" name="fx4_2_17"/>
          <p:cNvSpPr/>
          <p:nvPr/>
        </p:nvSpPr>
        <p:spPr>
          <a:xfrm>
            <a:off x="1490472" y="4151376"/>
            <a:ext cx="125272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80" b="1" dirty="0">
                <a:solidFill>
                  <a:srgbClr val="171C2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ПИЛОТ</a:t>
            </a:r>
            <a:endParaRPr lang="en-US" sz="980" dirty="0"/>
          </a:p>
        </p:txBody>
      </p:sp>
      <p:sp>
        <p:nvSpPr>
          <p:cNvPr id="28" name="fx4_2_18"/>
          <p:cNvSpPr/>
          <p:nvPr/>
        </p:nvSpPr>
        <p:spPr>
          <a:xfrm>
            <a:off x="2670048" y="4151376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171C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студенты 18–25 · ориентир N ≥ 50</a:t>
            </a:r>
            <a:endParaRPr lang="en-US" sz="950" dirty="0"/>
          </a:p>
        </p:txBody>
      </p:sp>
      <p:sp>
        <p:nvSpPr>
          <p:cNvPr id="29" name="fx4_2_19"/>
          <p:cNvSpPr/>
          <p:nvPr/>
        </p:nvSpPr>
        <p:spPr>
          <a:xfrm>
            <a:off x="914400" y="4681728"/>
            <a:ext cx="420624" cy="310896"/>
          </a:xfrm>
          <a:prstGeom prst="rect">
            <a:avLst/>
          </a:prstGeom>
          <a:solidFill>
            <a:srgbClr val="EF2634"/>
          </a:solidFill>
          <a:ln w="10795">
            <a:solidFill>
              <a:srgbClr val="171C22"/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sp>
        <p:nvSpPr>
          <p:cNvPr id="30" name="fx4_2_20"/>
          <p:cNvSpPr/>
          <p:nvPr/>
        </p:nvSpPr>
        <p:spPr>
          <a:xfrm>
            <a:off x="969264" y="4722876"/>
            <a:ext cx="31089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980" b="1" dirty="0">
                <a:solidFill>
                  <a:srgbClr val="FFFD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05</a:t>
            </a:r>
            <a:endParaRPr lang="en-US" sz="980" dirty="0"/>
          </a:p>
        </p:txBody>
      </p:sp>
      <p:sp>
        <p:nvSpPr>
          <p:cNvPr id="31" name="fx4_2_21"/>
          <p:cNvSpPr/>
          <p:nvPr/>
        </p:nvSpPr>
        <p:spPr>
          <a:xfrm>
            <a:off x="1490472" y="4690872"/>
            <a:ext cx="125272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80" b="1" dirty="0">
                <a:solidFill>
                  <a:srgbClr val="EF263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ФИНАЛ</a:t>
            </a:r>
            <a:endParaRPr lang="en-US" sz="980" dirty="0"/>
          </a:p>
        </p:txBody>
      </p:sp>
      <p:sp>
        <p:nvSpPr>
          <p:cNvPr id="32" name="fx4_2_22"/>
          <p:cNvSpPr/>
          <p:nvPr/>
        </p:nvSpPr>
        <p:spPr>
          <a:xfrm>
            <a:off x="2670048" y="46908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171C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проверить H1–H3 · сделать памятку</a:t>
            </a:r>
            <a:endParaRPr lang="en-US" sz="950" dirty="0"/>
          </a:p>
        </p:txBody>
      </p:sp>
      <p:sp>
        <p:nvSpPr>
          <p:cNvPr id="33" name="fx4_2_23"/>
          <p:cNvSpPr/>
          <p:nvPr/>
        </p:nvSpPr>
        <p:spPr>
          <a:xfrm>
            <a:off x="6967728" y="1362456"/>
            <a:ext cx="3090672" cy="3090672"/>
          </a:xfrm>
          <a:prstGeom prst="rect">
            <a:avLst/>
          </a:prstGeom>
          <a:solidFill>
            <a:srgbClr val="FFFFFF"/>
          </a:solidFill>
          <a:ln w="12700">
            <a:solidFill>
              <a:srgbClr val="171C22"/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pic>
        <p:nvPicPr>
          <p:cNvPr id="34" name="fx4_2_24" descr="/home/user/MyWorkAiBrain/presentations/impulse/assets/memes/where-papa.jpe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27164" y="1421892"/>
            <a:ext cx="2971800" cy="2971800"/>
          </a:xfrm>
          <a:prstGeom prst="rect">
            <a:avLst/>
          </a:prstGeom>
        </p:spPr>
      </p:pic>
      <p:sp>
        <p:nvSpPr>
          <p:cNvPr id="35" name="fx4_3_25"/>
          <p:cNvSpPr/>
          <p:nvPr/>
        </p:nvSpPr>
        <p:spPr>
          <a:xfrm>
            <a:off x="8357616" y="3246120"/>
            <a:ext cx="3090672" cy="2066544"/>
          </a:xfrm>
          <a:prstGeom prst="rect">
            <a:avLst/>
          </a:prstGeom>
          <a:solidFill>
            <a:srgbClr val="FFFFFF"/>
          </a:solidFill>
          <a:ln w="12700">
            <a:solidFill>
              <a:srgbClr val="171C22"/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pic>
        <p:nvPicPr>
          <p:cNvPr id="36" name="fx4_3_26" descr="/home/user/MyWorkAiBrain/presentations/impulse/assets/memes/chestnuts.jpe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17052" y="3305556"/>
            <a:ext cx="2971800" cy="1947672"/>
          </a:xfrm>
          <a:prstGeom prst="rect">
            <a:avLst/>
          </a:prstGeom>
        </p:spPr>
      </p:pic>
      <p:pic>
        <p:nvPicPr>
          <p:cNvPr id="37" name="!!warm-glow" descr="/home/user/MyWorkAiBrain/presentations/impulse/assets/glow.png">    </p:cNvPr>
          <p:cNvPicPr>
            <a:picLocks noChangeAspect="1"/>
          </p:cNvPicPr>
          <p:nvPr/>
        </p:nvPicPr>
        <p:blipFill>
          <a:blip r:embed="rId7">
            <a:alphaModFix amt="62000"/>
          </a:blip>
          <a:stretch>
            <a:fillRect/>
          </a:stretch>
        </p:blipFill>
        <p:spPr>
          <a:xfrm>
            <a:off x="9841139" y="3915827"/>
            <a:ext cx="1751259" cy="1751259"/>
          </a:xfrm>
          <a:prstGeom prst="rect">
            <a:avLst/>
          </a:prstGeom>
        </p:spPr>
      </p:pic>
      <p:sp>
        <p:nvSpPr>
          <p:cNvPr id="38" name="!!paper-sticker"/>
          <p:cNvSpPr/>
          <p:nvPr/>
        </p:nvSpPr>
        <p:spPr>
          <a:xfrm>
            <a:off x="10103827" y="4178515"/>
            <a:ext cx="1225881" cy="1225881"/>
          </a:xfrm>
          <a:prstGeom prst="ellipse">
            <a:avLst/>
          </a:prstGeom>
          <a:solidFill>
            <a:srgbClr val="F5F1E7">
              <a:alpha val="78000"/>
            </a:srgbClr>
          </a:solidFill>
          <a:ln w="15240">
            <a:solidFill>
              <a:srgbClr val="FFFDF6">
                <a:alpha val="92000"/>
              </a:srgbClr>
            </a:solidFill>
            <a:prstDash val="solid"/>
          </a:ln>
        </p:spPr>
      </p:sp>
      <p:sp>
        <p:nvSpPr>
          <p:cNvPr id="39" name="!!comic-ring"/>
          <p:cNvSpPr/>
          <p:nvPr/>
        </p:nvSpPr>
        <p:spPr>
          <a:xfrm>
            <a:off x="10016264" y="4090952"/>
            <a:ext cx="1401007" cy="1401007"/>
          </a:xfrm>
          <a:prstGeom prst="ellipse">
            <a:avLst/>
          </a:prstGeom>
          <a:ln w="19050">
            <a:solidFill>
              <a:srgbClr val="EF2634">
                <a:alpha val="94000"/>
              </a:srgbClr>
            </a:solidFill>
            <a:prstDash val="dash"/>
          </a:ln>
        </p:spPr>
      </p:sp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40" name="!!m-chestnut">
                <a:extLst>
                  <a:ext uri="{FF2B5EF4-FFF2-40B4-BE49-F238E27FC236}">
                    <a16:creationId xmlns:a16="http://schemas.microsoft.com/office/drawing/2014/main" id="{CC57C587-9FA7-6348-8EA1-1270EFCC4520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10021824" y="4096512"/>
              <a:ext cx="1389888" cy="1389888"/>
            </p:xfrm>
            <a:graphic>
              <a:graphicData uri="http://schemas.microsoft.com/office/drawing/2017/model3d">
                <am3d:model3d r:embed="rIdM3d9">
                  <am3d:spPr>
                    <a:xfrm>
                      <a:off x="0" y="0"/>
                      <a:ext cx="1389888" cy="1389888"/>
                    </a:xfrm>
                    <a:prstGeom prst="rect">
                      <a:avLst/>
                    </a:prstGeom>
                  </am3d:spPr>
                  <am3d:camera>
                    <am3d:pos x="0" y="0" z="77805558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661313" d="1000000"/>
                    <am3d:preTrans dx="-26856" dy="-2766516" dz="1458806"/>
                    <am3d:scale>
                      <am3d:sx n="1000000" d="1000000"/>
                      <am3d:sy n="1000000" d="1000000"/>
                      <am3d:sz n="1000000" d="1000000"/>
                    </am3d:scale>
                    <am3d:rot ax="600000" ay="-1080000" az="0"/>
                    <am3d:postTrans dx="0" dy="0" dz="0"/>
                  </am3d:trans>
                  <am3d:raster rName="Office3DRenderer" rVer="16.0.8326">
                    <am3d:blip r:embed="rId8"/>
                  </am3d:raster>
                  <am3d:extLst>
                    <a:ext uri="{9A65AA19-BECB-4387-8358-8AD5134E1D82}">
                      <a3danim:embedAnim xmlns:a3danim="http://schemas.microsoft.com/office/drawing/2018/animation/model3d" animId="0">
                        <a3danim:animPr length="4208" count="indefinite"/>
                      </a3danim:embedAnim>
                    </a:ext>
                    <a:ext uri="{E9DE012E-A134-456F-84FE-255F9AAD75C6}">
                      <a3danim:posterFrame xmlns:a3danim="http://schemas.microsoft.com/office/drawing/2018/animation/model3d" animId="0"/>
                    </a:ext>
                  </am3d:extLst>
                  <am3d:objViewport viewportSz="1389888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40" name="!!m-chestnut">
                <a:extLst>
                  <a:ext uri="{FF2B5EF4-FFF2-40B4-BE49-F238E27FC236}">
                    <a16:creationId xmlns:a16="http://schemas.microsoft.com/office/drawing/2014/main" id="{CC57C587-9FA7-6348-8EA1-1270EFCC4520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10021824" y="4096512"/>
                <a:ext cx="1389888" cy="1389888"/>
              </a:xfrm>
              <a:prstGeom prst="rect">
                <a:avLst/>
              </a:prstGeom>
            </p:spPr>
          </p:pic>
        </mc:Fallback>
      </mc:AlternateContent>
      <p:sp>
        <p:nvSpPr>
          <p:cNvPr id="41" name="Shape 31"/>
          <p:cNvSpPr/>
          <p:nvPr/>
        </p:nvSpPr>
        <p:spPr>
          <a:xfrm rot="120000">
            <a:off x="10966948" y="4138209"/>
            <a:ext cx="566928" cy="274320"/>
          </a:xfrm>
          <a:prstGeom prst="rect">
            <a:avLst/>
          </a:prstGeom>
          <a:solidFill>
            <a:srgbClr val="FFD84A"/>
          </a:solidFill>
          <a:ln w="10795">
            <a:solidFill>
              <a:srgbClr val="171C22"/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sp>
        <p:nvSpPr>
          <p:cNvPr id="42" name="Text 32"/>
          <p:cNvSpPr/>
          <p:nvPr/>
        </p:nvSpPr>
        <p:spPr>
          <a:xfrm>
            <a:off x="11021812" y="4179357"/>
            <a:ext cx="4572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800" b="1" dirty="0">
                <a:solidFill>
                  <a:srgbClr val="171C2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3D!</a:t>
            </a:r>
            <a:endParaRPr lang="en-US" sz="800" dirty="0"/>
          </a:p>
        </p:txBody>
      </p:sp>
      <p:sp>
        <p:nvSpPr>
          <p:cNvPr id="43" name="fx4_3_27"/>
          <p:cNvSpPr/>
          <p:nvPr/>
        </p:nvSpPr>
        <p:spPr>
          <a:xfrm rot="-36000">
            <a:off x="8494776" y="5404104"/>
            <a:ext cx="2871216" cy="384048"/>
          </a:xfrm>
          <a:prstGeom prst="rect">
            <a:avLst/>
          </a:prstGeom>
          <a:solidFill>
            <a:srgbClr val="EF2634"/>
          </a:solidFill>
          <a:ln w="10795">
            <a:solidFill>
              <a:srgbClr val="171C22"/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sp>
        <p:nvSpPr>
          <p:cNvPr id="44" name="fx4_3_28"/>
          <p:cNvSpPr/>
          <p:nvPr/>
        </p:nvSpPr>
        <p:spPr>
          <a:xfrm>
            <a:off x="8549640" y="5445252"/>
            <a:ext cx="276148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940" b="1" dirty="0">
                <a:solidFill>
                  <a:srgbClr val="FFFD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КАШТАН 100% · ГДЕ ПАПА?</a:t>
            </a:r>
            <a:endParaRPr lang="en-US" sz="940" dirty="0"/>
          </a:p>
        </p:txBody>
      </p:sp>
      <p:sp>
        <p:nvSpPr>
          <p:cNvPr id="45" name="Text 35"/>
          <p:cNvSpPr/>
          <p:nvPr/>
        </p:nvSpPr>
        <p:spPr>
          <a:xfrm>
            <a:off x="658368" y="6135624"/>
            <a:ext cx="10698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20" b="1" dirty="0">
                <a:solidFill>
                  <a:srgbClr val="FFFD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Каштан остался в исходной паре мемов на слайде задач — не стал отдельной темой доклада.</a:t>
            </a:r>
            <a:endParaRPr lang="en-US" sz="820" dirty="0"/>
          </a:p>
        </p:txBody>
      </p:sp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46" name="!!m-cycle">
                <a:extLst>
                  <a:ext uri="{FF2B5EF4-FFF2-40B4-BE49-F238E27FC236}">
                    <a16:creationId xmlns:a16="http://schemas.microsoft.com/office/drawing/2014/main" id="{FC1E720E-5228-897E-72D5-77B9CA82F87B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-4032504" y="1700784"/>
              <a:ext cx="3438144" cy="3438144"/>
            </p:xfrm>
            <a:graphic>
              <a:graphicData uri="http://schemas.microsoft.com/office/drawing/2017/model3d">
                <am3d:model3d r:embed="rIdM3d10">
                  <am3d:spPr>
                    <a:xfrm>
                      <a:off x="0" y="0"/>
                      <a:ext cx="3438144" cy="3438144"/>
                    </a:xfrm>
                    <a:prstGeom prst="rect">
                      <a:avLst/>
                    </a:prstGeom>
                  </am3d:spPr>
                  <am3d:camera>
                    <am3d:pos x="0" y="0" z="68501711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621118" d="1000000"/>
                    <am3d:preTrans dx="1" dy="-894410" dz="-1453417"/>
                    <am3d:scale>
                      <am3d:sx n="1000000" d="1000000"/>
                      <am3d:sy n="1000000" d="1000000"/>
                      <am3d:sz n="1000000" d="1000000"/>
                    </am3d:scale>
                    <am3d:rot ax="660000" ay="-5520000" az="0"/>
                    <am3d:postTrans dx="0" dy="0" dz="0"/>
                  </am3d:trans>
                  <am3d:raster rName="Office3DRenderer" rVer="16.0.8326">
                    <am3d:blip r:embed="rId9"/>
                  </am3d:raster>
                  <am3d:extLst>
                    <a:ext uri="{9A65AA19-BECB-4387-8358-8AD5134E1D82}">
                      <a3danim:embedAnim xmlns:a3danim="http://schemas.microsoft.com/office/drawing/2018/animation/model3d" animId="0">
                        <a3danim:animPr length="5000" count="indefinite"/>
                      </a3danim:embedAnim>
                    </a:ext>
                    <a:ext uri="{E9DE012E-A134-456F-84FE-255F9AAD75C6}">
                      <a3danim:posterFrame xmlns:a3danim="http://schemas.microsoft.com/office/drawing/2018/animation/model3d" animId="0"/>
                    </a:ext>
                  </am3d:extLst>
                  <am3d:objViewport viewportSz="3438144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46" name="!!m-cycle">
                <a:extLst>
                  <a:ext uri="{FF2B5EF4-FFF2-40B4-BE49-F238E27FC236}">
                    <a16:creationId xmlns:a16="http://schemas.microsoft.com/office/drawing/2014/main" id="{FC1E720E-5228-897E-72D5-77B9CA82F87B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-4032504" y="1700784"/>
                <a:ext cx="3438144" cy="343814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47" name="!!m-triggers">
                <a:extLst>
                  <a:ext uri="{FF2B5EF4-FFF2-40B4-BE49-F238E27FC236}">
                    <a16:creationId xmlns:a16="http://schemas.microsoft.com/office/drawing/2014/main" id="{23550A43-3F1B-9097-3CE3-78B0D2803E09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12786055" y="3163824"/>
              <a:ext cx="3401568" cy="3401568"/>
            </p:xfrm>
            <a:graphic>
              <a:graphicData uri="http://schemas.microsoft.com/office/drawing/2017/model3d">
                <am3d:model3d r:embed="rIdM3d11">
                  <am3d:spPr>
                    <a:xfrm>
                      <a:off x="0" y="0"/>
                      <a:ext cx="3401568" cy="3401568"/>
                    </a:xfrm>
                    <a:prstGeom prst="rect">
                      <a:avLst/>
                    </a:prstGeom>
                  </am3d:spPr>
                  <am3d:camera>
                    <am3d:pos x="0" y="0" z="58755138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523834" d="1000000"/>
                    <am3d:preTrans dx="9429" dy="-707176" dz="-1697224"/>
                    <am3d:scale>
                      <am3d:sx n="1000000" d="1000000"/>
                      <am3d:sy n="1000000" d="1000000"/>
                      <am3d:sz n="1000000" d="1000000"/>
                    </am3d:scale>
                    <am3d:rot ax="720000" ay="3120000" az="0"/>
                    <am3d:postTrans dx="0" dy="0" dz="0"/>
                  </am3d:trans>
                  <am3d:raster rName="Office3DRenderer" rVer="16.0.8326">
                    <am3d:blip r:embed="rId10"/>
                  </am3d:raster>
                  <am3d:extLst>
                    <a:ext uri="{9A65AA19-BECB-4387-8358-8AD5134E1D82}">
                      <a3danim:embedAnim xmlns:a3danim="http://schemas.microsoft.com/office/drawing/2018/animation/model3d" animId="0">
                        <a3danim:animPr length="4000" count="indefinite"/>
                      </a3danim:embedAnim>
                    </a:ext>
                    <a:ext uri="{E9DE012E-A134-456F-84FE-255F9AAD75C6}">
                      <a3danim:posterFrame xmlns:a3danim="http://schemas.microsoft.com/office/drawing/2018/animation/model3d" animId="0"/>
                    </a:ext>
                  </am3d:extLst>
                  <am3d:objViewport viewportSz="3401568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47" name="!!m-triggers">
                <a:extLst>
                  <a:ext uri="{FF2B5EF4-FFF2-40B4-BE49-F238E27FC236}">
                    <a16:creationId xmlns:a16="http://schemas.microsoft.com/office/drawing/2014/main" id="{23550A43-3F1B-9097-3CE3-78B0D2803E09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12786055" y="3163824"/>
                <a:ext cx="3401568" cy="3401568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7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70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70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7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70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70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7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70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70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7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70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70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7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70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70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7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7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7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7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7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7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2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7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7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7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7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7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7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7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7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7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7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8" dur="7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7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2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7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3" dur="7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" dur="7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7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7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7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7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2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7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3" dur="7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4" dur="7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7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7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8" dur="7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7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2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7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3" dur="7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4" dur="7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7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7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8" dur="70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9" dur="70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2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7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3" dur="70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4" dur="70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7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7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8" dur="70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9" dur="70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2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7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3" dur="70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4" dur="70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7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7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8" dur="70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9" dur="70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2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7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3" dur="700" decel="100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4" dur="700" decel="100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7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6" dur="7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8" dur="700" decel="100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9" dur="700" decel="100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2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7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3" dur="700" decel="100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4" dur="700" decel="100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7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6" dur="7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8" dur="700" decel="100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9" dur="700" decel="100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1" dur="7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3" dur="700" decel="1000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4" dur="700" decel="1000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7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6" dur="7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8" dur="700" decel="1000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9" dur="700" decel="1000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1" dur="7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3" dur="700" decel="1000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4" dur="700" decel="1000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7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6" dur="7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8" dur="700" decel="1000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9" dur="700" decel="1000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0" presetID="100" presetClass="emph" presetSubtype="1" repeatCount="indefinite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151" dur="4208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embedded1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5" grpId="0" animBg="1"/>
      <p:bldP spid="43" grpId="0" animBg="1"/>
      <p:bldP spid="44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am3d="http://schemas.microsoft.com/office/drawing/2017/model3d" mc:Ignorable="am3d">
  <p:cSld name="Slide 5">
    <p:bg>
      <p:bgPr>
        <a:solidFill>
          <a:srgbClr val="22528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blue-grunge" descr="/home/user/MyWorkAiBrain/presentations/impulse/assets/memes/blue-grunge-16x9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series"/>
          <p:cNvSpPr/>
          <p:nvPr/>
        </p:nvSpPr>
        <p:spPr>
          <a:xfrm>
            <a:off x="658368" y="182880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40" b="1" spc="110" kern="0" dirty="0">
                <a:solidFill>
                  <a:srgbClr val="FFFD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ПСИХОЛОГИЯ ИМПУЛЬСИВНЫХ ПОКУПОК</a:t>
            </a:r>
            <a:endParaRPr lang="en-US" sz="940" dirty="0"/>
          </a:p>
        </p:txBody>
      </p:sp>
      <p:pic>
        <p:nvPicPr>
          <p:cNvPr id="4" name="!!red-swash" descr="/home/user/MyWorkAiBrain/presentations/impulse/assets/memes/red-brush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438912"/>
            <a:ext cx="2057400" cy="164592"/>
          </a:xfrm>
          <a:prstGeom prst="rect">
            <a:avLst/>
          </a:prstGeom>
        </p:spPr>
      </p:pic>
      <p:sp>
        <p:nvSpPr>
          <p:cNvPr id="5" name="!!page-sticker"/>
          <p:cNvSpPr/>
          <p:nvPr/>
        </p:nvSpPr>
        <p:spPr>
          <a:xfrm rot="120000">
            <a:off x="10488168" y="146304"/>
            <a:ext cx="1051560" cy="393192"/>
          </a:xfrm>
          <a:prstGeom prst="rect">
            <a:avLst/>
          </a:prstGeom>
          <a:solidFill>
            <a:srgbClr val="FFD84A"/>
          </a:solidFill>
          <a:ln w="10160">
            <a:solidFill>
              <a:srgbClr val="171C22"/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sp>
        <p:nvSpPr>
          <p:cNvPr id="6" name="!!page"/>
          <p:cNvSpPr/>
          <p:nvPr/>
        </p:nvSpPr>
        <p:spPr>
          <a:xfrm>
            <a:off x="10543032" y="237744"/>
            <a:ext cx="9326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71C2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05 / 10</a:t>
            </a:r>
            <a:endParaRPr lang="en-US" sz="1050" dirty="0"/>
          </a:p>
        </p:txBody>
      </p:sp>
      <p:sp>
        <p:nvSpPr>
          <p:cNvPr id="7" name="!!footer"/>
          <p:cNvSpPr/>
          <p:nvPr/>
        </p:nvSpPr>
        <p:spPr>
          <a:xfrm>
            <a:off x="658368" y="6547104"/>
            <a:ext cx="7863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40" b="1" spc="35" kern="0" dirty="0">
                <a:solidFill>
                  <a:srgbClr val="FFFD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#план_исследования  ·  СОБСТВЕННЫХ ДАННЫХ ПОКА НЕТ</a:t>
            </a:r>
            <a:endParaRPr lang="en-US" sz="840" dirty="0"/>
          </a:p>
        </p:txBody>
      </p:sp>
      <p:sp>
        <p:nvSpPr>
          <p:cNvPr id="8" name="!!meme-title"/>
          <p:cNvSpPr/>
          <p:nvPr/>
        </p:nvSpPr>
        <p:spPr>
          <a:xfrm>
            <a:off x="658368" y="859536"/>
            <a:ext cx="717804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2850" b="1" dirty="0">
                <a:solidFill>
                  <a:srgbClr val="FFFD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ТРИГГЕРЫ: «Я ТОЛЬКО ПОСМОТРЕТЬ»</a:t>
            </a:r>
            <a:endParaRPr lang="en-US" sz="2850" dirty="0"/>
          </a:p>
        </p:txBody>
      </p:sp>
      <p:pic>
        <p:nvPicPr>
          <p:cNvPr id="9" name="!!red-underline" descr="/home/user/MyWorkAiBrain/presentations/impulse/assets/memes/red-brush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1527048"/>
            <a:ext cx="3657600" cy="219456"/>
          </a:xfrm>
          <a:prstGeom prst="rect">
            <a:avLst/>
          </a:prstGeom>
        </p:spPr>
      </p:pic>
      <p:sp>
        <p:nvSpPr>
          <p:cNvPr id="10" name="fx5_2_0"/>
          <p:cNvSpPr/>
          <p:nvPr/>
        </p:nvSpPr>
        <p:spPr>
          <a:xfrm>
            <a:off x="658368" y="1856232"/>
            <a:ext cx="6446520" cy="3584448"/>
          </a:xfrm>
          <a:prstGeom prst="roundRect">
            <a:avLst>
              <a:gd name="adj" fmla="val 638"/>
            </a:avLst>
          </a:prstGeom>
          <a:solidFill>
            <a:srgbClr val="F5F1E7"/>
          </a:solidFill>
          <a:ln w="12700">
            <a:solidFill>
              <a:srgbClr val="171C22"/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pic>
        <p:nvPicPr>
          <p:cNvPr id="11" name="fx5_2_1" descr="/home/user/MyWorkAiBrain/presentations/impulse/assets/memes/torn-paper.png">    </p:cNvPr>
          <p:cNvPicPr>
            <a:picLocks noChangeAspect="1"/>
          </p:cNvPicPr>
          <p:nvPr/>
        </p:nvPicPr>
        <p:blipFill>
          <a:blip r:embed="rId4">
            <a:alphaModFix amt="96000"/>
          </a:blip>
          <a:stretch>
            <a:fillRect/>
          </a:stretch>
        </p:blipFill>
        <p:spPr>
          <a:xfrm>
            <a:off x="685800" y="1879092"/>
            <a:ext cx="6391656" cy="155448"/>
          </a:xfrm>
          <a:prstGeom prst="rect">
            <a:avLst/>
          </a:prstGeom>
        </p:spPr>
      </p:pic>
      <p:sp>
        <p:nvSpPr>
          <p:cNvPr id="12" name="fx5_2_2"/>
          <p:cNvSpPr/>
          <p:nvPr/>
        </p:nvSpPr>
        <p:spPr>
          <a:xfrm>
            <a:off x="886968" y="2203704"/>
            <a:ext cx="2331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70" b="1" dirty="0">
                <a:solidFill>
                  <a:srgbClr val="EF263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FOMO</a:t>
            </a:r>
            <a:endParaRPr lang="en-US" sz="1070" dirty="0"/>
          </a:p>
        </p:txBody>
      </p:sp>
      <p:sp>
        <p:nvSpPr>
          <p:cNvPr id="13" name="fx5_2_3"/>
          <p:cNvSpPr/>
          <p:nvPr/>
        </p:nvSpPr>
        <p:spPr>
          <a:xfrm>
            <a:off x="3108960" y="2203704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10" b="1" dirty="0">
                <a:solidFill>
                  <a:srgbClr val="171C2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«вдруг упущу»</a:t>
            </a:r>
            <a:endParaRPr lang="en-US" sz="1010" dirty="0"/>
          </a:p>
        </p:txBody>
      </p:sp>
      <p:sp>
        <p:nvSpPr>
          <p:cNvPr id="14" name="fx5_2_4"/>
          <p:cNvSpPr/>
          <p:nvPr/>
        </p:nvSpPr>
        <p:spPr>
          <a:xfrm>
            <a:off x="886968" y="2688336"/>
            <a:ext cx="5888736" cy="91"/>
          </a:xfrm>
          <a:prstGeom prst="line">
            <a:avLst/>
          </a:prstGeom>
          <a:noFill/>
          <a:ln w="8255">
            <a:solidFill>
              <a:srgbClr val="9AA4AC">
                <a:alpha val="75000"/>
              </a:srgbClr>
            </a:solidFill>
            <a:prstDash val="solid"/>
          </a:ln>
        </p:spPr>
      </p:sp>
      <p:sp>
        <p:nvSpPr>
          <p:cNvPr id="15" name="fx5_2_5"/>
          <p:cNvSpPr/>
          <p:nvPr/>
        </p:nvSpPr>
        <p:spPr>
          <a:xfrm>
            <a:off x="886968" y="2916936"/>
            <a:ext cx="2331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70" b="1" dirty="0">
                <a:solidFill>
                  <a:srgbClr val="2860D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СРАВНЕНИЕ</a:t>
            </a:r>
            <a:endParaRPr lang="en-US" sz="1070" dirty="0"/>
          </a:p>
        </p:txBody>
      </p:sp>
      <p:sp>
        <p:nvSpPr>
          <p:cNvPr id="16" name="fx5_2_6"/>
          <p:cNvSpPr/>
          <p:nvPr/>
        </p:nvSpPr>
        <p:spPr>
          <a:xfrm>
            <a:off x="3108960" y="2916936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10" b="1" dirty="0">
                <a:solidFill>
                  <a:srgbClr val="171C2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«у всех уже есть»</a:t>
            </a:r>
            <a:endParaRPr lang="en-US" sz="1010" dirty="0"/>
          </a:p>
        </p:txBody>
      </p:sp>
      <p:sp>
        <p:nvSpPr>
          <p:cNvPr id="17" name="fx5_2_7"/>
          <p:cNvSpPr/>
          <p:nvPr/>
        </p:nvSpPr>
        <p:spPr>
          <a:xfrm>
            <a:off x="886968" y="3401568"/>
            <a:ext cx="5888736" cy="91"/>
          </a:xfrm>
          <a:prstGeom prst="line">
            <a:avLst/>
          </a:prstGeom>
          <a:noFill/>
          <a:ln w="8255">
            <a:solidFill>
              <a:srgbClr val="9AA4AC">
                <a:alpha val="75000"/>
              </a:srgbClr>
            </a:solidFill>
            <a:prstDash val="solid"/>
          </a:ln>
        </p:spPr>
      </p:sp>
      <p:sp>
        <p:nvSpPr>
          <p:cNvPr id="18" name="fx5_2_8"/>
          <p:cNvSpPr/>
          <p:nvPr/>
        </p:nvSpPr>
        <p:spPr>
          <a:xfrm>
            <a:off x="886968" y="3630168"/>
            <a:ext cx="2331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70" b="1" dirty="0">
                <a:solidFill>
                  <a:srgbClr val="EF263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СРОЧНОСТЬ</a:t>
            </a:r>
            <a:endParaRPr lang="en-US" sz="1070" dirty="0"/>
          </a:p>
        </p:txBody>
      </p:sp>
      <p:sp>
        <p:nvSpPr>
          <p:cNvPr id="19" name="fx5_2_9"/>
          <p:cNvSpPr/>
          <p:nvPr/>
        </p:nvSpPr>
        <p:spPr>
          <a:xfrm>
            <a:off x="3108960" y="3630168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10" b="1" dirty="0">
                <a:solidFill>
                  <a:srgbClr val="171C2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таймер · «осталось мало»</a:t>
            </a:r>
            <a:endParaRPr lang="en-US" sz="1010" dirty="0"/>
          </a:p>
        </p:txBody>
      </p:sp>
      <p:sp>
        <p:nvSpPr>
          <p:cNvPr id="20" name="fx5_2_10"/>
          <p:cNvSpPr/>
          <p:nvPr/>
        </p:nvSpPr>
        <p:spPr>
          <a:xfrm>
            <a:off x="886968" y="4114800"/>
            <a:ext cx="5888736" cy="91"/>
          </a:xfrm>
          <a:prstGeom prst="line">
            <a:avLst/>
          </a:prstGeom>
          <a:noFill/>
          <a:ln w="8255">
            <a:solidFill>
              <a:srgbClr val="9AA4AC">
                <a:alpha val="75000"/>
              </a:srgbClr>
            </a:solidFill>
            <a:prstDash val="solid"/>
          </a:ln>
        </p:spPr>
      </p:sp>
      <p:sp>
        <p:nvSpPr>
          <p:cNvPr id="21" name="fx5_2_11"/>
          <p:cNvSpPr/>
          <p:nvPr/>
        </p:nvSpPr>
        <p:spPr>
          <a:xfrm>
            <a:off x="886968" y="4343400"/>
            <a:ext cx="2331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70" b="1" dirty="0">
                <a:solidFill>
                  <a:srgbClr val="4F9C7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МЕНЬШЕ ТРЕНИЯ</a:t>
            </a:r>
            <a:endParaRPr lang="en-US" sz="1070" dirty="0"/>
          </a:p>
        </p:txBody>
      </p:sp>
      <p:sp>
        <p:nvSpPr>
          <p:cNvPr id="22" name="fx5_2_12"/>
          <p:cNvSpPr/>
          <p:nvPr/>
        </p:nvSpPr>
        <p:spPr>
          <a:xfrm>
            <a:off x="3108960" y="4343400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10" b="1" dirty="0">
                <a:solidFill>
                  <a:srgbClr val="171C2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один тап · карта сохранена</a:t>
            </a:r>
            <a:endParaRPr lang="en-US" sz="1010" dirty="0"/>
          </a:p>
        </p:txBody>
      </p:sp>
      <p:sp>
        <p:nvSpPr>
          <p:cNvPr id="23" name="fx5_4_13"/>
          <p:cNvSpPr/>
          <p:nvPr/>
        </p:nvSpPr>
        <p:spPr>
          <a:xfrm rot="-24000">
            <a:off x="658368" y="5577840"/>
            <a:ext cx="6336792" cy="393192"/>
          </a:xfrm>
          <a:prstGeom prst="rect">
            <a:avLst/>
          </a:prstGeom>
          <a:solidFill>
            <a:srgbClr val="EF2634"/>
          </a:solidFill>
          <a:ln w="10795">
            <a:solidFill>
              <a:srgbClr val="171C22"/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sp>
        <p:nvSpPr>
          <p:cNvPr id="24" name="fx5_4_14"/>
          <p:cNvSpPr/>
          <p:nvPr/>
        </p:nvSpPr>
        <p:spPr>
          <a:xfrm>
            <a:off x="713232" y="5618988"/>
            <a:ext cx="62270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1220" b="1" dirty="0">
                <a:solidFill>
                  <a:srgbClr val="FFFD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МОЗГ: «НО ТАМ СКИДКА!»</a:t>
            </a:r>
            <a:endParaRPr lang="en-US" sz="1220" dirty="0"/>
          </a:p>
        </p:txBody>
      </p:sp>
      <p:sp>
        <p:nvSpPr>
          <p:cNvPr id="25" name="fx5_2_15"/>
          <p:cNvSpPr/>
          <p:nvPr/>
        </p:nvSpPr>
        <p:spPr>
          <a:xfrm>
            <a:off x="7900416" y="1060704"/>
            <a:ext cx="3383280" cy="2414016"/>
          </a:xfrm>
          <a:prstGeom prst="rect">
            <a:avLst/>
          </a:prstGeom>
          <a:solidFill>
            <a:srgbClr val="FFFFFF"/>
          </a:solidFill>
          <a:ln w="12700">
            <a:solidFill>
              <a:srgbClr val="171C22"/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pic>
        <p:nvPicPr>
          <p:cNvPr id="26" name="fx5_2_16" descr="/home/user/MyWorkAiBrain/presentations/impulse/assets/memes/serotonin-cat.jpe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59852" y="1120140"/>
            <a:ext cx="3264408" cy="2295144"/>
          </a:xfrm>
          <a:prstGeom prst="rect">
            <a:avLst/>
          </a:prstGeom>
        </p:spPr>
      </p:pic>
      <p:pic>
        <p:nvPicPr>
          <p:cNvPr id="27" name="!!warm-glow" descr="/home/user/MyWorkAiBrain/presentations/impulse/assets/glow.png">    </p:cNvPr>
          <p:cNvPicPr>
            <a:picLocks noChangeAspect="1"/>
          </p:cNvPicPr>
          <p:nvPr/>
        </p:nvPicPr>
        <p:blipFill>
          <a:blip r:embed="rId6">
            <a:alphaModFix amt="62000"/>
          </a:blip>
          <a:stretch>
            <a:fillRect/>
          </a:stretch>
        </p:blipFill>
        <p:spPr>
          <a:xfrm>
            <a:off x="7348484" y="2401580"/>
            <a:ext cx="4285976" cy="4285976"/>
          </a:xfrm>
          <a:prstGeom prst="rect">
            <a:avLst/>
          </a:prstGeom>
        </p:spPr>
      </p:pic>
      <p:sp>
        <p:nvSpPr>
          <p:cNvPr id="28" name="!!paper-sticker"/>
          <p:cNvSpPr/>
          <p:nvPr/>
        </p:nvSpPr>
        <p:spPr>
          <a:xfrm>
            <a:off x="7991381" y="3044477"/>
            <a:ext cx="3000183" cy="3000183"/>
          </a:xfrm>
          <a:prstGeom prst="ellipse">
            <a:avLst/>
          </a:prstGeom>
          <a:solidFill>
            <a:srgbClr val="F5F1E7">
              <a:alpha val="78000"/>
            </a:srgbClr>
          </a:solidFill>
          <a:ln w="15240">
            <a:solidFill>
              <a:srgbClr val="FFFDF6">
                <a:alpha val="92000"/>
              </a:srgbClr>
            </a:solidFill>
            <a:prstDash val="solid"/>
          </a:ln>
        </p:spPr>
      </p:sp>
      <p:sp>
        <p:nvSpPr>
          <p:cNvPr id="29" name="!!comic-ring"/>
          <p:cNvSpPr/>
          <p:nvPr/>
        </p:nvSpPr>
        <p:spPr>
          <a:xfrm>
            <a:off x="7777082" y="2830178"/>
            <a:ext cx="3428781" cy="3428781"/>
          </a:xfrm>
          <a:prstGeom prst="ellipse">
            <a:avLst/>
          </a:prstGeom>
          <a:ln w="19050">
            <a:solidFill>
              <a:srgbClr val="EF2634">
                <a:alpha val="94000"/>
              </a:srgbClr>
            </a:solidFill>
            <a:prstDash val="dash"/>
          </a:ln>
        </p:spPr>
      </p:sp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30" name="!!m-triggers">
                <a:extLst>
                  <a:ext uri="{FF2B5EF4-FFF2-40B4-BE49-F238E27FC236}">
                    <a16:creationId xmlns:a16="http://schemas.microsoft.com/office/drawing/2014/main" id="{23C44EB8-D311-489F-1435-3F111685CCE2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7790688" y="2843784"/>
              <a:ext cx="3401568" cy="3401568"/>
            </p:xfrm>
            <a:graphic>
              <a:graphicData uri="http://schemas.microsoft.com/office/drawing/2017/model3d">
                <am3d:model3d r:embed="rIdM3d12">
                  <am3d:spPr>
                    <a:xfrm>
                      <a:off x="0" y="0"/>
                      <a:ext cx="3401568" cy="3401568"/>
                    </a:xfrm>
                    <a:prstGeom prst="rect">
                      <a:avLst/>
                    </a:prstGeom>
                  </am3d:spPr>
                  <am3d:camera>
                    <am3d:pos x="0" y="0" z="58755138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523834" d="1000000"/>
                    <am3d:preTrans dx="9429" dy="-707176" dz="-1697224"/>
                    <am3d:scale>
                      <am3d:sx n="1000000" d="1000000"/>
                      <am3d:sy n="1000000" d="1000000"/>
                      <am3d:sz n="1000000" d="1000000"/>
                    </am3d:scale>
                    <am3d:rot ax="720000" ay="-1200000" az="0"/>
                    <am3d:postTrans dx="0" dy="0" dz="0"/>
                  </am3d:trans>
                  <am3d:raster rName="Office3DRenderer" rVer="16.0.8326">
                    <am3d:blip r:embed="rId7"/>
                  </am3d:raster>
                  <am3d:extLst>
                    <a:ext uri="{9A65AA19-BECB-4387-8358-8AD5134E1D82}">
                      <a3danim:embedAnim xmlns:a3danim="http://schemas.microsoft.com/office/drawing/2018/animation/model3d" animId="0">
                        <a3danim:animPr length="4000" count="indefinite"/>
                      </a3danim:embedAnim>
                    </a:ext>
                    <a:ext uri="{E9DE012E-A134-456F-84FE-255F9AAD75C6}">
                      <a3danim:posterFrame xmlns:a3danim="http://schemas.microsoft.com/office/drawing/2018/animation/model3d" animId="0"/>
                    </a:ext>
                  </am3d:extLst>
                  <am3d:objViewport viewportSz="3401568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30" name="!!m-triggers">
                <a:extLst>
                  <a:ext uri="{FF2B5EF4-FFF2-40B4-BE49-F238E27FC236}">
                    <a16:creationId xmlns:a16="http://schemas.microsoft.com/office/drawing/2014/main" id="{23C44EB8-D311-489F-1435-3F111685CCE2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7790688" y="2843784"/>
                <a:ext cx="3401568" cy="3401568"/>
              </a:xfrm>
              <a:prstGeom prst="rect">
                <a:avLst/>
              </a:prstGeom>
            </p:spPr>
          </p:pic>
        </mc:Fallback>
      </mc:AlternateContent>
      <p:sp>
        <p:nvSpPr>
          <p:cNvPr id="31" name="Shape 22"/>
          <p:cNvSpPr/>
          <p:nvPr/>
        </p:nvSpPr>
        <p:spPr>
          <a:xfrm rot="120000">
            <a:off x="10103754" y="2945831"/>
            <a:ext cx="731520" cy="310896"/>
          </a:xfrm>
          <a:prstGeom prst="rect">
            <a:avLst/>
          </a:prstGeom>
          <a:solidFill>
            <a:srgbClr val="FFD84A"/>
          </a:solidFill>
          <a:ln w="10795">
            <a:solidFill>
              <a:srgbClr val="171C22"/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sp>
        <p:nvSpPr>
          <p:cNvPr id="32" name="Text 23"/>
          <p:cNvSpPr/>
          <p:nvPr/>
        </p:nvSpPr>
        <p:spPr>
          <a:xfrm>
            <a:off x="10158618" y="2986979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900" b="1" dirty="0">
                <a:solidFill>
                  <a:srgbClr val="171C2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ПИНГ!</a:t>
            </a:r>
            <a:endParaRPr lang="en-US" sz="900" dirty="0"/>
          </a:p>
        </p:txBody>
      </p:sp>
      <p:sp>
        <p:nvSpPr>
          <p:cNvPr id="33" name="Text 24"/>
          <p:cNvSpPr/>
          <p:nvPr/>
        </p:nvSpPr>
        <p:spPr>
          <a:xfrm>
            <a:off x="658368" y="6144768"/>
            <a:ext cx="10607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20" b="1" dirty="0">
                <a:solidFill>
                  <a:srgbClr val="FFFD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Опора: Anoop &amp; Rahman (2025); Przybylski et al. (2013); Gibbons &amp; Buunk (1999). Связь ≠ причинность.</a:t>
            </a:r>
            <a:endParaRPr lang="en-US" sz="820" dirty="0"/>
          </a:p>
        </p:txBody>
      </p:sp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34" name="!!m-chestnut">
                <a:extLst>
                  <a:ext uri="{FF2B5EF4-FFF2-40B4-BE49-F238E27FC236}">
                    <a16:creationId xmlns:a16="http://schemas.microsoft.com/office/drawing/2014/main" id="{56085D23-E4A4-7643-5590-09D8BA3669B4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-1984248" y="4416552"/>
              <a:ext cx="1389888" cy="1389888"/>
            </p:xfrm>
            <a:graphic>
              <a:graphicData uri="http://schemas.microsoft.com/office/drawing/2017/model3d">
                <am3d:model3d r:embed="rIdM3d13">
                  <am3d:spPr>
                    <a:xfrm>
                      <a:off x="0" y="0"/>
                      <a:ext cx="1389888" cy="1389888"/>
                    </a:xfrm>
                    <a:prstGeom prst="rect">
                      <a:avLst/>
                    </a:prstGeom>
                  </am3d:spPr>
                  <am3d:camera>
                    <am3d:pos x="0" y="0" z="77805558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661313" d="1000000"/>
                    <am3d:preTrans dx="-26856" dy="-2766516" dz="1458806"/>
                    <am3d:scale>
                      <am3d:sx n="1000000" d="1000000"/>
                      <am3d:sy n="1000000" d="1000000"/>
                      <am3d:sz n="1000000" d="1000000"/>
                    </am3d:scale>
                    <am3d:rot ax="600000" ay="-5400000" az="0"/>
                    <am3d:postTrans dx="0" dy="0" dz="0"/>
                  </am3d:trans>
                  <am3d:raster rName="Office3DRenderer" rVer="16.0.8326">
                    <am3d:blip r:embed="rId8"/>
                  </am3d:raster>
                  <am3d:extLst>
                    <a:ext uri="{9A65AA19-BECB-4387-8358-8AD5134E1D82}">
                      <a3danim:embedAnim xmlns:a3danim="http://schemas.microsoft.com/office/drawing/2018/animation/model3d" animId="0">
                        <a3danim:animPr length="4208" count="indefinite"/>
                      </a3danim:embedAnim>
                    </a:ext>
                    <a:ext uri="{E9DE012E-A134-456F-84FE-255F9AAD75C6}">
                      <a3danim:posterFrame xmlns:a3danim="http://schemas.microsoft.com/office/drawing/2018/animation/model3d" animId="0"/>
                    </a:ext>
                  </am3d:extLst>
                  <am3d:objViewport viewportSz="1389888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34" name="!!m-chestnut">
                <a:extLst>
                  <a:ext uri="{FF2B5EF4-FFF2-40B4-BE49-F238E27FC236}">
                    <a16:creationId xmlns:a16="http://schemas.microsoft.com/office/drawing/2014/main" id="{56085D23-E4A4-7643-5590-09D8BA3669B4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-1984248" y="4416552"/>
                <a:ext cx="1389888" cy="1389888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35" name="!!m-scale">
                <a:extLst>
                  <a:ext uri="{FF2B5EF4-FFF2-40B4-BE49-F238E27FC236}">
                    <a16:creationId xmlns:a16="http://schemas.microsoft.com/office/drawing/2014/main" id="{B0D651F5-9408-7FA5-5C76-E29C6F57BCD1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12786055" y="3182112"/>
              <a:ext cx="3383280" cy="3383280"/>
            </p:xfrm>
            <a:graphic>
              <a:graphicData uri="http://schemas.microsoft.com/office/drawing/2017/model3d">
                <am3d:model3d r:embed="rIdM3d14">
                  <am3d:spPr>
                    <a:xfrm>
                      <a:off x="0" y="0"/>
                      <a:ext cx="3383280" cy="3383280"/>
                    </a:xfrm>
                    <a:prstGeom prst="rect">
                      <a:avLst/>
                    </a:prstGeom>
                  </am3d:spPr>
                  <am3d:camera>
                    <am3d:pos x="0" y="0" z="60967730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591716" d="1000000"/>
                    <am3d:preTrans dx="0" dy="479290" dz="0"/>
                    <am3d:scale>
                      <am3d:sx n="1000000" d="1000000"/>
                      <am3d:sy n="1000000" d="1000000"/>
                      <am3d:sz n="1000000" d="1000000"/>
                    </am3d:scale>
                    <am3d:rot ax="480000" ay="3180000" az="0"/>
                    <am3d:postTrans dx="0" dy="0" dz="0"/>
                  </am3d:trans>
                  <am3d:raster rName="Office3DRenderer" rVer="16.0.8326">
                    <am3d:blip r:embed="rId9"/>
                  </am3d:raster>
                  <am3d:extLst>
                    <a:ext uri="{9A65AA19-BECB-4387-8358-8AD5134E1D82}">
                      <a3danim:embedAnim xmlns:a3danim="http://schemas.microsoft.com/office/drawing/2018/animation/model3d" animId="0">
                        <a3danim:animPr length="4000" count="indefinite"/>
                      </a3danim:embedAnim>
                    </a:ext>
                    <a:ext uri="{E9DE012E-A134-456F-84FE-255F9AAD75C6}">
                      <a3danim:posterFrame xmlns:a3danim="http://schemas.microsoft.com/office/drawing/2018/animation/model3d" animId="0"/>
                    </a:ext>
                  </am3d:extLst>
                  <am3d:objViewport viewportSz="338328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35" name="!!m-scale">
                <a:extLst>
                  <a:ext uri="{FF2B5EF4-FFF2-40B4-BE49-F238E27FC236}">
                    <a16:creationId xmlns:a16="http://schemas.microsoft.com/office/drawing/2014/main" id="{B0D651F5-9408-7FA5-5C76-E29C6F57BCD1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12786055" y="3182112"/>
                <a:ext cx="3383280" cy="338328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7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70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70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7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70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70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7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70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70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7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70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70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7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70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70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7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7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7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7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7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7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2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7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7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7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7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7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7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7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7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7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7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8" dur="7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7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2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7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3" dur="7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" dur="7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7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7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7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7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2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7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3" dur="7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4" dur="7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7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7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8" dur="70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70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7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3" dur="7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4" dur="7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7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7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8" dur="7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9" dur="7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0" presetID="100" presetClass="emph" presetSubtype="1" repeatCount="indefinite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91" dur="4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embedded1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5" grpId="0" animBg="1"/>
      <p:bldP spid="23" grpId="0" animBg="1"/>
      <p:bldP spid="24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am3d="http://schemas.microsoft.com/office/drawing/2017/model3d" mc:Ignorable="am3d">
  <p:cSld name="Slide 6">
    <p:bg>
      <p:bgPr>
        <a:solidFill>
          <a:srgbClr val="22528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blue-grunge" descr="/home/user/MyWorkAiBrain/presentations/impulse/assets/memes/blue-grunge-16x9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series"/>
          <p:cNvSpPr/>
          <p:nvPr/>
        </p:nvSpPr>
        <p:spPr>
          <a:xfrm>
            <a:off x="658368" y="182880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40" b="1" spc="110" kern="0" dirty="0">
                <a:solidFill>
                  <a:srgbClr val="FFFD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ПСИХОЛОГИЯ ИМПУЛЬСИВНЫХ ПОКУПОК</a:t>
            </a:r>
            <a:endParaRPr lang="en-US" sz="940" dirty="0"/>
          </a:p>
        </p:txBody>
      </p:sp>
      <p:pic>
        <p:nvPicPr>
          <p:cNvPr id="4" name="!!red-swash" descr="/home/user/MyWorkAiBrain/presentations/impulse/assets/memes/red-brush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438912"/>
            <a:ext cx="2057400" cy="164592"/>
          </a:xfrm>
          <a:prstGeom prst="rect">
            <a:avLst/>
          </a:prstGeom>
        </p:spPr>
      </p:pic>
      <p:sp>
        <p:nvSpPr>
          <p:cNvPr id="5" name="!!page-sticker"/>
          <p:cNvSpPr/>
          <p:nvPr/>
        </p:nvSpPr>
        <p:spPr>
          <a:xfrm rot="120000">
            <a:off x="10488168" y="146304"/>
            <a:ext cx="1051560" cy="393192"/>
          </a:xfrm>
          <a:prstGeom prst="rect">
            <a:avLst/>
          </a:prstGeom>
          <a:solidFill>
            <a:srgbClr val="FFD84A"/>
          </a:solidFill>
          <a:ln w="10160">
            <a:solidFill>
              <a:srgbClr val="171C22"/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sp>
        <p:nvSpPr>
          <p:cNvPr id="6" name="!!page"/>
          <p:cNvSpPr/>
          <p:nvPr/>
        </p:nvSpPr>
        <p:spPr>
          <a:xfrm>
            <a:off x="10543032" y="237744"/>
            <a:ext cx="9326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71C2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06 / 10</a:t>
            </a:r>
            <a:endParaRPr lang="en-US" sz="1050" dirty="0"/>
          </a:p>
        </p:txBody>
      </p:sp>
      <p:sp>
        <p:nvSpPr>
          <p:cNvPr id="7" name="!!footer"/>
          <p:cNvSpPr/>
          <p:nvPr/>
        </p:nvSpPr>
        <p:spPr>
          <a:xfrm>
            <a:off x="658368" y="6547104"/>
            <a:ext cx="7863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40" b="1" spc="35" kern="0" dirty="0">
                <a:solidFill>
                  <a:srgbClr val="FFFD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#план_исследования  ·  СОБСТВЕННЫХ ДАННЫХ ПОКА НЕТ</a:t>
            </a:r>
            <a:endParaRPr lang="en-US" sz="840" dirty="0"/>
          </a:p>
        </p:txBody>
      </p:sp>
      <p:sp>
        <p:nvSpPr>
          <p:cNvPr id="8" name="!!meme-title"/>
          <p:cNvSpPr/>
          <p:nvPr/>
        </p:nvSpPr>
        <p:spPr>
          <a:xfrm>
            <a:off x="658368" y="859536"/>
            <a:ext cx="708660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2750" b="1" dirty="0">
                <a:solidFill>
                  <a:srgbClr val="FFFD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ГИПОТЕЗЫ: ВОТ ЭТО МЫ ПРОВЕРИМ</a:t>
            </a:r>
            <a:endParaRPr lang="en-US" sz="2750" dirty="0"/>
          </a:p>
        </p:txBody>
      </p:sp>
      <p:pic>
        <p:nvPicPr>
          <p:cNvPr id="9" name="!!red-underline" descr="/home/user/MyWorkAiBrain/presentations/impulse/assets/memes/red-brush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1527048"/>
            <a:ext cx="3657600" cy="219456"/>
          </a:xfrm>
          <a:prstGeom prst="rect">
            <a:avLst/>
          </a:prstGeom>
        </p:spPr>
      </p:pic>
      <p:sp>
        <p:nvSpPr>
          <p:cNvPr id="10" name="fx6_2_0"/>
          <p:cNvSpPr/>
          <p:nvPr/>
        </p:nvSpPr>
        <p:spPr>
          <a:xfrm>
            <a:off x="658368" y="1856232"/>
            <a:ext cx="6446520" cy="832104"/>
          </a:xfrm>
          <a:prstGeom prst="roundRect">
            <a:avLst>
              <a:gd name="adj" fmla="val 2747"/>
            </a:avLst>
          </a:prstGeom>
          <a:solidFill>
            <a:srgbClr val="F5F1E7"/>
          </a:solidFill>
          <a:ln w="12700">
            <a:solidFill>
              <a:srgbClr val="171C22"/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pic>
        <p:nvPicPr>
          <p:cNvPr id="11" name="fx6_2_1" descr="/home/user/MyWorkAiBrain/presentations/impulse/assets/memes/torn-paper.png">    </p:cNvPr>
          <p:cNvPicPr>
            <a:picLocks noChangeAspect="1"/>
          </p:cNvPicPr>
          <p:nvPr/>
        </p:nvPicPr>
        <p:blipFill>
          <a:blip r:embed="rId4">
            <a:alphaModFix amt="96000"/>
          </a:blip>
          <a:stretch>
            <a:fillRect/>
          </a:stretch>
        </p:blipFill>
        <p:spPr>
          <a:xfrm>
            <a:off x="685800" y="1879092"/>
            <a:ext cx="6391656" cy="155448"/>
          </a:xfrm>
          <a:prstGeom prst="rect">
            <a:avLst/>
          </a:prstGeom>
        </p:spPr>
      </p:pic>
      <p:sp>
        <p:nvSpPr>
          <p:cNvPr id="12" name="fx6_2_2"/>
          <p:cNvSpPr/>
          <p:nvPr/>
        </p:nvSpPr>
        <p:spPr>
          <a:xfrm rot="-120000">
            <a:off x="777240" y="2020824"/>
            <a:ext cx="438912" cy="365760"/>
          </a:xfrm>
          <a:prstGeom prst="rect">
            <a:avLst/>
          </a:prstGeom>
          <a:solidFill>
            <a:srgbClr val="EF2634"/>
          </a:solidFill>
          <a:ln w="10795">
            <a:solidFill>
              <a:srgbClr val="171C22"/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sp>
        <p:nvSpPr>
          <p:cNvPr id="13" name="fx6_2_3"/>
          <p:cNvSpPr/>
          <p:nvPr/>
        </p:nvSpPr>
        <p:spPr>
          <a:xfrm>
            <a:off x="832104" y="2061972"/>
            <a:ext cx="32918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1200" b="1" dirty="0">
                <a:solidFill>
                  <a:srgbClr val="FFFD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H1</a:t>
            </a:r>
            <a:endParaRPr lang="en-US" sz="1200" dirty="0"/>
          </a:p>
        </p:txBody>
      </p:sp>
      <p:sp>
        <p:nvSpPr>
          <p:cNvPr id="14" name="fx6_2_4"/>
          <p:cNvSpPr/>
          <p:nvPr/>
        </p:nvSpPr>
        <p:spPr>
          <a:xfrm>
            <a:off x="1353312" y="1984248"/>
            <a:ext cx="55869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171C2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FoMO ↔ незапланированные покупки</a:t>
            </a:r>
            <a:endParaRPr lang="en-US" sz="1150" dirty="0"/>
          </a:p>
        </p:txBody>
      </p:sp>
      <p:sp>
        <p:nvSpPr>
          <p:cNvPr id="15" name="fx6_2_5"/>
          <p:cNvSpPr/>
          <p:nvPr/>
        </p:nvSpPr>
        <p:spPr>
          <a:xfrm>
            <a:off x="1353312" y="2258568"/>
            <a:ext cx="5568696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90" dirty="0">
                <a:solidFill>
                  <a:srgbClr val="171C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Больше FoMO — возможно, чаще покупки «не по плану».</a:t>
            </a:r>
            <a:endParaRPr lang="en-US" sz="990" dirty="0"/>
          </a:p>
        </p:txBody>
      </p:sp>
      <p:sp>
        <p:nvSpPr>
          <p:cNvPr id="16" name="fx6_3_6"/>
          <p:cNvSpPr/>
          <p:nvPr/>
        </p:nvSpPr>
        <p:spPr>
          <a:xfrm>
            <a:off x="658368" y="2843784"/>
            <a:ext cx="6446520" cy="832104"/>
          </a:xfrm>
          <a:prstGeom prst="roundRect">
            <a:avLst>
              <a:gd name="adj" fmla="val 2747"/>
            </a:avLst>
          </a:prstGeom>
          <a:solidFill>
            <a:srgbClr val="F5F1E7"/>
          </a:solidFill>
          <a:ln w="12700">
            <a:solidFill>
              <a:srgbClr val="171C22"/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pic>
        <p:nvPicPr>
          <p:cNvPr id="17" name="fx6_3_7" descr="/home/user/MyWorkAiBrain/presentations/impulse/assets/memes/torn-paper.png">    </p:cNvPr>
          <p:cNvPicPr>
            <a:picLocks noChangeAspect="1"/>
          </p:cNvPicPr>
          <p:nvPr/>
        </p:nvPicPr>
        <p:blipFill>
          <a:blip r:embed="rId5">
            <a:alphaModFix amt="96000"/>
          </a:blip>
          <a:stretch>
            <a:fillRect/>
          </a:stretch>
        </p:blipFill>
        <p:spPr>
          <a:xfrm>
            <a:off x="685800" y="2866644"/>
            <a:ext cx="6391656" cy="155448"/>
          </a:xfrm>
          <a:prstGeom prst="rect">
            <a:avLst/>
          </a:prstGeom>
        </p:spPr>
      </p:pic>
      <p:sp>
        <p:nvSpPr>
          <p:cNvPr id="18" name="fx6_3_8"/>
          <p:cNvSpPr/>
          <p:nvPr/>
        </p:nvSpPr>
        <p:spPr>
          <a:xfrm rot="-120000">
            <a:off x="777240" y="3008376"/>
            <a:ext cx="438912" cy="365760"/>
          </a:xfrm>
          <a:prstGeom prst="rect">
            <a:avLst/>
          </a:prstGeom>
          <a:solidFill>
            <a:srgbClr val="2860D9"/>
          </a:solidFill>
          <a:ln w="10795">
            <a:solidFill>
              <a:srgbClr val="171C22"/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sp>
        <p:nvSpPr>
          <p:cNvPr id="19" name="fx6_3_9"/>
          <p:cNvSpPr/>
          <p:nvPr/>
        </p:nvSpPr>
        <p:spPr>
          <a:xfrm>
            <a:off x="832104" y="3049524"/>
            <a:ext cx="32918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1200" b="1" dirty="0">
                <a:solidFill>
                  <a:srgbClr val="FFFD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H2</a:t>
            </a:r>
            <a:endParaRPr lang="en-US" sz="1200" dirty="0"/>
          </a:p>
        </p:txBody>
      </p:sp>
      <p:sp>
        <p:nvSpPr>
          <p:cNvPr id="20" name="fx6_3_10"/>
          <p:cNvSpPr/>
          <p:nvPr/>
        </p:nvSpPr>
        <p:spPr>
          <a:xfrm>
            <a:off x="1353312" y="2971800"/>
            <a:ext cx="55869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171C2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Социальное сравнение ↔ статусные траты</a:t>
            </a:r>
            <a:endParaRPr lang="en-US" sz="1150" dirty="0"/>
          </a:p>
        </p:txBody>
      </p:sp>
      <p:sp>
        <p:nvSpPr>
          <p:cNvPr id="21" name="fx6_3_11"/>
          <p:cNvSpPr/>
          <p:nvPr/>
        </p:nvSpPr>
        <p:spPr>
          <a:xfrm>
            <a:off x="1353312" y="3246120"/>
            <a:ext cx="5568696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90" dirty="0">
                <a:solidFill>
                  <a:srgbClr val="171C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«У всех есть» может быть связано с покупками «как у всех».</a:t>
            </a:r>
            <a:endParaRPr lang="en-US" sz="990" dirty="0"/>
          </a:p>
        </p:txBody>
      </p:sp>
      <p:sp>
        <p:nvSpPr>
          <p:cNvPr id="22" name="fx6_4_12"/>
          <p:cNvSpPr/>
          <p:nvPr/>
        </p:nvSpPr>
        <p:spPr>
          <a:xfrm>
            <a:off x="658368" y="3831336"/>
            <a:ext cx="6446520" cy="832104"/>
          </a:xfrm>
          <a:prstGeom prst="roundRect">
            <a:avLst>
              <a:gd name="adj" fmla="val 2747"/>
            </a:avLst>
          </a:prstGeom>
          <a:solidFill>
            <a:srgbClr val="F5F1E7"/>
          </a:solidFill>
          <a:ln w="12700">
            <a:solidFill>
              <a:srgbClr val="171C22"/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pic>
        <p:nvPicPr>
          <p:cNvPr id="23" name="fx6_4_13" descr="/home/user/MyWorkAiBrain/presentations/impulse/assets/memes/torn-paper.png">    </p:cNvPr>
          <p:cNvPicPr>
            <a:picLocks noChangeAspect="1"/>
          </p:cNvPicPr>
          <p:nvPr/>
        </p:nvPicPr>
        <p:blipFill>
          <a:blip r:embed="rId6">
            <a:alphaModFix amt="96000"/>
          </a:blip>
          <a:stretch>
            <a:fillRect/>
          </a:stretch>
        </p:blipFill>
        <p:spPr>
          <a:xfrm>
            <a:off x="685800" y="3854196"/>
            <a:ext cx="6391656" cy="155448"/>
          </a:xfrm>
          <a:prstGeom prst="rect">
            <a:avLst/>
          </a:prstGeom>
        </p:spPr>
      </p:pic>
      <p:sp>
        <p:nvSpPr>
          <p:cNvPr id="24" name="fx6_4_14"/>
          <p:cNvSpPr/>
          <p:nvPr/>
        </p:nvSpPr>
        <p:spPr>
          <a:xfrm rot="-120000">
            <a:off x="777240" y="3995928"/>
            <a:ext cx="438912" cy="365760"/>
          </a:xfrm>
          <a:prstGeom prst="rect">
            <a:avLst/>
          </a:prstGeom>
          <a:solidFill>
            <a:srgbClr val="4F9C75"/>
          </a:solidFill>
          <a:ln w="10795">
            <a:solidFill>
              <a:srgbClr val="171C22"/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sp>
        <p:nvSpPr>
          <p:cNvPr id="25" name="fx6_4_15"/>
          <p:cNvSpPr/>
          <p:nvPr/>
        </p:nvSpPr>
        <p:spPr>
          <a:xfrm>
            <a:off x="832104" y="4037076"/>
            <a:ext cx="32918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1200" b="1" dirty="0">
                <a:solidFill>
                  <a:srgbClr val="FFFD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H3</a:t>
            </a:r>
            <a:endParaRPr lang="en-US" sz="1200" dirty="0"/>
          </a:p>
        </p:txBody>
      </p:sp>
      <p:sp>
        <p:nvSpPr>
          <p:cNvPr id="26" name="fx6_4_16"/>
          <p:cNvSpPr/>
          <p:nvPr/>
        </p:nvSpPr>
        <p:spPr>
          <a:xfrm>
            <a:off x="1353312" y="3959352"/>
            <a:ext cx="55869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171C2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Финансовые знания ↔ импульсивность</a:t>
            </a:r>
            <a:endParaRPr lang="en-US" sz="1150" dirty="0"/>
          </a:p>
        </p:txBody>
      </p:sp>
      <p:sp>
        <p:nvSpPr>
          <p:cNvPr id="27" name="fx6_4_17"/>
          <p:cNvSpPr/>
          <p:nvPr/>
        </p:nvSpPr>
        <p:spPr>
          <a:xfrm>
            <a:off x="1353312" y="4233672"/>
            <a:ext cx="5568696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90" dirty="0">
                <a:solidFill>
                  <a:srgbClr val="171C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Проверяем связь; не обещаем, что знания «выключат» эмоции.</a:t>
            </a:r>
            <a:endParaRPr lang="en-US" sz="990" dirty="0"/>
          </a:p>
        </p:txBody>
      </p:sp>
      <p:sp>
        <p:nvSpPr>
          <p:cNvPr id="28" name="fx6_5_18"/>
          <p:cNvSpPr/>
          <p:nvPr/>
        </p:nvSpPr>
        <p:spPr>
          <a:xfrm rot="24000">
            <a:off x="658368" y="5001768"/>
            <a:ext cx="6382512" cy="466344"/>
          </a:xfrm>
          <a:prstGeom prst="rect">
            <a:avLst/>
          </a:prstGeom>
          <a:solidFill>
            <a:srgbClr val="FFD84A"/>
          </a:solidFill>
          <a:ln w="10795">
            <a:solidFill>
              <a:srgbClr val="171C22"/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sp>
        <p:nvSpPr>
          <p:cNvPr id="29" name="fx6_5_19"/>
          <p:cNvSpPr/>
          <p:nvPr/>
        </p:nvSpPr>
        <p:spPr>
          <a:xfrm>
            <a:off x="713232" y="5042916"/>
            <a:ext cx="62727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1210" b="1" dirty="0">
                <a:solidFill>
                  <a:srgbClr val="171C2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СНАЧАЛА ИЗМЕРИТЬ. ПОТОМ ДЕЛАТЬ ВЫВОД.</a:t>
            </a:r>
            <a:endParaRPr lang="en-US" sz="1210" dirty="0"/>
          </a:p>
        </p:txBody>
      </p:sp>
      <p:sp>
        <p:nvSpPr>
          <p:cNvPr id="30" name="fx6_2_20"/>
          <p:cNvSpPr/>
          <p:nvPr/>
        </p:nvSpPr>
        <p:spPr>
          <a:xfrm>
            <a:off x="7909560" y="1051560"/>
            <a:ext cx="3072384" cy="3072384"/>
          </a:xfrm>
          <a:prstGeom prst="rect">
            <a:avLst/>
          </a:prstGeom>
          <a:solidFill>
            <a:srgbClr val="FFFFFF"/>
          </a:solidFill>
          <a:ln w="12700">
            <a:solidFill>
              <a:srgbClr val="171C22"/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pic>
        <p:nvPicPr>
          <p:cNvPr id="31" name="fx6_2_21" descr="/home/user/MyWorkAiBrain/presentations/impulse/assets/memes/serotonin-flowers.jpe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68996" y="1110996"/>
            <a:ext cx="2953512" cy="2953512"/>
          </a:xfrm>
          <a:prstGeom prst="rect">
            <a:avLst/>
          </a:prstGeom>
        </p:spPr>
      </p:pic>
      <p:pic>
        <p:nvPicPr>
          <p:cNvPr id="32" name="!!warm-glow" descr="/home/user/MyWorkAiBrain/presentations/impulse/assets/glow.png">    </p:cNvPr>
          <p:cNvPicPr>
            <a:picLocks noChangeAspect="1"/>
          </p:cNvPicPr>
          <p:nvPr/>
        </p:nvPicPr>
        <p:blipFill>
          <a:blip r:embed="rId8">
            <a:alphaModFix amt="62000"/>
          </a:blip>
          <a:stretch>
            <a:fillRect/>
          </a:stretch>
        </p:blipFill>
        <p:spPr>
          <a:xfrm>
            <a:off x="7323430" y="2422246"/>
            <a:ext cx="4262933" cy="4262933"/>
          </a:xfrm>
          <a:prstGeom prst="rect">
            <a:avLst/>
          </a:prstGeom>
        </p:spPr>
      </p:pic>
      <p:sp>
        <p:nvSpPr>
          <p:cNvPr id="33" name="!!paper-sticker"/>
          <p:cNvSpPr/>
          <p:nvPr/>
        </p:nvSpPr>
        <p:spPr>
          <a:xfrm>
            <a:off x="7962870" y="3061686"/>
            <a:ext cx="2984053" cy="2984053"/>
          </a:xfrm>
          <a:prstGeom prst="ellipse">
            <a:avLst/>
          </a:prstGeom>
          <a:solidFill>
            <a:srgbClr val="F5F1E7">
              <a:alpha val="78000"/>
            </a:srgbClr>
          </a:solidFill>
          <a:ln w="15240">
            <a:solidFill>
              <a:srgbClr val="FFFDF6">
                <a:alpha val="92000"/>
              </a:srgbClr>
            </a:solidFill>
            <a:prstDash val="solid"/>
          </a:ln>
        </p:spPr>
      </p:sp>
      <p:sp>
        <p:nvSpPr>
          <p:cNvPr id="34" name="!!comic-ring"/>
          <p:cNvSpPr/>
          <p:nvPr/>
        </p:nvSpPr>
        <p:spPr>
          <a:xfrm>
            <a:off x="7749723" y="2848539"/>
            <a:ext cx="3410346" cy="3410346"/>
          </a:xfrm>
          <a:prstGeom prst="ellipse">
            <a:avLst/>
          </a:prstGeom>
          <a:ln w="19050">
            <a:solidFill>
              <a:srgbClr val="EF2634">
                <a:alpha val="94000"/>
              </a:srgbClr>
            </a:solidFill>
            <a:prstDash val="dash"/>
          </a:ln>
        </p:spPr>
      </p:sp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35" name="!!m-scale">
                <a:extLst>
                  <a:ext uri="{FF2B5EF4-FFF2-40B4-BE49-F238E27FC236}">
                    <a16:creationId xmlns:a16="http://schemas.microsoft.com/office/drawing/2014/main" id="{287FE456-F0B1-FA64-E081-7926DAC99CF3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7763256" y="2862072"/>
              <a:ext cx="3383280" cy="3383280"/>
            </p:xfrm>
            <a:graphic>
              <a:graphicData uri="http://schemas.microsoft.com/office/drawing/2017/model3d">
                <am3d:model3d r:embed="rIdM3d15">
                  <am3d:spPr>
                    <a:xfrm>
                      <a:off x="0" y="0"/>
                      <a:ext cx="3383280" cy="3383280"/>
                    </a:xfrm>
                    <a:prstGeom prst="rect">
                      <a:avLst/>
                    </a:prstGeom>
                  </am3d:spPr>
                  <am3d:camera>
                    <am3d:pos x="0" y="0" z="60967730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591716" d="1000000"/>
                    <am3d:preTrans dx="0" dy="479290" dz="0"/>
                    <am3d:scale>
                      <am3d:sx n="1000000" d="1000000"/>
                      <am3d:sy n="1000000" d="1000000"/>
                      <am3d:sz n="1000000" d="1000000"/>
                    </am3d:scale>
                    <am3d:rot ax="480000" ay="-1140000" az="0"/>
                    <am3d:postTrans dx="0" dy="0" dz="0"/>
                  </am3d:trans>
                  <am3d:raster rName="Office3DRenderer" rVer="16.0.8326">
                    <am3d:blip r:embed="rId9"/>
                  </am3d:raster>
                  <am3d:extLst>
                    <a:ext uri="{9A65AA19-BECB-4387-8358-8AD5134E1D82}">
                      <a3danim:embedAnim xmlns:a3danim="http://schemas.microsoft.com/office/drawing/2018/animation/model3d" animId="0">
                        <a3danim:animPr length="4000" count="indefinite"/>
                      </a3danim:embedAnim>
                    </a:ext>
                    <a:ext uri="{E9DE012E-A134-456F-84FE-255F9AAD75C6}">
                      <a3danim:posterFrame xmlns:a3danim="http://schemas.microsoft.com/office/drawing/2018/animation/model3d" animId="0"/>
                    </a:ext>
                  </am3d:extLst>
                  <am3d:objViewport viewportSz="338328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35" name="!!m-scale">
                <a:extLst>
                  <a:ext uri="{FF2B5EF4-FFF2-40B4-BE49-F238E27FC236}">
                    <a16:creationId xmlns:a16="http://schemas.microsoft.com/office/drawing/2014/main" id="{287FE456-F0B1-FA64-E081-7926DAC99CF3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7763256" y="2862072"/>
                <a:ext cx="3383280" cy="3383280"/>
              </a:xfrm>
              <a:prstGeom prst="rect">
                <a:avLst/>
              </a:prstGeom>
            </p:spPr>
          </p:pic>
        </mc:Fallback>
      </mc:AlternateContent>
      <p:sp>
        <p:nvSpPr>
          <p:cNvPr id="36" name="Shape 25"/>
          <p:cNvSpPr/>
          <p:nvPr/>
        </p:nvSpPr>
        <p:spPr>
          <a:xfrm rot="120000">
            <a:off x="10063886" y="2963570"/>
            <a:ext cx="841248" cy="329184"/>
          </a:xfrm>
          <a:prstGeom prst="rect">
            <a:avLst/>
          </a:prstGeom>
          <a:solidFill>
            <a:srgbClr val="FFD84A"/>
          </a:solidFill>
          <a:ln w="10795">
            <a:solidFill>
              <a:srgbClr val="171C22"/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sp>
        <p:nvSpPr>
          <p:cNvPr id="37" name="Text 26"/>
          <p:cNvSpPr/>
          <p:nvPr/>
        </p:nvSpPr>
        <p:spPr>
          <a:xfrm>
            <a:off x="10118750" y="3004718"/>
            <a:ext cx="7315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900" b="1" dirty="0">
                <a:solidFill>
                  <a:srgbClr val="171C2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H1–H3</a:t>
            </a:r>
            <a:endParaRPr lang="en-US" sz="900" dirty="0"/>
          </a:p>
        </p:txBody>
      </p:sp>
      <p:sp>
        <p:nvSpPr>
          <p:cNvPr id="38" name="fx6_4_22"/>
          <p:cNvSpPr/>
          <p:nvPr/>
        </p:nvSpPr>
        <p:spPr>
          <a:xfrm rot="-36000">
            <a:off x="8028432" y="5330952"/>
            <a:ext cx="3337560" cy="457200"/>
          </a:xfrm>
          <a:prstGeom prst="rect">
            <a:avLst/>
          </a:prstGeom>
          <a:solidFill>
            <a:srgbClr val="EF2634"/>
          </a:solidFill>
          <a:ln w="10795">
            <a:solidFill>
              <a:srgbClr val="171C22"/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sp>
        <p:nvSpPr>
          <p:cNvPr id="39" name="fx6_4_23"/>
          <p:cNvSpPr/>
          <p:nvPr/>
        </p:nvSpPr>
        <p:spPr>
          <a:xfrm>
            <a:off x="8083296" y="5372100"/>
            <a:ext cx="3227832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930" b="1" dirty="0">
                <a:solidFill>
                  <a:srgbClr val="FFFD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Я: ХОЧУ ВЕРИТЬ В СВЯЗЬ / ДАННЫЕ: СПОКОЙНО</a:t>
            </a:r>
            <a:endParaRPr lang="en-US" sz="930" dirty="0"/>
          </a:p>
        </p:txBody>
      </p:sp>
      <p:sp>
        <p:nvSpPr>
          <p:cNvPr id="40" name="Text 29"/>
          <p:cNvSpPr/>
          <p:nvPr/>
        </p:nvSpPr>
        <p:spPr>
          <a:xfrm>
            <a:off x="658368" y="6144768"/>
            <a:ext cx="10607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20" b="1" dirty="0">
                <a:solidFill>
                  <a:srgbClr val="FFFD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FoMO [5] · социальное сравнение [6] · финансовая грамотность [7]. Ни одна гипотеза пока не проверена.</a:t>
            </a:r>
            <a:endParaRPr lang="en-US" sz="820" dirty="0"/>
          </a:p>
        </p:txBody>
      </p:sp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41" name="!!m-triggers">
                <a:extLst>
                  <a:ext uri="{FF2B5EF4-FFF2-40B4-BE49-F238E27FC236}">
                    <a16:creationId xmlns:a16="http://schemas.microsoft.com/office/drawing/2014/main" id="{6FC92545-116A-0E6E-D656-E2677F9B55E4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-3995928" y="3163824"/>
              <a:ext cx="3401568" cy="3401568"/>
            </p:xfrm>
            <a:graphic>
              <a:graphicData uri="http://schemas.microsoft.com/office/drawing/2017/model3d">
                <am3d:model3d r:embed="rIdM3d16">
                  <am3d:spPr>
                    <a:xfrm>
                      <a:off x="0" y="0"/>
                      <a:ext cx="3401568" cy="3401568"/>
                    </a:xfrm>
                    <a:prstGeom prst="rect">
                      <a:avLst/>
                    </a:prstGeom>
                  </am3d:spPr>
                  <am3d:camera>
                    <am3d:pos x="0" y="0" z="58755138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523834" d="1000000"/>
                    <am3d:preTrans dx="9429" dy="-707176" dz="-1697224"/>
                    <am3d:scale>
                      <am3d:sx n="1000000" d="1000000"/>
                      <am3d:sy n="1000000" d="1000000"/>
                      <am3d:sz n="1000000" d="1000000"/>
                    </am3d:scale>
                    <am3d:rot ax="720000" ay="-5520000" az="0"/>
                    <am3d:postTrans dx="0" dy="0" dz="0"/>
                  </am3d:trans>
                  <am3d:raster rName="Office3DRenderer" rVer="16.0.8326">
                    <am3d:blip r:embed="rId10"/>
                  </am3d:raster>
                  <am3d:extLst>
                    <a:ext uri="{9A65AA19-BECB-4387-8358-8AD5134E1D82}">
                      <a3danim:embedAnim xmlns:a3danim="http://schemas.microsoft.com/office/drawing/2018/animation/model3d" animId="0">
                        <a3danim:animPr length="4000" count="indefinite"/>
                      </a3danim:embedAnim>
                    </a:ext>
                    <a:ext uri="{E9DE012E-A134-456F-84FE-255F9AAD75C6}">
                      <a3danim:posterFrame xmlns:a3danim="http://schemas.microsoft.com/office/drawing/2018/animation/model3d" animId="0"/>
                    </a:ext>
                  </am3d:extLst>
                  <am3d:objViewport viewportSz="3401568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41" name="!!m-triggers">
                <a:extLst>
                  <a:ext uri="{FF2B5EF4-FFF2-40B4-BE49-F238E27FC236}">
                    <a16:creationId xmlns:a16="http://schemas.microsoft.com/office/drawing/2014/main" id="{6FC92545-116A-0E6E-D656-E2677F9B55E4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-3995928" y="3163824"/>
                <a:ext cx="3401568" cy="3401568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42" name="!!m-clipboard">
                <a:extLst>
                  <a:ext uri="{FF2B5EF4-FFF2-40B4-BE49-F238E27FC236}">
                    <a16:creationId xmlns:a16="http://schemas.microsoft.com/office/drawing/2014/main" id="{9DAAAD1D-1E49-4138-855E-7D54D3DC982E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12786055" y="3118104"/>
              <a:ext cx="3182112" cy="3182112"/>
            </p:xfrm>
            <a:graphic>
              <a:graphicData uri="http://schemas.microsoft.com/office/drawing/2017/model3d">
                <am3d:model3d r:embed="rIdM3d17">
                  <am3d:spPr>
                    <a:xfrm>
                      <a:off x="0" y="0"/>
                      <a:ext cx="3182112" cy="3182112"/>
                    </a:xfrm>
                    <a:prstGeom prst="rect">
                      <a:avLst/>
                    </a:prstGeom>
                  </am3d:spPr>
                  <am3d:camera>
                    <am3d:pos x="0" y="0" z="62252259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617284" d="1000000"/>
                    <am3d:preTrans dx="-2985701" dy="0" dz="-1944444"/>
                    <am3d:scale>
                      <am3d:sx n="1000000" d="1000000"/>
                      <am3d:sy n="1000000" d="1000000"/>
                      <am3d:sz n="1000000" d="1000000"/>
                    </am3d:scale>
                    <am3d:rot ax="600000" ay="3180000" az="0"/>
                    <am3d:postTrans dx="0" dy="0" dz="0"/>
                  </am3d:trans>
                  <am3d:raster rName="Office3DRenderer" rVer="16.0.8326">
                    <am3d:blip r:embed="rId11"/>
                  </am3d:raster>
                  <am3d:extLst>
                    <a:ext uri="{9A65AA19-BECB-4387-8358-8AD5134E1D82}">
                      <a3danim:embedAnim xmlns:a3danim="http://schemas.microsoft.com/office/drawing/2018/animation/model3d" animId="0">
                        <a3danim:animPr length="4208" count="indefinite"/>
                      </a3danim:embedAnim>
                    </a:ext>
                    <a:ext uri="{E9DE012E-A134-456F-84FE-255F9AAD75C6}">
                      <a3danim:posterFrame xmlns:a3danim="http://schemas.microsoft.com/office/drawing/2018/animation/model3d" animId="0"/>
                    </a:ext>
                  </am3d:extLst>
                  <am3d:objViewport viewportSz="3182112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42" name="!!m-clipboard">
                <a:extLst>
                  <a:ext uri="{FF2B5EF4-FFF2-40B4-BE49-F238E27FC236}">
                    <a16:creationId xmlns:a16="http://schemas.microsoft.com/office/drawing/2014/main" id="{9DAAAD1D-1E49-4138-855E-7D54D3DC982E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12786055" y="3118104"/>
                <a:ext cx="3182112" cy="3182112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7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70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70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7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70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70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7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70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70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7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70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70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7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70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70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7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7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7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7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70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70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2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7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700" decel="100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700" decel="100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7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7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7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7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7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7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7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8" dur="7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7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7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3" dur="7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" dur="7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7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7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7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7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7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3" dur="7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4" dur="7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7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7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8" dur="7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7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2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7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3" dur="7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4" dur="7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7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7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8" dur="7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9" dur="7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2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7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3" dur="7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4" dur="7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7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7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8" dur="70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9" dur="70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2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7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3" dur="70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4" dur="70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7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7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8" dur="700" decel="1000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9" dur="700" decel="1000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2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7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3" dur="700" decel="1000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4" dur="700" decel="1000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7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6" dur="7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8" dur="70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9" dur="70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2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7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3" dur="70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4" dur="70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5" presetID="100" presetClass="emph" presetSubtype="1" repeatCount="indefinite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126" dur="40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embedded1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2" grpId="0" animBg="1"/>
      <p:bldP spid="13" grpId="0" animBg="1"/>
      <p:bldP spid="14" grpId="0" animBg="1"/>
      <p:bldP spid="15" grpId="0" animBg="1"/>
      <p:bldP spid="30" grpId="0" animBg="1"/>
      <p:bldP spid="16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4" grpId="0" animBg="1"/>
      <p:bldP spid="25" grpId="0" animBg="1"/>
      <p:bldP spid="26" grpId="0" animBg="1"/>
      <p:bldP spid="27" grpId="0" animBg="1"/>
      <p:bldP spid="38" grpId="0" animBg="1"/>
      <p:bldP spid="39" grpId="0" animBg="1"/>
      <p:bldP spid="28" grpId="0" animBg="1"/>
      <p:bldP spid="29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am3d="http://schemas.microsoft.com/office/drawing/2017/model3d" mc:Ignorable="am3d">
  <p:cSld name="Slide 7">
    <p:bg>
      <p:bgPr>
        <a:solidFill>
          <a:srgbClr val="22528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blue-grunge" descr="/home/user/MyWorkAiBrain/presentations/impulse/assets/memes/blue-grunge-16x9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series"/>
          <p:cNvSpPr/>
          <p:nvPr/>
        </p:nvSpPr>
        <p:spPr>
          <a:xfrm>
            <a:off x="658368" y="182880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40" b="1" spc="110" kern="0" dirty="0">
                <a:solidFill>
                  <a:srgbClr val="FFFD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ПСИХОЛОГИЯ ИМПУЛЬСИВНЫХ ПОКУПОК</a:t>
            </a:r>
            <a:endParaRPr lang="en-US" sz="940" dirty="0"/>
          </a:p>
        </p:txBody>
      </p:sp>
      <p:pic>
        <p:nvPicPr>
          <p:cNvPr id="4" name="!!red-swash" descr="/home/user/MyWorkAiBrain/presentations/impulse/assets/memes/red-brush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438912"/>
            <a:ext cx="2057400" cy="164592"/>
          </a:xfrm>
          <a:prstGeom prst="rect">
            <a:avLst/>
          </a:prstGeom>
        </p:spPr>
      </p:pic>
      <p:sp>
        <p:nvSpPr>
          <p:cNvPr id="5" name="!!page-sticker"/>
          <p:cNvSpPr/>
          <p:nvPr/>
        </p:nvSpPr>
        <p:spPr>
          <a:xfrm rot="120000">
            <a:off x="10488168" y="146304"/>
            <a:ext cx="1051560" cy="393192"/>
          </a:xfrm>
          <a:prstGeom prst="rect">
            <a:avLst/>
          </a:prstGeom>
          <a:solidFill>
            <a:srgbClr val="FFD84A"/>
          </a:solidFill>
          <a:ln w="10160">
            <a:solidFill>
              <a:srgbClr val="171C22"/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sp>
        <p:nvSpPr>
          <p:cNvPr id="6" name="!!page"/>
          <p:cNvSpPr/>
          <p:nvPr/>
        </p:nvSpPr>
        <p:spPr>
          <a:xfrm>
            <a:off x="10543032" y="237744"/>
            <a:ext cx="9326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71C2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07 / 10</a:t>
            </a:r>
            <a:endParaRPr lang="en-US" sz="1050" dirty="0"/>
          </a:p>
        </p:txBody>
      </p:sp>
      <p:sp>
        <p:nvSpPr>
          <p:cNvPr id="7" name="!!footer"/>
          <p:cNvSpPr/>
          <p:nvPr/>
        </p:nvSpPr>
        <p:spPr>
          <a:xfrm>
            <a:off x="658368" y="6547104"/>
            <a:ext cx="7863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40" b="1" spc="35" kern="0" dirty="0">
                <a:solidFill>
                  <a:srgbClr val="FFFD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#план_исследования  ·  СОБСТВЕННЫХ ДАННЫХ ПОКА НЕТ</a:t>
            </a:r>
            <a:endParaRPr lang="en-US" sz="840" dirty="0"/>
          </a:p>
        </p:txBody>
      </p:sp>
      <p:sp>
        <p:nvSpPr>
          <p:cNvPr id="8" name="!!meme-title"/>
          <p:cNvSpPr/>
          <p:nvPr/>
        </p:nvSpPr>
        <p:spPr>
          <a:xfrm>
            <a:off x="658368" y="859536"/>
            <a:ext cx="7178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2750" b="1" dirty="0">
                <a:solidFill>
                  <a:srgbClr val="FFFD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КОМУ АНКЕТА? СТУДЕНТАМ 18–25</a:t>
            </a:r>
            <a:endParaRPr lang="en-US" sz="2750" dirty="0"/>
          </a:p>
        </p:txBody>
      </p:sp>
      <p:pic>
        <p:nvPicPr>
          <p:cNvPr id="9" name="!!red-underline" descr="/home/user/MyWorkAiBrain/presentations/impulse/assets/memes/red-brush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1527048"/>
            <a:ext cx="3794760" cy="219456"/>
          </a:xfrm>
          <a:prstGeom prst="rect">
            <a:avLst/>
          </a:prstGeom>
        </p:spPr>
      </p:pic>
      <p:sp>
        <p:nvSpPr>
          <p:cNvPr id="10" name="fx7_2_0"/>
          <p:cNvSpPr/>
          <p:nvPr/>
        </p:nvSpPr>
        <p:spPr>
          <a:xfrm>
            <a:off x="658368" y="1856232"/>
            <a:ext cx="6355080" cy="3703320"/>
          </a:xfrm>
          <a:prstGeom prst="roundRect">
            <a:avLst>
              <a:gd name="adj" fmla="val 617"/>
            </a:avLst>
          </a:prstGeom>
          <a:solidFill>
            <a:srgbClr val="F5F1E7"/>
          </a:solidFill>
          <a:ln w="12700">
            <a:solidFill>
              <a:srgbClr val="171C22"/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pic>
        <p:nvPicPr>
          <p:cNvPr id="11" name="fx7_2_1" descr="/home/user/MyWorkAiBrain/presentations/impulse/assets/memes/torn-paper.png">    </p:cNvPr>
          <p:cNvPicPr>
            <a:picLocks noChangeAspect="1"/>
          </p:cNvPicPr>
          <p:nvPr/>
        </p:nvPicPr>
        <p:blipFill>
          <a:blip r:embed="rId4">
            <a:alphaModFix amt="96000"/>
          </a:blip>
          <a:stretch>
            <a:fillRect/>
          </a:stretch>
        </p:blipFill>
        <p:spPr>
          <a:xfrm>
            <a:off x="685800" y="1879092"/>
            <a:ext cx="6300216" cy="155448"/>
          </a:xfrm>
          <a:prstGeom prst="rect">
            <a:avLst/>
          </a:prstGeom>
        </p:spPr>
      </p:pic>
      <p:sp>
        <p:nvSpPr>
          <p:cNvPr id="12" name="fx7_2_2"/>
          <p:cNvSpPr/>
          <p:nvPr/>
        </p:nvSpPr>
        <p:spPr>
          <a:xfrm>
            <a:off x="914400" y="2148840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EF263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N ≥ 50</a:t>
            </a:r>
            <a:endParaRPr lang="en-US" sz="2600" dirty="0"/>
          </a:p>
        </p:txBody>
      </p:sp>
      <p:sp>
        <p:nvSpPr>
          <p:cNvPr id="13" name="fx7_2_3"/>
          <p:cNvSpPr/>
          <p:nvPr/>
        </p:nvSpPr>
        <p:spPr>
          <a:xfrm>
            <a:off x="2505456" y="2194560"/>
            <a:ext cx="406908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80" b="1" dirty="0">
                <a:solidFill>
                  <a:srgbClr val="171C2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пилотная удобная выборка —</a:t>
            </a:r>
            <a:endParaRPr lang="en-US" sz="108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080" b="1" dirty="0">
                <a:solidFill>
                  <a:srgbClr val="171C2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не «все студенты России»</a:t>
            </a:r>
            <a:endParaRPr lang="en-US" sz="1080" dirty="0"/>
          </a:p>
        </p:txBody>
      </p:sp>
      <p:sp>
        <p:nvSpPr>
          <p:cNvPr id="14" name="fx7_2_4"/>
          <p:cNvSpPr/>
          <p:nvPr/>
        </p:nvSpPr>
        <p:spPr>
          <a:xfrm>
            <a:off x="932688" y="2907792"/>
            <a:ext cx="768096" cy="301752"/>
          </a:xfrm>
          <a:prstGeom prst="rect">
            <a:avLst/>
          </a:prstGeom>
          <a:solidFill>
            <a:srgbClr val="FFD84A"/>
          </a:solidFill>
          <a:ln w="10795">
            <a:solidFill>
              <a:srgbClr val="171C22"/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sp>
        <p:nvSpPr>
          <p:cNvPr id="15" name="fx7_2_5"/>
          <p:cNvSpPr/>
          <p:nvPr/>
        </p:nvSpPr>
        <p:spPr>
          <a:xfrm>
            <a:off x="987552" y="2948940"/>
            <a:ext cx="6583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890" b="1" dirty="0">
                <a:solidFill>
                  <a:srgbClr val="171C2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КТО</a:t>
            </a:r>
            <a:endParaRPr lang="en-US" sz="890" dirty="0"/>
          </a:p>
        </p:txBody>
      </p:sp>
      <p:sp>
        <p:nvSpPr>
          <p:cNvPr id="16" name="fx7_2_6"/>
          <p:cNvSpPr/>
          <p:nvPr/>
        </p:nvSpPr>
        <p:spPr>
          <a:xfrm>
            <a:off x="1856232" y="2930652"/>
            <a:ext cx="480060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30" b="1" dirty="0">
                <a:solidFill>
                  <a:srgbClr val="171C2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совершеннолетние студенты 18–25</a:t>
            </a:r>
            <a:endParaRPr lang="en-US" sz="930" dirty="0"/>
          </a:p>
        </p:txBody>
      </p:sp>
      <p:sp>
        <p:nvSpPr>
          <p:cNvPr id="17" name="fx7_2_7"/>
          <p:cNvSpPr/>
          <p:nvPr/>
        </p:nvSpPr>
        <p:spPr>
          <a:xfrm>
            <a:off x="932688" y="3438144"/>
            <a:ext cx="768096" cy="301752"/>
          </a:xfrm>
          <a:prstGeom prst="rect">
            <a:avLst/>
          </a:prstGeom>
          <a:solidFill>
            <a:srgbClr val="EF2634"/>
          </a:solidFill>
          <a:ln w="10795">
            <a:solidFill>
              <a:srgbClr val="171C22"/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sp>
        <p:nvSpPr>
          <p:cNvPr id="18" name="fx7_2_8"/>
          <p:cNvSpPr/>
          <p:nvPr/>
        </p:nvSpPr>
        <p:spPr>
          <a:xfrm>
            <a:off x="987552" y="3479292"/>
            <a:ext cx="6583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890" b="1" dirty="0">
                <a:solidFill>
                  <a:srgbClr val="FFFD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ЧТО</a:t>
            </a:r>
            <a:endParaRPr lang="en-US" sz="890" dirty="0"/>
          </a:p>
        </p:txBody>
      </p:sp>
      <p:sp>
        <p:nvSpPr>
          <p:cNvPr id="19" name="fx7_2_9"/>
          <p:cNvSpPr/>
          <p:nvPr/>
        </p:nvSpPr>
        <p:spPr>
          <a:xfrm>
            <a:off x="1856232" y="3461004"/>
            <a:ext cx="480060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30" b="1" dirty="0">
                <a:solidFill>
                  <a:srgbClr val="171C2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покупки за 30 дней · BNPL отдельно</a:t>
            </a:r>
            <a:endParaRPr lang="en-US" sz="930" dirty="0"/>
          </a:p>
        </p:txBody>
      </p:sp>
      <p:sp>
        <p:nvSpPr>
          <p:cNvPr id="20" name="fx7_2_10"/>
          <p:cNvSpPr/>
          <p:nvPr/>
        </p:nvSpPr>
        <p:spPr>
          <a:xfrm>
            <a:off x="932688" y="3968496"/>
            <a:ext cx="768096" cy="301752"/>
          </a:xfrm>
          <a:prstGeom prst="rect">
            <a:avLst/>
          </a:prstGeom>
          <a:solidFill>
            <a:srgbClr val="FFD84A"/>
          </a:solidFill>
          <a:ln w="10795">
            <a:solidFill>
              <a:srgbClr val="171C22"/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sp>
        <p:nvSpPr>
          <p:cNvPr id="21" name="fx7_2_11"/>
          <p:cNvSpPr/>
          <p:nvPr/>
        </p:nvSpPr>
        <p:spPr>
          <a:xfrm>
            <a:off x="987552" y="4009644"/>
            <a:ext cx="6583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890" b="1" dirty="0">
                <a:solidFill>
                  <a:srgbClr val="171C2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КАК</a:t>
            </a:r>
            <a:endParaRPr lang="en-US" sz="890" dirty="0"/>
          </a:p>
        </p:txBody>
      </p:sp>
      <p:sp>
        <p:nvSpPr>
          <p:cNvPr id="22" name="fx7_2_12"/>
          <p:cNvSpPr/>
          <p:nvPr/>
        </p:nvSpPr>
        <p:spPr>
          <a:xfrm>
            <a:off x="1856232" y="3991356"/>
            <a:ext cx="480060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30" b="1" dirty="0">
                <a:solidFill>
                  <a:srgbClr val="171C2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добровольно · анонимно · минимум данных</a:t>
            </a:r>
            <a:endParaRPr lang="en-US" sz="930" dirty="0"/>
          </a:p>
        </p:txBody>
      </p:sp>
      <p:sp>
        <p:nvSpPr>
          <p:cNvPr id="23" name="fx7_2_13"/>
          <p:cNvSpPr/>
          <p:nvPr/>
        </p:nvSpPr>
        <p:spPr>
          <a:xfrm>
            <a:off x="932688" y="4498848"/>
            <a:ext cx="768096" cy="301752"/>
          </a:xfrm>
          <a:prstGeom prst="rect">
            <a:avLst/>
          </a:prstGeom>
          <a:solidFill>
            <a:srgbClr val="FFD84A"/>
          </a:solidFill>
          <a:ln w="10795">
            <a:solidFill>
              <a:srgbClr val="171C22"/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sp>
        <p:nvSpPr>
          <p:cNvPr id="24" name="fx7_2_14"/>
          <p:cNvSpPr/>
          <p:nvPr/>
        </p:nvSpPr>
        <p:spPr>
          <a:xfrm>
            <a:off x="987552" y="4539996"/>
            <a:ext cx="6583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890" b="1" dirty="0">
                <a:solidFill>
                  <a:srgbClr val="171C2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ЗАЧЕМ</a:t>
            </a:r>
            <a:endParaRPr lang="en-US" sz="890" dirty="0"/>
          </a:p>
        </p:txBody>
      </p:sp>
      <p:sp>
        <p:nvSpPr>
          <p:cNvPr id="25" name="fx7_2_15"/>
          <p:cNvSpPr/>
          <p:nvPr/>
        </p:nvSpPr>
        <p:spPr>
          <a:xfrm>
            <a:off x="1856232" y="4521708"/>
            <a:ext cx="480060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30" b="1" dirty="0">
                <a:solidFill>
                  <a:srgbClr val="171C2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студентам · преподавателям · центрам грамотности</a:t>
            </a:r>
            <a:endParaRPr lang="en-US" sz="930" dirty="0"/>
          </a:p>
        </p:txBody>
      </p:sp>
      <p:sp>
        <p:nvSpPr>
          <p:cNvPr id="26" name="fx7_2_16"/>
          <p:cNvSpPr/>
          <p:nvPr/>
        </p:nvSpPr>
        <p:spPr>
          <a:xfrm>
            <a:off x="932688" y="5138928"/>
            <a:ext cx="5715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70" b="1" dirty="0">
                <a:solidFill>
                  <a:srgbClr val="EF26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 репрезентативно. Не собираем имена, контакты и номера карт.</a:t>
            </a:r>
            <a:endParaRPr lang="en-US" sz="970" dirty="0"/>
          </a:p>
        </p:txBody>
      </p:sp>
      <p:sp>
        <p:nvSpPr>
          <p:cNvPr id="27" name="fx7_2_17"/>
          <p:cNvSpPr/>
          <p:nvPr/>
        </p:nvSpPr>
        <p:spPr>
          <a:xfrm>
            <a:off x="7717536" y="1298448"/>
            <a:ext cx="2962656" cy="2697480"/>
          </a:xfrm>
          <a:prstGeom prst="rect">
            <a:avLst/>
          </a:prstGeom>
          <a:solidFill>
            <a:srgbClr val="FFFFFF"/>
          </a:solidFill>
          <a:ln w="12700">
            <a:solidFill>
              <a:srgbClr val="171C22"/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pic>
        <p:nvPicPr>
          <p:cNvPr id="28" name="fx7_2_18" descr="/home/user/MyWorkAiBrain/presentations/impulse/assets/memes/budget-jars.jpe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6972" y="1357884"/>
            <a:ext cx="2843784" cy="2578608"/>
          </a:xfrm>
          <a:prstGeom prst="rect">
            <a:avLst/>
          </a:prstGeom>
        </p:spPr>
      </p:pic>
      <p:pic>
        <p:nvPicPr>
          <p:cNvPr id="29" name="!!warm-glow" descr="/home/user/MyWorkAiBrain/presentations/impulse/assets/glow.png">    </p:cNvPr>
          <p:cNvPicPr>
            <a:picLocks noChangeAspect="1"/>
          </p:cNvPicPr>
          <p:nvPr/>
        </p:nvPicPr>
        <p:blipFill>
          <a:blip r:embed="rId6">
            <a:alphaModFix amt="62000"/>
          </a:blip>
          <a:stretch>
            <a:fillRect/>
          </a:stretch>
        </p:blipFill>
        <p:spPr>
          <a:xfrm>
            <a:off x="7724485" y="2384389"/>
            <a:ext cx="4009461" cy="4009461"/>
          </a:xfrm>
          <a:prstGeom prst="rect">
            <a:avLst/>
          </a:prstGeom>
        </p:spPr>
      </p:pic>
      <p:sp>
        <p:nvSpPr>
          <p:cNvPr id="30" name="!!paper-sticker"/>
          <p:cNvSpPr/>
          <p:nvPr/>
        </p:nvSpPr>
        <p:spPr>
          <a:xfrm>
            <a:off x="8325905" y="2985809"/>
            <a:ext cx="2806623" cy="2806623"/>
          </a:xfrm>
          <a:prstGeom prst="ellipse">
            <a:avLst/>
          </a:prstGeom>
          <a:solidFill>
            <a:srgbClr val="F5F1E7">
              <a:alpha val="78000"/>
            </a:srgbClr>
          </a:solidFill>
          <a:ln w="15240">
            <a:solidFill>
              <a:srgbClr val="FFFDF6">
                <a:alpha val="92000"/>
              </a:srgbClr>
            </a:solidFill>
            <a:prstDash val="solid"/>
          </a:ln>
        </p:spPr>
      </p:sp>
      <p:sp>
        <p:nvSpPr>
          <p:cNvPr id="31" name="!!comic-ring"/>
          <p:cNvSpPr/>
          <p:nvPr/>
        </p:nvSpPr>
        <p:spPr>
          <a:xfrm>
            <a:off x="8125432" y="2785336"/>
            <a:ext cx="3207569" cy="3207569"/>
          </a:xfrm>
          <a:prstGeom prst="ellipse">
            <a:avLst/>
          </a:prstGeom>
          <a:ln w="19050">
            <a:solidFill>
              <a:srgbClr val="EF2634">
                <a:alpha val="94000"/>
              </a:srgbClr>
            </a:solidFill>
            <a:prstDash val="dash"/>
          </a:ln>
        </p:spPr>
      </p:sp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32" name="!!m-clipboard">
                <a:extLst>
                  <a:ext uri="{FF2B5EF4-FFF2-40B4-BE49-F238E27FC236}">
                    <a16:creationId xmlns:a16="http://schemas.microsoft.com/office/drawing/2014/main" id="{E05A65C9-2A7A-0475-48BF-D779F2550A41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8138160" y="2798064"/>
              <a:ext cx="3182112" cy="3182112"/>
            </p:xfrm>
            <a:graphic>
              <a:graphicData uri="http://schemas.microsoft.com/office/drawing/2017/model3d">
                <am3d:model3d r:embed="rIdM3d18">
                  <am3d:spPr>
                    <a:xfrm>
                      <a:off x="0" y="0"/>
                      <a:ext cx="3182112" cy="3182112"/>
                    </a:xfrm>
                    <a:prstGeom prst="rect">
                      <a:avLst/>
                    </a:prstGeom>
                  </am3d:spPr>
                  <am3d:camera>
                    <am3d:pos x="0" y="0" z="62252259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617284" d="1000000"/>
                    <am3d:preTrans dx="-2985701" dy="0" dz="-1944444"/>
                    <am3d:scale>
                      <am3d:sx n="1000000" d="1000000"/>
                      <am3d:sy n="1000000" d="1000000"/>
                      <am3d:sz n="1000000" d="1000000"/>
                    </am3d:scale>
                    <am3d:rot ax="600000" ay="-1140000" az="0"/>
                    <am3d:postTrans dx="0" dy="0" dz="0"/>
                  </am3d:trans>
                  <am3d:raster rName="Office3DRenderer" rVer="16.0.8326">
                    <am3d:blip r:embed="rId7"/>
                  </am3d:raster>
                  <am3d:extLst>
                    <a:ext uri="{9A65AA19-BECB-4387-8358-8AD5134E1D82}">
                      <a3danim:embedAnim xmlns:a3danim="http://schemas.microsoft.com/office/drawing/2018/animation/model3d" animId="0">
                        <a3danim:animPr length="4208" count="indefinite"/>
                      </a3danim:embedAnim>
                    </a:ext>
                    <a:ext uri="{E9DE012E-A134-456F-84FE-255F9AAD75C6}">
                      <a3danim:posterFrame xmlns:a3danim="http://schemas.microsoft.com/office/drawing/2018/animation/model3d" animId="0"/>
                    </a:ext>
                  </am3d:extLst>
                  <am3d:objViewport viewportSz="3182112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32" name="!!m-clipboard">
                <a:extLst>
                  <a:ext uri="{FF2B5EF4-FFF2-40B4-BE49-F238E27FC236}">
                    <a16:creationId xmlns:a16="http://schemas.microsoft.com/office/drawing/2014/main" id="{E05A65C9-2A7A-0475-48BF-D779F2550A41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8138160" y="2798064"/>
                <a:ext cx="3182112" cy="3182112"/>
              </a:xfrm>
              <a:prstGeom prst="rect">
                <a:avLst/>
              </a:prstGeom>
            </p:spPr>
          </p:pic>
        </mc:Fallback>
      </mc:AlternateContent>
      <p:sp>
        <p:nvSpPr>
          <p:cNvPr id="33" name="Shape 24"/>
          <p:cNvSpPr/>
          <p:nvPr/>
        </p:nvSpPr>
        <p:spPr>
          <a:xfrm rot="120000">
            <a:off x="10301996" y="2893527"/>
            <a:ext cx="932688" cy="347472"/>
          </a:xfrm>
          <a:prstGeom prst="rect">
            <a:avLst/>
          </a:prstGeom>
          <a:solidFill>
            <a:srgbClr val="FFD84A"/>
          </a:solidFill>
          <a:ln w="10795">
            <a:solidFill>
              <a:srgbClr val="171C22"/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sp>
        <p:nvSpPr>
          <p:cNvPr id="34" name="Text 25"/>
          <p:cNvSpPr/>
          <p:nvPr/>
        </p:nvSpPr>
        <p:spPr>
          <a:xfrm>
            <a:off x="10356860" y="2934675"/>
            <a:ext cx="82296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900" b="1" dirty="0">
                <a:solidFill>
                  <a:srgbClr val="171C2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АНКЕТА</a:t>
            </a:r>
            <a:endParaRPr lang="en-US" sz="900" dirty="0"/>
          </a:p>
        </p:txBody>
      </p:sp>
      <p:sp>
        <p:nvSpPr>
          <p:cNvPr id="35" name="fx7_3_19"/>
          <p:cNvSpPr/>
          <p:nvPr/>
        </p:nvSpPr>
        <p:spPr>
          <a:xfrm rot="-42000">
            <a:off x="7589520" y="5486400"/>
            <a:ext cx="3840480" cy="393192"/>
          </a:xfrm>
          <a:prstGeom prst="rect">
            <a:avLst/>
          </a:prstGeom>
          <a:solidFill>
            <a:srgbClr val="FFD84A"/>
          </a:solidFill>
          <a:ln w="10795">
            <a:solidFill>
              <a:srgbClr val="171C22"/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sp>
        <p:nvSpPr>
          <p:cNvPr id="36" name="fx7_3_20"/>
          <p:cNvSpPr/>
          <p:nvPr/>
        </p:nvSpPr>
        <p:spPr>
          <a:xfrm>
            <a:off x="7644384" y="5527548"/>
            <a:ext cx="37307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900" b="1" dirty="0">
                <a:solidFill>
                  <a:srgbClr val="171C2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МЕМ ПРО БЮДЖЕТ · НЕ ПРО ВСЕХ</a:t>
            </a:r>
            <a:endParaRPr lang="en-US" sz="900" dirty="0"/>
          </a:p>
        </p:txBody>
      </p:sp>
      <p:sp>
        <p:nvSpPr>
          <p:cNvPr id="37" name="Text 28"/>
          <p:cNvSpPr/>
          <p:nvPr/>
        </p:nvSpPr>
        <p:spPr>
          <a:xfrm>
            <a:off x="658368" y="6135624"/>
            <a:ext cx="10607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20" b="1" dirty="0">
                <a:solidFill>
                  <a:srgbClr val="FFFD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Шкалы и финансовые вопросы: [5]–[7]. Перевод и понятность проверяются до запуска.</a:t>
            </a:r>
            <a:endParaRPr lang="en-US" sz="820" dirty="0"/>
          </a:p>
        </p:txBody>
      </p:sp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38" name="!!m-scale">
                <a:extLst>
                  <a:ext uri="{FF2B5EF4-FFF2-40B4-BE49-F238E27FC236}">
                    <a16:creationId xmlns:a16="http://schemas.microsoft.com/office/drawing/2014/main" id="{355463BB-2015-04CC-262D-DE0A2748FE22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-3977640" y="3182112"/>
              <a:ext cx="3383280" cy="3383280"/>
            </p:xfrm>
            <a:graphic>
              <a:graphicData uri="http://schemas.microsoft.com/office/drawing/2017/model3d">
                <am3d:model3d r:embed="rIdM3d19">
                  <am3d:spPr>
                    <a:xfrm>
                      <a:off x="0" y="0"/>
                      <a:ext cx="3383280" cy="3383280"/>
                    </a:xfrm>
                    <a:prstGeom prst="rect">
                      <a:avLst/>
                    </a:prstGeom>
                  </am3d:spPr>
                  <am3d:camera>
                    <am3d:pos x="0" y="0" z="60967730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591716" d="1000000"/>
                    <am3d:preTrans dx="0" dy="479290" dz="0"/>
                    <am3d:scale>
                      <am3d:sx n="1000000" d="1000000"/>
                      <am3d:sy n="1000000" d="1000000"/>
                      <am3d:sz n="1000000" d="1000000"/>
                    </am3d:scale>
                    <am3d:rot ax="480000" ay="-5460000" az="0"/>
                    <am3d:postTrans dx="0" dy="0" dz="0"/>
                  </am3d:trans>
                  <am3d:raster rName="Office3DRenderer" rVer="16.0.8326">
                    <am3d:blip r:embed="rId8"/>
                  </am3d:raster>
                  <am3d:extLst>
                    <a:ext uri="{9A65AA19-BECB-4387-8358-8AD5134E1D82}">
                      <a3danim:embedAnim xmlns:a3danim="http://schemas.microsoft.com/office/drawing/2018/animation/model3d" animId="0">
                        <a3danim:animPr length="4000" count="indefinite"/>
                      </a3danim:embedAnim>
                    </a:ext>
                    <a:ext uri="{E9DE012E-A134-456F-84FE-255F9AAD75C6}">
                      <a3danim:posterFrame xmlns:a3danim="http://schemas.microsoft.com/office/drawing/2018/animation/model3d" animId="0"/>
                    </a:ext>
                  </am3d:extLst>
                  <am3d:objViewport viewportSz="338328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38" name="!!m-scale">
                <a:extLst>
                  <a:ext uri="{FF2B5EF4-FFF2-40B4-BE49-F238E27FC236}">
                    <a16:creationId xmlns:a16="http://schemas.microsoft.com/office/drawing/2014/main" id="{355463BB-2015-04CC-262D-DE0A2748FE22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-3977640" y="3182112"/>
                <a:ext cx="3383280" cy="3383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39" name="!!m-chart">
                <a:extLst>
                  <a:ext uri="{FF2B5EF4-FFF2-40B4-BE49-F238E27FC236}">
                    <a16:creationId xmlns:a16="http://schemas.microsoft.com/office/drawing/2014/main" id="{12030342-8F16-4D75-3C42-B29E75062EE0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12786055" y="2048256"/>
              <a:ext cx="3456432" cy="3456432"/>
            </p:xfrm>
            <a:graphic>
              <a:graphicData uri="http://schemas.microsoft.com/office/drawing/2017/model3d">
                <am3d:model3d r:embed="rIdM3d20">
                  <am3d:spPr>
                    <a:xfrm>
                      <a:off x="0" y="0"/>
                      <a:ext cx="3456432" cy="3456432"/>
                    </a:xfrm>
                    <a:prstGeom prst="rect">
                      <a:avLst/>
                    </a:prstGeom>
                  </am3d:spPr>
                  <am3d:camera>
                    <am3d:pos x="0" y="0" z="66703431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647281" d="1000000"/>
                    <am3d:preTrans dx="-523410" dy="-291276" dz="-2388467"/>
                    <am3d:scale>
                      <am3d:sx n="1000000" d="1000000"/>
                      <am3d:sy n="1000000" d="1000000"/>
                      <am3d:sz n="1000000" d="1000000"/>
                    </am3d:scale>
                    <am3d:rot ax="540000" ay="3180000" az="0"/>
                    <am3d:postTrans dx="0" dy="0" dz="0"/>
                  </am3d:trans>
                  <am3d:raster rName="Office3DRenderer" rVer="16.0.8326">
                    <am3d:blip r:embed="rId9"/>
                  </am3d:raster>
                  <am3d:extLst>
                    <a:ext uri="{9A65AA19-BECB-4387-8358-8AD5134E1D82}">
                      <a3danim:embedAnim xmlns:a3danim="http://schemas.microsoft.com/office/drawing/2018/animation/model3d" animId="0">
                        <a3danim:animPr length="4000" count="indefinite"/>
                      </a3danim:embedAnim>
                    </a:ext>
                    <a:ext uri="{E9DE012E-A134-456F-84FE-255F9AAD75C6}">
                      <a3danim:posterFrame xmlns:a3danim="http://schemas.microsoft.com/office/drawing/2018/animation/model3d" animId="0"/>
                    </a:ext>
                  </am3d:extLst>
                  <am3d:objViewport viewportSz="3456432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39" name="!!m-chart">
                <a:extLst>
                  <a:ext uri="{FF2B5EF4-FFF2-40B4-BE49-F238E27FC236}">
                    <a16:creationId xmlns:a16="http://schemas.microsoft.com/office/drawing/2014/main" id="{12030342-8F16-4D75-3C42-B29E75062EE0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12786055" y="2048256"/>
                <a:ext cx="3456432" cy="3456432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7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70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70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7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70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70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7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70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70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7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70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70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7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70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70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7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7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7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7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7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7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2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7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7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7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7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7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7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7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7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7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7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8" dur="7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7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2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7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3" dur="7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" dur="7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7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7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7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7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2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7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3" dur="7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4" dur="7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7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7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8" dur="7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7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2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7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3" dur="7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4" dur="7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7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7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8" dur="70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9" dur="70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2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7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3" dur="70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4" dur="70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7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7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8" dur="70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9" dur="70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7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3" dur="700" decel="1000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4" dur="700" decel="1000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7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7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8" dur="700" decel="1000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9" dur="700" decel="1000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0" presetID="100" presetClass="emph" presetSubtype="1" repeatCount="indefinite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111" dur="4208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embedded1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35" grpId="0" animBg="1"/>
      <p:bldP spid="36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am3d="http://schemas.microsoft.com/office/drawing/2017/model3d" mc:Ignorable="am3d">
  <p:cSld name="Slide 8">
    <p:bg>
      <p:bgPr>
        <a:solidFill>
          <a:srgbClr val="22528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blue-grunge" descr="/home/user/MyWorkAiBrain/presentations/impulse/assets/memes/blue-grunge-16x9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series"/>
          <p:cNvSpPr/>
          <p:nvPr/>
        </p:nvSpPr>
        <p:spPr>
          <a:xfrm>
            <a:off x="658368" y="182880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40" b="1" spc="110" kern="0" dirty="0">
                <a:solidFill>
                  <a:srgbClr val="FFFD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ПСИХОЛОГИЯ ИМПУЛЬСИВНЫХ ПОКУПОК</a:t>
            </a:r>
            <a:endParaRPr lang="en-US" sz="940" dirty="0"/>
          </a:p>
        </p:txBody>
      </p:sp>
      <p:pic>
        <p:nvPicPr>
          <p:cNvPr id="4" name="!!red-swash" descr="/home/user/MyWorkAiBrain/presentations/impulse/assets/memes/red-brush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438912"/>
            <a:ext cx="2057400" cy="164592"/>
          </a:xfrm>
          <a:prstGeom prst="rect">
            <a:avLst/>
          </a:prstGeom>
        </p:spPr>
      </p:pic>
      <p:sp>
        <p:nvSpPr>
          <p:cNvPr id="5" name="!!page-sticker"/>
          <p:cNvSpPr/>
          <p:nvPr/>
        </p:nvSpPr>
        <p:spPr>
          <a:xfrm rot="120000">
            <a:off x="10488168" y="146304"/>
            <a:ext cx="1051560" cy="393192"/>
          </a:xfrm>
          <a:prstGeom prst="rect">
            <a:avLst/>
          </a:prstGeom>
          <a:solidFill>
            <a:srgbClr val="FFD84A"/>
          </a:solidFill>
          <a:ln w="10160">
            <a:solidFill>
              <a:srgbClr val="171C22"/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sp>
        <p:nvSpPr>
          <p:cNvPr id="6" name="!!page"/>
          <p:cNvSpPr/>
          <p:nvPr/>
        </p:nvSpPr>
        <p:spPr>
          <a:xfrm>
            <a:off x="10543032" y="237744"/>
            <a:ext cx="9326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71C2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08 / 10</a:t>
            </a:r>
            <a:endParaRPr lang="en-US" sz="1050" dirty="0"/>
          </a:p>
        </p:txBody>
      </p:sp>
      <p:sp>
        <p:nvSpPr>
          <p:cNvPr id="7" name="!!footer"/>
          <p:cNvSpPr/>
          <p:nvPr/>
        </p:nvSpPr>
        <p:spPr>
          <a:xfrm>
            <a:off x="658368" y="6547104"/>
            <a:ext cx="7863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40" b="1" spc="35" kern="0" dirty="0">
                <a:solidFill>
                  <a:srgbClr val="FFFD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#план_исследования  ·  СОБСТВЕННЫХ ДАННЫХ ПОКА НЕТ</a:t>
            </a:r>
            <a:endParaRPr lang="en-US" sz="840" dirty="0"/>
          </a:p>
        </p:txBody>
      </p:sp>
      <p:sp>
        <p:nvSpPr>
          <p:cNvPr id="8" name="!!meme-title"/>
          <p:cNvSpPr/>
          <p:nvPr/>
        </p:nvSpPr>
        <p:spPr>
          <a:xfrm>
            <a:off x="658368" y="859536"/>
            <a:ext cx="69037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2650" b="1" dirty="0">
                <a:solidFill>
                  <a:srgbClr val="FFFD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КОРРЕЛЯЦИЯ ≠ ПРИЧИНА. СИРОПА НЕТ.</a:t>
            </a:r>
            <a:endParaRPr lang="en-US" sz="2650" dirty="0"/>
          </a:p>
        </p:txBody>
      </p:sp>
      <p:pic>
        <p:nvPicPr>
          <p:cNvPr id="9" name="!!red-underline" descr="/home/user/MyWorkAiBrain/presentations/impulse/assets/memes/red-brush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1536192"/>
            <a:ext cx="3474720" cy="219456"/>
          </a:xfrm>
          <a:prstGeom prst="rect">
            <a:avLst/>
          </a:prstGeom>
        </p:spPr>
      </p:pic>
      <p:sp>
        <p:nvSpPr>
          <p:cNvPr id="10" name="fx8_2_0"/>
          <p:cNvSpPr/>
          <p:nvPr/>
        </p:nvSpPr>
        <p:spPr>
          <a:xfrm>
            <a:off x="658368" y="1965960"/>
            <a:ext cx="2953512" cy="2953512"/>
          </a:xfrm>
          <a:prstGeom prst="rect">
            <a:avLst/>
          </a:prstGeom>
          <a:solidFill>
            <a:srgbClr val="FFFFFF"/>
          </a:solidFill>
          <a:ln w="12700">
            <a:solidFill>
              <a:srgbClr val="171C22"/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pic>
        <p:nvPicPr>
          <p:cNvPr id="11" name="fx8_2_1" descr="/home/user/MyWorkAiBrain/presentations/impulse/assets/memes/doctor-mom.jpe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7804" y="2025396"/>
            <a:ext cx="2834640" cy="2834640"/>
          </a:xfrm>
          <a:prstGeom prst="rect">
            <a:avLst/>
          </a:prstGeom>
        </p:spPr>
      </p:pic>
      <p:sp>
        <p:nvSpPr>
          <p:cNvPr id="12" name="fx8_3_2"/>
          <p:cNvSpPr/>
          <p:nvPr/>
        </p:nvSpPr>
        <p:spPr>
          <a:xfrm rot="-42000">
            <a:off x="713232" y="5010912"/>
            <a:ext cx="3611880" cy="365760"/>
          </a:xfrm>
          <a:prstGeom prst="rect">
            <a:avLst/>
          </a:prstGeom>
          <a:solidFill>
            <a:srgbClr val="FFD84A"/>
          </a:solidFill>
          <a:ln w="10795">
            <a:solidFill>
              <a:srgbClr val="171C22"/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sp>
        <p:nvSpPr>
          <p:cNvPr id="13" name="fx8_3_3"/>
          <p:cNvSpPr/>
          <p:nvPr/>
        </p:nvSpPr>
        <p:spPr>
          <a:xfrm>
            <a:off x="768096" y="5052060"/>
            <a:ext cx="350215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870" b="1" dirty="0">
                <a:solidFill>
                  <a:srgbClr val="171C2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СИРОП ОТ КОРРЕЛЯЦИИ НЕ ВЫПИШЕШЬ</a:t>
            </a:r>
            <a:endParaRPr lang="en-US" sz="870" dirty="0"/>
          </a:p>
        </p:txBody>
      </p:sp>
      <p:sp>
        <p:nvSpPr>
          <p:cNvPr id="14" name="fx8_2_4"/>
          <p:cNvSpPr/>
          <p:nvPr/>
        </p:nvSpPr>
        <p:spPr>
          <a:xfrm>
            <a:off x="4489704" y="1764792"/>
            <a:ext cx="3017520" cy="3639312"/>
          </a:xfrm>
          <a:prstGeom prst="roundRect">
            <a:avLst>
              <a:gd name="adj" fmla="val 758"/>
            </a:avLst>
          </a:prstGeom>
          <a:solidFill>
            <a:srgbClr val="F5F1E7"/>
          </a:solidFill>
          <a:ln w="12700">
            <a:solidFill>
              <a:srgbClr val="171C22"/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pic>
        <p:nvPicPr>
          <p:cNvPr id="15" name="fx8_2_5" descr="/home/user/MyWorkAiBrain/presentations/impulse/assets/memes/torn-paper.png">    </p:cNvPr>
          <p:cNvPicPr>
            <a:picLocks noChangeAspect="1"/>
          </p:cNvPicPr>
          <p:nvPr/>
        </p:nvPicPr>
        <p:blipFill>
          <a:blip r:embed="rId5">
            <a:alphaModFix amt="96000"/>
          </a:blip>
          <a:stretch>
            <a:fillRect/>
          </a:stretch>
        </p:blipFill>
        <p:spPr>
          <a:xfrm>
            <a:off x="4517136" y="1787652"/>
            <a:ext cx="2962656" cy="155448"/>
          </a:xfrm>
          <a:prstGeom prst="rect">
            <a:avLst/>
          </a:prstGeom>
        </p:spPr>
      </p:pic>
      <p:sp>
        <p:nvSpPr>
          <p:cNvPr id="16" name="fx8_2_6"/>
          <p:cNvSpPr/>
          <p:nvPr/>
        </p:nvSpPr>
        <p:spPr>
          <a:xfrm>
            <a:off x="4736592" y="2075688"/>
            <a:ext cx="2423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10" b="1" spc="45" kern="0" dirty="0">
                <a:solidFill>
                  <a:srgbClr val="EF263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ПЛАН АНАЛИЗА</a:t>
            </a:r>
            <a:endParaRPr lang="en-US" sz="910" dirty="0"/>
          </a:p>
        </p:txBody>
      </p:sp>
      <p:sp>
        <p:nvSpPr>
          <p:cNvPr id="17" name="fx8_2_7"/>
          <p:cNvSpPr/>
          <p:nvPr/>
        </p:nvSpPr>
        <p:spPr>
          <a:xfrm>
            <a:off x="4736592" y="2487168"/>
            <a:ext cx="329184" cy="292608"/>
          </a:xfrm>
          <a:prstGeom prst="rect">
            <a:avLst/>
          </a:prstGeom>
          <a:solidFill>
            <a:srgbClr val="FFD84A"/>
          </a:solidFill>
          <a:ln w="10795">
            <a:solidFill>
              <a:srgbClr val="171C22"/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sp>
        <p:nvSpPr>
          <p:cNvPr id="18" name="fx8_2_8"/>
          <p:cNvSpPr/>
          <p:nvPr/>
        </p:nvSpPr>
        <p:spPr>
          <a:xfrm>
            <a:off x="4791456" y="2528316"/>
            <a:ext cx="219456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940" b="1" dirty="0">
                <a:solidFill>
                  <a:srgbClr val="171C2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940" dirty="0"/>
          </a:p>
        </p:txBody>
      </p:sp>
      <p:sp>
        <p:nvSpPr>
          <p:cNvPr id="19" name="fx8_2_9"/>
          <p:cNvSpPr/>
          <p:nvPr/>
        </p:nvSpPr>
        <p:spPr>
          <a:xfrm>
            <a:off x="5184648" y="2505456"/>
            <a:ext cx="2066544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70" b="1" dirty="0">
                <a:solidFill>
                  <a:srgbClr val="171C2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описать ответы и пропуски</a:t>
            </a:r>
            <a:endParaRPr lang="en-US" sz="970" dirty="0"/>
          </a:p>
        </p:txBody>
      </p:sp>
      <p:sp>
        <p:nvSpPr>
          <p:cNvPr id="20" name="fx8_2_10"/>
          <p:cNvSpPr/>
          <p:nvPr/>
        </p:nvSpPr>
        <p:spPr>
          <a:xfrm>
            <a:off x="4736592" y="3108960"/>
            <a:ext cx="329184" cy="292608"/>
          </a:xfrm>
          <a:prstGeom prst="rect">
            <a:avLst/>
          </a:prstGeom>
          <a:solidFill>
            <a:srgbClr val="FFD84A"/>
          </a:solidFill>
          <a:ln w="10795">
            <a:solidFill>
              <a:srgbClr val="171C22"/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sp>
        <p:nvSpPr>
          <p:cNvPr id="21" name="fx8_2_11"/>
          <p:cNvSpPr/>
          <p:nvPr/>
        </p:nvSpPr>
        <p:spPr>
          <a:xfrm>
            <a:off x="4791456" y="3150108"/>
            <a:ext cx="219456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940" b="1" dirty="0">
                <a:solidFill>
                  <a:srgbClr val="171C2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940" dirty="0"/>
          </a:p>
        </p:txBody>
      </p:sp>
      <p:sp>
        <p:nvSpPr>
          <p:cNvPr id="22" name="fx8_2_12"/>
          <p:cNvSpPr/>
          <p:nvPr/>
        </p:nvSpPr>
        <p:spPr>
          <a:xfrm>
            <a:off x="5184648" y="3127248"/>
            <a:ext cx="2066544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70" b="1" dirty="0">
                <a:solidFill>
                  <a:srgbClr val="171C2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Спирмен · доверительные интервалы</a:t>
            </a:r>
            <a:endParaRPr lang="en-US" sz="970" dirty="0"/>
          </a:p>
        </p:txBody>
      </p:sp>
      <p:sp>
        <p:nvSpPr>
          <p:cNvPr id="23" name="fx8_2_13"/>
          <p:cNvSpPr/>
          <p:nvPr/>
        </p:nvSpPr>
        <p:spPr>
          <a:xfrm>
            <a:off x="4736592" y="3730752"/>
            <a:ext cx="329184" cy="292608"/>
          </a:xfrm>
          <a:prstGeom prst="rect">
            <a:avLst/>
          </a:prstGeom>
          <a:solidFill>
            <a:srgbClr val="FFD84A"/>
          </a:solidFill>
          <a:ln w="10795">
            <a:solidFill>
              <a:srgbClr val="171C22"/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sp>
        <p:nvSpPr>
          <p:cNvPr id="24" name="fx8_2_14"/>
          <p:cNvSpPr/>
          <p:nvPr/>
        </p:nvSpPr>
        <p:spPr>
          <a:xfrm>
            <a:off x="4791456" y="3771900"/>
            <a:ext cx="219456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940" b="1" dirty="0">
                <a:solidFill>
                  <a:srgbClr val="171C2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940" dirty="0"/>
          </a:p>
        </p:txBody>
      </p:sp>
      <p:sp>
        <p:nvSpPr>
          <p:cNvPr id="25" name="fx8_2_15"/>
          <p:cNvSpPr/>
          <p:nvPr/>
        </p:nvSpPr>
        <p:spPr>
          <a:xfrm>
            <a:off x="5184648" y="3749040"/>
            <a:ext cx="2066544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70" b="1" dirty="0">
                <a:solidFill>
                  <a:srgbClr val="171C2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BNPL анализировать отдельно</a:t>
            </a:r>
            <a:endParaRPr lang="en-US" sz="970" dirty="0"/>
          </a:p>
        </p:txBody>
      </p:sp>
      <p:sp>
        <p:nvSpPr>
          <p:cNvPr id="26" name="fx8_2_16"/>
          <p:cNvSpPr/>
          <p:nvPr/>
        </p:nvSpPr>
        <p:spPr>
          <a:xfrm>
            <a:off x="4736592" y="4352544"/>
            <a:ext cx="329184" cy="292608"/>
          </a:xfrm>
          <a:prstGeom prst="rect">
            <a:avLst/>
          </a:prstGeom>
          <a:solidFill>
            <a:srgbClr val="EF2634"/>
          </a:solidFill>
          <a:ln w="10795">
            <a:solidFill>
              <a:srgbClr val="171C22"/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sp>
        <p:nvSpPr>
          <p:cNvPr id="27" name="fx8_2_17"/>
          <p:cNvSpPr/>
          <p:nvPr/>
        </p:nvSpPr>
        <p:spPr>
          <a:xfrm>
            <a:off x="4791456" y="4393692"/>
            <a:ext cx="219456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940" b="1" dirty="0">
                <a:solidFill>
                  <a:srgbClr val="FFFD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</a:t>
            </a:r>
            <a:endParaRPr lang="en-US" sz="940" dirty="0"/>
          </a:p>
        </p:txBody>
      </p:sp>
      <p:sp>
        <p:nvSpPr>
          <p:cNvPr id="28" name="fx8_2_18"/>
          <p:cNvSpPr/>
          <p:nvPr/>
        </p:nvSpPr>
        <p:spPr>
          <a:xfrm>
            <a:off x="5184648" y="4370832"/>
            <a:ext cx="2066544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70" b="1" dirty="0">
                <a:solidFill>
                  <a:srgbClr val="171C2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не делать причинных выводов</a:t>
            </a:r>
            <a:endParaRPr lang="en-US" sz="970" dirty="0"/>
          </a:p>
        </p:txBody>
      </p:sp>
      <p:pic>
        <p:nvPicPr>
          <p:cNvPr id="29" name="!!warm-glow" descr="/home/user/MyWorkAiBrain/presentations/impulse/assets/glow.png">    </p:cNvPr>
          <p:cNvPicPr>
            <a:picLocks noChangeAspect="1"/>
          </p:cNvPicPr>
          <p:nvPr/>
        </p:nvPicPr>
        <p:blipFill>
          <a:blip r:embed="rId6">
            <a:alphaModFix amt="62000"/>
          </a:blip>
          <a:stretch>
            <a:fillRect/>
          </a:stretch>
        </p:blipFill>
        <p:spPr>
          <a:xfrm>
            <a:off x="7304776" y="1278880"/>
            <a:ext cx="4355104" cy="4355104"/>
          </a:xfrm>
          <a:prstGeom prst="rect">
            <a:avLst/>
          </a:prstGeom>
        </p:spPr>
      </p:pic>
      <p:sp>
        <p:nvSpPr>
          <p:cNvPr id="30" name="!!paper-sticker"/>
          <p:cNvSpPr/>
          <p:nvPr/>
        </p:nvSpPr>
        <p:spPr>
          <a:xfrm>
            <a:off x="7958041" y="1932145"/>
            <a:ext cx="3048573" cy="3048573"/>
          </a:xfrm>
          <a:prstGeom prst="ellipse">
            <a:avLst/>
          </a:prstGeom>
          <a:solidFill>
            <a:srgbClr val="F5F1E7">
              <a:alpha val="78000"/>
            </a:srgbClr>
          </a:solidFill>
          <a:ln w="15240">
            <a:solidFill>
              <a:srgbClr val="FFFDF6">
                <a:alpha val="92000"/>
              </a:srgbClr>
            </a:solidFill>
            <a:prstDash val="solid"/>
          </a:ln>
        </p:spPr>
      </p:sp>
      <p:sp>
        <p:nvSpPr>
          <p:cNvPr id="31" name="!!comic-ring"/>
          <p:cNvSpPr/>
          <p:nvPr/>
        </p:nvSpPr>
        <p:spPr>
          <a:xfrm>
            <a:off x="7740286" y="1714390"/>
            <a:ext cx="3484083" cy="3484083"/>
          </a:xfrm>
          <a:prstGeom prst="ellipse">
            <a:avLst/>
          </a:prstGeom>
          <a:ln w="19050">
            <a:solidFill>
              <a:srgbClr val="EF2634">
                <a:alpha val="94000"/>
              </a:srgbClr>
            </a:solidFill>
            <a:prstDash val="dash"/>
          </a:ln>
        </p:spPr>
      </p:sp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32" name="!!m-chart">
                <a:extLst>
                  <a:ext uri="{FF2B5EF4-FFF2-40B4-BE49-F238E27FC236}">
                    <a16:creationId xmlns:a16="http://schemas.microsoft.com/office/drawing/2014/main" id="{7A636A73-C84F-B03B-DA19-3421AC44F10D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7754112" y="1728216"/>
              <a:ext cx="3456432" cy="3456432"/>
            </p:xfrm>
            <a:graphic>
              <a:graphicData uri="http://schemas.microsoft.com/office/drawing/2017/model3d">
                <am3d:model3d r:embed="rIdM3d21">
                  <am3d:spPr>
                    <a:xfrm>
                      <a:off x="0" y="0"/>
                      <a:ext cx="3456432" cy="3456432"/>
                    </a:xfrm>
                    <a:prstGeom prst="rect">
                      <a:avLst/>
                    </a:prstGeom>
                  </am3d:spPr>
                  <am3d:camera>
                    <am3d:pos x="0" y="0" z="66703431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647281" d="1000000"/>
                    <am3d:preTrans dx="-523410" dy="-291276" dz="-2388467"/>
                    <am3d:scale>
                      <am3d:sx n="1000000" d="1000000"/>
                      <am3d:sy n="1000000" d="1000000"/>
                      <am3d:sz n="1000000" d="1000000"/>
                    </am3d:scale>
                    <am3d:rot ax="540000" ay="-1140000" az="0"/>
                    <am3d:postTrans dx="0" dy="0" dz="0"/>
                  </am3d:trans>
                  <am3d:raster rName="Office3DRenderer" rVer="16.0.8326">
                    <am3d:blip r:embed="rId7"/>
                  </am3d:raster>
                  <am3d:extLst>
                    <a:ext uri="{9A65AA19-BECB-4387-8358-8AD5134E1D82}">
                      <a3danim:embedAnim xmlns:a3danim="http://schemas.microsoft.com/office/drawing/2018/animation/model3d" animId="0">
                        <a3danim:animPr length="4000" count="indefinite"/>
                      </a3danim:embedAnim>
                    </a:ext>
                    <a:ext uri="{E9DE012E-A134-456F-84FE-255F9AAD75C6}">
                      <a3danim:posterFrame xmlns:a3danim="http://schemas.microsoft.com/office/drawing/2018/animation/model3d" animId="0"/>
                    </a:ext>
                  </am3d:extLst>
                  <am3d:objViewport viewportSz="3456432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32" name="!!m-chart">
                <a:extLst>
                  <a:ext uri="{FF2B5EF4-FFF2-40B4-BE49-F238E27FC236}">
                    <a16:creationId xmlns:a16="http://schemas.microsoft.com/office/drawing/2014/main" id="{7A636A73-C84F-B03B-DA19-3421AC44F10D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7754112" y="1728216"/>
                <a:ext cx="3456432" cy="3456432"/>
              </a:xfrm>
              <a:prstGeom prst="rect">
                <a:avLst/>
              </a:prstGeom>
            </p:spPr>
          </p:pic>
        </mc:Fallback>
      </mc:AlternateContent>
      <p:sp>
        <p:nvSpPr>
          <p:cNvPr id="33" name="Shape 24"/>
          <p:cNvSpPr/>
          <p:nvPr/>
        </p:nvSpPr>
        <p:spPr>
          <a:xfrm rot="120000">
            <a:off x="10104486" y="1831909"/>
            <a:ext cx="1188720" cy="329184"/>
          </a:xfrm>
          <a:prstGeom prst="rect">
            <a:avLst/>
          </a:prstGeom>
          <a:solidFill>
            <a:srgbClr val="FFD84A"/>
          </a:solidFill>
          <a:ln w="10795">
            <a:solidFill>
              <a:srgbClr val="171C22"/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sp>
        <p:nvSpPr>
          <p:cNvPr id="34" name="Text 25"/>
          <p:cNvSpPr/>
          <p:nvPr/>
        </p:nvSpPr>
        <p:spPr>
          <a:xfrm>
            <a:off x="10159350" y="1873057"/>
            <a:ext cx="107899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900" b="1" dirty="0">
                <a:solidFill>
                  <a:srgbClr val="171C2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ЧТО ВИДНО?</a:t>
            </a:r>
            <a:endParaRPr lang="en-US" sz="900" dirty="0"/>
          </a:p>
        </p:txBody>
      </p:sp>
      <p:sp>
        <p:nvSpPr>
          <p:cNvPr id="35" name="Text 26"/>
          <p:cNvSpPr/>
          <p:nvPr/>
        </p:nvSpPr>
        <p:spPr>
          <a:xfrm>
            <a:off x="658368" y="6135624"/>
            <a:ext cx="10607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20" b="1" dirty="0">
                <a:solidFill>
                  <a:srgbClr val="FFFD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Опрос ещё не проведён. Планируемая удобная выборка не будет репрезентативной.</a:t>
            </a:r>
            <a:endParaRPr lang="en-US" sz="820" dirty="0"/>
          </a:p>
        </p:txBody>
      </p:sp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36" name="!!m-clipboard">
                <a:extLst>
                  <a:ext uri="{FF2B5EF4-FFF2-40B4-BE49-F238E27FC236}">
                    <a16:creationId xmlns:a16="http://schemas.microsoft.com/office/drawing/2014/main" id="{CEA52BFD-1712-C046-A786-2857B5C454FB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-3776472" y="3118104"/>
              <a:ext cx="3182112" cy="3182112"/>
            </p:xfrm>
            <a:graphic>
              <a:graphicData uri="http://schemas.microsoft.com/office/drawing/2017/model3d">
                <am3d:model3d r:embed="rIdM3d22">
                  <am3d:spPr>
                    <a:xfrm>
                      <a:off x="0" y="0"/>
                      <a:ext cx="3182112" cy="3182112"/>
                    </a:xfrm>
                    <a:prstGeom prst="rect">
                      <a:avLst/>
                    </a:prstGeom>
                  </am3d:spPr>
                  <am3d:camera>
                    <am3d:pos x="0" y="0" z="62252259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617284" d="1000000"/>
                    <am3d:preTrans dx="-2985701" dy="0" dz="-1944444"/>
                    <am3d:scale>
                      <am3d:sx n="1000000" d="1000000"/>
                      <am3d:sy n="1000000" d="1000000"/>
                      <am3d:sz n="1000000" d="1000000"/>
                    </am3d:scale>
                    <am3d:rot ax="600000" ay="-5460000" az="0"/>
                    <am3d:postTrans dx="0" dy="0" dz="0"/>
                  </am3d:trans>
                  <am3d:raster rName="Office3DRenderer" rVer="16.0.8326">
                    <am3d:blip r:embed="rId8"/>
                  </am3d:raster>
                  <am3d:extLst>
                    <a:ext uri="{9A65AA19-BECB-4387-8358-8AD5134E1D82}">
                      <a3danim:embedAnim xmlns:a3danim="http://schemas.microsoft.com/office/drawing/2018/animation/model3d" animId="0">
                        <a3danim:animPr length="4208" count="indefinite"/>
                      </a3danim:embedAnim>
                    </a:ext>
                    <a:ext uri="{E9DE012E-A134-456F-84FE-255F9AAD75C6}">
                      <a3danim:posterFrame xmlns:a3danim="http://schemas.microsoft.com/office/drawing/2018/animation/model3d" animId="0"/>
                    </a:ext>
                  </am3d:extLst>
                  <am3d:objViewport viewportSz="3182112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36" name="!!m-clipboard">
                <a:extLst>
                  <a:ext uri="{FF2B5EF4-FFF2-40B4-BE49-F238E27FC236}">
                    <a16:creationId xmlns:a16="http://schemas.microsoft.com/office/drawing/2014/main" id="{CEA52BFD-1712-C046-A786-2857B5C454FB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-3776472" y="3118104"/>
                <a:ext cx="3182112" cy="3182112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37" name="!!m-hourglass">
                <a:extLst>
                  <a:ext uri="{FF2B5EF4-FFF2-40B4-BE49-F238E27FC236}">
                    <a16:creationId xmlns:a16="http://schemas.microsoft.com/office/drawing/2014/main" id="{E21A131C-E05D-EC5E-5105-475A6952A676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12786055" y="1984248"/>
              <a:ext cx="3502152" cy="3502152"/>
            </p:xfrm>
            <a:graphic>
              <a:graphicData uri="http://schemas.microsoft.com/office/drawing/2017/model3d">
                <am3d:model3d r:embed="rIdM3d23">
                  <am3d:spPr>
                    <a:xfrm>
                      <a:off x="0" y="0"/>
                      <a:ext cx="3502152" cy="3502152"/>
                    </a:xfrm>
                    <a:prstGeom prst="rect">
                      <a:avLst/>
                    </a:prstGeom>
                  </am3d:spPr>
                  <am3d:camera>
                    <am3d:pos x="0" y="0" z="61062175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609756" d="1000000"/>
                    <am3d:preTrans dx="0" dy="-439024" dz="0"/>
                    <am3d:scale>
                      <am3d:sx n="1000000" d="1000000"/>
                      <am3d:sy n="1000000" d="1000000"/>
                      <am3d:sz n="1000000" d="1000000"/>
                    </am3d:scale>
                    <am3d:rot ax="660000" ay="3360000" az="0"/>
                    <am3d:postTrans dx="0" dy="0" dz="0"/>
                  </am3d:trans>
                  <am3d:raster rName="Office3DRenderer" rVer="16.0.8326">
                    <am3d:blip r:embed="rId9"/>
                  </am3d:raster>
                  <am3d:extLst>
                    <a:ext uri="{9A65AA19-BECB-4387-8358-8AD5134E1D82}">
                      <a3danim:embedAnim xmlns:a3danim="http://schemas.microsoft.com/office/drawing/2018/animation/model3d" animId="0">
                        <a3danim:animPr length="4000" count="indefinite"/>
                      </a3danim:embedAnim>
                    </a:ext>
                    <a:ext uri="{E9DE012E-A134-456F-84FE-255F9AAD75C6}">
                      <a3danim:posterFrame xmlns:a3danim="http://schemas.microsoft.com/office/drawing/2018/animation/model3d" animId="0"/>
                    </a:ext>
                  </am3d:extLst>
                  <am3d:objViewport viewportSz="3502152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37" name="!!m-hourglass">
                <a:extLst>
                  <a:ext uri="{FF2B5EF4-FFF2-40B4-BE49-F238E27FC236}">
                    <a16:creationId xmlns:a16="http://schemas.microsoft.com/office/drawing/2014/main" id="{E21A131C-E05D-EC5E-5105-475A6952A676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12786055" y="1984248"/>
                <a:ext cx="3502152" cy="3502152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7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70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70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7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70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70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7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70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70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7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7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7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7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7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7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7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7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7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7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7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7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2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7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7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7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7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7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7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7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7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7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7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8" dur="7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7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2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7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3" dur="7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" dur="7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7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7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7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7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2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7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3" dur="7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4" dur="7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7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7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8" dur="70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70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2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7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3" dur="70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4" dur="70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7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7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8" dur="70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9" dur="70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7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3" dur="70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4" dur="70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7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7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8" dur="70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9" dur="70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0" presetID="100" presetClass="emph" presetSubtype="1" repeatCount="indefinite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101" dur="4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embedded1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4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12" grpId="0" animBg="1"/>
      <p:bldP spid="13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am3d="http://schemas.microsoft.com/office/drawing/2017/model3d" mc:Ignorable="am3d">
  <p:cSld name="Slide 9">
    <p:bg>
      <p:bgPr>
        <a:solidFill>
          <a:srgbClr val="22528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blue-grunge" descr="/home/user/MyWorkAiBrain/presentations/impulse/assets/memes/blue-grunge-16x9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series"/>
          <p:cNvSpPr/>
          <p:nvPr/>
        </p:nvSpPr>
        <p:spPr>
          <a:xfrm>
            <a:off x="658368" y="182880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40" b="1" spc="110" kern="0" dirty="0">
                <a:solidFill>
                  <a:srgbClr val="FFFD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ПСИХОЛОГИЯ ИМПУЛЬСИВНЫХ ПОКУПОК</a:t>
            </a:r>
            <a:endParaRPr lang="en-US" sz="940" dirty="0"/>
          </a:p>
        </p:txBody>
      </p:sp>
      <p:pic>
        <p:nvPicPr>
          <p:cNvPr id="4" name="!!red-swash" descr="/home/user/MyWorkAiBrain/presentations/impulse/assets/memes/red-brush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438912"/>
            <a:ext cx="2057400" cy="164592"/>
          </a:xfrm>
          <a:prstGeom prst="rect">
            <a:avLst/>
          </a:prstGeom>
        </p:spPr>
      </p:pic>
      <p:sp>
        <p:nvSpPr>
          <p:cNvPr id="5" name="!!page-sticker"/>
          <p:cNvSpPr/>
          <p:nvPr/>
        </p:nvSpPr>
        <p:spPr>
          <a:xfrm rot="120000">
            <a:off x="10488168" y="146304"/>
            <a:ext cx="1051560" cy="393192"/>
          </a:xfrm>
          <a:prstGeom prst="rect">
            <a:avLst/>
          </a:prstGeom>
          <a:solidFill>
            <a:srgbClr val="FFD84A"/>
          </a:solidFill>
          <a:ln w="10160">
            <a:solidFill>
              <a:srgbClr val="171C22"/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sp>
        <p:nvSpPr>
          <p:cNvPr id="6" name="!!page"/>
          <p:cNvSpPr/>
          <p:nvPr/>
        </p:nvSpPr>
        <p:spPr>
          <a:xfrm>
            <a:off x="10543032" y="237744"/>
            <a:ext cx="9326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71C2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09 / 10</a:t>
            </a:r>
            <a:endParaRPr lang="en-US" sz="1050" dirty="0"/>
          </a:p>
        </p:txBody>
      </p:sp>
      <p:sp>
        <p:nvSpPr>
          <p:cNvPr id="7" name="!!footer"/>
          <p:cNvSpPr/>
          <p:nvPr/>
        </p:nvSpPr>
        <p:spPr>
          <a:xfrm>
            <a:off x="658368" y="6547104"/>
            <a:ext cx="7863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40" b="1" spc="35" kern="0" dirty="0">
                <a:solidFill>
                  <a:srgbClr val="FFFD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#план_исследования  ·  СОБСТВЕННЫХ ДАННЫХ ПОКА НЕТ</a:t>
            </a:r>
            <a:endParaRPr lang="en-US" sz="840" dirty="0"/>
          </a:p>
        </p:txBody>
      </p:sp>
      <p:sp>
        <p:nvSpPr>
          <p:cNvPr id="8" name="!!meme-title"/>
          <p:cNvSpPr/>
          <p:nvPr/>
        </p:nvSpPr>
        <p:spPr>
          <a:xfrm>
            <a:off x="658368" y="859536"/>
            <a:ext cx="649224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2750" b="1" dirty="0">
                <a:solidFill>
                  <a:srgbClr val="FFFD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ПЕРЕД ОПЛАТОЙ —</a:t>
            </a:r>
            <a:endParaRPr lang="en-US" sz="275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2750" b="1" dirty="0">
                <a:solidFill>
                  <a:srgbClr val="FFFD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ТРИ ШАГА (КОРЗИНА ПОДОЖДЁТ)</a:t>
            </a:r>
            <a:endParaRPr lang="en-US" sz="2750" dirty="0"/>
          </a:p>
        </p:txBody>
      </p:sp>
      <p:pic>
        <p:nvPicPr>
          <p:cNvPr id="9" name="!!red-underline" descr="/home/user/MyWorkAiBrain/presentations/impulse/assets/memes/red-brush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1911096"/>
            <a:ext cx="2834640" cy="210312"/>
          </a:xfrm>
          <a:prstGeom prst="rect">
            <a:avLst/>
          </a:prstGeom>
        </p:spPr>
      </p:pic>
      <p:sp>
        <p:nvSpPr>
          <p:cNvPr id="10" name="fx9_2_0"/>
          <p:cNvSpPr/>
          <p:nvPr/>
        </p:nvSpPr>
        <p:spPr>
          <a:xfrm>
            <a:off x="658368" y="2194560"/>
            <a:ext cx="6419088" cy="713232"/>
          </a:xfrm>
          <a:prstGeom prst="roundRect">
            <a:avLst>
              <a:gd name="adj" fmla="val 3205"/>
            </a:avLst>
          </a:prstGeom>
          <a:solidFill>
            <a:srgbClr val="F5F1E7"/>
          </a:solidFill>
          <a:ln w="12700">
            <a:solidFill>
              <a:srgbClr val="171C22"/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pic>
        <p:nvPicPr>
          <p:cNvPr id="11" name="fx9_2_1" descr="/home/user/MyWorkAiBrain/presentations/impulse/assets/memes/torn-paper.png">    </p:cNvPr>
          <p:cNvPicPr>
            <a:picLocks noChangeAspect="1"/>
          </p:cNvPicPr>
          <p:nvPr/>
        </p:nvPicPr>
        <p:blipFill>
          <a:blip r:embed="rId4">
            <a:alphaModFix amt="96000"/>
          </a:blip>
          <a:stretch>
            <a:fillRect/>
          </a:stretch>
        </p:blipFill>
        <p:spPr>
          <a:xfrm>
            <a:off x="685800" y="2217420"/>
            <a:ext cx="6364224" cy="155448"/>
          </a:xfrm>
          <a:prstGeom prst="rect">
            <a:avLst/>
          </a:prstGeom>
        </p:spPr>
      </p:pic>
      <p:sp>
        <p:nvSpPr>
          <p:cNvPr id="12" name="fx9_2_2"/>
          <p:cNvSpPr/>
          <p:nvPr/>
        </p:nvSpPr>
        <p:spPr>
          <a:xfrm rot="-120000">
            <a:off x="777240" y="2359152"/>
            <a:ext cx="438912" cy="365760"/>
          </a:xfrm>
          <a:prstGeom prst="rect">
            <a:avLst/>
          </a:prstGeom>
          <a:solidFill>
            <a:srgbClr val="EF2634"/>
          </a:solidFill>
          <a:ln w="10795">
            <a:solidFill>
              <a:srgbClr val="171C22"/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sp>
        <p:nvSpPr>
          <p:cNvPr id="13" name="fx9_2_3"/>
          <p:cNvSpPr/>
          <p:nvPr/>
        </p:nvSpPr>
        <p:spPr>
          <a:xfrm>
            <a:off x="832104" y="2400300"/>
            <a:ext cx="32918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1200" b="1" dirty="0">
                <a:solidFill>
                  <a:srgbClr val="FFFD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01</a:t>
            </a:r>
            <a:endParaRPr lang="en-US" sz="1200" dirty="0"/>
          </a:p>
        </p:txBody>
      </p:sp>
      <p:sp>
        <p:nvSpPr>
          <p:cNvPr id="14" name="fx9_2_4"/>
          <p:cNvSpPr/>
          <p:nvPr/>
        </p:nvSpPr>
        <p:spPr>
          <a:xfrm>
            <a:off x="1353312" y="2322576"/>
            <a:ext cx="55595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80" b="1" dirty="0">
                <a:solidFill>
                  <a:srgbClr val="171C2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ПАУЗА</a:t>
            </a:r>
            <a:endParaRPr lang="en-US" sz="1180" dirty="0"/>
          </a:p>
        </p:txBody>
      </p:sp>
      <p:sp>
        <p:nvSpPr>
          <p:cNvPr id="15" name="fx9_2_5"/>
          <p:cNvSpPr/>
          <p:nvPr/>
        </p:nvSpPr>
        <p:spPr>
          <a:xfrm>
            <a:off x="1353312" y="2596896"/>
            <a:ext cx="55412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70" dirty="0">
                <a:solidFill>
                  <a:srgbClr val="171C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до завтра. Таймер переживёт.</a:t>
            </a:r>
            <a:endParaRPr lang="en-US" sz="970" dirty="0"/>
          </a:p>
        </p:txBody>
      </p:sp>
      <p:sp>
        <p:nvSpPr>
          <p:cNvPr id="16" name="fx9_3_6"/>
          <p:cNvSpPr/>
          <p:nvPr/>
        </p:nvSpPr>
        <p:spPr>
          <a:xfrm>
            <a:off x="658368" y="3063240"/>
            <a:ext cx="6419088" cy="713232"/>
          </a:xfrm>
          <a:prstGeom prst="roundRect">
            <a:avLst>
              <a:gd name="adj" fmla="val 3205"/>
            </a:avLst>
          </a:prstGeom>
          <a:solidFill>
            <a:srgbClr val="F5F1E7"/>
          </a:solidFill>
          <a:ln w="12700">
            <a:solidFill>
              <a:srgbClr val="171C22"/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pic>
        <p:nvPicPr>
          <p:cNvPr id="17" name="fx9_3_7" descr="/home/user/MyWorkAiBrain/presentations/impulse/assets/memes/torn-paper.png">    </p:cNvPr>
          <p:cNvPicPr>
            <a:picLocks noChangeAspect="1"/>
          </p:cNvPicPr>
          <p:nvPr/>
        </p:nvPicPr>
        <p:blipFill>
          <a:blip r:embed="rId5">
            <a:alphaModFix amt="96000"/>
          </a:blip>
          <a:stretch>
            <a:fillRect/>
          </a:stretch>
        </p:blipFill>
        <p:spPr>
          <a:xfrm>
            <a:off x="685800" y="3086100"/>
            <a:ext cx="6364224" cy="155448"/>
          </a:xfrm>
          <a:prstGeom prst="rect">
            <a:avLst/>
          </a:prstGeom>
        </p:spPr>
      </p:pic>
      <p:sp>
        <p:nvSpPr>
          <p:cNvPr id="18" name="fx9_3_8"/>
          <p:cNvSpPr/>
          <p:nvPr/>
        </p:nvSpPr>
        <p:spPr>
          <a:xfrm rot="-120000">
            <a:off x="777240" y="3227832"/>
            <a:ext cx="438912" cy="365760"/>
          </a:xfrm>
          <a:prstGeom prst="rect">
            <a:avLst/>
          </a:prstGeom>
          <a:solidFill>
            <a:srgbClr val="4F9C75"/>
          </a:solidFill>
          <a:ln w="10795">
            <a:solidFill>
              <a:srgbClr val="171C22"/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sp>
        <p:nvSpPr>
          <p:cNvPr id="19" name="fx9_3_9"/>
          <p:cNvSpPr/>
          <p:nvPr/>
        </p:nvSpPr>
        <p:spPr>
          <a:xfrm>
            <a:off x="832104" y="3268980"/>
            <a:ext cx="32918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1200" b="1" dirty="0">
                <a:solidFill>
                  <a:srgbClr val="FFFD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02</a:t>
            </a:r>
            <a:endParaRPr lang="en-US" sz="1200" dirty="0"/>
          </a:p>
        </p:txBody>
      </p:sp>
      <p:sp>
        <p:nvSpPr>
          <p:cNvPr id="20" name="fx9_3_10"/>
          <p:cNvSpPr/>
          <p:nvPr/>
        </p:nvSpPr>
        <p:spPr>
          <a:xfrm>
            <a:off x="1353312" y="3191256"/>
            <a:ext cx="55595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80" b="1" dirty="0">
                <a:solidFill>
                  <a:srgbClr val="171C2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ПОЛНАЯ ЦЕНА</a:t>
            </a:r>
            <a:endParaRPr lang="en-US" sz="1180" dirty="0"/>
          </a:p>
        </p:txBody>
      </p:sp>
      <p:sp>
        <p:nvSpPr>
          <p:cNvPr id="21" name="fx9_3_11"/>
          <p:cNvSpPr/>
          <p:nvPr/>
        </p:nvSpPr>
        <p:spPr>
          <a:xfrm>
            <a:off x="1353312" y="3465576"/>
            <a:ext cx="55412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70" dirty="0">
                <a:solidFill>
                  <a:srgbClr val="171C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считай всю сумму, не один платёж.</a:t>
            </a:r>
            <a:endParaRPr lang="en-US" sz="970" dirty="0"/>
          </a:p>
        </p:txBody>
      </p:sp>
      <p:sp>
        <p:nvSpPr>
          <p:cNvPr id="22" name="fx9_4_12"/>
          <p:cNvSpPr/>
          <p:nvPr/>
        </p:nvSpPr>
        <p:spPr>
          <a:xfrm>
            <a:off x="658368" y="3931920"/>
            <a:ext cx="6419088" cy="713232"/>
          </a:xfrm>
          <a:prstGeom prst="roundRect">
            <a:avLst>
              <a:gd name="adj" fmla="val 3205"/>
            </a:avLst>
          </a:prstGeom>
          <a:solidFill>
            <a:srgbClr val="F5F1E7"/>
          </a:solidFill>
          <a:ln w="12700">
            <a:solidFill>
              <a:srgbClr val="171C22"/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pic>
        <p:nvPicPr>
          <p:cNvPr id="23" name="fx9_4_13" descr="/home/user/MyWorkAiBrain/presentations/impulse/assets/memes/torn-paper.png">    </p:cNvPr>
          <p:cNvPicPr>
            <a:picLocks noChangeAspect="1"/>
          </p:cNvPicPr>
          <p:nvPr/>
        </p:nvPicPr>
        <p:blipFill>
          <a:blip r:embed="rId6">
            <a:alphaModFix amt="96000"/>
          </a:blip>
          <a:stretch>
            <a:fillRect/>
          </a:stretch>
        </p:blipFill>
        <p:spPr>
          <a:xfrm>
            <a:off x="685800" y="3954780"/>
            <a:ext cx="6364224" cy="155448"/>
          </a:xfrm>
          <a:prstGeom prst="rect">
            <a:avLst/>
          </a:prstGeom>
        </p:spPr>
      </p:pic>
      <p:sp>
        <p:nvSpPr>
          <p:cNvPr id="24" name="fx9_4_14"/>
          <p:cNvSpPr/>
          <p:nvPr/>
        </p:nvSpPr>
        <p:spPr>
          <a:xfrm rot="-120000">
            <a:off x="777240" y="4096512"/>
            <a:ext cx="438912" cy="365760"/>
          </a:xfrm>
          <a:prstGeom prst="rect">
            <a:avLst/>
          </a:prstGeom>
          <a:solidFill>
            <a:srgbClr val="EF2634"/>
          </a:solidFill>
          <a:ln w="10795">
            <a:solidFill>
              <a:srgbClr val="171C22"/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sp>
        <p:nvSpPr>
          <p:cNvPr id="25" name="fx9_4_15"/>
          <p:cNvSpPr/>
          <p:nvPr/>
        </p:nvSpPr>
        <p:spPr>
          <a:xfrm>
            <a:off x="832104" y="4137660"/>
            <a:ext cx="32918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1200" b="1" dirty="0">
                <a:solidFill>
                  <a:srgbClr val="FFFD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03</a:t>
            </a:r>
            <a:endParaRPr lang="en-US" sz="1200" dirty="0"/>
          </a:p>
        </p:txBody>
      </p:sp>
      <p:sp>
        <p:nvSpPr>
          <p:cNvPr id="26" name="fx9_4_16"/>
          <p:cNvSpPr/>
          <p:nvPr/>
        </p:nvSpPr>
        <p:spPr>
          <a:xfrm>
            <a:off x="1353312" y="4059936"/>
            <a:ext cx="55595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80" b="1" dirty="0">
                <a:solidFill>
                  <a:srgbClr val="171C2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МОЙ ПЛАН?</a:t>
            </a:r>
            <a:endParaRPr lang="en-US" sz="1180" dirty="0"/>
          </a:p>
        </p:txBody>
      </p:sp>
      <p:sp>
        <p:nvSpPr>
          <p:cNvPr id="27" name="fx9_4_17"/>
          <p:cNvSpPr/>
          <p:nvPr/>
        </p:nvSpPr>
        <p:spPr>
          <a:xfrm>
            <a:off x="1353312" y="4334256"/>
            <a:ext cx="55412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70" dirty="0">
                <a:solidFill>
                  <a:srgbClr val="171C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если нет — пусть корзина полежит.</a:t>
            </a:r>
            <a:endParaRPr lang="en-US" sz="970" dirty="0"/>
          </a:p>
        </p:txBody>
      </p:sp>
      <p:sp>
        <p:nvSpPr>
          <p:cNvPr id="28" name="fx9_5_18"/>
          <p:cNvSpPr/>
          <p:nvPr/>
        </p:nvSpPr>
        <p:spPr>
          <a:xfrm rot="24000">
            <a:off x="658368" y="5038344"/>
            <a:ext cx="6428232" cy="512064"/>
          </a:xfrm>
          <a:prstGeom prst="rect">
            <a:avLst/>
          </a:prstGeom>
          <a:solidFill>
            <a:srgbClr val="FFD84A"/>
          </a:solidFill>
          <a:ln w="10795">
            <a:solidFill>
              <a:srgbClr val="171C22"/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sp>
        <p:nvSpPr>
          <p:cNvPr id="29" name="fx9_5_19"/>
          <p:cNvSpPr/>
          <p:nvPr/>
        </p:nvSpPr>
        <p:spPr>
          <a:xfrm>
            <a:off x="713232" y="5079492"/>
            <a:ext cx="6318504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1200" b="1" dirty="0">
                <a:solidFill>
                  <a:srgbClr val="171C2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ТАЙМЕР ПОДОЖДЁТ. КОРЗИНА НЕ УБЕЖИТ.</a:t>
            </a:r>
            <a:endParaRPr lang="en-US" sz="1200" dirty="0"/>
          </a:p>
        </p:txBody>
      </p:sp>
      <p:pic>
        <p:nvPicPr>
          <p:cNvPr id="30" name="!!warm-glow" descr="/home/user/MyWorkAiBrain/presentations/impulse/assets/glow.png">    </p:cNvPr>
          <p:cNvPicPr>
            <a:picLocks noChangeAspect="1"/>
          </p:cNvPicPr>
          <p:nvPr/>
        </p:nvPicPr>
        <p:blipFill>
          <a:blip r:embed="rId7">
            <a:alphaModFix amt="62000"/>
          </a:blip>
          <a:stretch>
            <a:fillRect/>
          </a:stretch>
        </p:blipFill>
        <p:spPr>
          <a:xfrm>
            <a:off x="7271400" y="1208928"/>
            <a:ext cx="4412712" cy="4412712"/>
          </a:xfrm>
          <a:prstGeom prst="rect">
            <a:avLst/>
          </a:prstGeom>
        </p:spPr>
      </p:pic>
      <p:sp>
        <p:nvSpPr>
          <p:cNvPr id="31" name="!!paper-sticker"/>
          <p:cNvSpPr/>
          <p:nvPr/>
        </p:nvSpPr>
        <p:spPr>
          <a:xfrm>
            <a:off x="7933307" y="1870835"/>
            <a:ext cx="3088898" cy="3088898"/>
          </a:xfrm>
          <a:prstGeom prst="ellipse">
            <a:avLst/>
          </a:prstGeom>
          <a:solidFill>
            <a:srgbClr val="F5F1E7">
              <a:alpha val="78000"/>
            </a:srgbClr>
          </a:solidFill>
          <a:ln w="15240">
            <a:solidFill>
              <a:srgbClr val="FFFDF6">
                <a:alpha val="92000"/>
              </a:srgbClr>
            </a:solidFill>
            <a:prstDash val="solid"/>
          </a:ln>
        </p:spPr>
      </p:sp>
      <p:sp>
        <p:nvSpPr>
          <p:cNvPr id="32" name="!!comic-ring"/>
          <p:cNvSpPr/>
          <p:nvPr/>
        </p:nvSpPr>
        <p:spPr>
          <a:xfrm>
            <a:off x="7712671" y="1650199"/>
            <a:ext cx="3530169" cy="3530169"/>
          </a:xfrm>
          <a:prstGeom prst="ellipse">
            <a:avLst/>
          </a:prstGeom>
          <a:ln w="19050">
            <a:solidFill>
              <a:srgbClr val="EF2634">
                <a:alpha val="94000"/>
              </a:srgbClr>
            </a:solidFill>
            <a:prstDash val="dash"/>
          </a:ln>
        </p:spPr>
      </p:sp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33" name="!!m-hourglass">
                <a:extLst>
                  <a:ext uri="{FF2B5EF4-FFF2-40B4-BE49-F238E27FC236}">
                    <a16:creationId xmlns:a16="http://schemas.microsoft.com/office/drawing/2014/main" id="{C725848E-2AD3-5365-D6F3-798C83564553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7726680" y="1664208"/>
              <a:ext cx="3502152" cy="3502152"/>
            </p:xfrm>
            <a:graphic>
              <a:graphicData uri="http://schemas.microsoft.com/office/drawing/2017/model3d">
                <am3d:model3d r:embed="rIdM3d24">
                  <am3d:spPr>
                    <a:xfrm>
                      <a:off x="0" y="0"/>
                      <a:ext cx="3502152" cy="3502152"/>
                    </a:xfrm>
                    <a:prstGeom prst="rect">
                      <a:avLst/>
                    </a:prstGeom>
                  </am3d:spPr>
                  <am3d:camera>
                    <am3d:pos x="0" y="0" z="61062175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609756" d="1000000"/>
                    <am3d:preTrans dx="0" dy="-439024" dz="0"/>
                    <am3d:scale>
                      <am3d:sx n="1000000" d="1000000"/>
                      <am3d:sy n="1000000" d="1000000"/>
                      <am3d:sz n="1000000" d="1000000"/>
                    </am3d:scale>
                    <am3d:rot ax="660000" ay="-960000" az="0"/>
                    <am3d:postTrans dx="0" dy="0" dz="0"/>
                  </am3d:trans>
                  <am3d:raster rName="Office3DRenderer" rVer="16.0.8326">
                    <am3d:blip r:embed="rId8"/>
                  </am3d:raster>
                  <am3d:extLst>
                    <a:ext uri="{9A65AA19-BECB-4387-8358-8AD5134E1D82}">
                      <a3danim:embedAnim xmlns:a3danim="http://schemas.microsoft.com/office/drawing/2018/animation/model3d" animId="0">
                        <a3danim:animPr length="4000" count="indefinite"/>
                      </a3danim:embedAnim>
                    </a:ext>
                    <a:ext uri="{E9DE012E-A134-456F-84FE-255F9AAD75C6}">
                      <a3danim:posterFrame xmlns:a3danim="http://schemas.microsoft.com/office/drawing/2018/animation/model3d" animId="0"/>
                    </a:ext>
                  </am3d:extLst>
                  <am3d:objViewport viewportSz="3502152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33" name="!!m-hourglass">
                <a:extLst>
                  <a:ext uri="{FF2B5EF4-FFF2-40B4-BE49-F238E27FC236}">
                    <a16:creationId xmlns:a16="http://schemas.microsoft.com/office/drawing/2014/main" id="{C725848E-2AD3-5365-D6F3-798C83564553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7726680" y="1664208"/>
                <a:ext cx="3502152" cy="3502152"/>
              </a:xfrm>
              <a:prstGeom prst="rect">
                <a:avLst/>
              </a:prstGeom>
            </p:spPr>
          </p:pic>
        </mc:Fallback>
      </mc:AlternateContent>
      <p:sp>
        <p:nvSpPr>
          <p:cNvPr id="34" name="Shape 24"/>
          <p:cNvSpPr/>
          <p:nvPr/>
        </p:nvSpPr>
        <p:spPr>
          <a:xfrm rot="120000">
            <a:off x="10108143" y="1769273"/>
            <a:ext cx="868680" cy="329184"/>
          </a:xfrm>
          <a:prstGeom prst="rect">
            <a:avLst/>
          </a:prstGeom>
          <a:solidFill>
            <a:srgbClr val="FFD84A"/>
          </a:solidFill>
          <a:ln w="10795">
            <a:solidFill>
              <a:srgbClr val="171C22"/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sp>
        <p:nvSpPr>
          <p:cNvPr id="35" name="Text 25"/>
          <p:cNvSpPr/>
          <p:nvPr/>
        </p:nvSpPr>
        <p:spPr>
          <a:xfrm>
            <a:off x="10163007" y="1810421"/>
            <a:ext cx="75895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900" b="1" dirty="0">
                <a:solidFill>
                  <a:srgbClr val="171C2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ПАУЗА</a:t>
            </a:r>
            <a:endParaRPr lang="en-US" sz="900" dirty="0"/>
          </a:p>
        </p:txBody>
      </p:sp>
      <p:sp>
        <p:nvSpPr>
          <p:cNvPr id="36" name="fx9_3_20"/>
          <p:cNvSpPr/>
          <p:nvPr/>
        </p:nvSpPr>
        <p:spPr>
          <a:xfrm>
            <a:off x="9445752" y="4608576"/>
            <a:ext cx="1572768" cy="1572768"/>
          </a:xfrm>
          <a:prstGeom prst="rect">
            <a:avLst/>
          </a:prstGeom>
          <a:solidFill>
            <a:srgbClr val="FFFFFF"/>
          </a:solidFill>
          <a:ln w="12700">
            <a:solidFill>
              <a:srgbClr val="171C22"/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pic>
        <p:nvPicPr>
          <p:cNvPr id="37" name="fx9_3_21" descr="/home/user/MyWorkAiBrain/presentations/impulse/assets/memes/serotonin-flowers.jpe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505188" y="4668012"/>
            <a:ext cx="1453896" cy="1453896"/>
          </a:xfrm>
          <a:prstGeom prst="rect">
            <a:avLst/>
          </a:prstGeom>
        </p:spPr>
      </p:pic>
      <p:sp>
        <p:nvSpPr>
          <p:cNvPr id="38" name="Text 27"/>
          <p:cNvSpPr/>
          <p:nvPr/>
        </p:nvSpPr>
        <p:spPr>
          <a:xfrm>
            <a:off x="658368" y="6172200"/>
            <a:ext cx="10698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20" b="1" dirty="0">
                <a:solidFill>
                  <a:srgbClr val="FFFD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Памятка — предложение проекта, не обещание эффекта и не индивидуальная финансовая рекомендация.</a:t>
            </a:r>
            <a:endParaRPr lang="en-US" sz="820" dirty="0"/>
          </a:p>
        </p:txBody>
      </p:sp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39" name="!!m-chart">
                <a:extLst>
                  <a:ext uri="{FF2B5EF4-FFF2-40B4-BE49-F238E27FC236}">
                    <a16:creationId xmlns:a16="http://schemas.microsoft.com/office/drawing/2014/main" id="{57B1B26C-1D3D-6F83-C674-95C7700B47EF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-4050792" y="2048256"/>
              <a:ext cx="3456432" cy="3456432"/>
            </p:xfrm>
            <a:graphic>
              <a:graphicData uri="http://schemas.microsoft.com/office/drawing/2017/model3d">
                <am3d:model3d r:embed="rIdM3d25">
                  <am3d:spPr>
                    <a:xfrm>
                      <a:off x="0" y="0"/>
                      <a:ext cx="3456432" cy="3456432"/>
                    </a:xfrm>
                    <a:prstGeom prst="rect">
                      <a:avLst/>
                    </a:prstGeom>
                  </am3d:spPr>
                  <am3d:camera>
                    <am3d:pos x="0" y="0" z="66703431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647281" d="1000000"/>
                    <am3d:preTrans dx="-523410" dy="-291276" dz="-2388467"/>
                    <am3d:scale>
                      <am3d:sx n="1000000" d="1000000"/>
                      <am3d:sy n="1000000" d="1000000"/>
                      <am3d:sz n="1000000" d="1000000"/>
                    </am3d:scale>
                    <am3d:rot ax="540000" ay="-5460000" az="0"/>
                    <am3d:postTrans dx="0" dy="0" dz="0"/>
                  </am3d:trans>
                  <am3d:raster rName="Office3DRenderer" rVer="16.0.8326">
                    <am3d:blip r:embed="rId10"/>
                  </am3d:raster>
                  <am3d:extLst>
                    <a:ext uri="{9A65AA19-BECB-4387-8358-8AD5134E1D82}">
                      <a3danim:embedAnim xmlns:a3danim="http://schemas.microsoft.com/office/drawing/2018/animation/model3d" animId="0">
                        <a3danim:animPr length="4000" count="indefinite"/>
                      </a3danim:embedAnim>
                    </a:ext>
                    <a:ext uri="{E9DE012E-A134-456F-84FE-255F9AAD75C6}">
                      <a3danim:posterFrame xmlns:a3danim="http://schemas.microsoft.com/office/drawing/2018/animation/model3d" animId="0"/>
                    </a:ext>
                  </am3d:extLst>
                  <am3d:objViewport viewportSz="3456432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39" name="!!m-chart">
                <a:extLst>
                  <a:ext uri="{FF2B5EF4-FFF2-40B4-BE49-F238E27FC236}">
                    <a16:creationId xmlns:a16="http://schemas.microsoft.com/office/drawing/2014/main" id="{57B1B26C-1D3D-6F83-C674-95C7700B47EF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-4050792" y="2048256"/>
                <a:ext cx="3456432" cy="3456432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40" name="!!m-cart">
                <a:extLst>
                  <a:ext uri="{FF2B5EF4-FFF2-40B4-BE49-F238E27FC236}">
                    <a16:creationId xmlns:a16="http://schemas.microsoft.com/office/drawing/2014/main" id="{5FEE7694-FB7D-2462-B61A-555BEC0FF7F1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12786055" y="3675888"/>
              <a:ext cx="3054096" cy="3054096"/>
            </p:xfrm>
            <a:graphic>
              <a:graphicData uri="http://schemas.microsoft.com/office/drawing/2017/model3d">
                <am3d:model3d r:embed="rIdM3d26">
                  <am3d:spPr>
                    <a:xfrm>
                      <a:off x="0" y="0"/>
                      <a:ext cx="3054096" cy="3054096"/>
                    </a:xfrm>
                    <a:prstGeom prst="rect">
                      <a:avLst/>
                    </a:prstGeom>
                  </am3d:spPr>
                  <am3d:camera>
                    <am3d:pos x="0" y="0" z="68066024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595238" d="1000000"/>
                    <am3d:preTrans dx="4500000" dy="-1285714" dz="-548044"/>
                    <am3d:scale>
                      <am3d:sx n="1000000" d="1000000"/>
                      <am3d:sy n="1000000" d="1000000"/>
                      <am3d:sz n="1000000" d="1000000"/>
                    </am3d:scale>
                    <am3d:rot ax="540000" ay="3300000" az="0"/>
                    <am3d:postTrans dx="0" dy="0" dz="0"/>
                  </am3d:trans>
                  <am3d:raster rName="Office3DRenderer" rVer="16.0.8326">
                    <am3d:blip r:embed="rId11"/>
                  </am3d:raster>
                  <am3d:extLst>
                    <a:ext uri="{9A65AA19-BECB-4387-8358-8AD5134E1D82}">
                      <a3danim:embedAnim xmlns:a3danim="http://schemas.microsoft.com/office/drawing/2018/animation/model3d" animId="0">
                        <a3danim:animPr length="4000" count="indefinite"/>
                      </a3danim:embedAnim>
                    </a:ext>
                    <a:ext uri="{E9DE012E-A134-456F-84FE-255F9AAD75C6}">
                      <a3danim:posterFrame xmlns:a3danim="http://schemas.microsoft.com/office/drawing/2018/animation/model3d" animId="0"/>
                    </a:ext>
                  </am3d:extLst>
                  <am3d:objViewport viewportSz="3054096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40" name="!!m-cart">
                <a:extLst>
                  <a:ext uri="{FF2B5EF4-FFF2-40B4-BE49-F238E27FC236}">
                    <a16:creationId xmlns:a16="http://schemas.microsoft.com/office/drawing/2014/main" id="{5FEE7694-FB7D-2462-B61A-555BEC0FF7F1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12786055" y="3675888"/>
                <a:ext cx="3054096" cy="3054096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7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70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70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7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70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70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7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70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70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7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70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70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7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70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70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7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7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7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7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7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7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7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7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7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7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7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7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7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7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7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7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8" dur="7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7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7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3" dur="7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" dur="7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7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7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700" decel="1000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700" decel="1000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7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3" dur="700" decel="1000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4" dur="700" decel="1000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7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7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8" dur="7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7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2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7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3" dur="7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4" dur="7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7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7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8" dur="7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9" dur="7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2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7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3" dur="7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4" dur="7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7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7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8" dur="70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9" dur="70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2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7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3" dur="70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4" dur="70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7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7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8" dur="70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9" dur="70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2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7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3" dur="70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4" dur="70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5" presetID="100" presetClass="emph" presetSubtype="1" repeatCount="indefinite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116" dur="4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embedded1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8" grpId="0" animBg="1"/>
      <p:bldP spid="19" grpId="0" animBg="1"/>
      <p:bldP spid="20" grpId="0" animBg="1"/>
      <p:bldP spid="21" grpId="0" animBg="1"/>
      <p:bldP spid="36" grpId="0" animBg="1"/>
      <p:bldP spid="22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am3d="http://schemas.microsoft.com/office/drawing/2017/model3d" mc:Ignorable="am3d">
  <p:cSld name="Slide 10">
    <p:bg>
      <p:bgPr>
        <a:solidFill>
          <a:srgbClr val="22528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blue-grunge" descr="/home/user/MyWorkAiBrain/presentations/impulse/assets/memes/blue-grunge-16x9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series"/>
          <p:cNvSpPr/>
          <p:nvPr/>
        </p:nvSpPr>
        <p:spPr>
          <a:xfrm>
            <a:off x="658368" y="182880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40" b="1" spc="110" kern="0" dirty="0">
                <a:solidFill>
                  <a:srgbClr val="FFFD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ПСИХОЛОГИЯ ИМПУЛЬСИВНЫХ ПОКУПОК</a:t>
            </a:r>
            <a:endParaRPr lang="en-US" sz="940" dirty="0"/>
          </a:p>
        </p:txBody>
      </p:sp>
      <p:pic>
        <p:nvPicPr>
          <p:cNvPr id="4" name="!!red-swash" descr="/home/user/MyWorkAiBrain/presentations/impulse/assets/memes/red-brush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438912"/>
            <a:ext cx="2057400" cy="164592"/>
          </a:xfrm>
          <a:prstGeom prst="rect">
            <a:avLst/>
          </a:prstGeom>
        </p:spPr>
      </p:pic>
      <p:sp>
        <p:nvSpPr>
          <p:cNvPr id="5" name="!!page-sticker"/>
          <p:cNvSpPr/>
          <p:nvPr/>
        </p:nvSpPr>
        <p:spPr>
          <a:xfrm rot="120000">
            <a:off x="10488168" y="146304"/>
            <a:ext cx="1051560" cy="393192"/>
          </a:xfrm>
          <a:prstGeom prst="rect">
            <a:avLst/>
          </a:prstGeom>
          <a:solidFill>
            <a:srgbClr val="FFD84A"/>
          </a:solidFill>
          <a:ln w="10160">
            <a:solidFill>
              <a:srgbClr val="171C22"/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sp>
        <p:nvSpPr>
          <p:cNvPr id="6" name="!!page"/>
          <p:cNvSpPr/>
          <p:nvPr/>
        </p:nvSpPr>
        <p:spPr>
          <a:xfrm>
            <a:off x="10543032" y="237744"/>
            <a:ext cx="9326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71C2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10 / 10</a:t>
            </a:r>
            <a:endParaRPr lang="en-US" sz="1050" dirty="0"/>
          </a:p>
        </p:txBody>
      </p:sp>
      <p:sp>
        <p:nvSpPr>
          <p:cNvPr id="7" name="!!footer"/>
          <p:cNvSpPr/>
          <p:nvPr/>
        </p:nvSpPr>
        <p:spPr>
          <a:xfrm>
            <a:off x="658368" y="6547104"/>
            <a:ext cx="7863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40" b="1" spc="35" kern="0" dirty="0">
                <a:solidFill>
                  <a:srgbClr val="FFFD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#план_исследования  ·  СОБСТВЕННЫХ ДАННЫХ ПОКА НЕТ</a:t>
            </a:r>
            <a:endParaRPr lang="en-US" sz="840" dirty="0"/>
          </a:p>
        </p:txBody>
      </p:sp>
      <p:sp>
        <p:nvSpPr>
          <p:cNvPr id="8" name="!!meme-title"/>
          <p:cNvSpPr/>
          <p:nvPr/>
        </p:nvSpPr>
        <p:spPr>
          <a:xfrm>
            <a:off x="658368" y="859536"/>
            <a:ext cx="55778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3400" b="1" dirty="0">
                <a:solidFill>
                  <a:srgbClr val="FFFD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СПАСИБО!</a:t>
            </a:r>
            <a:endParaRPr lang="en-US" sz="340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3400" b="1" dirty="0">
                <a:solidFill>
                  <a:srgbClr val="FFFD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ВОПРОСЫ?</a:t>
            </a:r>
            <a:endParaRPr lang="en-US" sz="3400" dirty="0"/>
          </a:p>
        </p:txBody>
      </p:sp>
      <p:pic>
        <p:nvPicPr>
          <p:cNvPr id="9" name="!!red-underline" descr="/home/user/MyWorkAiBrain/presentations/impulse/assets/memes/red-brush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2057400"/>
            <a:ext cx="2377440" cy="210312"/>
          </a:xfrm>
          <a:prstGeom prst="rect">
            <a:avLst/>
          </a:prstGeom>
        </p:spPr>
      </p:pic>
      <p:sp>
        <p:nvSpPr>
          <p:cNvPr id="10" name="fx10_2_0"/>
          <p:cNvSpPr/>
          <p:nvPr/>
        </p:nvSpPr>
        <p:spPr>
          <a:xfrm>
            <a:off x="658368" y="2386584"/>
            <a:ext cx="6455664" cy="3236976"/>
          </a:xfrm>
          <a:prstGeom prst="roundRect">
            <a:avLst>
              <a:gd name="adj" fmla="val 706"/>
            </a:avLst>
          </a:prstGeom>
          <a:solidFill>
            <a:srgbClr val="F5F1E7"/>
          </a:solidFill>
          <a:ln w="12700">
            <a:solidFill>
              <a:srgbClr val="171C22"/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pic>
        <p:nvPicPr>
          <p:cNvPr id="11" name="fx10_2_1" descr="/home/user/MyWorkAiBrain/presentations/impulse/assets/memes/torn-paper.png">    </p:cNvPr>
          <p:cNvPicPr>
            <a:picLocks noChangeAspect="1"/>
          </p:cNvPicPr>
          <p:nvPr/>
        </p:nvPicPr>
        <p:blipFill>
          <a:blip r:embed="rId4">
            <a:alphaModFix amt="96000"/>
          </a:blip>
          <a:stretch>
            <a:fillRect/>
          </a:stretch>
        </p:blipFill>
        <p:spPr>
          <a:xfrm>
            <a:off x="685800" y="2409444"/>
            <a:ext cx="6400800" cy="155448"/>
          </a:xfrm>
          <a:prstGeom prst="rect">
            <a:avLst/>
          </a:prstGeom>
        </p:spPr>
      </p:pic>
      <p:sp>
        <p:nvSpPr>
          <p:cNvPr id="12" name="fx10_2_2"/>
          <p:cNvSpPr/>
          <p:nvPr/>
        </p:nvSpPr>
        <p:spPr>
          <a:xfrm>
            <a:off x="914400" y="2688336"/>
            <a:ext cx="5715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90" b="1" spc="45" kern="0" dirty="0">
                <a:solidFill>
                  <a:srgbClr val="EF263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КОРОТКИЙ СПИСОК · ПОЛНЫЙ — В ОТДЕЛЬНОМ ФАЙЛЕ</a:t>
            </a:r>
            <a:endParaRPr lang="en-US" sz="890" dirty="0"/>
          </a:p>
        </p:txBody>
      </p:sp>
      <p:sp>
        <p:nvSpPr>
          <p:cNvPr id="13" name="fx10_2_3"/>
          <p:cNvSpPr/>
          <p:nvPr/>
        </p:nvSpPr>
        <p:spPr>
          <a:xfrm>
            <a:off x="923544" y="2999232"/>
            <a:ext cx="3840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20" b="1" dirty="0">
                <a:solidFill>
                  <a:srgbClr val="EF263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[1]</a:t>
            </a:r>
            <a:endParaRPr lang="en-US" sz="920" dirty="0"/>
          </a:p>
        </p:txBody>
      </p:sp>
      <p:sp>
        <p:nvSpPr>
          <p:cNvPr id="14" name="fx10_2_4"/>
          <p:cNvSpPr/>
          <p:nvPr/>
        </p:nvSpPr>
        <p:spPr>
          <a:xfrm>
            <a:off x="1371600" y="2999232"/>
            <a:ext cx="5532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80" b="1" dirty="0">
                <a:solidFill>
                  <a:srgbClr val="171C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Ведомости, 03.02.2026 · оценка BNPL от «Долями» / Т-Банка</a:t>
            </a:r>
            <a:endParaRPr lang="en-US" sz="880" dirty="0"/>
          </a:p>
        </p:txBody>
      </p:sp>
      <p:sp>
        <p:nvSpPr>
          <p:cNvPr id="15" name="fx10_2_5"/>
          <p:cNvSpPr/>
          <p:nvPr/>
        </p:nvSpPr>
        <p:spPr>
          <a:xfrm>
            <a:off x="923544" y="3337560"/>
            <a:ext cx="3840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20" b="1" dirty="0">
                <a:solidFill>
                  <a:srgbClr val="EF263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[2]</a:t>
            </a:r>
            <a:endParaRPr lang="en-US" sz="920" dirty="0"/>
          </a:p>
        </p:txBody>
      </p:sp>
      <p:sp>
        <p:nvSpPr>
          <p:cNvPr id="16" name="fx10_2_6"/>
          <p:cNvSpPr/>
          <p:nvPr/>
        </p:nvSpPr>
        <p:spPr>
          <a:xfrm>
            <a:off x="1371600" y="3337560"/>
            <a:ext cx="5532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80" b="1" dirty="0">
                <a:solidFill>
                  <a:srgbClr val="171C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ФЗ № 283-ФЗ · официальный текст, 31.07.2025</a:t>
            </a:r>
            <a:endParaRPr lang="en-US" sz="880" dirty="0"/>
          </a:p>
        </p:txBody>
      </p:sp>
      <p:sp>
        <p:nvSpPr>
          <p:cNvPr id="17" name="fx10_2_7"/>
          <p:cNvSpPr/>
          <p:nvPr/>
        </p:nvSpPr>
        <p:spPr>
          <a:xfrm>
            <a:off x="923544" y="3675888"/>
            <a:ext cx="3840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20" b="1" dirty="0">
                <a:solidFill>
                  <a:srgbClr val="EF263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[3]</a:t>
            </a:r>
            <a:endParaRPr lang="en-US" sz="920" dirty="0"/>
          </a:p>
        </p:txBody>
      </p:sp>
      <p:sp>
        <p:nvSpPr>
          <p:cNvPr id="18" name="fx10_2_8"/>
          <p:cNvSpPr/>
          <p:nvPr/>
        </p:nvSpPr>
        <p:spPr>
          <a:xfrm>
            <a:off x="1371600" y="3675888"/>
            <a:ext cx="5532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80" b="1" dirty="0">
                <a:solidFill>
                  <a:srgbClr val="171C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Rook (1987) · The Buying Impulse · doi:10.1086/209105</a:t>
            </a:r>
            <a:endParaRPr lang="en-US" sz="880" dirty="0"/>
          </a:p>
        </p:txBody>
      </p:sp>
      <p:sp>
        <p:nvSpPr>
          <p:cNvPr id="19" name="fx10_2_9"/>
          <p:cNvSpPr/>
          <p:nvPr/>
        </p:nvSpPr>
        <p:spPr>
          <a:xfrm>
            <a:off x="923544" y="4014216"/>
            <a:ext cx="3840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20" b="1" dirty="0">
                <a:solidFill>
                  <a:srgbClr val="EF263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[4]</a:t>
            </a:r>
            <a:endParaRPr lang="en-US" sz="920" dirty="0"/>
          </a:p>
        </p:txBody>
      </p:sp>
      <p:sp>
        <p:nvSpPr>
          <p:cNvPr id="20" name="fx10_2_10"/>
          <p:cNvSpPr/>
          <p:nvPr/>
        </p:nvSpPr>
        <p:spPr>
          <a:xfrm>
            <a:off x="1371600" y="4014216"/>
            <a:ext cx="5532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80" b="1" dirty="0">
                <a:solidFill>
                  <a:srgbClr val="171C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Anoop &amp; Rahman (2025) · online impulse buying · doi:10.1002/cb.2418</a:t>
            </a:r>
            <a:endParaRPr lang="en-US" sz="880" dirty="0"/>
          </a:p>
        </p:txBody>
      </p:sp>
      <p:sp>
        <p:nvSpPr>
          <p:cNvPr id="21" name="fx10_2_11"/>
          <p:cNvSpPr/>
          <p:nvPr/>
        </p:nvSpPr>
        <p:spPr>
          <a:xfrm>
            <a:off x="923544" y="4352544"/>
            <a:ext cx="3840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20" b="1" dirty="0">
                <a:solidFill>
                  <a:srgbClr val="EF263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[5]</a:t>
            </a:r>
            <a:endParaRPr lang="en-US" sz="920" dirty="0"/>
          </a:p>
        </p:txBody>
      </p:sp>
      <p:sp>
        <p:nvSpPr>
          <p:cNvPr id="22" name="fx10_2_12"/>
          <p:cNvSpPr/>
          <p:nvPr/>
        </p:nvSpPr>
        <p:spPr>
          <a:xfrm>
            <a:off x="1371600" y="4352544"/>
            <a:ext cx="5532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80" b="1" dirty="0">
                <a:solidFill>
                  <a:srgbClr val="171C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Przybylski et al. (2013) · FoMO · doi:10.1016/j.chb.2013.02.014</a:t>
            </a:r>
            <a:endParaRPr lang="en-US" sz="880" dirty="0"/>
          </a:p>
        </p:txBody>
      </p:sp>
      <p:sp>
        <p:nvSpPr>
          <p:cNvPr id="23" name="fx10_2_13"/>
          <p:cNvSpPr/>
          <p:nvPr/>
        </p:nvSpPr>
        <p:spPr>
          <a:xfrm>
            <a:off x="923544" y="4690872"/>
            <a:ext cx="3840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20" b="1" dirty="0">
                <a:solidFill>
                  <a:srgbClr val="EF263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[6]</a:t>
            </a:r>
            <a:endParaRPr lang="en-US" sz="920" dirty="0"/>
          </a:p>
        </p:txBody>
      </p:sp>
      <p:sp>
        <p:nvSpPr>
          <p:cNvPr id="24" name="fx10_2_14"/>
          <p:cNvSpPr/>
          <p:nvPr/>
        </p:nvSpPr>
        <p:spPr>
          <a:xfrm>
            <a:off x="1371600" y="4690872"/>
            <a:ext cx="5532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80" b="1" dirty="0">
                <a:solidFill>
                  <a:srgbClr val="171C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Gibbons &amp; Buunk (1999) · social comparison · doi:10.1037/0022-3514.76.1.129</a:t>
            </a:r>
            <a:endParaRPr lang="en-US" sz="880" dirty="0"/>
          </a:p>
        </p:txBody>
      </p:sp>
      <p:sp>
        <p:nvSpPr>
          <p:cNvPr id="25" name="fx10_2_15"/>
          <p:cNvSpPr/>
          <p:nvPr/>
        </p:nvSpPr>
        <p:spPr>
          <a:xfrm>
            <a:off x="923544" y="5029200"/>
            <a:ext cx="3840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20" b="1" dirty="0">
                <a:solidFill>
                  <a:srgbClr val="EF263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[7]</a:t>
            </a:r>
            <a:endParaRPr lang="en-US" sz="920" dirty="0"/>
          </a:p>
        </p:txBody>
      </p:sp>
      <p:sp>
        <p:nvSpPr>
          <p:cNvPr id="26" name="fx10_2_16"/>
          <p:cNvSpPr/>
          <p:nvPr/>
        </p:nvSpPr>
        <p:spPr>
          <a:xfrm>
            <a:off x="1371600" y="5029200"/>
            <a:ext cx="5532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80" b="1" dirty="0">
                <a:solidFill>
                  <a:srgbClr val="171C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OECD/INFE (2022) · Financial Literacy Toolkit</a:t>
            </a:r>
            <a:endParaRPr lang="en-US" sz="880" dirty="0"/>
          </a:p>
        </p:txBody>
      </p:sp>
      <p:sp>
        <p:nvSpPr>
          <p:cNvPr id="27" name="fx10_2_17"/>
          <p:cNvSpPr/>
          <p:nvPr/>
        </p:nvSpPr>
        <p:spPr>
          <a:xfrm>
            <a:off x="7772400" y="1115568"/>
            <a:ext cx="3374136" cy="3374136"/>
          </a:xfrm>
          <a:prstGeom prst="rect">
            <a:avLst/>
          </a:prstGeom>
          <a:solidFill>
            <a:srgbClr val="FFFFFF"/>
          </a:solidFill>
          <a:ln w="12700">
            <a:solidFill>
              <a:srgbClr val="171C22"/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pic>
        <p:nvPicPr>
          <p:cNvPr id="28" name="fx10_2_18" descr="/home/user/MyWorkAiBrain/presentations/impulse/assets/memes/charged-cat.jpe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31836" y="1175004"/>
            <a:ext cx="3255264" cy="3255264"/>
          </a:xfrm>
          <a:prstGeom prst="rect">
            <a:avLst/>
          </a:prstGeom>
        </p:spPr>
      </p:pic>
      <p:pic>
        <p:nvPicPr>
          <p:cNvPr id="29" name="!!warm-glow" descr="/home/user/MyWorkAiBrain/presentations/impulse/assets/glow.png">    </p:cNvPr>
          <p:cNvPicPr>
            <a:picLocks noChangeAspect="1"/>
          </p:cNvPicPr>
          <p:nvPr/>
        </p:nvPicPr>
        <p:blipFill>
          <a:blip r:embed="rId6">
            <a:alphaModFix amt="62000"/>
          </a:blip>
          <a:stretch>
            <a:fillRect/>
          </a:stretch>
        </p:blipFill>
        <p:spPr>
          <a:xfrm>
            <a:off x="7869144" y="2958816"/>
            <a:ext cx="3848161" cy="3848161"/>
          </a:xfrm>
          <a:prstGeom prst="rect">
            <a:avLst/>
          </a:prstGeom>
        </p:spPr>
      </p:pic>
      <p:sp>
        <p:nvSpPr>
          <p:cNvPr id="30" name="!!paper-sticker"/>
          <p:cNvSpPr/>
          <p:nvPr/>
        </p:nvSpPr>
        <p:spPr>
          <a:xfrm>
            <a:off x="8446368" y="3536040"/>
            <a:ext cx="2693713" cy="2693713"/>
          </a:xfrm>
          <a:prstGeom prst="ellipse">
            <a:avLst/>
          </a:prstGeom>
          <a:solidFill>
            <a:srgbClr val="F5F1E7">
              <a:alpha val="78000"/>
            </a:srgbClr>
          </a:solidFill>
          <a:ln w="15240">
            <a:solidFill>
              <a:srgbClr val="FFFDF6">
                <a:alpha val="92000"/>
              </a:srgbClr>
            </a:solidFill>
            <a:prstDash val="solid"/>
          </a:ln>
        </p:spPr>
      </p:sp>
      <p:sp>
        <p:nvSpPr>
          <p:cNvPr id="31" name="!!comic-ring"/>
          <p:cNvSpPr/>
          <p:nvPr/>
        </p:nvSpPr>
        <p:spPr>
          <a:xfrm>
            <a:off x="8253960" y="3343632"/>
            <a:ext cx="3078529" cy="3078529"/>
          </a:xfrm>
          <a:prstGeom prst="ellipse">
            <a:avLst/>
          </a:prstGeom>
          <a:ln w="19050">
            <a:solidFill>
              <a:srgbClr val="EF2634">
                <a:alpha val="94000"/>
              </a:srgbClr>
            </a:solidFill>
            <a:prstDash val="dash"/>
          </a:ln>
        </p:spPr>
      </p:sp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32" name="!!m-cart">
                <a:extLst>
                  <a:ext uri="{FF2B5EF4-FFF2-40B4-BE49-F238E27FC236}">
                    <a16:creationId xmlns:a16="http://schemas.microsoft.com/office/drawing/2014/main" id="{2BAE1F20-A5E0-B3C0-E6C2-DB4475FC7C19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8266176" y="3355848"/>
              <a:ext cx="3054096" cy="3054096"/>
            </p:xfrm>
            <a:graphic>
              <a:graphicData uri="http://schemas.microsoft.com/office/drawing/2017/model3d">
                <am3d:model3d r:embed="rIdM3d27">
                  <am3d:spPr>
                    <a:xfrm>
                      <a:off x="0" y="0"/>
                      <a:ext cx="3054096" cy="3054096"/>
                    </a:xfrm>
                    <a:prstGeom prst="rect">
                      <a:avLst/>
                    </a:prstGeom>
                  </am3d:spPr>
                  <am3d:camera>
                    <am3d:pos x="0" y="0" z="68066024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595238" d="1000000"/>
                    <am3d:preTrans dx="4500000" dy="-1285714" dz="-548044"/>
                    <am3d:scale>
                      <am3d:sx n="1000000" d="1000000"/>
                      <am3d:sy n="1000000" d="1000000"/>
                      <am3d:sz n="1000000" d="1000000"/>
                    </am3d:scale>
                    <am3d:rot ax="540000" ay="-1020000" az="0"/>
                    <am3d:postTrans dx="0" dy="0" dz="0"/>
                  </am3d:trans>
                  <am3d:raster rName="Office3DRenderer" rVer="16.0.8326">
                    <am3d:blip r:embed="rId7"/>
                  </am3d:raster>
                  <am3d:extLst>
                    <a:ext uri="{9A65AA19-BECB-4387-8358-8AD5134E1D82}">
                      <a3danim:embedAnim xmlns:a3danim="http://schemas.microsoft.com/office/drawing/2018/animation/model3d" animId="0">
                        <a3danim:animPr length="4000" count="indefinite"/>
                      </a3danim:embedAnim>
                    </a:ext>
                    <a:ext uri="{E9DE012E-A134-456F-84FE-255F9AAD75C6}">
                      <a3danim:posterFrame xmlns:a3danim="http://schemas.microsoft.com/office/drawing/2018/animation/model3d" animId="0"/>
                    </a:ext>
                  </am3d:extLst>
                  <am3d:objViewport viewportSz="3054096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32" name="!!m-cart">
                <a:extLst>
                  <a:ext uri="{FF2B5EF4-FFF2-40B4-BE49-F238E27FC236}">
                    <a16:creationId xmlns:a16="http://schemas.microsoft.com/office/drawing/2014/main" id="{2BAE1F20-A5E0-B3C0-E6C2-DB4475FC7C19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8266176" y="3355848"/>
                <a:ext cx="3054096" cy="3054096"/>
              </a:xfrm>
              <a:prstGeom prst="rect">
                <a:avLst/>
              </a:prstGeom>
            </p:spPr>
          </p:pic>
        </mc:Fallback>
      </mc:AlternateContent>
      <p:sp>
        <p:nvSpPr>
          <p:cNvPr id="33" name="Shape 24"/>
          <p:cNvSpPr/>
          <p:nvPr/>
        </p:nvSpPr>
        <p:spPr>
          <a:xfrm rot="120000">
            <a:off x="10342961" y="3447471"/>
            <a:ext cx="804672" cy="329184"/>
          </a:xfrm>
          <a:prstGeom prst="rect">
            <a:avLst/>
          </a:prstGeom>
          <a:solidFill>
            <a:srgbClr val="FFD84A"/>
          </a:solidFill>
          <a:ln w="10795">
            <a:solidFill>
              <a:srgbClr val="171C22"/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sp>
        <p:nvSpPr>
          <p:cNvPr id="34" name="Text 25"/>
          <p:cNvSpPr/>
          <p:nvPr/>
        </p:nvSpPr>
        <p:spPr>
          <a:xfrm>
            <a:off x="10397825" y="3488619"/>
            <a:ext cx="69494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900" b="1" dirty="0">
                <a:solidFill>
                  <a:srgbClr val="171C2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ШУТКА</a:t>
            </a:r>
            <a:endParaRPr lang="en-US" sz="900" dirty="0"/>
          </a:p>
        </p:txBody>
      </p:sp>
      <p:sp>
        <p:nvSpPr>
          <p:cNvPr id="35" name="fx10_3_19"/>
          <p:cNvSpPr/>
          <p:nvPr/>
        </p:nvSpPr>
        <p:spPr>
          <a:xfrm rot="-60000">
            <a:off x="7918704" y="5111496"/>
            <a:ext cx="3273552" cy="429768"/>
          </a:xfrm>
          <a:prstGeom prst="rect">
            <a:avLst/>
          </a:prstGeom>
          <a:solidFill>
            <a:srgbClr val="FFD84A"/>
          </a:solidFill>
          <a:ln w="10795">
            <a:solidFill>
              <a:srgbClr val="171C22"/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sp>
        <p:nvSpPr>
          <p:cNvPr id="36" name="fx10_3_20"/>
          <p:cNvSpPr/>
          <p:nvPr/>
        </p:nvSpPr>
        <p:spPr>
          <a:xfrm>
            <a:off x="7973568" y="5152644"/>
            <a:ext cx="31638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1100" b="1" dirty="0">
                <a:solidFill>
                  <a:srgbClr val="171C2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100 ₽ НЕ СПИСЫВАЕМ</a:t>
            </a:r>
            <a:endParaRPr lang="en-US" sz="1100" dirty="0"/>
          </a:p>
        </p:txBody>
      </p:sp>
      <p:sp>
        <p:nvSpPr>
          <p:cNvPr id="37" name="Text 28"/>
          <p:cNvSpPr/>
          <p:nvPr/>
        </p:nvSpPr>
        <p:spPr>
          <a:xfrm>
            <a:off x="7781544" y="5687568"/>
            <a:ext cx="34290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20" b="1" dirty="0">
                <a:solidFill>
                  <a:srgbClr val="FFFD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План исследования ≠ результаты опроса.</a:t>
            </a:r>
            <a:endParaRPr lang="en-US" sz="1020" dirty="0"/>
          </a:p>
        </p:txBody>
      </p:sp>
      <p:sp>
        <p:nvSpPr>
          <p:cNvPr id="38" name="Text 29"/>
          <p:cNvSpPr/>
          <p:nvPr/>
        </p:nvSpPr>
        <p:spPr>
          <a:xfrm>
            <a:off x="658368" y="6153912"/>
            <a:ext cx="10789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20" b="1" dirty="0">
                <a:solidFill>
                  <a:srgbClr val="FFFD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Полные библиографические записи, ссылки и методологические оговорки — в exports/ekonomika123-3d-presentation-sources.md.</a:t>
            </a:r>
            <a:endParaRPr lang="en-US" sz="820" dirty="0"/>
          </a:p>
        </p:txBody>
      </p:sp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39" name="!!m-hourglass">
                <a:extLst>
                  <a:ext uri="{FF2B5EF4-FFF2-40B4-BE49-F238E27FC236}">
                    <a16:creationId xmlns:a16="http://schemas.microsoft.com/office/drawing/2014/main" id="{4398D123-4A50-B56E-AB35-B0BE0F694E86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-4096512" y="1984248"/>
              <a:ext cx="3502152" cy="3502152"/>
            </p:xfrm>
            <a:graphic>
              <a:graphicData uri="http://schemas.microsoft.com/office/drawing/2017/model3d">
                <am3d:model3d r:embed="rIdM3d28">
                  <am3d:spPr>
                    <a:xfrm>
                      <a:off x="0" y="0"/>
                      <a:ext cx="3502152" cy="3502152"/>
                    </a:xfrm>
                    <a:prstGeom prst="rect">
                      <a:avLst/>
                    </a:prstGeom>
                  </am3d:spPr>
                  <am3d:camera>
                    <am3d:pos x="0" y="0" z="61062175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609756" d="1000000"/>
                    <am3d:preTrans dx="0" dy="-439024" dz="0"/>
                    <am3d:scale>
                      <am3d:sx n="1000000" d="1000000"/>
                      <am3d:sy n="1000000" d="1000000"/>
                      <am3d:sz n="1000000" d="1000000"/>
                    </am3d:scale>
                    <am3d:rot ax="660000" ay="-5280000" az="0"/>
                    <am3d:postTrans dx="0" dy="0" dz="0"/>
                  </am3d:trans>
                  <am3d:raster rName="Office3DRenderer" rVer="16.0.8326">
                    <am3d:blip r:embed="rId8"/>
                  </am3d:raster>
                  <am3d:extLst>
                    <a:ext uri="{9A65AA19-BECB-4387-8358-8AD5134E1D82}">
                      <a3danim:embedAnim xmlns:a3danim="http://schemas.microsoft.com/office/drawing/2018/animation/model3d" animId="0">
                        <a3danim:animPr length="4000" count="indefinite"/>
                      </a3danim:embedAnim>
                    </a:ext>
                    <a:ext uri="{E9DE012E-A134-456F-84FE-255F9AAD75C6}">
                      <a3danim:posterFrame xmlns:a3danim="http://schemas.microsoft.com/office/drawing/2018/animation/model3d" animId="0"/>
                    </a:ext>
                  </am3d:extLst>
                  <am3d:objViewport viewportSz="3502152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39" name="!!m-hourglass">
                <a:extLst>
                  <a:ext uri="{FF2B5EF4-FFF2-40B4-BE49-F238E27FC236}">
                    <a16:creationId xmlns:a16="http://schemas.microsoft.com/office/drawing/2014/main" id="{4398D123-4A50-B56E-AB35-B0BE0F694E86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-4096512" y="1984248"/>
                <a:ext cx="3502152" cy="3502152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7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70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70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7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70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70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7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70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70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7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70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70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7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70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70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7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7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7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7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7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7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2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7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7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7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7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7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7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7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7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7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7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8" dur="7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7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2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7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3" dur="7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" dur="7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7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7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7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7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2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7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3" dur="7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4" dur="7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7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7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8" dur="7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7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2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7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3" dur="7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4" dur="7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7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7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8" dur="70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9" dur="70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2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7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3" dur="70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4" dur="70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7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7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8" dur="70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9" dur="70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7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3" dur="700" decel="1000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4" dur="700" decel="1000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7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7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8" dur="700" decel="1000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9" dur="700" decel="1000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0" presetID="100" presetClass="emph" presetSubtype="1" repeatCount="indefinite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111" dur="4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embedded1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35" grpId="0" animBg="1"/>
      <p:bldP spid="36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MyWorkAiBrain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Почему мы покупаем ненужное? — мемная 3D-презентация</dc:title>
  <dc:subject>Мем-коллаж в стиле оригинала; проект исследования импульсивных трат у студентов</dc:subject>
  <dc:creator>MyWorkAiBrain</dc:creator>
  <cp:lastModifiedBy>MyWorkAiBrain</cp:lastModifiedBy>
  <cp:revision>1</cp:revision>
  <dcterms:created xsi:type="dcterms:W3CDTF">2026-10-11T21:41:01Z</dcterms:created>
  <dcterms:modified xsi:type="dcterms:W3CDTF">2026-10-11T21:41:01Z</dcterms:modified>
</cp:coreProperties>
</file>