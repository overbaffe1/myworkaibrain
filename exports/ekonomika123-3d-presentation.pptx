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Представьте: вы открыли маркетплейс на минуту, а через несколько кликов уже заказали вещь, которую не планировали. Это не диагноз и не просто недостаток силы воли: здесь взаимодействуют условия покупки, эмоции и быстрый интерфейс. В исходной презентации был проект о психологических механизмах незапланированных трат у студентов. Я сохранила тему и задачи, но перестроила материал: от актуальности и модели поведения — к проверяемым гипотезам, дизайну исследования и памятке. Важно: опрос ещё не проведён, поэтому предположения не выдаются за результаты. На слайдах — созданные для этой работы анимированные 3D-экспонаты.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тема актуальна? По оценке сервиса «Долями» от Т-Банка, российский оборот BNPL-сервисов в 2025 году составил около 940 миллиардов рублей. Это оценка рынка оплаты частями, а не измерение импульсивных покупок и не официальная статистика поведения студентов. С 1 апреля 2026 года действует федеральный закон № 283-ФЗ о сервисах рассрочки. Он вводит требования к операторам, но сам по себе не отключает уведомления, социальные сигналы и ощущение срочности. Поэтому финансовый контекст соединяется с психологическим вопросом: какие ситуации связаны с незапланированными решениями?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исследованиях импульсивную покупку описывают не как любую спонтанность, а как сильный позыв купить при ограниченном обдумывании. Упрощённая схема здесь: внешний сигнал — например, уведомление или ограниченная акция; внутренний отклик — предвкушение или страх упустить; действие — быстрый заказ; затем может появиться удовлетворение, сожаление или вопрос, укладывается ли покупка в бюджет. Это не обязательные стадии для каждого человека, а рабочая карта проекта. Важно измерять и сам позыв, и фактические эпизоды за период, а не спрашивать только «считаете ли вы себя импульсивным».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Проверяем не «плохой характер», а возможные условия решения. Первый блок — FOMO, тревога, что упустишь выгодный или социально значимый опыт. Второй — социальное сравнение: тренд, рекомендация, лайки, ощущение «все уже купили». Третий — срочность и дефицит, например таймер. Четвёртый — низкое трение: сохранённая карта и оформление в пару касаний. Метаанализ исследований онлайн-покупок обнаруживает связи импульсивного поведения с ситуационными, маркетинговыми и платформенными факторами. Но это не доказывает, что любой баннер вызовет покупку у любого студента. Гипотезы поэтому сформулированы как проверяемые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Сохраняю три гипотезы исходной работы, но делаю их измеримыми. Первая: более высокий FOMO связан с более частыми незапланированными покупками за последние 30 дней, включая использование оплаты частями. Вторая: склонность сравнивать себя с другими связана с самоотчётами о статусных или трендовых покупках. Третья — финансовая грамотность может быть связана с более низкой выраженностью импульсивных покупок, но мы не предполагаем, что знания полностью устраняют эмоциональные триггеры. Это гипотезы, не предварительные выводы. Одномоментный онлайн-опрос покажет корреляции, но не докажет, что один фактор вызвал другой.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выборки: студенты 18–25 лет, ориентир — не менее пятидесяти ответов. При такой удобной выборке результат следует считать пилотным, а не описанием всех студентов России. Анкета анонимная: возрастной диапазон, эпизоды незапланированных покупок за последние 30 дней, сценарии оплаты и несколько блоков измерений. Для FoMO и социального сравнения нужно брать опубликованные шкалы, аккуратно перевести и проверить понятность на небольшом пилоте; нельзя произвольно менять формулировки, если это разрушит смысл шкалы. Финансовые знания можно оценить коротким блоком базовых вопросов по инструментарию OECD. До опроса — добровольное согласие, минимум данных, без имён и контактов.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пилотных данных подойдут описательные распределения, проверка внутренней согласованности блоков и ранговые корреляции Спирмена с доверительными интервалами. Зависимую переменную нужно задать заранее: например, частота незапланированных покупок; оплату частями анализировать отдельным пунктом. При небольшой выборке не стоит перегружать модель множеством предикторов или искать причинность. Главные ограничения тоже видны на слайде: добровольный опрос может не представлять всех, самоотчёты зависят от памяти и готовности отвечать, а одномоментные данные не показывают, что было причиной. Если гипотеза не подтвердится — это содержательный результат, а не провал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Памятка должна быть простой и не обвиняющей. Первое — создать паузу: отложить необязательную покупку хотя бы до следующего дня, особенно если на экране таймер. Второе — проверить три вещи: нужна ли вещь вне акции, какова полная цена и сколько уже платежей приходится на месяц. Третье — добавить полезное трение: убрать лишние уведомления, не хранить карту на каждом сайте, возвращаться к отложенной корзине позже. Рассрочка может быть удобным способом оплаты, но маленький платёж не отменяет общей суммы. Это поведенческие подсказки для будущей памятки, а не обещание, что они подходят всем или решают проблему.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понять, какие когнитивные и эмоциональные факторы связаны с незапланированными покупками студентов, и подготовить на этой основе короткую памятку. Даже если связь между грамотностью и импульсивностью окажется слабой или неоднозначной, это будет полезным выводом: значит, одной теории бюджета недостаточно и стоит отдельно проверять самоконтроль, стресс или контекст интерфейса. Мы не будем утверждать, что маркетплейсы «управляют мозгом» или что рассрочка автоматически ведёт к долгам. Более точный вывод: среда может облегчать решение, а исследование проверит, с какими факторами оно связано у выбранной группы. Главная практическая идея — не запретить покупки, а вернуть человеку паузу и ясность полной цены.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завершение — основные источники: классическая работа Денниса Рука о субъективном опыте импульсивной покупки; метаанализ онлайн-покупок; оригинальная работа по шкале FoMO; руководство OECD для измерения финансовой грамотности; официальный текст закона об услугах рассрочки и публикация деловой прессы, откуда взята оценка рынка. Полные ссылки и карта того, какие факты к какому слайду относятся, есть в файле источников. Ещё раз: 940 миллиардов — оборот BNPL по оценке отраслевого участника, а не число импульсивных покупок. Наш собственный опрос пока только запланирован. Спасибо — какие 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Relationship Id="rIdM3d3" Type="http://schemas.microsoft.com/office/2017/06/relationships/model3d" Target="../media/model3d3.glb"/><Relationship Id="rIdM3d4" Type="http://schemas.microsoft.com/office/2017/06/relationships/model3d" Target="../media/model3d4.glb"/><Relationship Id="rIdM3d5" Type="http://schemas.microsoft.com/office/2017/06/relationships/model3d" Target="../media/model3d5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M3d6" Type="http://schemas.microsoft.com/office/2017/06/relationships/model3d" Target="../media/model3d6.glb"/><Relationship Id="rIdM3d7" Type="http://schemas.microsoft.com/office/2017/06/relationships/model3d" Target="../media/model3d7.glb"/><Relationship Id="rIdM3d8" Type="http://schemas.microsoft.com/office/2017/06/relationships/model3d" Target="../media/model3d8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4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5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6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Relationship Id="rIdM3d15" Type="http://schemas.microsoft.com/office/2017/06/relationships/model3d" Target="../media/model3d15.glb"/><Relationship Id="rIdM3d16" Type="http://schemas.microsoft.com/office/2017/06/relationships/model3d" Target="../media/model3d16.glb"/><Relationship Id="rIdM3d17" Type="http://schemas.microsoft.com/office/2017/06/relationships/model3d" Target="../media/model3d17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7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Relationship Id="rIdM3d18" Type="http://schemas.microsoft.com/office/2017/06/relationships/model3d" Target="../media/model3d18.glb"/><Relationship Id="rIdM3d19" Type="http://schemas.microsoft.com/office/2017/06/relationships/model3d" Target="../media/model3d19.glb"/><Relationship Id="rIdM3d20" Type="http://schemas.microsoft.com/office/2017/06/relationships/model3d" Target="../media/model3d20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8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9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0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Relationship Id="rIdM3d27" Type="http://schemas.microsoft.com/office/2017/06/relationships/model3d" Target="../media/model3d27.glb"/><Relationship Id="rIdM3d28" Type="http://schemas.microsoft.com/office/2017/06/relationships/model3d" Target="../media/model3d28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1080821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ПРОЕКТА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pic>
        <p:nvPicPr>
          <p:cNvPr id="10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-420624"/>
            <a:ext cx="7552944" cy="7552944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6234379" y="766267"/>
            <a:ext cx="5179162" cy="517916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5533034" y="64922"/>
            <a:ext cx="6581851" cy="6581851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13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926" y="4772025"/>
            <a:ext cx="4208069" cy="105201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cart">
                <a:extLst>
                  <a:ext uri="{FF2B5EF4-FFF2-40B4-BE49-F238E27FC236}">
                    <a16:creationId xmlns:a16="http://schemas.microsoft.com/office/drawing/2014/main" id="{5E9ADCAD-BCBD-2AAA-218F-B69B6D2251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26480" y="658368"/>
              <a:ext cx="5394960" cy="539496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394960" cy="5394960"/>
                    </a:xfrm>
                    <a:prstGeom prst="rect">
                      <a:avLst/>
                    </a:prstGeom>
                  </am3d:spPr>
                  <am3d:camera>
                    <am3d:pos x="0" y="0" z="680660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4500000" dy="-1285714" dz="-548044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12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394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cart">
                <a:extLst>
                  <a:ext uri="{FF2B5EF4-FFF2-40B4-BE49-F238E27FC236}">
                    <a16:creationId xmlns:a16="http://schemas.microsoft.com/office/drawing/2014/main" id="{5E9ADCAD-BCBD-2AAA-218F-B69B6D2251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6480" y="658368"/>
                <a:ext cx="5394960" cy="53949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8_0"/>
          <p:cNvSpPr/>
          <p:nvPr/>
        </p:nvSpPr>
        <p:spPr>
          <a:xfrm>
            <a:off x="6949440" y="55046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Корзина, посылка и сигнал нового заказа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становится простой — решение не всегда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694944" y="128016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4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· СТУДЕНТЫ 18–25 ЛЕТ</a:t>
            </a:r>
            <a:endParaRPr lang="en-US" sz="1000" dirty="0"/>
          </a:p>
        </p:txBody>
      </p:sp>
      <p:sp>
        <p:nvSpPr>
          <p:cNvPr id="17" name="!!cover-title"/>
          <p:cNvSpPr/>
          <p:nvPr/>
        </p:nvSpPr>
        <p:spPr>
          <a:xfrm>
            <a:off x="694944" y="1673352"/>
            <a:ext cx="5394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4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мы</a:t>
            </a:r>
            <a:endParaRPr lang="en-US" sz="4500" dirty="0"/>
          </a:p>
          <a:p>
            <a:pPr algn="l" indent="0" marL="0">
              <a:lnSpc>
                <a:spcPct val="91000"/>
              </a:lnSpc>
              <a:buNone/>
            </a:pPr>
            <a:r>
              <a:rPr lang="en-US" sz="4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покупаем</a:t>
            </a:r>
            <a:endParaRPr lang="en-US" sz="4500" dirty="0"/>
          </a:p>
          <a:p>
            <a:pPr algn="l" indent="0" marL="0">
              <a:lnSpc>
                <a:spcPct val="91000"/>
              </a:lnSpc>
              <a:buNone/>
            </a:pPr>
            <a:r>
              <a:rPr lang="en-US" sz="4500" b="1" dirty="0">
                <a:solidFill>
                  <a:srgbClr val="EAB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ненужное?</a:t>
            </a:r>
            <a:endParaRPr lang="en-US" sz="4500" dirty="0"/>
          </a:p>
        </p:txBody>
      </p:sp>
      <p:sp>
        <p:nvSpPr>
          <p:cNvPr id="18" name="fx1_3_1"/>
          <p:cNvSpPr/>
          <p:nvPr/>
        </p:nvSpPr>
        <p:spPr>
          <a:xfrm>
            <a:off x="694944" y="4041648"/>
            <a:ext cx="676656" cy="41148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19" name="fx1_3_2"/>
          <p:cNvSpPr/>
          <p:nvPr/>
        </p:nvSpPr>
        <p:spPr>
          <a:xfrm>
            <a:off x="694944" y="4270248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— от цифрового триггера до проверяемой гипотезы</a:t>
            </a:r>
            <a:endParaRPr lang="en-US" sz="1600" dirty="0"/>
          </a:p>
        </p:txBody>
      </p:sp>
      <p:sp>
        <p:nvSpPr>
          <p:cNvPr id="20" name="fx1_4_3"/>
          <p:cNvSpPr/>
          <p:nvPr/>
        </p:nvSpPr>
        <p:spPr>
          <a:xfrm>
            <a:off x="694944" y="5212080"/>
            <a:ext cx="4800600" cy="484632"/>
          </a:xfrm>
          <a:prstGeom prst="roundRect">
            <a:avLst>
              <a:gd name="adj" fmla="val 14151"/>
            </a:avLst>
          </a:prstGeom>
          <a:solidFill>
            <a:srgbClr val="1A2A42">
              <a:alpha val="96000"/>
            </a:srgbClr>
          </a:solidFill>
          <a:ln w="10160">
            <a:solidFill>
              <a:srgbClr val="76D6C5">
                <a:alpha val="42000"/>
              </a:srgbClr>
            </a:solidFill>
            <a:prstDash val="solid"/>
          </a:ln>
        </p:spPr>
      </p:sp>
      <p:sp>
        <p:nvSpPr>
          <p:cNvPr id="21" name="fx1_4_4"/>
          <p:cNvSpPr/>
          <p:nvPr/>
        </p:nvSpPr>
        <p:spPr>
          <a:xfrm>
            <a:off x="877824" y="5367528"/>
            <a:ext cx="44622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7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ИССЛЕДОВАНИЯ  ·  НЕ ОТЧЁТ О РЕЗУЛЬТАТАХ</a:t>
            </a:r>
            <a:endParaRPr lang="en-US" sz="92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!!m-wallet">
                <a:extLst>
                  <a:ext uri="{FF2B5EF4-FFF2-40B4-BE49-F238E27FC236}">
                    <a16:creationId xmlns:a16="http://schemas.microsoft.com/office/drawing/2014/main" id="{0F6B1141-C4DC-4F5D-BD4E-5AFF607B92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53312"/>
              <a:ext cx="4087368" cy="4087368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4087368" cy="4087368"/>
                    </a:xfrm>
                    <a:prstGeom prst="rect">
                      <a:avLst/>
                    </a:prstGeom>
                  </am3d:spPr>
                  <am3d:camera>
                    <am3d:pos x="0" y="0" z="60059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3045" d="1000000"/>
                    <am3d:preTrans dx="-518519" dy="3585185" dz="-2533333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0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08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873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!!m-wallet">
                <a:extLst>
                  <a:ext uri="{FF2B5EF4-FFF2-40B4-BE49-F238E27FC236}">
                    <a16:creationId xmlns:a16="http://schemas.microsoft.com/office/drawing/2014/main" id="{0F6B1141-C4DC-4F5D-BD4E-5AFF607B92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6055" y="1353312"/>
                <a:ext cx="4087368" cy="408736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2161642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 СЕЙЧАС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446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9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Платёж стал проще — вопрос стал важнее</a:t>
            </a:r>
            <a:endParaRPr lang="en-US" sz="2900" dirty="0"/>
          </a:p>
        </p:txBody>
      </p:sp>
      <p:sp>
        <p:nvSpPr>
          <p:cNvPr id="11" name="fx2_2_0"/>
          <p:cNvSpPr/>
          <p:nvPr/>
        </p:nvSpPr>
        <p:spPr>
          <a:xfrm>
            <a:off x="694944" y="2157984"/>
            <a:ext cx="6236208" cy="1335024"/>
          </a:xfrm>
          <a:prstGeom prst="roundRect">
            <a:avLst>
              <a:gd name="adj" fmla="val 5137"/>
            </a:avLst>
          </a:prstGeom>
          <a:solidFill>
            <a:srgbClr val="1A2A42">
              <a:alpha val="96000"/>
            </a:srgbClr>
          </a:solidFill>
          <a:ln w="10160">
            <a:solidFill>
              <a:srgbClr val="8EB9F4">
                <a:alpha val="50000"/>
              </a:srgbClr>
            </a:solidFill>
            <a:prstDash val="solid"/>
          </a:ln>
        </p:spPr>
      </p:sp>
      <p:sp>
        <p:nvSpPr>
          <p:cNvPr id="12" name="fx2_2_1"/>
          <p:cNvSpPr/>
          <p:nvPr/>
        </p:nvSpPr>
        <p:spPr>
          <a:xfrm>
            <a:off x="905256" y="235915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РЫНКА BNPL В РОССИИ · 2025</a:t>
            </a:r>
            <a:endParaRPr lang="en-US" sz="900" dirty="0"/>
          </a:p>
        </p:txBody>
      </p:sp>
      <p:sp>
        <p:nvSpPr>
          <p:cNvPr id="13" name="fx2_2_2"/>
          <p:cNvSpPr/>
          <p:nvPr/>
        </p:nvSpPr>
        <p:spPr>
          <a:xfrm>
            <a:off x="896112" y="265176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940 млрд ₽</a:t>
            </a:r>
            <a:endParaRPr lang="en-US" sz="3100" dirty="0"/>
          </a:p>
        </p:txBody>
      </p:sp>
      <p:sp>
        <p:nvSpPr>
          <p:cNvPr id="14" name="fx2_2_3"/>
          <p:cNvSpPr/>
          <p:nvPr/>
        </p:nvSpPr>
        <p:spPr>
          <a:xfrm>
            <a:off x="3941064" y="27340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 оплат частями по оценке сервиса «Долями» (Т-Банк)</a:t>
            </a:r>
            <a:endParaRPr lang="en-US" sz="1100" dirty="0"/>
          </a:p>
        </p:txBody>
      </p:sp>
      <p:sp>
        <p:nvSpPr>
          <p:cNvPr id="15" name="fx2_3_4"/>
          <p:cNvSpPr/>
          <p:nvPr/>
        </p:nvSpPr>
        <p:spPr>
          <a:xfrm>
            <a:off x="694944" y="3657600"/>
            <a:ext cx="6236208" cy="1234440"/>
          </a:xfrm>
          <a:prstGeom prst="roundRect">
            <a:avLst>
              <a:gd name="adj" fmla="val 5556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76D6C5">
                <a:alpha val="34000"/>
              </a:srgbClr>
            </a:solidFill>
            <a:prstDash val="solid"/>
          </a:ln>
        </p:spPr>
      </p:sp>
      <p:sp>
        <p:nvSpPr>
          <p:cNvPr id="16" name="fx2_3_5"/>
          <p:cNvSpPr/>
          <p:nvPr/>
        </p:nvSpPr>
        <p:spPr>
          <a:xfrm>
            <a:off x="905256" y="38404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РЕГУЛЯТОРНЫЙ КОНТЕКСТ</a:t>
            </a:r>
            <a:endParaRPr lang="en-US" sz="900" dirty="0"/>
          </a:p>
        </p:txBody>
      </p:sp>
      <p:sp>
        <p:nvSpPr>
          <p:cNvPr id="17" name="fx2_3_6"/>
          <p:cNvSpPr/>
          <p:nvPr/>
        </p:nvSpPr>
        <p:spPr>
          <a:xfrm>
            <a:off x="896112" y="41239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283-ФЗ · с 1 апреля 2026</a:t>
            </a:r>
            <a:endParaRPr lang="en-US" sz="2000" dirty="0"/>
          </a:p>
        </p:txBody>
      </p:sp>
      <p:sp>
        <p:nvSpPr>
          <p:cNvPr id="18" name="fx2_3_7"/>
          <p:cNvSpPr/>
          <p:nvPr/>
        </p:nvSpPr>
        <p:spPr>
          <a:xfrm>
            <a:off x="4005072" y="40782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требования к сервисам рассрочки — не замена личному бюджету и саморегуляции.</a:t>
            </a:r>
            <a:endParaRPr lang="en-US" sz="1050" dirty="0"/>
          </a:p>
        </p:txBody>
      </p:sp>
      <p:sp>
        <p:nvSpPr>
          <p:cNvPr id="19" name="fx2_4_8"/>
          <p:cNvSpPr/>
          <p:nvPr/>
        </p:nvSpPr>
        <p:spPr>
          <a:xfrm>
            <a:off x="694944" y="5184648"/>
            <a:ext cx="6236208" cy="557784"/>
          </a:xfrm>
          <a:prstGeom prst="roundRect">
            <a:avLst>
              <a:gd name="adj" fmla="val 12295"/>
            </a:avLst>
          </a:prstGeom>
          <a:solidFill>
            <a:srgbClr val="261F18">
              <a:alpha val="96000"/>
            </a:srgbClr>
          </a:solidFill>
          <a:ln w="10160">
            <a:solidFill>
              <a:srgbClr val="EABF72">
                <a:alpha val="45000"/>
              </a:srgbClr>
            </a:solidFill>
            <a:prstDash val="solid"/>
          </a:ln>
        </p:spPr>
      </p:sp>
      <p:sp>
        <p:nvSpPr>
          <p:cNvPr id="20" name="fx2_4_9"/>
          <p:cNvSpPr/>
          <p:nvPr/>
        </p:nvSpPr>
        <p:spPr>
          <a:xfrm>
            <a:off x="877824" y="53492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оборот BNPL ≠ число импульсивных покупок. Это контекст, не доказательство причины.</a:t>
            </a:r>
            <a:endParaRPr lang="en-US" sz="1030" dirty="0"/>
          </a:p>
        </p:txBody>
      </p:sp>
      <p:sp>
        <p:nvSpPr>
          <p:cNvPr id="21" name="Text 18"/>
          <p:cNvSpPr/>
          <p:nvPr/>
        </p:nvSpPr>
        <p:spPr>
          <a:xfrm>
            <a:off x="694944" y="59436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[1] оценка «Долями» в «Ведомостях»; [2] официальный текст закона № 283-ФЗ.</a:t>
            </a:r>
            <a:endParaRPr lang="en-US" sz="850" dirty="0"/>
          </a:p>
        </p:txBody>
      </p:sp>
      <p:pic>
        <p:nvPicPr>
          <p:cNvPr id="22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215798"/>
            <a:ext cx="5722315" cy="5722315"/>
          </a:xfrm>
          <a:prstGeom prst="rect">
            <a:avLst/>
          </a:prstGeom>
        </p:spPr>
      </p:pic>
      <p:sp>
        <p:nvSpPr>
          <p:cNvPr id="23" name="!!ring1"/>
          <p:cNvSpPr/>
          <p:nvPr/>
        </p:nvSpPr>
        <p:spPr>
          <a:xfrm>
            <a:off x="7497531" y="1115019"/>
            <a:ext cx="3923873" cy="3923873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24" name="!!ring2"/>
          <p:cNvSpPr/>
          <p:nvPr/>
        </p:nvSpPr>
        <p:spPr>
          <a:xfrm>
            <a:off x="6966174" y="583662"/>
            <a:ext cx="4986589" cy="4986589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25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394" y="4027269"/>
            <a:ext cx="3188147" cy="79703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!!m-wallet">
                <a:extLst>
                  <a:ext uri="{FF2B5EF4-FFF2-40B4-BE49-F238E27FC236}">
                    <a16:creationId xmlns:a16="http://schemas.microsoft.com/office/drawing/2014/main" id="{DFA2817D-C2AF-9787-D32E-511F8E124F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15784" y="1033272"/>
              <a:ext cx="4087368" cy="4087368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087368" cy="4087368"/>
                    </a:xfrm>
                    <a:prstGeom prst="rect">
                      <a:avLst/>
                    </a:prstGeom>
                  </am3d:spPr>
                  <am3d:camera>
                    <am3d:pos x="0" y="0" z="60059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3045" d="1000000"/>
                    <am3d:preTrans dx="-518519" dy="3585185" dz="-2533333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32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08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873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!!m-wallet">
                <a:extLst>
                  <a:ext uri="{FF2B5EF4-FFF2-40B4-BE49-F238E27FC236}">
                    <a16:creationId xmlns:a16="http://schemas.microsoft.com/office/drawing/2014/main" id="{DFA2817D-C2AF-9787-D32E-511F8E124F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5784" y="1033272"/>
                <a:ext cx="4087368" cy="4087368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fx2_8_10"/>
          <p:cNvSpPr/>
          <p:nvPr/>
        </p:nvSpPr>
        <p:spPr>
          <a:xfrm>
            <a:off x="7356348" y="52120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Монета выходит из кошелька и возвращается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частями — финансовый контекст, не ярлык поведения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!!m-cart">
                <a:extLst>
                  <a:ext uri="{FF2B5EF4-FFF2-40B4-BE49-F238E27FC236}">
                    <a16:creationId xmlns:a16="http://schemas.microsoft.com/office/drawing/2014/main" id="{A23A52D4-4026-D65F-FA03-0DE6EBC5CF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989320" y="978408"/>
              <a:ext cx="5394960" cy="539496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394960" cy="5394960"/>
                    </a:xfrm>
                    <a:prstGeom prst="rect">
                      <a:avLst/>
                    </a:prstGeom>
                  </am3d:spPr>
                  <am3d:camera>
                    <am3d:pos x="0" y="0" z="680660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4500000" dy="-1285714" dz="-548044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55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394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!!m-cart">
                <a:extLst>
                  <a:ext uri="{FF2B5EF4-FFF2-40B4-BE49-F238E27FC236}">
                    <a16:creationId xmlns:a16="http://schemas.microsoft.com/office/drawing/2014/main" id="{A23A52D4-4026-D65F-FA03-0DE6EBC5CF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989320" y="978408"/>
                <a:ext cx="5394960" cy="539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!!m-cycle">
                <a:extLst>
                  <a:ext uri="{FF2B5EF4-FFF2-40B4-BE49-F238E27FC236}">
                    <a16:creationId xmlns:a16="http://schemas.microsoft.com/office/drawing/2014/main" id="{71DEC743-98CB-74EE-0E7A-8F1D9D4A0F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44168"/>
              <a:ext cx="4096512" cy="4096512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85017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1118" d="1000000"/>
                    <am3d:preTrans dx="1" dy="-894410" dz="-1453417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!!m-cycle">
                <a:extLst>
                  <a:ext uri="{FF2B5EF4-FFF2-40B4-BE49-F238E27FC236}">
                    <a16:creationId xmlns:a16="http://schemas.microsoft.com/office/drawing/2014/main" id="{71DEC743-98CB-74EE-0E7A-8F1D9D4A0F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44168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420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3242462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ВОЗНИКАЕТ ИМПУЛЬС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9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Импульс — это цепочка, а не одна кнопка</a:t>
            </a:r>
            <a:endParaRPr lang="en-US" sz="2900" dirty="0"/>
          </a:p>
        </p:txBody>
      </p:sp>
      <p:sp>
        <p:nvSpPr>
          <p:cNvPr id="11" name="fx3_2_0"/>
          <p:cNvSpPr/>
          <p:nvPr/>
        </p:nvSpPr>
        <p:spPr>
          <a:xfrm>
            <a:off x="694944" y="19933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модель для исследования: контекст и переживание участвуют в решении; исход у людей различается.</a:t>
            </a:r>
            <a:endParaRPr lang="en-US" sz="1300" dirty="0"/>
          </a:p>
        </p:txBody>
      </p:sp>
      <p:sp>
        <p:nvSpPr>
          <p:cNvPr id="12" name="fx3_2_1"/>
          <p:cNvSpPr/>
          <p:nvPr/>
        </p:nvSpPr>
        <p:spPr>
          <a:xfrm>
            <a:off x="694944" y="2788920"/>
            <a:ext cx="1444752" cy="1307592"/>
          </a:xfrm>
          <a:prstGeom prst="roundRect">
            <a:avLst>
              <a:gd name="adj" fmla="val 5245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76D6C5">
                <a:alpha val="32000"/>
              </a:srgbClr>
            </a:solidFill>
            <a:prstDash val="solid"/>
          </a:ln>
        </p:spPr>
      </p:sp>
      <p:sp>
        <p:nvSpPr>
          <p:cNvPr id="13" name="fx3_2_2"/>
          <p:cNvSpPr/>
          <p:nvPr/>
        </p:nvSpPr>
        <p:spPr>
          <a:xfrm>
            <a:off x="850392" y="2935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fx3_2_3"/>
          <p:cNvSpPr/>
          <p:nvPr/>
        </p:nvSpPr>
        <p:spPr>
          <a:xfrm>
            <a:off x="850392" y="329184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</a:t>
            </a:r>
            <a:endParaRPr lang="en-US" sz="950" dirty="0"/>
          </a:p>
        </p:txBody>
      </p:sp>
      <p:sp>
        <p:nvSpPr>
          <p:cNvPr id="15" name="fx3_2_4"/>
          <p:cNvSpPr/>
          <p:nvPr/>
        </p:nvSpPr>
        <p:spPr>
          <a:xfrm>
            <a:off x="850392" y="359359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· таймер</a:t>
            </a:r>
            <a:endParaRPr lang="en-US" sz="980" dirty="0"/>
          </a:p>
        </p:txBody>
      </p:sp>
      <p:sp>
        <p:nvSpPr>
          <p:cNvPr id="16" name="fx3_2_5"/>
          <p:cNvSpPr/>
          <p:nvPr/>
        </p:nvSpPr>
        <p:spPr>
          <a:xfrm>
            <a:off x="2139696" y="322783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fx3_3_6"/>
          <p:cNvSpPr/>
          <p:nvPr/>
        </p:nvSpPr>
        <p:spPr>
          <a:xfrm>
            <a:off x="2267712" y="2788920"/>
            <a:ext cx="1444752" cy="1307592"/>
          </a:xfrm>
          <a:prstGeom prst="roundRect">
            <a:avLst>
              <a:gd name="adj" fmla="val 5245"/>
            </a:avLst>
          </a:prstGeom>
          <a:solidFill>
            <a:srgbClr val="241D2B">
              <a:alpha val="96000"/>
            </a:srgbClr>
          </a:solidFill>
          <a:ln w="10160">
            <a:solidFill>
              <a:srgbClr val="FF8272">
                <a:alpha val="32000"/>
              </a:srgbClr>
            </a:solidFill>
            <a:prstDash val="solid"/>
          </a:ln>
        </p:spPr>
      </p:sp>
      <p:sp>
        <p:nvSpPr>
          <p:cNvPr id="18" name="fx3_3_7"/>
          <p:cNvSpPr/>
          <p:nvPr/>
        </p:nvSpPr>
        <p:spPr>
          <a:xfrm>
            <a:off x="2423160" y="2935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82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fx3_3_8"/>
          <p:cNvSpPr/>
          <p:nvPr/>
        </p:nvSpPr>
        <p:spPr>
          <a:xfrm>
            <a:off x="2423160" y="329184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</a:t>
            </a:r>
            <a:endParaRPr lang="en-US" sz="950" dirty="0"/>
          </a:p>
        </p:txBody>
      </p:sp>
      <p:sp>
        <p:nvSpPr>
          <p:cNvPr id="20" name="fx3_3_9"/>
          <p:cNvSpPr/>
          <p:nvPr/>
        </p:nvSpPr>
        <p:spPr>
          <a:xfrm>
            <a:off x="2423160" y="359359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 · FOMO</a:t>
            </a:r>
            <a:endParaRPr lang="en-US" sz="980" dirty="0"/>
          </a:p>
        </p:txBody>
      </p:sp>
      <p:sp>
        <p:nvSpPr>
          <p:cNvPr id="21" name="fx3_3_10"/>
          <p:cNvSpPr/>
          <p:nvPr/>
        </p:nvSpPr>
        <p:spPr>
          <a:xfrm>
            <a:off x="3712464" y="322783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fx3_4_11"/>
          <p:cNvSpPr/>
          <p:nvPr/>
        </p:nvSpPr>
        <p:spPr>
          <a:xfrm>
            <a:off x="3840480" y="2788920"/>
            <a:ext cx="1444752" cy="1307592"/>
          </a:xfrm>
          <a:prstGeom prst="roundRect">
            <a:avLst>
              <a:gd name="adj" fmla="val 5245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76D6C5">
                <a:alpha val="32000"/>
              </a:srgbClr>
            </a:solidFill>
            <a:prstDash val="solid"/>
          </a:ln>
        </p:spPr>
      </p:sp>
      <p:sp>
        <p:nvSpPr>
          <p:cNvPr id="23" name="fx3_4_12"/>
          <p:cNvSpPr/>
          <p:nvPr/>
        </p:nvSpPr>
        <p:spPr>
          <a:xfrm>
            <a:off x="3995928" y="2935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fx3_4_13"/>
          <p:cNvSpPr/>
          <p:nvPr/>
        </p:nvSpPr>
        <p:spPr>
          <a:xfrm>
            <a:off x="3995928" y="329184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950" dirty="0"/>
          </a:p>
        </p:txBody>
      </p:sp>
      <p:sp>
        <p:nvSpPr>
          <p:cNvPr id="25" name="fx3_4_14"/>
          <p:cNvSpPr/>
          <p:nvPr/>
        </p:nvSpPr>
        <p:spPr>
          <a:xfrm>
            <a:off x="3995928" y="359359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· оплата</a:t>
            </a:r>
            <a:endParaRPr lang="en-US" sz="980" dirty="0"/>
          </a:p>
        </p:txBody>
      </p:sp>
      <p:sp>
        <p:nvSpPr>
          <p:cNvPr id="26" name="fx3_4_15"/>
          <p:cNvSpPr/>
          <p:nvPr/>
        </p:nvSpPr>
        <p:spPr>
          <a:xfrm>
            <a:off x="5285232" y="322783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fx3_5_16"/>
          <p:cNvSpPr/>
          <p:nvPr/>
        </p:nvSpPr>
        <p:spPr>
          <a:xfrm>
            <a:off x="5413248" y="2788920"/>
            <a:ext cx="1444752" cy="1307592"/>
          </a:xfrm>
          <a:prstGeom prst="roundRect">
            <a:avLst>
              <a:gd name="adj" fmla="val 5245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EABF72">
                <a:alpha val="32000"/>
              </a:srgbClr>
            </a:solidFill>
            <a:prstDash val="solid"/>
          </a:ln>
        </p:spPr>
      </p:sp>
      <p:sp>
        <p:nvSpPr>
          <p:cNvPr id="28" name="fx3_5_17"/>
          <p:cNvSpPr/>
          <p:nvPr/>
        </p:nvSpPr>
        <p:spPr>
          <a:xfrm>
            <a:off x="5568696" y="2935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AB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fx3_5_18"/>
          <p:cNvSpPr/>
          <p:nvPr/>
        </p:nvSpPr>
        <p:spPr>
          <a:xfrm>
            <a:off x="5568696" y="329184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</a:t>
            </a:r>
            <a:endParaRPr lang="en-US" sz="950" dirty="0"/>
          </a:p>
        </p:txBody>
      </p:sp>
      <p:sp>
        <p:nvSpPr>
          <p:cNvPr id="30" name="fx3_5_19"/>
          <p:cNvSpPr/>
          <p:nvPr/>
        </p:nvSpPr>
        <p:spPr>
          <a:xfrm>
            <a:off x="5568696" y="359359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радость · сожаление</a:t>
            </a:r>
            <a:endParaRPr lang="en-US" sz="980" dirty="0"/>
          </a:p>
        </p:txBody>
      </p:sp>
      <p:sp>
        <p:nvSpPr>
          <p:cNvPr id="31" name="fx3_6_20"/>
          <p:cNvSpPr/>
          <p:nvPr/>
        </p:nvSpPr>
        <p:spPr>
          <a:xfrm>
            <a:off x="694944" y="4507992"/>
            <a:ext cx="6236208" cy="822960"/>
          </a:xfrm>
          <a:prstGeom prst="roundRect">
            <a:avLst>
              <a:gd name="adj" fmla="val 8333"/>
            </a:avLst>
          </a:prstGeom>
          <a:solidFill>
            <a:srgbClr val="1A2A42">
              <a:alpha val="96000"/>
            </a:srgbClr>
          </a:solidFill>
          <a:ln w="10160">
            <a:solidFill>
              <a:srgbClr val="8EB9F4">
                <a:alpha val="26000"/>
              </a:srgbClr>
            </a:solidFill>
            <a:prstDash val="solid"/>
          </a:ln>
        </p:spPr>
      </p:sp>
      <p:sp>
        <p:nvSpPr>
          <p:cNvPr id="32" name="fx3_6_21"/>
          <p:cNvSpPr/>
          <p:nvPr/>
        </p:nvSpPr>
        <p:spPr>
          <a:xfrm>
            <a:off x="877824" y="4663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ОПЕРАЦИОННОЕ ОПРЕДЕЛЕНИЕ</a:t>
            </a:r>
            <a:endParaRPr lang="en-US" sz="900" dirty="0"/>
          </a:p>
        </p:txBody>
      </p:sp>
      <p:sp>
        <p:nvSpPr>
          <p:cNvPr id="33" name="fx3_6_22"/>
          <p:cNvSpPr/>
          <p:nvPr/>
        </p:nvSpPr>
        <p:spPr>
          <a:xfrm>
            <a:off x="877824" y="4937760"/>
            <a:ext cx="5742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Незапланированная покупка за последние 30 дней + частота сильного желания купить «здесь и сейчас».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94944" y="592531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Теоретическая опора: Rook (1987); Beatty &amp; Ferrell (1998). См. [3], [4].</a:t>
            </a:r>
            <a:endParaRPr lang="en-US" sz="850" dirty="0"/>
          </a:p>
        </p:txBody>
      </p:sp>
      <p:pic>
        <p:nvPicPr>
          <p:cNvPr id="35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04826"/>
            <a:ext cx="5735117" cy="5735117"/>
          </a:xfrm>
          <a:prstGeom prst="rect">
            <a:avLst/>
          </a:prstGeom>
        </p:spPr>
      </p:pic>
      <p:sp>
        <p:nvSpPr>
          <p:cNvPr id="36" name="!!ring1"/>
          <p:cNvSpPr/>
          <p:nvPr/>
        </p:nvSpPr>
        <p:spPr>
          <a:xfrm>
            <a:off x="7488570" y="1106058"/>
            <a:ext cx="3932652" cy="393265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37" name="!!ring2"/>
          <p:cNvSpPr/>
          <p:nvPr/>
        </p:nvSpPr>
        <p:spPr>
          <a:xfrm>
            <a:off x="6956024" y="573512"/>
            <a:ext cx="4997745" cy="4997745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38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256" y="4024823"/>
            <a:ext cx="3195279" cy="7988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ycle">
                <a:extLst>
                  <a:ext uri="{FF2B5EF4-FFF2-40B4-BE49-F238E27FC236}">
                    <a16:creationId xmlns:a16="http://schemas.microsoft.com/office/drawing/2014/main" id="{37A938C4-B580-5C26-27E8-A67740AF3E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1024128"/>
              <a:ext cx="4096512" cy="4096512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85017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1118" d="1000000"/>
                    <am3d:preTrans dx="1" dy="-894410" dz="-1453417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2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ycle">
                <a:extLst>
                  <a:ext uri="{FF2B5EF4-FFF2-40B4-BE49-F238E27FC236}">
                    <a16:creationId xmlns:a16="http://schemas.microsoft.com/office/drawing/2014/main" id="{37A938C4-B580-5C26-27E8-A67740AF3E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6640" y="1024128"/>
                <a:ext cx="4096512" cy="4096512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fx3_8_23"/>
          <p:cNvSpPr/>
          <p:nvPr/>
        </p:nvSpPr>
        <p:spPr>
          <a:xfrm>
            <a:off x="7328916" y="52120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сигнала вращаются вокруг покупки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— модель для проверки, не универсальный сценарий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wallet">
                <a:extLst>
                  <a:ext uri="{FF2B5EF4-FFF2-40B4-BE49-F238E27FC236}">
                    <a16:creationId xmlns:a16="http://schemas.microsoft.com/office/drawing/2014/main" id="{4CF671A5-90AE-E585-966E-B9909BC3FE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81728" y="1353312"/>
              <a:ext cx="4087368" cy="4087368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087368" cy="4087368"/>
                    </a:xfrm>
                    <a:prstGeom prst="rect">
                      <a:avLst/>
                    </a:prstGeom>
                  </am3d:spPr>
                  <am3d:camera>
                    <am3d:pos x="0" y="0" z="60059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3045" d="1000000"/>
                    <am3d:preTrans dx="-518519" dy="3585185" dz="-2533333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56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08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873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wallet">
                <a:extLst>
                  <a:ext uri="{FF2B5EF4-FFF2-40B4-BE49-F238E27FC236}">
                    <a16:creationId xmlns:a16="http://schemas.microsoft.com/office/drawing/2014/main" id="{4CF671A5-90AE-E585-966E-B9909BC3FE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81728" y="1353312"/>
                <a:ext cx="4087368" cy="4087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!!m-triggers">
                <a:extLst>
                  <a:ext uri="{FF2B5EF4-FFF2-40B4-BE49-F238E27FC236}">
                    <a16:creationId xmlns:a16="http://schemas.microsoft.com/office/drawing/2014/main" id="{DFB200EE-4D4A-AC28-3E46-65B5DF7C80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35024"/>
              <a:ext cx="4078224" cy="4078224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4078224" cy="4078224"/>
                    </a:xfrm>
                    <a:prstGeom prst="rect">
                      <a:avLst/>
                    </a:prstGeom>
                  </am3d:spPr>
                  <am3d:camera>
                    <am3d:pos x="0" y="0" z="5875513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23834" d="1000000"/>
                    <am3d:preTrans dx="9429" dy="-707176" dz="-1697224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29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7822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!!m-triggers">
                <a:extLst>
                  <a:ext uri="{FF2B5EF4-FFF2-40B4-BE49-F238E27FC236}">
                    <a16:creationId xmlns:a16="http://schemas.microsoft.com/office/drawing/2014/main" id="{DFB200EE-4D4A-AC28-3E46-65B5DF7C80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35024"/>
                <a:ext cx="4078224" cy="407822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4323283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МОЖЕТ ПОДТОЛКНУТЬ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537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8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Четыре триггера встречаются на одном экране</a:t>
            </a:r>
            <a:endParaRPr lang="en-US" sz="2800" dirty="0"/>
          </a:p>
        </p:txBody>
      </p:sp>
      <p:sp>
        <p:nvSpPr>
          <p:cNvPr id="11" name="fx4_2_0"/>
          <p:cNvSpPr/>
          <p:nvPr/>
        </p:nvSpPr>
        <p:spPr>
          <a:xfrm>
            <a:off x="694944" y="2148840"/>
            <a:ext cx="6236208" cy="640080"/>
          </a:xfrm>
          <a:prstGeom prst="roundRect">
            <a:avLst>
              <a:gd name="adj" fmla="val 10714"/>
            </a:avLst>
          </a:prstGeom>
          <a:solidFill>
            <a:srgbClr val="241D2B">
              <a:alpha val="96000"/>
            </a:srgbClr>
          </a:solidFill>
          <a:ln w="10160">
            <a:solidFill>
              <a:srgbClr val="FF8272">
                <a:alpha val="28000"/>
              </a:srgbClr>
            </a:solidFill>
            <a:prstDash val="solid"/>
          </a:ln>
        </p:spPr>
      </p:sp>
      <p:sp>
        <p:nvSpPr>
          <p:cNvPr id="12" name="fx4_2_1"/>
          <p:cNvSpPr/>
          <p:nvPr/>
        </p:nvSpPr>
        <p:spPr>
          <a:xfrm>
            <a:off x="850392" y="2304288"/>
            <a:ext cx="50292" cy="329184"/>
          </a:xfrm>
          <a:prstGeom prst="rect">
            <a:avLst/>
          </a:prstGeom>
          <a:solidFill>
            <a:srgbClr val="FF8272"/>
          </a:solidFill>
          <a:ln/>
        </p:spPr>
      </p:sp>
      <p:sp>
        <p:nvSpPr>
          <p:cNvPr id="13" name="fx4_2_2"/>
          <p:cNvSpPr/>
          <p:nvPr/>
        </p:nvSpPr>
        <p:spPr>
          <a:xfrm>
            <a:off x="1024128" y="22677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</a:t>
            </a:r>
            <a:endParaRPr lang="en-US" sz="1230" dirty="0"/>
          </a:p>
        </p:txBody>
      </p:sp>
      <p:sp>
        <p:nvSpPr>
          <p:cNvPr id="14" name="fx4_2_3"/>
          <p:cNvSpPr/>
          <p:nvPr/>
        </p:nvSpPr>
        <p:spPr>
          <a:xfrm>
            <a:off x="2523744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8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«Вдруг упущу»</a:t>
            </a:r>
            <a:endParaRPr lang="en-US" sz="1130" dirty="0"/>
          </a:p>
        </p:txBody>
      </p:sp>
      <p:sp>
        <p:nvSpPr>
          <p:cNvPr id="15" name="fx4_2_4"/>
          <p:cNvSpPr/>
          <p:nvPr/>
        </p:nvSpPr>
        <p:spPr>
          <a:xfrm>
            <a:off x="2523744" y="2505456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ограниченная акция · тренд</a:t>
            </a:r>
            <a:endParaRPr lang="en-US" sz="960" dirty="0"/>
          </a:p>
        </p:txBody>
      </p:sp>
      <p:sp>
        <p:nvSpPr>
          <p:cNvPr id="16" name="fx4_3_5"/>
          <p:cNvSpPr/>
          <p:nvPr/>
        </p:nvSpPr>
        <p:spPr>
          <a:xfrm>
            <a:off x="694944" y="2935224"/>
            <a:ext cx="6236208" cy="640080"/>
          </a:xfrm>
          <a:prstGeom prst="roundRect">
            <a:avLst>
              <a:gd name="adj" fmla="val 10714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8EB9F4">
                <a:alpha val="28000"/>
              </a:srgbClr>
            </a:solidFill>
            <a:prstDash val="solid"/>
          </a:ln>
        </p:spPr>
      </p:sp>
      <p:sp>
        <p:nvSpPr>
          <p:cNvPr id="17" name="fx4_3_6"/>
          <p:cNvSpPr/>
          <p:nvPr/>
        </p:nvSpPr>
        <p:spPr>
          <a:xfrm>
            <a:off x="850392" y="3090672"/>
            <a:ext cx="50292" cy="329184"/>
          </a:xfrm>
          <a:prstGeom prst="rect">
            <a:avLst/>
          </a:prstGeom>
          <a:solidFill>
            <a:srgbClr val="8EB9F4"/>
          </a:solidFill>
          <a:ln/>
        </p:spPr>
      </p:sp>
      <p:sp>
        <p:nvSpPr>
          <p:cNvPr id="18" name="fx4_3_7"/>
          <p:cNvSpPr/>
          <p:nvPr/>
        </p:nvSpPr>
        <p:spPr>
          <a:xfrm>
            <a:off x="1024128" y="3054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en-US" sz="1230" dirty="0"/>
          </a:p>
        </p:txBody>
      </p:sp>
      <p:sp>
        <p:nvSpPr>
          <p:cNvPr id="19" name="fx4_3_8"/>
          <p:cNvSpPr/>
          <p:nvPr/>
        </p:nvSpPr>
        <p:spPr>
          <a:xfrm>
            <a:off x="2523744" y="30540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всех уже есть»</a:t>
            </a:r>
            <a:endParaRPr lang="en-US" sz="1130" dirty="0"/>
          </a:p>
        </p:txBody>
      </p:sp>
      <p:sp>
        <p:nvSpPr>
          <p:cNvPr id="20" name="fx4_3_9"/>
          <p:cNvSpPr/>
          <p:nvPr/>
        </p:nvSpPr>
        <p:spPr>
          <a:xfrm>
            <a:off x="2523744" y="3291840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лайки · рекомендации · блогеры</a:t>
            </a:r>
            <a:endParaRPr lang="en-US" sz="960" dirty="0"/>
          </a:p>
        </p:txBody>
      </p:sp>
      <p:sp>
        <p:nvSpPr>
          <p:cNvPr id="21" name="fx4_4_10"/>
          <p:cNvSpPr/>
          <p:nvPr/>
        </p:nvSpPr>
        <p:spPr>
          <a:xfrm>
            <a:off x="694944" y="3721608"/>
            <a:ext cx="6236208" cy="640080"/>
          </a:xfrm>
          <a:prstGeom prst="roundRect">
            <a:avLst>
              <a:gd name="adj" fmla="val 10714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EABF72">
                <a:alpha val="28000"/>
              </a:srgbClr>
            </a:solidFill>
            <a:prstDash val="solid"/>
          </a:ln>
        </p:spPr>
      </p:sp>
      <p:sp>
        <p:nvSpPr>
          <p:cNvPr id="22" name="fx4_4_11"/>
          <p:cNvSpPr/>
          <p:nvPr/>
        </p:nvSpPr>
        <p:spPr>
          <a:xfrm>
            <a:off x="850392" y="3877056"/>
            <a:ext cx="50292" cy="329184"/>
          </a:xfrm>
          <a:prstGeom prst="rect">
            <a:avLst/>
          </a:prstGeom>
          <a:solidFill>
            <a:srgbClr val="EABF72"/>
          </a:solidFill>
          <a:ln/>
        </p:spPr>
      </p:sp>
      <p:sp>
        <p:nvSpPr>
          <p:cNvPr id="23" name="fx4_4_12"/>
          <p:cNvSpPr/>
          <p:nvPr/>
        </p:nvSpPr>
        <p:spPr>
          <a:xfrm>
            <a:off x="1024128" y="38404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Срочность</a:t>
            </a:r>
            <a:endParaRPr lang="en-US" sz="1230" dirty="0"/>
          </a:p>
        </p:txBody>
      </p:sp>
      <p:sp>
        <p:nvSpPr>
          <p:cNvPr id="24" name="fx4_4_13"/>
          <p:cNvSpPr/>
          <p:nvPr/>
        </p:nvSpPr>
        <p:spPr>
          <a:xfrm>
            <a:off x="2523744" y="38404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«Решай сейчас»</a:t>
            </a:r>
            <a:endParaRPr lang="en-US" sz="1130" dirty="0"/>
          </a:p>
        </p:txBody>
      </p:sp>
      <p:sp>
        <p:nvSpPr>
          <p:cNvPr id="25" name="fx4_4_14"/>
          <p:cNvSpPr/>
          <p:nvPr/>
        </p:nvSpPr>
        <p:spPr>
          <a:xfrm>
            <a:off x="2523744" y="407822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 · «осталось мало»</a:t>
            </a:r>
            <a:endParaRPr lang="en-US" sz="960" dirty="0"/>
          </a:p>
        </p:txBody>
      </p:sp>
      <p:sp>
        <p:nvSpPr>
          <p:cNvPr id="26" name="fx4_5_15"/>
          <p:cNvSpPr/>
          <p:nvPr/>
        </p:nvSpPr>
        <p:spPr>
          <a:xfrm>
            <a:off x="694944" y="4507992"/>
            <a:ext cx="6236208" cy="640080"/>
          </a:xfrm>
          <a:prstGeom prst="roundRect">
            <a:avLst>
              <a:gd name="adj" fmla="val 10714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76D6C5">
                <a:alpha val="28000"/>
              </a:srgbClr>
            </a:solidFill>
            <a:prstDash val="solid"/>
          </a:ln>
        </p:spPr>
      </p:sp>
      <p:sp>
        <p:nvSpPr>
          <p:cNvPr id="27" name="fx4_5_16"/>
          <p:cNvSpPr/>
          <p:nvPr/>
        </p:nvSpPr>
        <p:spPr>
          <a:xfrm>
            <a:off x="850392" y="4663440"/>
            <a:ext cx="50292" cy="329184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28" name="fx4_5_17"/>
          <p:cNvSpPr/>
          <p:nvPr/>
        </p:nvSpPr>
        <p:spPr>
          <a:xfrm>
            <a:off x="1024128" y="46268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трения</a:t>
            </a:r>
            <a:endParaRPr lang="en-US" sz="1230" dirty="0"/>
          </a:p>
        </p:txBody>
      </p:sp>
      <p:sp>
        <p:nvSpPr>
          <p:cNvPr id="29" name="fx4_5_18"/>
          <p:cNvSpPr/>
          <p:nvPr/>
        </p:nvSpPr>
        <p:spPr>
          <a:xfrm>
            <a:off x="2523744" y="46268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«Всего один тап»</a:t>
            </a:r>
            <a:endParaRPr lang="en-US" sz="1130" dirty="0"/>
          </a:p>
        </p:txBody>
      </p:sp>
      <p:sp>
        <p:nvSpPr>
          <p:cNvPr id="30" name="fx4_5_19"/>
          <p:cNvSpPr/>
          <p:nvPr/>
        </p:nvSpPr>
        <p:spPr>
          <a:xfrm>
            <a:off x="2523744" y="4864608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сохранённая карта · автозаполнение</a:t>
            </a:r>
            <a:endParaRPr lang="en-US" sz="960" dirty="0"/>
          </a:p>
        </p:txBody>
      </p:sp>
      <p:sp>
        <p:nvSpPr>
          <p:cNvPr id="31" name="fx4_6_20"/>
          <p:cNvSpPr/>
          <p:nvPr/>
        </p:nvSpPr>
        <p:spPr>
          <a:xfrm>
            <a:off x="694944" y="5468112"/>
            <a:ext cx="6236208" cy="393192"/>
          </a:xfrm>
          <a:prstGeom prst="roundRect">
            <a:avLst>
              <a:gd name="adj" fmla="val 17442"/>
            </a:avLst>
          </a:prstGeom>
          <a:solidFill>
            <a:srgbClr val="152435">
              <a:alpha val="96000"/>
            </a:srgbClr>
          </a:solidFill>
          <a:ln w="10160">
            <a:solidFill>
              <a:srgbClr val="8EB9F4">
                <a:alpha val="17000"/>
              </a:srgbClr>
            </a:solidFill>
            <a:prstDash val="solid"/>
          </a:ln>
        </p:spPr>
      </p:sp>
      <p:sp>
        <p:nvSpPr>
          <p:cNvPr id="32" name="fx4_6_21"/>
          <p:cNvSpPr/>
          <p:nvPr/>
        </p:nvSpPr>
        <p:spPr>
          <a:xfrm>
            <a:off x="859536" y="5577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40" b="1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в литературе — не доказательство причинности для нашей выборки.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694944" y="598017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Anoop &amp; Rahman (2025); Przybylski et al. (2013); Gibbons &amp; Buunk (1999). [4]–[6]</a:t>
            </a:r>
            <a:endParaRPr lang="en-US" sz="850" dirty="0"/>
          </a:p>
        </p:txBody>
      </p:sp>
      <p:pic>
        <p:nvPicPr>
          <p:cNvPr id="34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199339"/>
            <a:ext cx="5709514" cy="5709514"/>
          </a:xfrm>
          <a:prstGeom prst="rect">
            <a:avLst/>
          </a:prstGeom>
        </p:spPr>
      </p:pic>
      <p:sp>
        <p:nvSpPr>
          <p:cNvPr id="35" name="!!ring1"/>
          <p:cNvSpPr/>
          <p:nvPr/>
        </p:nvSpPr>
        <p:spPr>
          <a:xfrm>
            <a:off x="7506492" y="1096548"/>
            <a:ext cx="3915095" cy="3915095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36" name="!!ring2"/>
          <p:cNvSpPr/>
          <p:nvPr/>
        </p:nvSpPr>
        <p:spPr>
          <a:xfrm>
            <a:off x="6976323" y="566379"/>
            <a:ext cx="4975433" cy="4975433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37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533" y="4002283"/>
            <a:ext cx="3181015" cy="79525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triggers">
                <a:extLst>
                  <a:ext uri="{FF2B5EF4-FFF2-40B4-BE49-F238E27FC236}">
                    <a16:creationId xmlns:a16="http://schemas.microsoft.com/office/drawing/2014/main" id="{A3C3DC1A-CC53-C6DE-B432-382F729D67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24928" y="1014984"/>
              <a:ext cx="4078224" cy="4078224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4078224" cy="4078224"/>
                    </a:xfrm>
                    <a:prstGeom prst="rect">
                      <a:avLst/>
                    </a:prstGeom>
                  </am3d:spPr>
                  <am3d:camera>
                    <am3d:pos x="0" y="0" z="5875513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23834" d="1000000"/>
                    <am3d:preTrans dx="9429" dy="-707176" dz="-1697224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3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7822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triggers">
                <a:extLst>
                  <a:ext uri="{FF2B5EF4-FFF2-40B4-BE49-F238E27FC236}">
                    <a16:creationId xmlns:a16="http://schemas.microsoft.com/office/drawing/2014/main" id="{A3C3DC1A-CC53-C6DE-B432-382F729D67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4928" y="1014984"/>
                <a:ext cx="4078224" cy="4078224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fx4_8_22"/>
          <p:cNvSpPr/>
          <p:nvPr/>
        </p:nvSpPr>
        <p:spPr>
          <a:xfrm>
            <a:off x="7338060" y="518464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и три пульсирующих сигнала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· социальное одобрение · срочность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cycle">
                <a:extLst>
                  <a:ext uri="{FF2B5EF4-FFF2-40B4-BE49-F238E27FC236}">
                    <a16:creationId xmlns:a16="http://schemas.microsoft.com/office/drawing/2014/main" id="{FC1E720E-5228-897E-72D5-77B9CA82F87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90872" y="1344168"/>
              <a:ext cx="4096512" cy="4096512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85017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1118" d="1000000"/>
                    <am3d:preTrans dx="1" dy="-894410" dz="-1453417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55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cycle">
                <a:extLst>
                  <a:ext uri="{FF2B5EF4-FFF2-40B4-BE49-F238E27FC236}">
                    <a16:creationId xmlns:a16="http://schemas.microsoft.com/office/drawing/2014/main" id="{FC1E720E-5228-897E-72D5-77B9CA82F8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90872" y="1344168"/>
                <a:ext cx="4096512" cy="4096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scale">
                <a:extLst>
                  <a:ext uri="{FF2B5EF4-FFF2-40B4-BE49-F238E27FC236}">
                    <a16:creationId xmlns:a16="http://schemas.microsoft.com/office/drawing/2014/main" id="{98CA64FB-925F-2F1F-B642-1B2BD2C8B6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44168"/>
              <a:ext cx="4096512" cy="4096512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09677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1716" d="1000000"/>
                    <am3d:preTrans dx="0" dy="47929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scale">
                <a:extLst>
                  <a:ext uri="{FF2B5EF4-FFF2-40B4-BE49-F238E27FC236}">
                    <a16:creationId xmlns:a16="http://schemas.microsoft.com/office/drawing/2014/main" id="{98CA64FB-925F-2F1F-B642-1B2BD2C8B6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44168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4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5404104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ПРОЕКТА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75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гипотезы — и ни одной заранее доказанной</a:t>
            </a:r>
            <a:endParaRPr lang="en-US" sz="2750" dirty="0"/>
          </a:p>
        </p:txBody>
      </p:sp>
      <p:sp>
        <p:nvSpPr>
          <p:cNvPr id="11" name="fx5_2_0"/>
          <p:cNvSpPr/>
          <p:nvPr/>
        </p:nvSpPr>
        <p:spPr>
          <a:xfrm>
            <a:off x="694944" y="2176272"/>
            <a:ext cx="6236208" cy="804672"/>
          </a:xfrm>
          <a:prstGeom prst="roundRect">
            <a:avLst>
              <a:gd name="adj" fmla="val 8523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FF8272">
                <a:alpha val="33000"/>
              </a:srgbClr>
            </a:solidFill>
            <a:prstDash val="solid"/>
          </a:ln>
        </p:spPr>
      </p:sp>
      <p:sp>
        <p:nvSpPr>
          <p:cNvPr id="12" name="fx5_2_1"/>
          <p:cNvSpPr/>
          <p:nvPr/>
        </p:nvSpPr>
        <p:spPr>
          <a:xfrm>
            <a:off x="877824" y="23591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82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900" dirty="0"/>
          </a:p>
        </p:txBody>
      </p:sp>
      <p:sp>
        <p:nvSpPr>
          <p:cNvPr id="13" name="fx5_2_2"/>
          <p:cNvSpPr/>
          <p:nvPr/>
        </p:nvSpPr>
        <p:spPr>
          <a:xfrm>
            <a:off x="1563624" y="231343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↔ незапланированные покупки</a:t>
            </a:r>
            <a:endParaRPr lang="en-US" sz="1200" dirty="0"/>
          </a:p>
        </p:txBody>
      </p:sp>
      <p:sp>
        <p:nvSpPr>
          <p:cNvPr id="14" name="fx5_2_3"/>
          <p:cNvSpPr/>
          <p:nvPr/>
        </p:nvSpPr>
        <p:spPr>
          <a:xfrm>
            <a:off x="1563624" y="2606040"/>
            <a:ext cx="5102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высокий FoMO связан с большей частотой незапланированных покупок / оплаты частями.</a:t>
            </a:r>
            <a:endParaRPr lang="en-US" sz="1000" dirty="0"/>
          </a:p>
        </p:txBody>
      </p:sp>
      <p:sp>
        <p:nvSpPr>
          <p:cNvPr id="15" name="fx5_3_4"/>
          <p:cNvSpPr/>
          <p:nvPr/>
        </p:nvSpPr>
        <p:spPr>
          <a:xfrm>
            <a:off x="694944" y="3127248"/>
            <a:ext cx="6236208" cy="804672"/>
          </a:xfrm>
          <a:prstGeom prst="roundRect">
            <a:avLst>
              <a:gd name="adj" fmla="val 8523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8EB9F4">
                <a:alpha val="33000"/>
              </a:srgbClr>
            </a:solidFill>
            <a:prstDash val="solid"/>
          </a:ln>
        </p:spPr>
      </p:sp>
      <p:sp>
        <p:nvSpPr>
          <p:cNvPr id="16" name="fx5_3_5"/>
          <p:cNvSpPr/>
          <p:nvPr/>
        </p:nvSpPr>
        <p:spPr>
          <a:xfrm>
            <a:off x="877824" y="33101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8EB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900" dirty="0"/>
          </a:p>
        </p:txBody>
      </p:sp>
      <p:sp>
        <p:nvSpPr>
          <p:cNvPr id="17" name="fx5_3_6"/>
          <p:cNvSpPr/>
          <p:nvPr/>
        </p:nvSpPr>
        <p:spPr>
          <a:xfrm>
            <a:off x="1563624" y="326440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Социальное сравнение ↔ статусные траты</a:t>
            </a:r>
            <a:endParaRPr lang="en-US" sz="1200" dirty="0"/>
          </a:p>
        </p:txBody>
      </p:sp>
      <p:sp>
        <p:nvSpPr>
          <p:cNvPr id="18" name="fx5_3_7"/>
          <p:cNvSpPr/>
          <p:nvPr/>
        </p:nvSpPr>
        <p:spPr>
          <a:xfrm>
            <a:off x="1563624" y="3557016"/>
            <a:ext cx="5102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Склонность сравнивать себя с другими связана с более частыми покупками «как у всех».</a:t>
            </a:r>
            <a:endParaRPr lang="en-US" sz="1000" dirty="0"/>
          </a:p>
        </p:txBody>
      </p:sp>
      <p:sp>
        <p:nvSpPr>
          <p:cNvPr id="19" name="fx5_4_8"/>
          <p:cNvSpPr/>
          <p:nvPr/>
        </p:nvSpPr>
        <p:spPr>
          <a:xfrm>
            <a:off x="694944" y="4078224"/>
            <a:ext cx="6236208" cy="804672"/>
          </a:xfrm>
          <a:prstGeom prst="roundRect">
            <a:avLst>
              <a:gd name="adj" fmla="val 8523"/>
            </a:avLst>
          </a:prstGeom>
          <a:solidFill>
            <a:srgbClr val="172723">
              <a:alpha val="96000"/>
            </a:srgbClr>
          </a:solidFill>
          <a:ln w="10160">
            <a:solidFill>
              <a:srgbClr val="76D6C5">
                <a:alpha val="33000"/>
              </a:srgbClr>
            </a:solidFill>
            <a:prstDash val="solid"/>
          </a:ln>
        </p:spPr>
      </p:sp>
      <p:sp>
        <p:nvSpPr>
          <p:cNvPr id="20" name="fx5_4_9"/>
          <p:cNvSpPr/>
          <p:nvPr/>
        </p:nvSpPr>
        <p:spPr>
          <a:xfrm>
            <a:off x="877824" y="42611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900" dirty="0"/>
          </a:p>
        </p:txBody>
      </p:sp>
      <p:sp>
        <p:nvSpPr>
          <p:cNvPr id="21" name="fx5_4_10"/>
          <p:cNvSpPr/>
          <p:nvPr/>
        </p:nvSpPr>
        <p:spPr>
          <a:xfrm>
            <a:off x="1563624" y="42153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знания ↔ импульсивность</a:t>
            </a:r>
            <a:endParaRPr lang="en-US" sz="1200" dirty="0"/>
          </a:p>
        </p:txBody>
      </p:sp>
      <p:sp>
        <p:nvSpPr>
          <p:cNvPr id="22" name="fx5_4_11"/>
          <p:cNvSpPr/>
          <p:nvPr/>
        </p:nvSpPr>
        <p:spPr>
          <a:xfrm>
            <a:off x="1563624" y="4507992"/>
            <a:ext cx="5102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связь; не предполагаем, что одни знания полностью снимают влияние эмоций.</a:t>
            </a:r>
            <a:endParaRPr lang="en-US" sz="1000" dirty="0"/>
          </a:p>
        </p:txBody>
      </p:sp>
      <p:sp>
        <p:nvSpPr>
          <p:cNvPr id="23" name="fx5_5_12"/>
          <p:cNvSpPr/>
          <p:nvPr/>
        </p:nvSpPr>
        <p:spPr>
          <a:xfrm>
            <a:off x="694944" y="5230368"/>
            <a:ext cx="6236208" cy="493776"/>
          </a:xfrm>
          <a:prstGeom prst="roundRect">
            <a:avLst>
              <a:gd name="adj" fmla="val 13889"/>
            </a:avLst>
          </a:prstGeom>
          <a:solidFill>
            <a:srgbClr val="261F18">
              <a:alpha val="96000"/>
            </a:srgbClr>
          </a:solidFill>
          <a:ln w="10160">
            <a:solidFill>
              <a:srgbClr val="EABF72">
                <a:alpha val="37000"/>
              </a:srgbClr>
            </a:solidFill>
            <a:prstDash val="solid"/>
          </a:ln>
        </p:spPr>
      </p:sp>
      <p:sp>
        <p:nvSpPr>
          <p:cNvPr id="24" name="fx5_5_13"/>
          <p:cNvSpPr/>
          <p:nvPr/>
        </p:nvSpPr>
        <p:spPr>
          <a:xfrm>
            <a:off x="877824" y="5376672"/>
            <a:ext cx="5843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1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H1–H3 — проверяемые предположения. Никакой связи пока не измеряли.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694944" y="59436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Шкалы FoMO и социального сравнения: первоисточники [5], [6]. Финансовая грамотность: [7].</a:t>
            </a:r>
            <a:endParaRPr lang="en-US" sz="850" dirty="0"/>
          </a:p>
        </p:txBody>
      </p:sp>
      <p:pic>
        <p:nvPicPr>
          <p:cNvPr id="26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04826"/>
            <a:ext cx="5735117" cy="5735117"/>
          </a:xfrm>
          <a:prstGeom prst="rect">
            <a:avLst/>
          </a:prstGeom>
        </p:spPr>
      </p:pic>
      <p:sp>
        <p:nvSpPr>
          <p:cNvPr id="27" name="!!ring1"/>
          <p:cNvSpPr/>
          <p:nvPr/>
        </p:nvSpPr>
        <p:spPr>
          <a:xfrm>
            <a:off x="7488570" y="1106058"/>
            <a:ext cx="3932652" cy="393265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28" name="!!ring2"/>
          <p:cNvSpPr/>
          <p:nvPr/>
        </p:nvSpPr>
        <p:spPr>
          <a:xfrm>
            <a:off x="6956024" y="573512"/>
            <a:ext cx="4997745" cy="4997745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29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256" y="4024823"/>
            <a:ext cx="3195279" cy="7988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!!m-scale">
                <a:extLst>
                  <a:ext uri="{FF2B5EF4-FFF2-40B4-BE49-F238E27FC236}">
                    <a16:creationId xmlns:a16="http://schemas.microsoft.com/office/drawing/2014/main" id="{927E6E88-CBD5-3A07-0D7F-4380D7B7C0A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1024128"/>
              <a:ext cx="4096512" cy="4096512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09677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1716" d="1000000"/>
                    <am3d:preTrans dx="0" dy="47929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!!m-scale">
                <a:extLst>
                  <a:ext uri="{FF2B5EF4-FFF2-40B4-BE49-F238E27FC236}">
                    <a16:creationId xmlns:a16="http://schemas.microsoft.com/office/drawing/2014/main" id="{927E6E88-CBD5-3A07-0D7F-4380D7B7C0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6640" y="1024128"/>
                <a:ext cx="4096512" cy="4096512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fx5_8_14"/>
          <p:cNvSpPr/>
          <p:nvPr/>
        </p:nvSpPr>
        <p:spPr>
          <a:xfrm>
            <a:off x="7306056" y="5212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Весы мягко колеблются — баланс не предрешён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может подтвердиться, ослабнуть или не подтвердиться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triggers">
                <a:extLst>
                  <a:ext uri="{FF2B5EF4-FFF2-40B4-BE49-F238E27FC236}">
                    <a16:creationId xmlns:a16="http://schemas.microsoft.com/office/drawing/2014/main" id="{3668D81B-8C41-5FC8-6903-5129A9D0C91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72584" y="1335024"/>
              <a:ext cx="4078224" cy="4078224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4078224" cy="4078224"/>
                    </a:xfrm>
                    <a:prstGeom prst="rect">
                      <a:avLst/>
                    </a:prstGeom>
                  </am3d:spPr>
                  <am3d:camera>
                    <am3d:pos x="0" y="0" z="5875513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23834" d="1000000"/>
                    <am3d:preTrans dx="9429" dy="-707176" dz="-1697224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57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7822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triggers">
                <a:extLst>
                  <a:ext uri="{FF2B5EF4-FFF2-40B4-BE49-F238E27FC236}">
                    <a16:creationId xmlns:a16="http://schemas.microsoft.com/office/drawing/2014/main" id="{3668D81B-8C41-5FC8-6903-5129A9D0C9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72584" y="1335024"/>
                <a:ext cx="4078224" cy="4078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lipboard">
                <a:extLst>
                  <a:ext uri="{FF2B5EF4-FFF2-40B4-BE49-F238E27FC236}">
                    <a16:creationId xmlns:a16="http://schemas.microsoft.com/office/drawing/2014/main" id="{5548C95C-24BE-C7AC-618D-EBF12C23160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25880"/>
              <a:ext cx="4096512" cy="4096512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22522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-2985701" dy="0" dz="-1944444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08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lipboard">
                <a:extLst>
                  <a:ext uri="{FF2B5EF4-FFF2-40B4-BE49-F238E27FC236}">
                    <a16:creationId xmlns:a16="http://schemas.microsoft.com/office/drawing/2014/main" id="{5548C95C-24BE-C7AC-618D-EBF12C2316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6484925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ИССЛЕДОВАНИЯ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9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Опрос: студенты 18–25 лет, анонимно</a:t>
            </a:r>
            <a:endParaRPr lang="en-US" sz="2900" dirty="0"/>
          </a:p>
        </p:txBody>
      </p:sp>
      <p:sp>
        <p:nvSpPr>
          <p:cNvPr id="11" name="fx6_2_0"/>
          <p:cNvSpPr/>
          <p:nvPr/>
        </p:nvSpPr>
        <p:spPr>
          <a:xfrm>
            <a:off x="694944" y="2084832"/>
            <a:ext cx="6236208" cy="640080"/>
          </a:xfrm>
          <a:prstGeom prst="roundRect">
            <a:avLst>
              <a:gd name="adj" fmla="val 10714"/>
            </a:avLst>
          </a:prstGeom>
          <a:solidFill>
            <a:srgbClr val="1A2A42">
              <a:alpha val="96000"/>
            </a:srgbClr>
          </a:solidFill>
          <a:ln w="10160">
            <a:solidFill>
              <a:srgbClr val="76D6C5">
                <a:alpha val="40000"/>
              </a:srgbClr>
            </a:solidFill>
            <a:prstDash val="solid"/>
          </a:ln>
        </p:spPr>
      </p:sp>
      <p:sp>
        <p:nvSpPr>
          <p:cNvPr id="12" name="fx6_2_1"/>
          <p:cNvSpPr/>
          <p:nvPr/>
        </p:nvSpPr>
        <p:spPr>
          <a:xfrm>
            <a:off x="896112" y="222199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≥ 50</a:t>
            </a:r>
            <a:endParaRPr lang="en-US" sz="2200" dirty="0"/>
          </a:p>
        </p:txBody>
      </p:sp>
      <p:sp>
        <p:nvSpPr>
          <p:cNvPr id="13" name="fx6_2_2"/>
          <p:cNvSpPr/>
          <p:nvPr/>
        </p:nvSpPr>
        <p:spPr>
          <a:xfrm>
            <a:off x="2322576" y="2258568"/>
            <a:ext cx="4352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пилотная удобная выборка · результат не представляет всех студентов</a:t>
            </a:r>
            <a:endParaRPr lang="en-US" sz="1060" dirty="0"/>
          </a:p>
        </p:txBody>
      </p:sp>
      <p:sp>
        <p:nvSpPr>
          <p:cNvPr id="14" name="fx6_3_3"/>
          <p:cNvSpPr/>
          <p:nvPr/>
        </p:nvSpPr>
        <p:spPr>
          <a:xfrm>
            <a:off x="694944" y="2953512"/>
            <a:ext cx="6236208" cy="594360"/>
          </a:xfrm>
          <a:prstGeom prst="roundRect">
            <a:avLst>
              <a:gd name="adj" fmla="val 11538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50647A">
                <a:alpha val="25000"/>
              </a:srgbClr>
            </a:solidFill>
            <a:prstDash val="solid"/>
          </a:ln>
        </p:spPr>
      </p:sp>
      <p:sp>
        <p:nvSpPr>
          <p:cNvPr id="15" name="fx6_3_4"/>
          <p:cNvSpPr/>
          <p:nvPr/>
        </p:nvSpPr>
        <p:spPr>
          <a:xfrm>
            <a:off x="859536" y="30998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fx6_3_5"/>
          <p:cNvSpPr/>
          <p:nvPr/>
        </p:nvSpPr>
        <p:spPr>
          <a:xfrm>
            <a:off x="1426464" y="3044952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</a:t>
            </a:r>
            <a:endParaRPr lang="en-US" sz="1200" dirty="0"/>
          </a:p>
        </p:txBody>
      </p:sp>
      <p:sp>
        <p:nvSpPr>
          <p:cNvPr id="17" name="fx6_3_6"/>
          <p:cNvSpPr/>
          <p:nvPr/>
        </p:nvSpPr>
        <p:spPr>
          <a:xfrm>
            <a:off x="1426464" y="3300984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совершеннолетние студенты 18–25 лет</a:t>
            </a:r>
            <a:endParaRPr lang="en-US" sz="970" dirty="0"/>
          </a:p>
        </p:txBody>
      </p:sp>
      <p:sp>
        <p:nvSpPr>
          <p:cNvPr id="18" name="fx6_4_7"/>
          <p:cNvSpPr/>
          <p:nvPr/>
        </p:nvSpPr>
        <p:spPr>
          <a:xfrm>
            <a:off x="694944" y="3675888"/>
            <a:ext cx="6236208" cy="594360"/>
          </a:xfrm>
          <a:prstGeom prst="roundRect">
            <a:avLst>
              <a:gd name="adj" fmla="val 11538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50647A">
                <a:alpha val="25000"/>
              </a:srgbClr>
            </a:solidFill>
            <a:prstDash val="solid"/>
          </a:ln>
        </p:spPr>
      </p:sp>
      <p:sp>
        <p:nvSpPr>
          <p:cNvPr id="19" name="fx6_4_8"/>
          <p:cNvSpPr/>
          <p:nvPr/>
        </p:nvSpPr>
        <p:spPr>
          <a:xfrm>
            <a:off x="859536" y="38221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fx6_4_9"/>
          <p:cNvSpPr/>
          <p:nvPr/>
        </p:nvSpPr>
        <p:spPr>
          <a:xfrm>
            <a:off x="1426464" y="376732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спросить</a:t>
            </a:r>
            <a:endParaRPr lang="en-US" sz="1200" dirty="0"/>
          </a:p>
        </p:txBody>
      </p:sp>
      <p:sp>
        <p:nvSpPr>
          <p:cNvPr id="21" name="fx6_4_10"/>
          <p:cNvSpPr/>
          <p:nvPr/>
        </p:nvSpPr>
        <p:spPr>
          <a:xfrm>
            <a:off x="1426464" y="4023360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эпизоды за 30 дней · BNPL отдельно</a:t>
            </a:r>
            <a:endParaRPr lang="en-US" sz="970" dirty="0"/>
          </a:p>
        </p:txBody>
      </p:sp>
      <p:sp>
        <p:nvSpPr>
          <p:cNvPr id="22" name="fx6_5_11"/>
          <p:cNvSpPr/>
          <p:nvPr/>
        </p:nvSpPr>
        <p:spPr>
          <a:xfrm>
            <a:off x="694944" y="4398264"/>
            <a:ext cx="6236208" cy="594360"/>
          </a:xfrm>
          <a:prstGeom prst="roundRect">
            <a:avLst>
              <a:gd name="adj" fmla="val 11538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50647A">
                <a:alpha val="25000"/>
              </a:srgbClr>
            </a:solidFill>
            <a:prstDash val="solid"/>
          </a:ln>
        </p:spPr>
      </p:sp>
      <p:sp>
        <p:nvSpPr>
          <p:cNvPr id="23" name="fx6_5_12"/>
          <p:cNvSpPr/>
          <p:nvPr/>
        </p:nvSpPr>
        <p:spPr>
          <a:xfrm>
            <a:off x="859536" y="45445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fx6_5_13"/>
          <p:cNvSpPr/>
          <p:nvPr/>
        </p:nvSpPr>
        <p:spPr>
          <a:xfrm>
            <a:off x="1426464" y="4489704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беречь данные</a:t>
            </a:r>
            <a:endParaRPr lang="en-US" sz="1200" dirty="0"/>
          </a:p>
        </p:txBody>
      </p:sp>
      <p:sp>
        <p:nvSpPr>
          <p:cNvPr id="25" name="fx6_5_14"/>
          <p:cNvSpPr/>
          <p:nvPr/>
        </p:nvSpPr>
        <p:spPr>
          <a:xfrm>
            <a:off x="1426464" y="4745736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добровольно · анонимно · минимум сведений</a:t>
            </a:r>
            <a:endParaRPr lang="en-US" sz="970" dirty="0"/>
          </a:p>
        </p:txBody>
      </p:sp>
      <p:sp>
        <p:nvSpPr>
          <p:cNvPr id="26" name="fx6_6_15"/>
          <p:cNvSpPr/>
          <p:nvPr/>
        </p:nvSpPr>
        <p:spPr>
          <a:xfrm>
            <a:off x="694944" y="5266944"/>
            <a:ext cx="6236208" cy="539496"/>
          </a:xfrm>
          <a:prstGeom prst="roundRect">
            <a:avLst>
              <a:gd name="adj" fmla="val 12712"/>
            </a:avLst>
          </a:prstGeom>
          <a:solidFill>
            <a:srgbClr val="152435">
              <a:alpha val="96000"/>
            </a:srgbClr>
          </a:solidFill>
          <a:ln w="10160">
            <a:solidFill>
              <a:srgbClr val="8EB9F4">
                <a:alpha val="20000"/>
              </a:srgbClr>
            </a:solidFill>
            <a:prstDash val="solid"/>
          </a:ln>
        </p:spPr>
      </p:sp>
      <p:sp>
        <p:nvSpPr>
          <p:cNvPr id="27" name="fx6_6_16"/>
          <p:cNvSpPr/>
          <p:nvPr/>
        </p:nvSpPr>
        <p:spPr>
          <a:xfrm>
            <a:off x="877824" y="54041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0" b="1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Измерения: FoMO · социальное сравнение · базовые финансовые знания · импульсивные покупки.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694944" y="595274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Ориентиры для измерений: [5]–[7]. Перевод и пилот шкал — до основного опроса.</a:t>
            </a:r>
            <a:endParaRPr lang="en-US" sz="850" dirty="0"/>
          </a:p>
        </p:txBody>
      </p:sp>
      <p:pic>
        <p:nvPicPr>
          <p:cNvPr id="29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482" y="186538"/>
            <a:ext cx="5735117" cy="5735117"/>
          </a:xfrm>
          <a:prstGeom prst="rect">
            <a:avLst/>
          </a:prstGeom>
        </p:spPr>
      </p:pic>
      <p:sp>
        <p:nvSpPr>
          <p:cNvPr id="30" name="!!ring1"/>
          <p:cNvSpPr/>
          <p:nvPr/>
        </p:nvSpPr>
        <p:spPr>
          <a:xfrm>
            <a:off x="7497714" y="1087770"/>
            <a:ext cx="3932652" cy="393265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31" name="!!ring2"/>
          <p:cNvSpPr/>
          <p:nvPr/>
        </p:nvSpPr>
        <p:spPr>
          <a:xfrm>
            <a:off x="6965168" y="555224"/>
            <a:ext cx="4997745" cy="4997745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32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400" y="4006535"/>
            <a:ext cx="3195279" cy="7988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lipboard">
                <a:extLst>
                  <a:ext uri="{FF2B5EF4-FFF2-40B4-BE49-F238E27FC236}">
                    <a16:creationId xmlns:a16="http://schemas.microsoft.com/office/drawing/2014/main" id="{A24B1FE0-3225-6A3F-DC9C-108D75F177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15784" y="1005840"/>
              <a:ext cx="4096512" cy="4096512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22522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-2985701" dy="0" dz="-1944444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2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08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lipboard">
                <a:extLst>
                  <a:ext uri="{FF2B5EF4-FFF2-40B4-BE49-F238E27FC236}">
                    <a16:creationId xmlns:a16="http://schemas.microsoft.com/office/drawing/2014/main" id="{A24B1FE0-3225-6A3F-DC9C-108D75F177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5784" y="1005840"/>
                <a:ext cx="4096512" cy="4096512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fx6_8_17"/>
          <p:cNvSpPr/>
          <p:nvPr/>
        </p:nvSpPr>
        <p:spPr>
          <a:xfrm>
            <a:off x="7315200" y="5193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Карандаш отмечает ответ — без имени и телефона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≥ 50 — пилот, а не репрезентативный опрос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scale">
                <a:extLst>
                  <a:ext uri="{FF2B5EF4-FFF2-40B4-BE49-F238E27FC236}">
                    <a16:creationId xmlns:a16="http://schemas.microsoft.com/office/drawing/2014/main" id="{4E9A924D-600C-CF01-534D-F6FAC865F8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90872" y="1344168"/>
              <a:ext cx="4096512" cy="4096512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09677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1716" d="1000000"/>
                    <am3d:preTrans dx="0" dy="47929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6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scale">
                <a:extLst>
                  <a:ext uri="{FF2B5EF4-FFF2-40B4-BE49-F238E27FC236}">
                    <a16:creationId xmlns:a16="http://schemas.microsoft.com/office/drawing/2014/main" id="{4E9A924D-600C-CF01-534D-F6FAC865F8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90872" y="1344168"/>
                <a:ext cx="4096512" cy="4096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chart">
                <a:extLst>
                  <a:ext uri="{FF2B5EF4-FFF2-40B4-BE49-F238E27FC236}">
                    <a16:creationId xmlns:a16="http://schemas.microsoft.com/office/drawing/2014/main" id="{E4E4A605-D214-3CAE-D3DA-EF6DB6300E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25880"/>
              <a:ext cx="4096512" cy="4096512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67034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7281" d="1000000"/>
                    <am3d:preTrans dx="-523410" dy="-291276" dz="-238846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chart">
                <a:extLst>
                  <a:ext uri="{FF2B5EF4-FFF2-40B4-BE49-F238E27FC236}">
                    <a16:creationId xmlns:a16="http://schemas.microsoft.com/office/drawing/2014/main" id="{E4E4A605-D214-3CAE-D3DA-EF6DB6300E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420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7565746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РЕЗУЛЬТАТЫ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5836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78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Статистика покажет связи — но не причинность</a:t>
            </a:r>
            <a:endParaRPr lang="en-US" sz="2780" dirty="0"/>
          </a:p>
        </p:txBody>
      </p:sp>
      <p:sp>
        <p:nvSpPr>
          <p:cNvPr id="11" name="fx7_2_0"/>
          <p:cNvSpPr/>
          <p:nvPr/>
        </p:nvSpPr>
        <p:spPr>
          <a:xfrm>
            <a:off x="694944" y="21579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82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700" dirty="0"/>
          </a:p>
        </p:txBody>
      </p:sp>
      <p:sp>
        <p:nvSpPr>
          <p:cNvPr id="12" name="fx7_2_1"/>
          <p:cNvSpPr/>
          <p:nvPr/>
        </p:nvSpPr>
        <p:spPr>
          <a:xfrm>
            <a:off x="1280160" y="21122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↔ частота незапланированных покупок</a:t>
            </a:r>
            <a:endParaRPr lang="en-US" sz="1180" dirty="0"/>
          </a:p>
        </p:txBody>
      </p:sp>
      <p:sp>
        <p:nvSpPr>
          <p:cNvPr id="13" name="fx7_2_2"/>
          <p:cNvSpPr/>
          <p:nvPr/>
        </p:nvSpPr>
        <p:spPr>
          <a:xfrm>
            <a:off x="1280160" y="23865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Спирмен · отдельно описать BNPL</a:t>
            </a:r>
            <a:endParaRPr lang="en-US" sz="960" dirty="0"/>
          </a:p>
        </p:txBody>
      </p:sp>
      <p:sp>
        <p:nvSpPr>
          <p:cNvPr id="14" name="fx7_2_3"/>
          <p:cNvSpPr/>
          <p:nvPr/>
        </p:nvSpPr>
        <p:spPr>
          <a:xfrm>
            <a:off x="1280160" y="2697480"/>
            <a:ext cx="5586984" cy="91"/>
          </a:xfrm>
          <a:prstGeom prst="line">
            <a:avLst/>
          </a:prstGeom>
          <a:noFill/>
          <a:ln w="762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15" name="fx7_3_4"/>
          <p:cNvSpPr/>
          <p:nvPr/>
        </p:nvSpPr>
        <p:spPr>
          <a:xfrm>
            <a:off x="694944" y="2852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EB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700" dirty="0"/>
          </a:p>
        </p:txBody>
      </p:sp>
      <p:sp>
        <p:nvSpPr>
          <p:cNvPr id="16" name="fx7_3_5"/>
          <p:cNvSpPr/>
          <p:nvPr/>
        </p:nvSpPr>
        <p:spPr>
          <a:xfrm>
            <a:off x="1280160" y="28072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↔ статусные / трендовые покупки</a:t>
            </a:r>
            <a:endParaRPr lang="en-US" sz="1180" dirty="0"/>
          </a:p>
        </p:txBody>
      </p:sp>
      <p:sp>
        <p:nvSpPr>
          <p:cNvPr id="17" name="fx7_3_6"/>
          <p:cNvSpPr/>
          <p:nvPr/>
        </p:nvSpPr>
        <p:spPr>
          <a:xfrm>
            <a:off x="1280160" y="3081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Спирмен · показать доверительный интервал</a:t>
            </a:r>
            <a:endParaRPr lang="en-US" sz="960" dirty="0"/>
          </a:p>
        </p:txBody>
      </p:sp>
      <p:sp>
        <p:nvSpPr>
          <p:cNvPr id="18" name="fx7_3_7"/>
          <p:cNvSpPr/>
          <p:nvPr/>
        </p:nvSpPr>
        <p:spPr>
          <a:xfrm>
            <a:off x="1280160" y="3392424"/>
            <a:ext cx="5586984" cy="91"/>
          </a:xfrm>
          <a:prstGeom prst="line">
            <a:avLst/>
          </a:prstGeom>
          <a:noFill/>
          <a:ln w="762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19" name="fx7_4_8"/>
          <p:cNvSpPr/>
          <p:nvPr/>
        </p:nvSpPr>
        <p:spPr>
          <a:xfrm>
            <a:off x="694944" y="35478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700" dirty="0"/>
          </a:p>
        </p:txBody>
      </p:sp>
      <p:sp>
        <p:nvSpPr>
          <p:cNvPr id="20" name="fx7_4_9"/>
          <p:cNvSpPr/>
          <p:nvPr/>
        </p:nvSpPr>
        <p:spPr>
          <a:xfrm>
            <a:off x="1280160" y="3502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знания ↔ импульсивность</a:t>
            </a:r>
            <a:endParaRPr lang="en-US" sz="1180" dirty="0"/>
          </a:p>
        </p:txBody>
      </p:sp>
      <p:sp>
        <p:nvSpPr>
          <p:cNvPr id="21" name="fx7_4_10"/>
          <p:cNvSpPr/>
          <p:nvPr/>
        </p:nvSpPr>
        <p:spPr>
          <a:xfrm>
            <a:off x="1280160" y="3776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Исследовательская связь; не обещать защитный эффект</a:t>
            </a:r>
            <a:endParaRPr lang="en-US" sz="960" dirty="0"/>
          </a:p>
        </p:txBody>
      </p:sp>
      <p:sp>
        <p:nvSpPr>
          <p:cNvPr id="22" name="fx7_5_11"/>
          <p:cNvSpPr/>
          <p:nvPr/>
        </p:nvSpPr>
        <p:spPr>
          <a:xfrm>
            <a:off x="694944" y="4379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900" dirty="0"/>
          </a:p>
        </p:txBody>
      </p:sp>
      <p:sp>
        <p:nvSpPr>
          <p:cNvPr id="23" name="fx7_5_12"/>
          <p:cNvSpPr/>
          <p:nvPr/>
        </p:nvSpPr>
        <p:spPr>
          <a:xfrm>
            <a:off x="694944" y="4645152"/>
            <a:ext cx="1975104" cy="713232"/>
          </a:xfrm>
          <a:prstGeom prst="roundRect">
            <a:avLst>
              <a:gd name="adj" fmla="val 9615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EABF72">
                <a:alpha val="22000"/>
              </a:srgbClr>
            </a:solidFill>
            <a:prstDash val="solid"/>
          </a:ln>
        </p:spPr>
      </p:sp>
      <p:sp>
        <p:nvSpPr>
          <p:cNvPr id="24" name="fx7_5_13"/>
          <p:cNvSpPr/>
          <p:nvPr/>
        </p:nvSpPr>
        <p:spPr>
          <a:xfrm>
            <a:off x="813816" y="4773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удобная выборка</a:t>
            </a:r>
            <a:endParaRPr lang="en-US" sz="1020" dirty="0"/>
          </a:p>
        </p:txBody>
      </p:sp>
      <p:sp>
        <p:nvSpPr>
          <p:cNvPr id="25" name="fx7_5_14"/>
          <p:cNvSpPr/>
          <p:nvPr/>
        </p:nvSpPr>
        <p:spPr>
          <a:xfrm>
            <a:off x="813816" y="50292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 студенты</a:t>
            </a:r>
            <a:endParaRPr lang="en-US" sz="940" dirty="0"/>
          </a:p>
        </p:txBody>
      </p:sp>
      <p:sp>
        <p:nvSpPr>
          <p:cNvPr id="26" name="fx7_6_15"/>
          <p:cNvSpPr/>
          <p:nvPr/>
        </p:nvSpPr>
        <p:spPr>
          <a:xfrm>
            <a:off x="2798064" y="4645152"/>
            <a:ext cx="1975104" cy="713232"/>
          </a:xfrm>
          <a:prstGeom prst="roundRect">
            <a:avLst>
              <a:gd name="adj" fmla="val 9615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EABF72">
                <a:alpha val="22000"/>
              </a:srgbClr>
            </a:solidFill>
            <a:prstDash val="solid"/>
          </a:ln>
        </p:spPr>
      </p:sp>
      <p:sp>
        <p:nvSpPr>
          <p:cNvPr id="27" name="fx7_6_16"/>
          <p:cNvSpPr/>
          <p:nvPr/>
        </p:nvSpPr>
        <p:spPr>
          <a:xfrm>
            <a:off x="2916936" y="4773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самоотчёт</a:t>
            </a:r>
            <a:endParaRPr lang="en-US" sz="1020" dirty="0"/>
          </a:p>
        </p:txBody>
      </p:sp>
      <p:sp>
        <p:nvSpPr>
          <p:cNvPr id="28" name="fx7_6_17"/>
          <p:cNvSpPr/>
          <p:nvPr/>
        </p:nvSpPr>
        <p:spPr>
          <a:xfrm>
            <a:off x="2916936" y="50292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и ответы</a:t>
            </a:r>
            <a:endParaRPr lang="en-US" sz="940" dirty="0"/>
          </a:p>
        </p:txBody>
      </p:sp>
      <p:sp>
        <p:nvSpPr>
          <p:cNvPr id="29" name="fx7_7_18"/>
          <p:cNvSpPr/>
          <p:nvPr/>
        </p:nvSpPr>
        <p:spPr>
          <a:xfrm>
            <a:off x="4901184" y="4645152"/>
            <a:ext cx="1975104" cy="713232"/>
          </a:xfrm>
          <a:prstGeom prst="roundRect">
            <a:avLst>
              <a:gd name="adj" fmla="val 9615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EABF72">
                <a:alpha val="22000"/>
              </a:srgbClr>
            </a:solidFill>
            <a:prstDash val="solid"/>
          </a:ln>
        </p:spPr>
      </p:sp>
      <p:sp>
        <p:nvSpPr>
          <p:cNvPr id="30" name="fx7_7_19"/>
          <p:cNvSpPr/>
          <p:nvPr/>
        </p:nvSpPr>
        <p:spPr>
          <a:xfrm>
            <a:off x="5020056" y="4773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замер</a:t>
            </a:r>
            <a:endParaRPr lang="en-US" sz="1020" dirty="0"/>
          </a:p>
        </p:txBody>
      </p:sp>
      <p:sp>
        <p:nvSpPr>
          <p:cNvPr id="31" name="fx7_7_20"/>
          <p:cNvSpPr/>
          <p:nvPr/>
        </p:nvSpPr>
        <p:spPr>
          <a:xfrm>
            <a:off x="5020056" y="50292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причинность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694944" y="592531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будут предварительными. Нужны прозрачные метрики и описание пропусков/ограничений.</a:t>
            </a:r>
            <a:endParaRPr lang="en-US" sz="850" dirty="0"/>
          </a:p>
        </p:txBody>
      </p:sp>
      <p:pic>
        <p:nvPicPr>
          <p:cNvPr id="33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482" y="186538"/>
            <a:ext cx="5735117" cy="5735117"/>
          </a:xfrm>
          <a:prstGeom prst="rect">
            <a:avLst/>
          </a:prstGeom>
        </p:spPr>
      </p:pic>
      <p:sp>
        <p:nvSpPr>
          <p:cNvPr id="34" name="!!ring1"/>
          <p:cNvSpPr/>
          <p:nvPr/>
        </p:nvSpPr>
        <p:spPr>
          <a:xfrm>
            <a:off x="7497714" y="1087770"/>
            <a:ext cx="3932652" cy="393265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35" name="!!ring2"/>
          <p:cNvSpPr/>
          <p:nvPr/>
        </p:nvSpPr>
        <p:spPr>
          <a:xfrm>
            <a:off x="6965168" y="555224"/>
            <a:ext cx="4997745" cy="4997745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36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400" y="4006535"/>
            <a:ext cx="3195279" cy="7988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chart">
                <a:extLst>
                  <a:ext uri="{FF2B5EF4-FFF2-40B4-BE49-F238E27FC236}">
                    <a16:creationId xmlns:a16="http://schemas.microsoft.com/office/drawing/2014/main" id="{0CF82D9E-27F1-2F73-F095-4E2D044020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15784" y="1005840"/>
              <a:ext cx="4096512" cy="4096512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67034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7281" d="1000000"/>
                    <am3d:preTrans dx="-523410" dy="-291276" dz="-238846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32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chart">
                <a:extLst>
                  <a:ext uri="{FF2B5EF4-FFF2-40B4-BE49-F238E27FC236}">
                    <a16:creationId xmlns:a16="http://schemas.microsoft.com/office/drawing/2014/main" id="{0CF82D9E-27F1-2F73-F095-4E2D044020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5784" y="1005840"/>
                <a:ext cx="4096512" cy="4096512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fx7_8_21"/>
          <p:cNvSpPr/>
          <p:nvPr/>
        </p:nvSpPr>
        <p:spPr>
          <a:xfrm>
            <a:off x="7315200" y="5193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показателя и лупа: ищем связь, не причину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Пилотные данные требуют осторожной интерпретации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lipboard">
                <a:extLst>
                  <a:ext uri="{FF2B5EF4-FFF2-40B4-BE49-F238E27FC236}">
                    <a16:creationId xmlns:a16="http://schemas.microsoft.com/office/drawing/2014/main" id="{EAE33456-9A50-6DA8-C8B0-7646163DAB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90872" y="1325880"/>
              <a:ext cx="4096512" cy="4096512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22522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-2985701" dy="0" dz="-1944444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55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08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lipboard">
                <a:extLst>
                  <a:ext uri="{FF2B5EF4-FFF2-40B4-BE49-F238E27FC236}">
                    <a16:creationId xmlns:a16="http://schemas.microsoft.com/office/drawing/2014/main" id="{EAE33456-9A50-6DA8-C8B0-7646163DAB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90872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hourglass">
                <a:extLst>
                  <a:ext uri="{FF2B5EF4-FFF2-40B4-BE49-F238E27FC236}">
                    <a16:creationId xmlns:a16="http://schemas.microsoft.com/office/drawing/2014/main" id="{65F9BEDC-C09A-97CB-5397-A861CEF94D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25880"/>
              <a:ext cx="4096512" cy="4096512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10621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09756" d="1000000"/>
                    <am3d:preTrans dx="0" dy="-43902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hourglass">
                <a:extLst>
                  <a:ext uri="{FF2B5EF4-FFF2-40B4-BE49-F238E27FC236}">
                    <a16:creationId xmlns:a16="http://schemas.microsoft.com/office/drawing/2014/main" id="{65F9BEDC-C09A-97CB-5397-A861CEF94D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4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8646566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 ПРОЕКТА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9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Памятка: пауза, проверка, выбор</a:t>
            </a:r>
            <a:endParaRPr lang="en-US" sz="2900" dirty="0"/>
          </a:p>
        </p:txBody>
      </p:sp>
      <p:sp>
        <p:nvSpPr>
          <p:cNvPr id="11" name="fx8_2_0"/>
          <p:cNvSpPr/>
          <p:nvPr/>
        </p:nvSpPr>
        <p:spPr>
          <a:xfrm>
            <a:off x="694944" y="2148840"/>
            <a:ext cx="6236208" cy="813816"/>
          </a:xfrm>
          <a:prstGeom prst="roundRect">
            <a:avLst>
              <a:gd name="adj" fmla="val 8427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76D6C5">
                <a:alpha val="27000"/>
              </a:srgbClr>
            </a:solidFill>
            <a:prstDash val="solid"/>
          </a:ln>
        </p:spPr>
      </p:sp>
      <p:sp>
        <p:nvSpPr>
          <p:cNvPr id="12" name="fx8_2_1"/>
          <p:cNvSpPr/>
          <p:nvPr/>
        </p:nvSpPr>
        <p:spPr>
          <a:xfrm>
            <a:off x="859536" y="2322576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6D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fx8_2_2"/>
          <p:cNvSpPr/>
          <p:nvPr/>
        </p:nvSpPr>
        <p:spPr>
          <a:xfrm>
            <a:off x="1527048" y="2295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</a:t>
            </a:r>
            <a:endParaRPr lang="en-US" sz="1240" dirty="0"/>
          </a:p>
        </p:txBody>
      </p:sp>
      <p:sp>
        <p:nvSpPr>
          <p:cNvPr id="14" name="fx8_2_3"/>
          <p:cNvSpPr/>
          <p:nvPr/>
        </p:nvSpPr>
        <p:spPr>
          <a:xfrm>
            <a:off x="2752344" y="229514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Отложи необязательную покупку до завтра — особенно при таймере.</a:t>
            </a:r>
            <a:endParaRPr lang="en-US" sz="1050" dirty="0"/>
          </a:p>
        </p:txBody>
      </p:sp>
      <p:sp>
        <p:nvSpPr>
          <p:cNvPr id="15" name="fx8_3_4"/>
          <p:cNvSpPr/>
          <p:nvPr/>
        </p:nvSpPr>
        <p:spPr>
          <a:xfrm>
            <a:off x="694944" y="3090672"/>
            <a:ext cx="6236208" cy="813816"/>
          </a:xfrm>
          <a:prstGeom prst="roundRect">
            <a:avLst>
              <a:gd name="adj" fmla="val 8427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EABF72">
                <a:alpha val="27000"/>
              </a:srgbClr>
            </a:solidFill>
            <a:prstDash val="solid"/>
          </a:ln>
        </p:spPr>
      </p:sp>
      <p:sp>
        <p:nvSpPr>
          <p:cNvPr id="16" name="fx8_3_5"/>
          <p:cNvSpPr/>
          <p:nvPr/>
        </p:nvSpPr>
        <p:spPr>
          <a:xfrm>
            <a:off x="859536" y="3264408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AB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fx8_3_6"/>
          <p:cNvSpPr/>
          <p:nvPr/>
        </p:nvSpPr>
        <p:spPr>
          <a:xfrm>
            <a:off x="1527048" y="3236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18" name="fx8_3_7"/>
          <p:cNvSpPr/>
          <p:nvPr/>
        </p:nvSpPr>
        <p:spPr>
          <a:xfrm>
            <a:off x="2752344" y="3236976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ли вещь без скидки? Какова полная цена? Сколько платежей уже в месяце?</a:t>
            </a:r>
            <a:endParaRPr lang="en-US" sz="1050" dirty="0"/>
          </a:p>
        </p:txBody>
      </p:sp>
      <p:sp>
        <p:nvSpPr>
          <p:cNvPr id="19" name="fx8_4_8"/>
          <p:cNvSpPr/>
          <p:nvPr/>
        </p:nvSpPr>
        <p:spPr>
          <a:xfrm>
            <a:off x="694944" y="4032504"/>
            <a:ext cx="6236208" cy="813816"/>
          </a:xfrm>
          <a:prstGeom prst="roundRect">
            <a:avLst>
              <a:gd name="adj" fmla="val 8427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8EB9F4">
                <a:alpha val="27000"/>
              </a:srgbClr>
            </a:solidFill>
            <a:prstDash val="solid"/>
          </a:ln>
        </p:spPr>
      </p:sp>
      <p:sp>
        <p:nvSpPr>
          <p:cNvPr id="20" name="fx8_4_9"/>
          <p:cNvSpPr/>
          <p:nvPr/>
        </p:nvSpPr>
        <p:spPr>
          <a:xfrm>
            <a:off x="859536" y="4206240"/>
            <a:ext cx="539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EB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fx8_4_10"/>
          <p:cNvSpPr/>
          <p:nvPr/>
        </p:nvSpPr>
        <p:spPr>
          <a:xfrm>
            <a:off x="1527048" y="4178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Трение</a:t>
            </a:r>
            <a:endParaRPr lang="en-US" sz="1240" dirty="0"/>
          </a:p>
        </p:txBody>
      </p:sp>
      <p:sp>
        <p:nvSpPr>
          <p:cNvPr id="22" name="fx8_4_11"/>
          <p:cNvSpPr/>
          <p:nvPr/>
        </p:nvSpPr>
        <p:spPr>
          <a:xfrm>
            <a:off x="2752344" y="417880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Отключи лишние уведомления; убери сохранённую карту; вернись к корзине позже.</a:t>
            </a:r>
            <a:endParaRPr lang="en-US" sz="1050" dirty="0"/>
          </a:p>
        </p:txBody>
      </p:sp>
      <p:sp>
        <p:nvSpPr>
          <p:cNvPr id="23" name="fx8_5_12"/>
          <p:cNvSpPr/>
          <p:nvPr/>
        </p:nvSpPr>
        <p:spPr>
          <a:xfrm>
            <a:off x="694944" y="5175504"/>
            <a:ext cx="6236208" cy="576072"/>
          </a:xfrm>
          <a:prstGeom prst="roundRect">
            <a:avLst>
              <a:gd name="adj" fmla="val 11905"/>
            </a:avLst>
          </a:prstGeom>
          <a:solidFill>
            <a:srgbClr val="261F18">
              <a:alpha val="96000"/>
            </a:srgbClr>
          </a:solidFill>
          <a:ln w="10160">
            <a:solidFill>
              <a:srgbClr val="EABF72">
                <a:alpha val="42000"/>
              </a:srgbClr>
            </a:solidFill>
            <a:prstDash val="solid"/>
          </a:ln>
        </p:spPr>
      </p:sp>
      <p:sp>
        <p:nvSpPr>
          <p:cNvPr id="24" name="fx8_5_13"/>
          <p:cNvSpPr/>
          <p:nvPr/>
        </p:nvSpPr>
        <p:spPr>
          <a:xfrm>
            <a:off x="877824" y="5340096"/>
            <a:ext cx="5861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частями меняет график платежа, но не уменьшает полную стоимость покупки.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4944" y="595274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для самопроверки, не медицинская рекомендация и не обещание эффекта.</a:t>
            </a:r>
            <a:endParaRPr lang="en-US" sz="850" dirty="0"/>
          </a:p>
        </p:txBody>
      </p:sp>
      <p:pic>
        <p:nvPicPr>
          <p:cNvPr id="26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86538"/>
            <a:ext cx="5735117" cy="5735117"/>
          </a:xfrm>
          <a:prstGeom prst="rect">
            <a:avLst/>
          </a:prstGeom>
        </p:spPr>
      </p:pic>
      <p:sp>
        <p:nvSpPr>
          <p:cNvPr id="27" name="!!ring1"/>
          <p:cNvSpPr/>
          <p:nvPr/>
        </p:nvSpPr>
        <p:spPr>
          <a:xfrm>
            <a:off x="7488570" y="1087770"/>
            <a:ext cx="3932652" cy="393265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28" name="!!ring2"/>
          <p:cNvSpPr/>
          <p:nvPr/>
        </p:nvSpPr>
        <p:spPr>
          <a:xfrm>
            <a:off x="6956024" y="555224"/>
            <a:ext cx="4997745" cy="4997745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29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256" y="4006535"/>
            <a:ext cx="3195279" cy="7988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!!m-hourglass">
                <a:extLst>
                  <a:ext uri="{FF2B5EF4-FFF2-40B4-BE49-F238E27FC236}">
                    <a16:creationId xmlns:a16="http://schemas.microsoft.com/office/drawing/2014/main" id="{FB3F8E31-1E88-1CC9-99FD-BBB4755B3F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1005840"/>
              <a:ext cx="4096512" cy="4096512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10621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09756" d="1000000"/>
                    <am3d:preTrans dx="0" dy="-43902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0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!!m-hourglass">
                <a:extLst>
                  <a:ext uri="{FF2B5EF4-FFF2-40B4-BE49-F238E27FC236}">
                    <a16:creationId xmlns:a16="http://schemas.microsoft.com/office/drawing/2014/main" id="{FB3F8E31-1E88-1CC9-99FD-BBB4755B3F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6640" y="1005840"/>
                <a:ext cx="4096512" cy="4096512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fx8_8_14"/>
          <p:cNvSpPr/>
          <p:nvPr/>
        </p:nvSpPr>
        <p:spPr>
          <a:xfrm>
            <a:off x="7306056" y="5193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Песчинка проходит через стекло: сначала пауза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Небольшой промежуток возвращает время на выбор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chart">
                <a:extLst>
                  <a:ext uri="{FF2B5EF4-FFF2-40B4-BE49-F238E27FC236}">
                    <a16:creationId xmlns:a16="http://schemas.microsoft.com/office/drawing/2014/main" id="{E5C00DA4-4463-4CE1-6780-DB53A7AEF2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90872" y="1325880"/>
              <a:ext cx="4096512" cy="4096512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67034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7281" d="1000000"/>
                    <am3d:preTrans dx="-523410" dy="-291276" dz="-238846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56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chart">
                <a:extLst>
                  <a:ext uri="{FF2B5EF4-FFF2-40B4-BE49-F238E27FC236}">
                    <a16:creationId xmlns:a16="http://schemas.microsoft.com/office/drawing/2014/main" id="{E5C00DA4-4463-4CE1-6780-DB53A7AEF2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90872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ompass">
                <a:extLst>
                  <a:ext uri="{FF2B5EF4-FFF2-40B4-BE49-F238E27FC236}">
                    <a16:creationId xmlns:a16="http://schemas.microsoft.com/office/drawing/2014/main" id="{46A7BBF7-67E3-F40F-1D3F-B1B5DE9A6F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25880"/>
              <a:ext cx="4096512" cy="4096512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90831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94" d="1000000"/>
                    <am3d:preTrans dx="0" dy="3212696" dz="-880349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ompass">
                <a:extLst>
                  <a:ext uri="{FF2B5EF4-FFF2-40B4-BE49-F238E27FC236}">
                    <a16:creationId xmlns:a16="http://schemas.microsoft.com/office/drawing/2014/main" id="{46A7BBF7-67E3-F40F-1D3F-B1B5DE9A6F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9727387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9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даст проект — даже если связи нет</a:t>
            </a:r>
            <a:endParaRPr lang="en-US" sz="2900" dirty="0"/>
          </a:p>
        </p:txBody>
      </p:sp>
      <p:sp>
        <p:nvSpPr>
          <p:cNvPr id="11" name="fx9_2_0"/>
          <p:cNvSpPr/>
          <p:nvPr/>
        </p:nvSpPr>
        <p:spPr>
          <a:xfrm>
            <a:off x="694944" y="2066544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6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проверить факторы, связанные с незапланированными тратами студентов, и превратить выводы в полезную памятку.</a:t>
            </a:r>
            <a:endParaRPr lang="en-US" sz="1260" dirty="0"/>
          </a:p>
        </p:txBody>
      </p:sp>
      <p:sp>
        <p:nvSpPr>
          <p:cNvPr id="12" name="fx9_3_1"/>
          <p:cNvSpPr/>
          <p:nvPr/>
        </p:nvSpPr>
        <p:spPr>
          <a:xfrm>
            <a:off x="694944" y="2834640"/>
            <a:ext cx="6236208" cy="585216"/>
          </a:xfrm>
          <a:prstGeom prst="roundRect">
            <a:avLst>
              <a:gd name="adj" fmla="val 11719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50647A">
                <a:alpha val="25000"/>
              </a:srgbClr>
            </a:solidFill>
            <a:prstDash val="solid"/>
          </a:ln>
        </p:spPr>
      </p:sp>
      <p:sp>
        <p:nvSpPr>
          <p:cNvPr id="13" name="fx9_3_2"/>
          <p:cNvSpPr/>
          <p:nvPr/>
        </p:nvSpPr>
        <p:spPr>
          <a:xfrm>
            <a:off x="868680" y="3017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fx9_3_3"/>
          <p:cNvSpPr/>
          <p:nvPr/>
        </p:nvSpPr>
        <p:spPr>
          <a:xfrm>
            <a:off x="1463040" y="295351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Измерить</a:t>
            </a:r>
            <a:endParaRPr lang="en-US" sz="1200" dirty="0"/>
          </a:p>
        </p:txBody>
      </p:sp>
      <p:sp>
        <p:nvSpPr>
          <p:cNvPr id="15" name="fx9_3_4"/>
          <p:cNvSpPr/>
          <p:nvPr/>
        </p:nvSpPr>
        <p:spPr>
          <a:xfrm>
            <a:off x="2798064" y="297180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частоту эпизодов и контекст оплаты</a:t>
            </a:r>
            <a:endParaRPr lang="en-US" sz="1020" dirty="0"/>
          </a:p>
        </p:txBody>
      </p:sp>
      <p:sp>
        <p:nvSpPr>
          <p:cNvPr id="16" name="fx9_4_5"/>
          <p:cNvSpPr/>
          <p:nvPr/>
        </p:nvSpPr>
        <p:spPr>
          <a:xfrm>
            <a:off x="694944" y="3566160"/>
            <a:ext cx="6236208" cy="585216"/>
          </a:xfrm>
          <a:prstGeom prst="roundRect">
            <a:avLst>
              <a:gd name="adj" fmla="val 11719"/>
            </a:avLst>
          </a:prstGeom>
          <a:solidFill>
            <a:srgbClr val="152238">
              <a:alpha val="96000"/>
            </a:srgbClr>
          </a:solidFill>
          <a:ln w="10160">
            <a:solidFill>
              <a:srgbClr val="50647A">
                <a:alpha val="25000"/>
              </a:srgbClr>
            </a:solidFill>
            <a:prstDash val="solid"/>
          </a:ln>
        </p:spPr>
      </p:sp>
      <p:sp>
        <p:nvSpPr>
          <p:cNvPr id="17" name="fx9_4_6"/>
          <p:cNvSpPr/>
          <p:nvPr/>
        </p:nvSpPr>
        <p:spPr>
          <a:xfrm>
            <a:off x="868680" y="37490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8E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fx9_4_7"/>
          <p:cNvSpPr/>
          <p:nvPr/>
        </p:nvSpPr>
        <p:spPr>
          <a:xfrm>
            <a:off x="1463040" y="368503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Сопоставить</a:t>
            </a:r>
            <a:endParaRPr lang="en-US" sz="1200" dirty="0"/>
          </a:p>
        </p:txBody>
      </p:sp>
      <p:sp>
        <p:nvSpPr>
          <p:cNvPr id="19" name="fx9_4_8"/>
          <p:cNvSpPr/>
          <p:nvPr/>
        </p:nvSpPr>
        <p:spPr>
          <a:xfrm>
            <a:off x="2798064" y="370332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· сравнение · знания</a:t>
            </a:r>
            <a:endParaRPr lang="en-US" sz="1020" dirty="0"/>
          </a:p>
        </p:txBody>
      </p:sp>
      <p:sp>
        <p:nvSpPr>
          <p:cNvPr id="20" name="fx9_5_9"/>
          <p:cNvSpPr/>
          <p:nvPr/>
        </p:nvSpPr>
        <p:spPr>
          <a:xfrm>
            <a:off x="694944" y="4297680"/>
            <a:ext cx="6236208" cy="585216"/>
          </a:xfrm>
          <a:prstGeom prst="roundRect">
            <a:avLst>
              <a:gd name="adj" fmla="val 11719"/>
            </a:avLst>
          </a:prstGeom>
          <a:solidFill>
            <a:srgbClr val="172723">
              <a:alpha val="96000"/>
            </a:srgbClr>
          </a:solidFill>
          <a:ln w="10160">
            <a:solidFill>
              <a:srgbClr val="76D6C5">
                <a:alpha val="25000"/>
              </a:srgbClr>
            </a:solidFill>
            <a:prstDash val="solid"/>
          </a:ln>
        </p:spPr>
      </p:sp>
      <p:sp>
        <p:nvSpPr>
          <p:cNvPr id="21" name="fx9_5_10"/>
          <p:cNvSpPr/>
          <p:nvPr/>
        </p:nvSpPr>
        <p:spPr>
          <a:xfrm>
            <a:off x="868680" y="448056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fx9_5_11"/>
          <p:cNvSpPr/>
          <p:nvPr/>
        </p:nvSpPr>
        <p:spPr>
          <a:xfrm>
            <a:off x="1463040" y="44165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</a:t>
            </a:r>
            <a:endParaRPr lang="en-US" sz="1200" dirty="0"/>
          </a:p>
        </p:txBody>
      </p:sp>
      <p:sp>
        <p:nvSpPr>
          <p:cNvPr id="23" name="fx9_5_12"/>
          <p:cNvSpPr/>
          <p:nvPr/>
        </p:nvSpPr>
        <p:spPr>
          <a:xfrm>
            <a:off x="2798064" y="443484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инструмент самопроверки</a:t>
            </a:r>
            <a:endParaRPr lang="en-US" sz="1020" dirty="0"/>
          </a:p>
        </p:txBody>
      </p:sp>
      <p:sp>
        <p:nvSpPr>
          <p:cNvPr id="24" name="fx9_6_13"/>
          <p:cNvSpPr/>
          <p:nvPr/>
        </p:nvSpPr>
        <p:spPr>
          <a:xfrm>
            <a:off x="694944" y="5239512"/>
            <a:ext cx="6236208" cy="621792"/>
          </a:xfrm>
          <a:prstGeom prst="roundRect">
            <a:avLst>
              <a:gd name="adj" fmla="val 11029"/>
            </a:avLst>
          </a:prstGeom>
          <a:solidFill>
            <a:srgbClr val="182235">
              <a:alpha val="96000"/>
            </a:srgbClr>
          </a:solidFill>
          <a:ln w="10160">
            <a:solidFill>
              <a:srgbClr val="EABF72">
                <a:alpha val="43000"/>
              </a:srgbClr>
            </a:solidFill>
            <a:prstDash val="solid"/>
          </a:ln>
        </p:spPr>
      </p:sp>
      <p:sp>
        <p:nvSpPr>
          <p:cNvPr id="25" name="fx9_6_14"/>
          <p:cNvSpPr/>
          <p:nvPr/>
        </p:nvSpPr>
        <p:spPr>
          <a:xfrm>
            <a:off x="859536" y="5394960"/>
            <a:ext cx="5897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30" i="1" dirty="0">
                <a:solidFill>
                  <a:srgbClr val="EAB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«Не запретить себе покупать, а вернуть себе секунду выбора»</a:t>
            </a:r>
            <a:endParaRPr lang="en-US" sz="1430" dirty="0"/>
          </a:p>
        </p:txBody>
      </p:sp>
      <p:sp>
        <p:nvSpPr>
          <p:cNvPr id="26" name="Text 23"/>
          <p:cNvSpPr/>
          <p:nvPr/>
        </p:nvSpPr>
        <p:spPr>
          <a:xfrm>
            <a:off x="694944" y="596188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35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опроса пока отсутствует. Гипотезы, выводы и памятка требуют проверки.</a:t>
            </a:r>
            <a:endParaRPr lang="en-US" sz="850" dirty="0"/>
          </a:p>
        </p:txBody>
      </p:sp>
      <p:pic>
        <p:nvPicPr>
          <p:cNvPr id="27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86538"/>
            <a:ext cx="5735117" cy="5735117"/>
          </a:xfrm>
          <a:prstGeom prst="rect">
            <a:avLst/>
          </a:prstGeom>
        </p:spPr>
      </p:pic>
      <p:sp>
        <p:nvSpPr>
          <p:cNvPr id="28" name="!!ring1"/>
          <p:cNvSpPr/>
          <p:nvPr/>
        </p:nvSpPr>
        <p:spPr>
          <a:xfrm>
            <a:off x="7488570" y="1087770"/>
            <a:ext cx="3932652" cy="3932652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29" name="!!ring2"/>
          <p:cNvSpPr/>
          <p:nvPr/>
        </p:nvSpPr>
        <p:spPr>
          <a:xfrm>
            <a:off x="6956024" y="555224"/>
            <a:ext cx="4997745" cy="4997745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30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256" y="4006535"/>
            <a:ext cx="3195279" cy="7988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!!m-compass">
                <a:extLst>
                  <a:ext uri="{FF2B5EF4-FFF2-40B4-BE49-F238E27FC236}">
                    <a16:creationId xmlns:a16="http://schemas.microsoft.com/office/drawing/2014/main" id="{7F41C133-CA28-28A3-175B-00ACE551E3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1005840"/>
              <a:ext cx="4096512" cy="4096512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90831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94" d="1000000"/>
                    <am3d:preTrans dx="0" dy="3212696" dz="-880349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32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!!m-compass">
                <a:extLst>
                  <a:ext uri="{FF2B5EF4-FFF2-40B4-BE49-F238E27FC236}">
                    <a16:creationId xmlns:a16="http://schemas.microsoft.com/office/drawing/2014/main" id="{7F41C133-CA28-28A3-175B-00ACE551E3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6640" y="1005840"/>
                <a:ext cx="4096512" cy="4096512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fx9_8_15"/>
          <p:cNvSpPr/>
          <p:nvPr/>
        </p:nvSpPr>
        <p:spPr>
          <a:xfrm>
            <a:off x="7306056" y="5193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Стрелка колеблется и возвращается к направлению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Осознанный выбор — не идеальная рациональность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hourglass">
                <a:extLst>
                  <a:ext uri="{FF2B5EF4-FFF2-40B4-BE49-F238E27FC236}">
                    <a16:creationId xmlns:a16="http://schemas.microsoft.com/office/drawing/2014/main" id="{E43F528B-F016-9F47-A8B5-51EAFE63A5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90872" y="1325880"/>
              <a:ext cx="4096512" cy="4096512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10621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09756" d="1000000"/>
                    <am3d:preTrans dx="0" dy="-43902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54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hourglass">
                <a:extLst>
                  <a:ext uri="{FF2B5EF4-FFF2-40B4-BE49-F238E27FC236}">
                    <a16:creationId xmlns:a16="http://schemas.microsoft.com/office/drawing/2014/main" id="{E43F528B-F016-9F47-A8B5-51EAFE63A5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90872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cart">
                <a:extLst>
                  <a:ext uri="{FF2B5EF4-FFF2-40B4-BE49-F238E27FC236}">
                    <a16:creationId xmlns:a16="http://schemas.microsoft.com/office/drawing/2014/main" id="{5FEE7694-FB7D-2462-B61A-555BEC0FF7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86055" y="1371600"/>
              <a:ext cx="4069080" cy="406908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4069080" cy="4069080"/>
                    </a:xfrm>
                    <a:prstGeom prst="rect">
                      <a:avLst/>
                    </a:prstGeom>
                  </am3d:spPr>
                  <am3d:camera>
                    <am3d:pos x="0" y="0" z="680660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4500000" dy="-1285714" dz="-548044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3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690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cart">
                <a:extLst>
                  <a:ext uri="{FF2B5EF4-FFF2-40B4-BE49-F238E27FC236}">
                    <a16:creationId xmlns:a16="http://schemas.microsoft.com/office/drawing/2014/main" id="{5FEE7694-FB7D-2462-B61A-555BEC0FF7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86055" y="1371600"/>
                <a:ext cx="4069080" cy="406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rule"/>
          <p:cNvSpPr/>
          <p:nvPr/>
        </p:nvSpPr>
        <p:spPr>
          <a:xfrm>
            <a:off x="694944" y="329184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18211"/>
            <a:ext cx="10808208" cy="21946"/>
          </a:xfrm>
          <a:prstGeom prst="rect">
            <a:avLst/>
          </a:prstGeom>
          <a:solidFill>
            <a:srgbClr val="76D6C5"/>
          </a:solidFill>
          <a:ln/>
        </p:spPr>
      </p:sp>
      <p:sp>
        <p:nvSpPr>
          <p:cNvPr id="5" name="!!series"/>
          <p:cNvSpPr/>
          <p:nvPr/>
        </p:nvSpPr>
        <p:spPr>
          <a:xfrm>
            <a:off x="694944" y="4480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8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ПОКУПКИ  /  ПРОЕКТ</a:t>
            </a:r>
            <a:endParaRPr lang="en-US" sz="950" dirty="0"/>
          </a:p>
        </p:txBody>
      </p:sp>
      <p:sp>
        <p:nvSpPr>
          <p:cNvPr id="6" name="!!page"/>
          <p:cNvSpPr/>
          <p:nvPr/>
        </p:nvSpPr>
        <p:spPr>
          <a:xfrm>
            <a:off x="10497312" y="438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50" kern="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10</a:t>
            </a:r>
            <a:endParaRPr lang="en-US" sz="950" dirty="0"/>
          </a:p>
        </p:txBody>
      </p:sp>
      <p:sp>
        <p:nvSpPr>
          <p:cNvPr id="7" name="!!kicker"/>
          <p:cNvSpPr/>
          <p:nvPr/>
        </p:nvSpPr>
        <p:spPr>
          <a:xfrm>
            <a:off x="694944" y="749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20" kern="0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ВОПРОСЫ</a:t>
            </a:r>
            <a:endParaRPr lang="en-US" sz="950" dirty="0"/>
          </a:p>
        </p:txBody>
      </p:sp>
      <p:sp>
        <p:nvSpPr>
          <p:cNvPr id="8" name="!!bottomrule"/>
          <p:cNvSpPr/>
          <p:nvPr/>
        </p:nvSpPr>
        <p:spPr>
          <a:xfrm>
            <a:off x="694944" y="6419088"/>
            <a:ext cx="10808208" cy="91"/>
          </a:xfrm>
          <a:prstGeom prst="line">
            <a:avLst/>
          </a:prstGeom>
          <a:noFill/>
          <a:ln w="825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94944" y="651052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0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ИССЛЕДОВАНИЯ  ·  НЕ РЕЗУЛЬТАТЫ ОПРОСА</a:t>
            </a:r>
            <a:endParaRPr lang="en-US" sz="830" dirty="0"/>
          </a:p>
        </p:txBody>
      </p:sp>
      <p:sp>
        <p:nvSpPr>
          <p:cNvPr id="10" name="!!title"/>
          <p:cNvSpPr/>
          <p:nvPr/>
        </p:nvSpPr>
        <p:spPr>
          <a:xfrm>
            <a:off x="694944" y="1033272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3200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Спасибо! Вопросы?</a:t>
            </a:r>
            <a:endParaRPr lang="en-US" sz="3200" dirty="0"/>
          </a:p>
        </p:txBody>
      </p:sp>
      <p:sp>
        <p:nvSpPr>
          <p:cNvPr id="11" name="fx10_2_0"/>
          <p:cNvSpPr/>
          <p:nvPr/>
        </p:nvSpPr>
        <p:spPr>
          <a:xfrm>
            <a:off x="694944" y="18745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0" kern="0" dirty="0">
                <a:solidFill>
                  <a:srgbClr val="76D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ИСТОЧНИКИ · ПОЛНЫЙ СПИСОК В ПРИЛОЖЕНИИ</a:t>
            </a:r>
            <a:endParaRPr lang="en-US" sz="900" dirty="0"/>
          </a:p>
        </p:txBody>
      </p:sp>
      <p:sp>
        <p:nvSpPr>
          <p:cNvPr id="12" name="fx10_2_1"/>
          <p:cNvSpPr/>
          <p:nvPr/>
        </p:nvSpPr>
        <p:spPr>
          <a:xfrm>
            <a:off x="694944" y="221284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030" dirty="0"/>
          </a:p>
        </p:txBody>
      </p:sp>
      <p:sp>
        <p:nvSpPr>
          <p:cNvPr id="13" name="fx10_2_2"/>
          <p:cNvSpPr/>
          <p:nvPr/>
        </p:nvSpPr>
        <p:spPr>
          <a:xfrm>
            <a:off x="1179576" y="2212848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Ведомости, 03.02.2026 · оценка BNPL от «Долями» / Т-Банка</a:t>
            </a:r>
            <a:endParaRPr lang="en-US" sz="960" dirty="0"/>
          </a:p>
        </p:txBody>
      </p:sp>
      <p:sp>
        <p:nvSpPr>
          <p:cNvPr id="14" name="fx10_2_3"/>
          <p:cNvSpPr/>
          <p:nvPr/>
        </p:nvSpPr>
        <p:spPr>
          <a:xfrm>
            <a:off x="694944" y="266090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030" dirty="0"/>
          </a:p>
        </p:txBody>
      </p:sp>
      <p:sp>
        <p:nvSpPr>
          <p:cNvPr id="15" name="fx10_2_4"/>
          <p:cNvSpPr/>
          <p:nvPr/>
        </p:nvSpPr>
        <p:spPr>
          <a:xfrm>
            <a:off x="1179576" y="2660904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ФЗ от 31.07.2025 № 283-ФЗ · официальный текст</a:t>
            </a:r>
            <a:endParaRPr lang="en-US" sz="960" dirty="0"/>
          </a:p>
        </p:txBody>
      </p:sp>
      <p:sp>
        <p:nvSpPr>
          <p:cNvPr id="16" name="fx10_2_5"/>
          <p:cNvSpPr/>
          <p:nvPr/>
        </p:nvSpPr>
        <p:spPr>
          <a:xfrm>
            <a:off x="694944" y="310896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030" dirty="0"/>
          </a:p>
        </p:txBody>
      </p:sp>
      <p:sp>
        <p:nvSpPr>
          <p:cNvPr id="17" name="fx10_2_6"/>
          <p:cNvSpPr/>
          <p:nvPr/>
        </p:nvSpPr>
        <p:spPr>
          <a:xfrm>
            <a:off x="1179576" y="3108960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Rook, 1987 · The Buying Impulse · doi:10.1086/209105</a:t>
            </a:r>
            <a:endParaRPr lang="en-US" sz="960" dirty="0"/>
          </a:p>
        </p:txBody>
      </p:sp>
      <p:sp>
        <p:nvSpPr>
          <p:cNvPr id="18" name="fx10_3_7"/>
          <p:cNvSpPr/>
          <p:nvPr/>
        </p:nvSpPr>
        <p:spPr>
          <a:xfrm>
            <a:off x="694944" y="355701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030" dirty="0"/>
          </a:p>
        </p:txBody>
      </p:sp>
      <p:sp>
        <p:nvSpPr>
          <p:cNvPr id="19" name="fx10_3_8"/>
          <p:cNvSpPr/>
          <p:nvPr/>
        </p:nvSpPr>
        <p:spPr>
          <a:xfrm>
            <a:off x="1179576" y="3557016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Anoop &amp; Rahman, 2025 · online impulse buying · doi:10.1002/cb.2418</a:t>
            </a:r>
            <a:endParaRPr lang="en-US" sz="960" dirty="0"/>
          </a:p>
        </p:txBody>
      </p:sp>
      <p:sp>
        <p:nvSpPr>
          <p:cNvPr id="20" name="fx10_3_9"/>
          <p:cNvSpPr/>
          <p:nvPr/>
        </p:nvSpPr>
        <p:spPr>
          <a:xfrm>
            <a:off x="694944" y="4005072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030" dirty="0"/>
          </a:p>
        </p:txBody>
      </p:sp>
      <p:sp>
        <p:nvSpPr>
          <p:cNvPr id="21" name="fx10_3_10"/>
          <p:cNvSpPr/>
          <p:nvPr/>
        </p:nvSpPr>
        <p:spPr>
          <a:xfrm>
            <a:off x="1179576" y="4005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Przybylski et al., 2013 · FoMO · doi:10.1016/j.chb.2013.02.014</a:t>
            </a:r>
            <a:endParaRPr lang="en-US" sz="960" dirty="0"/>
          </a:p>
        </p:txBody>
      </p:sp>
      <p:sp>
        <p:nvSpPr>
          <p:cNvPr id="22" name="fx10_3_11"/>
          <p:cNvSpPr/>
          <p:nvPr/>
        </p:nvSpPr>
        <p:spPr>
          <a:xfrm>
            <a:off x="694944" y="445312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030" dirty="0"/>
          </a:p>
        </p:txBody>
      </p:sp>
      <p:sp>
        <p:nvSpPr>
          <p:cNvPr id="23" name="fx10_3_12"/>
          <p:cNvSpPr/>
          <p:nvPr/>
        </p:nvSpPr>
        <p:spPr>
          <a:xfrm>
            <a:off x="1179576" y="4453128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Gibbons &amp; Buunk, 1999 · social comparison · doi:10.1037/0022-3514.76.1.129</a:t>
            </a:r>
            <a:endParaRPr lang="en-US" sz="960" dirty="0"/>
          </a:p>
        </p:txBody>
      </p:sp>
      <p:sp>
        <p:nvSpPr>
          <p:cNvPr id="24" name="fx10_4_13"/>
          <p:cNvSpPr/>
          <p:nvPr/>
        </p:nvSpPr>
        <p:spPr>
          <a:xfrm>
            <a:off x="694944" y="490118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EAB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1030" dirty="0"/>
          </a:p>
        </p:txBody>
      </p:sp>
      <p:sp>
        <p:nvSpPr>
          <p:cNvPr id="25" name="fx10_4_14"/>
          <p:cNvSpPr/>
          <p:nvPr/>
        </p:nvSpPr>
        <p:spPr>
          <a:xfrm>
            <a:off x="1179576" y="4901184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OECD/INFE, 2022 · financial literacy toolkit</a:t>
            </a:r>
            <a:endParaRPr lang="en-US" sz="960" dirty="0"/>
          </a:p>
        </p:txBody>
      </p:sp>
      <p:sp>
        <p:nvSpPr>
          <p:cNvPr id="26" name="fx10_5_15"/>
          <p:cNvSpPr/>
          <p:nvPr/>
        </p:nvSpPr>
        <p:spPr>
          <a:xfrm>
            <a:off x="694944" y="5458968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Полные библиографические записи, ссылки и примечания к цифрам — в exports/ekonomika123-3d-presentation-sources.md.</a:t>
            </a:r>
            <a:endParaRPr lang="en-US" sz="930" dirty="0"/>
          </a:p>
        </p:txBody>
      </p:sp>
      <p:pic>
        <p:nvPicPr>
          <p:cNvPr id="27" name="!!stage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37744"/>
            <a:ext cx="5696712" cy="5696712"/>
          </a:xfrm>
          <a:prstGeom prst="rect">
            <a:avLst/>
          </a:prstGeom>
        </p:spPr>
      </p:pic>
      <p:sp>
        <p:nvSpPr>
          <p:cNvPr id="28" name="!!ring1"/>
          <p:cNvSpPr/>
          <p:nvPr/>
        </p:nvSpPr>
        <p:spPr>
          <a:xfrm>
            <a:off x="7506310" y="1132942"/>
            <a:ext cx="3906317" cy="3906317"/>
          </a:xfrm>
          <a:prstGeom prst="ellipse">
            <a:avLst/>
          </a:prstGeom>
          <a:ln w="8890">
            <a:solidFill>
              <a:srgbClr val="76D6C5">
                <a:alpha val="18000"/>
              </a:srgbClr>
            </a:solidFill>
            <a:prstDash val="solid"/>
          </a:ln>
        </p:spPr>
      </p:sp>
      <p:sp>
        <p:nvSpPr>
          <p:cNvPr id="29" name="!!ring2"/>
          <p:cNvSpPr/>
          <p:nvPr/>
        </p:nvSpPr>
        <p:spPr>
          <a:xfrm>
            <a:off x="6977329" y="603961"/>
            <a:ext cx="4964278" cy="4964278"/>
          </a:xfrm>
          <a:prstGeom prst="ellipse">
            <a:avLst/>
          </a:prstGeom>
          <a:ln w="8890">
            <a:solidFill>
              <a:srgbClr val="8EB9F4">
                <a:alpha val="10000"/>
              </a:srgbClr>
            </a:solidFill>
            <a:prstDash val="dash"/>
          </a:ln>
        </p:spPr>
      </p:sp>
      <p:pic>
        <p:nvPicPr>
          <p:cNvPr id="30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527" y="4032161"/>
            <a:ext cx="3173882" cy="79347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!!m-cart">
                <a:extLst>
                  <a:ext uri="{FF2B5EF4-FFF2-40B4-BE49-F238E27FC236}">
                    <a16:creationId xmlns:a16="http://schemas.microsoft.com/office/drawing/2014/main" id="{2BAE1F20-A5E0-B3C0-E6C2-DB4475FC7C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24928" y="1051560"/>
              <a:ext cx="4069080" cy="406908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4069080" cy="4069080"/>
                    </a:xfrm>
                    <a:prstGeom prst="rect">
                      <a:avLst/>
                    </a:prstGeom>
                  </am3d:spPr>
                  <am3d:camera>
                    <am3d:pos x="0" y="0" z="680660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4500000" dy="-1285714" dz="-548044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96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690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!!m-cart">
                <a:extLst>
                  <a:ext uri="{FF2B5EF4-FFF2-40B4-BE49-F238E27FC236}">
                    <a16:creationId xmlns:a16="http://schemas.microsoft.com/office/drawing/2014/main" id="{2BAE1F20-A5E0-B3C0-E6C2-DB4475FC7C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4928" y="1051560"/>
                <a:ext cx="4069080" cy="406908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fx10_8_16"/>
          <p:cNvSpPr/>
          <p:nvPr/>
        </p:nvSpPr>
        <p:spPr>
          <a:xfrm>
            <a:off x="7333488" y="52120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Возвращаемся к главному вопросу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spc="90" kern="0" dirty="0">
                <a:solidFill>
                  <a:srgbClr val="758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 — тоже часть решения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ompass">
                <a:extLst>
                  <a:ext uri="{FF2B5EF4-FFF2-40B4-BE49-F238E27FC236}">
                    <a16:creationId xmlns:a16="http://schemas.microsoft.com/office/drawing/2014/main" id="{881ED97E-4475-65F0-2797-DEF7872A5F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90872" y="1325880"/>
              <a:ext cx="4096512" cy="4096512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4096512" cy="4096512"/>
                    </a:xfrm>
                    <a:prstGeom prst="rect">
                      <a:avLst/>
                    </a:prstGeom>
                  </am3d:spPr>
                  <am3d:camera>
                    <am3d:pos x="0" y="0" z="690831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94" d="1000000"/>
                    <am3d:preTrans dx="0" dy="3212696" dz="-880349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56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0965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ompass">
                <a:extLst>
                  <a:ext uri="{FF2B5EF4-FFF2-40B4-BE49-F238E27FC236}">
                    <a16:creationId xmlns:a16="http://schemas.microsoft.com/office/drawing/2014/main" id="{881ED97E-4475-65F0-2797-DEF7872A5F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90872" y="1325880"/>
                <a:ext cx="4096512" cy="40965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MyWorkAiBrain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мы покупаем ненужное? — 3D-презентация</dc:title>
  <dc:subject>Психология импульсивных трат у студентов; исследовательский проект</dc:subject>
  <dc:creator>MyWorkAiBrain</dc:creator>
  <cp:lastModifiedBy>MyWorkAiBrain</cp:lastModifiedBy>
  <cp:revision>1</cp:revision>
  <dcterms:created xsi:type="dcterms:W3CDTF">2026-10-11T19:40:39Z</dcterms:created>
  <dcterms:modified xsi:type="dcterms:W3CDTF">2026-10-11T19:40:39Z</dcterms:modified>
</cp:coreProperties>
</file>