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Представьте: вы открыли маркетплейс «на минутку», а через несколько нажатий в корзине уже то, что не планировали. Исходная работа была о психологии импульсивных трат; я сохранила её тему, шутки и коллажный визуальный язык, но собрала проект заново. Здесь мемы — не украшение поверх сухого доклада, а способ показать знакомые ситуации. При этом исследовательская часть остаётся аккуратной: опрос ещё не проводился, проценты и выводы не выдуманы. Мы пройдём путь от триггера до плана пилотного опроса, отдельно проверим гипотезы и закончим памяткой. В сцене — корзина с анимированной 3D-моделью.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эта тема актуальна? В исходном deck уже была шутка про 106 рублей на карте и несколько экранов маркетплейсов — я возвращаю её как узнаваемую сцену, но не выдаю за данные исследования. По оценке сервиса «Долями» от Т-Банка, оборот BNPL в России за 2025 год составил около 940 миллиардов рублей. Это оценка объёма оплат частями, не измерение импульсивных покупок и не статистика по студентам. Закон № 283-ФЗ о деятельности сервисов рассрочки действует с 1 апреля 2026 года. Это регуляторный контекст, а не доказательство вреда или причины трат. Вопрос проекта — какие психологические и ситуационные факторы связаны с незапланированными покупками.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Рабочая схема проекта короткая: сигнал — внутренний отклик — действие — оценка покупки после оплаты. В сигнал могут попасть уведомление, рекомендация или акция; откликом могут стать интерес, предвкушение либо FOMO. Затем человек может добавить товар в корзину или оплатить его; после покупки эмоции и оценка необходимости у всех будут разными. Это иллюстрация для исследования, а не диагноз и не обязательный сценарий для каждого покупателя. На нижней ленте — товары и логотипы из исходного коллажа: энергетик, шаурма, фастфуд и сладости. Их присутствие — визуальная шутка, а не реклама и не утверждение о конкретном поведении.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Проверяем не «слабую волю», а возможные условия выбора. В первом блоке — FOMO: опасение упустить опыт или выгоду. Во втором — социальное сравнение и ощущение «у всех уже есть». Третий блок — срочность и дефицит, например таймер или сообщение «осталось мало». Четвёртый — низкое трение интерфейса: сохранённая карта и покупка в несколько касаний. Метаанализ исследований онлайн-покупок описывает связи с контекстными, маркетинговыми и платформенными факторами. Но литература не доказывает, что один триггер обязательно вызовет покупку у каждого студента. Поэтому в проекте это проверяемые гипотезы, а не готовые выводы.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Сохраняю три гипотезы исходного проекта и обозначаю, как именно их планируется проверять. H1: более высокий FoMO связан с большей частотой незапланированных покупок за последние тридцать дней; оплату частями разумно описать отдельно. H2: выраженная склонность к социальному сравнению связана с самоотчётами о трендовых или статусных покупках. H3: финансовые знания могут быть связаны с выраженностью импульсивных покупок, но мы не предполагаем заранее защитный эффект. Это предположения, не результаты: ни одна связь пока не измерялась. Одномоментная анкета позволит обсуждать связи, но не причины.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Да, здесь именно тот каштан из исходной презентации — отдельный обязательный слайд, а не случайная иконка. Крупно фиксирую просьбу: «КАШТАН — 100% ОБЯЗАТЕЛЬНО». Внутри доклада это мем-кейс для паузы перед покупкой, а не реальный результат опроса и не новая валидированная шкала. В самой презентации каштан, конечно, обязателен; в магазине предлагаем коротко спросить себя: планировал ли я это, зачем мне товар и какова полная цена? Опрос не проводился, никто не отвечал, что купил бы каштан. К фотографии из оригинала добавлена процедурная анимированная 3D-модель каштана.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анкеты: анонимно и добровольно опросить совершеннолетних студентов 18–25 лет; ориентир — не менее пятидесяти ответов. Это пилотная удобная выборка, а не репрезентативный срез всех студентов. В анкете — частота незапланированных покупок за последние тридцать дней, ситуация покупки и способ оплаты; FoMO, социальное сравнение и короткий блок базовых финансовых знаний. Для шкал следует использовать опубликованные формулировки, адаптировать перевод и провести когнитивную проверку на небольшом числе людей. Не собираем имена, контакты, номера карт. До начала — добровольное согласие и ясное описание цели. Мем «с вас списано 100 рублей» — только шутка из оригинала: опрос бесплатный.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анализа пилота сначала описать распределения и пропуски, затем проверить качество измерительных блоков и только после этого смотреть ранговые корреляции Спирмена с доверительными интервалами. Частоту незапланированных покупок лучше задать заранее как основной показатель; BNPL описать отдельным пунктом, не подменяя им импульсивность. При N около пятидесяти не перегружать модель предикторами. Удобная выборка, самоотчёт и одномоментный срез ограничивают обобщение и не доказывают причинность. Банки на фото — оригинальный мем про «психиатора» и чипсы; он не является ни методикой бюджетирования, ни финансовой рекомендацией. Результаты появятся только после реального сбора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Практический финал проекта — короткая памятка без стыда и запретов. Первое: поставить паузу на необязательную покупку, особенно если её подгоняет таймер. Второе: проверить, была ли вещь в плане, нужна ли она вне скидки и какая у неё полная стоимость. Третье: посмотреть на уже запланированные платежи за месяц; полезное трение — отключить лишние уведомления и убрать сохранённую карту там, где это удобно. Оплата частями может менять расписание платежей, но не уменьшает полную цену. Это предложения для памятки, а не гарантированный способ изменить поведение и не клиническая рекомендация. Их эффект потребует отдельной проверки.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внимание. На последнем слайде — источники и тот самый мем «с вас списано 100 рублей» из оригинала. Это шутка, никаких списаний нет. Полные библиографические записи и привязка источников к слайдам находятся в отдельном файле. Ключевые опоры — классическая работа о buying impulse, систематический обзор онлайн-покупок, первоисточники FoMO и социального сравнения, инструмент OECD по финансовой грамотности, оценка BNPL от отраслевого участника и официальный текст 283-ФЗ. Снова оговорка: 940 миллиардов — оценка оборота оплат частями, а не результат опроса или показатель количества импульсивных покупок. Наш опрос пока в планах; гипотезы ещё предстоит проверить.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2-5.jpeg"/><Relationship Id="rId6" Type="http://schemas.openxmlformats.org/officeDocument/2006/relationships/image" Target="../media/image-1-7.png"/><Relationship Id="rId7" Type="http://schemas.openxmlformats.org/officeDocument/2006/relationships/image" Target="../media/image-2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Relationship Id="rIdM3d3" Type="http://schemas.microsoft.com/office/2017/06/relationships/model3d" Target="../media/model3d3.glb"/><Relationship Id="rIdM3d4" Type="http://schemas.microsoft.com/office/2017/06/relationships/model3d" Target="../media/model3d4.glb"/><Relationship Id="rIdM3d5" Type="http://schemas.microsoft.com/office/2017/06/relationships/model3d" Target="../media/model3d5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5.png"/><Relationship Id="rId4" Type="http://schemas.openxmlformats.org/officeDocument/2006/relationships/image" Target="../media/image-3-4.jpe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jpeg"/><Relationship Id="rId8" Type="http://schemas.openxmlformats.org/officeDocument/2006/relationships/image" Target="../media/image-3-8.jpeg"/><Relationship Id="rId9" Type="http://schemas.openxmlformats.org/officeDocument/2006/relationships/image" Target="../media/image-1-7.png"/><Relationship Id="rId10" Type="http://schemas.openxmlformats.org/officeDocument/2006/relationships/image" Target="../media/image-3-10.png"/><Relationship Id="rId11" Type="http://schemas.openxmlformats.org/officeDocument/2006/relationships/image" Target="../media/image-1-9.png"/><Relationship Id="rId12" Type="http://schemas.openxmlformats.org/officeDocument/2006/relationships/image" Target="../media/image-1-9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Relationship Id="rIdM3d6" Type="http://schemas.microsoft.com/office/2017/06/relationships/model3d" Target="../media/model3d6.glb"/><Relationship Id="rIdM3d7" Type="http://schemas.microsoft.com/office/2017/06/relationships/model3d" Target="../media/model3d7.glb"/><Relationship Id="rIdM3d8" Type="http://schemas.microsoft.com/office/2017/06/relationships/model3d" Target="../media/model3d8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4-4.jpeg"/><Relationship Id="rId5" Type="http://schemas.openxmlformats.org/officeDocument/2006/relationships/image" Target="../media/image-1-5.png"/><Relationship Id="rId6" Type="http://schemas.openxmlformats.org/officeDocument/2006/relationships/image" Target="../media/image-1-7.png"/><Relationship Id="rId7" Type="http://schemas.openxmlformats.org/officeDocument/2006/relationships/image" Target="../media/image-4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image" Target="../media/image-1-5.png"/><Relationship Id="rId7" Type="http://schemas.openxmlformats.org/officeDocument/2006/relationships/image" Target="../media/image-5-7.jpeg"/><Relationship Id="rId8" Type="http://schemas.openxmlformats.org/officeDocument/2006/relationships/image" Target="../media/image-1-7.png"/><Relationship Id="rId9" Type="http://schemas.openxmlformats.org/officeDocument/2006/relationships/image" Target="../media/image-5-9.png"/><Relationship Id="rId10" Type="http://schemas.openxmlformats.org/officeDocument/2006/relationships/image" Target="../media/image-1-9.png"/><Relationship Id="rId11" Type="http://schemas.openxmlformats.org/officeDocument/2006/relationships/image" Target="../media/image-1-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6-6.jpeg"/><Relationship Id="rId7" Type="http://schemas.openxmlformats.org/officeDocument/2006/relationships/image" Target="../media/image-1-7.png"/><Relationship Id="rId8" Type="http://schemas.openxmlformats.org/officeDocument/2006/relationships/image" Target="../media/image-6-8.png"/><Relationship Id="rId9" Type="http://schemas.openxmlformats.org/officeDocument/2006/relationships/image" Target="../media/image-1-9.png"/><Relationship Id="rId10" Type="http://schemas.openxmlformats.org/officeDocument/2006/relationships/image" Target="../media/image-1-9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Relationship Id="rIdM3d15" Type="http://schemas.microsoft.com/office/2017/06/relationships/model3d" Target="../media/model3d15.glb"/><Relationship Id="rIdM3d16" Type="http://schemas.microsoft.com/office/2017/06/relationships/model3d" Target="../media/model3d16.glb"/><Relationship Id="rIdM3d17" Type="http://schemas.microsoft.com/office/2017/06/relationships/model3d" Target="../media/model3d17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-7.png"/><Relationship Id="rId6" Type="http://schemas.openxmlformats.org/officeDocument/2006/relationships/image" Target="../media/image-7-6.png"/><Relationship Id="rId7" Type="http://schemas.openxmlformats.org/officeDocument/2006/relationships/image" Target="../media/image-1-9.png"/><Relationship Id="rId8" Type="http://schemas.openxmlformats.org/officeDocument/2006/relationships/image" Target="../media/image-1-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Relationship Id="rIdM3d18" Type="http://schemas.microsoft.com/office/2017/06/relationships/model3d" Target="../media/model3d18.glb"/><Relationship Id="rIdM3d19" Type="http://schemas.microsoft.com/office/2017/06/relationships/model3d" Target="../media/model3d19.glb"/><Relationship Id="rIdM3d20" Type="http://schemas.microsoft.com/office/2017/06/relationships/model3d" Target="../media/model3d20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8-4.jpeg"/><Relationship Id="rId5" Type="http://schemas.openxmlformats.org/officeDocument/2006/relationships/image" Target="../media/image-1-5.png"/><Relationship Id="rId6" Type="http://schemas.openxmlformats.org/officeDocument/2006/relationships/image" Target="../media/image-1-7.png"/><Relationship Id="rId7" Type="http://schemas.openxmlformats.org/officeDocument/2006/relationships/image" Target="../media/image-8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image" Target="../media/image-1-5.png"/><Relationship Id="rId7" Type="http://schemas.openxmlformats.org/officeDocument/2006/relationships/image" Target="../media/image-1-7.png"/><Relationship Id="rId8" Type="http://schemas.openxmlformats.org/officeDocument/2006/relationships/image" Target="../media/image-9-8.png"/><Relationship Id="rId9" Type="http://schemas.openxmlformats.org/officeDocument/2006/relationships/image" Target="../media/image-9-9.jpeg"/><Relationship Id="rId10" Type="http://schemas.openxmlformats.org/officeDocument/2006/relationships/image" Target="../media/image-1-9.png"/><Relationship Id="rId11" Type="http://schemas.openxmlformats.org/officeDocument/2006/relationships/image" Target="../media/image-1-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0-5.jpeg"/><Relationship Id="rId6" Type="http://schemas.openxmlformats.org/officeDocument/2006/relationships/image" Target="../media/image-1-7.png"/><Relationship Id="rId7" Type="http://schemas.openxmlformats.org/officeDocument/2006/relationships/image" Target="../media/image-10-7.png"/><Relationship Id="rId8" Type="http://schemas.openxmlformats.org/officeDocument/2006/relationships/image" Target="../media/image-1-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Relationship Id="rIdM3d27" Type="http://schemas.microsoft.com/office/2017/06/relationships/model3d" Target="../media/model3d27.glb"/><Relationship Id="rIdM3d28" Type="http://schemas.microsoft.com/office/2017/06/relationships/model3d" Target="../media/model3d28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Text 4"/>
          <p:cNvSpPr/>
          <p:nvPr/>
        </p:nvSpPr>
        <p:spPr>
          <a:xfrm>
            <a:off x="658368" y="758952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spc="45" kern="0" dirty="0">
                <a:solidFill>
                  <a:srgbClr val="FFD8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ВЕРСИЯ 2.0 · МЕМЫ СОХРАНЕНЫ</a:t>
            </a:r>
            <a:endParaRPr lang="en-US" sz="920" dirty="0"/>
          </a:p>
        </p:txBody>
      </p:sp>
      <p:sp>
        <p:nvSpPr>
          <p:cNvPr id="9" name="!!meme-title"/>
          <p:cNvSpPr/>
          <p:nvPr/>
        </p:nvSpPr>
        <p:spPr>
          <a:xfrm>
            <a:off x="658368" y="1078992"/>
            <a:ext cx="54864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ПОЧЕМУ МЫ</a:t>
            </a:r>
            <a:endParaRPr lang="en-US" sz="39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ПОКУПАЕМ</a:t>
            </a:r>
            <a:endParaRPr lang="en-US" sz="39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НЕНУЖНОЕ?</a:t>
            </a:r>
            <a:endParaRPr lang="en-US" sz="3900" dirty="0"/>
          </a:p>
        </p:txBody>
      </p:sp>
      <p:pic>
        <p:nvPicPr>
          <p:cNvPr id="10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703320"/>
            <a:ext cx="4434840" cy="283464"/>
          </a:xfrm>
          <a:prstGeom prst="rect">
            <a:avLst/>
          </a:prstGeom>
        </p:spPr>
      </p:pic>
      <p:sp>
        <p:nvSpPr>
          <p:cNvPr id="11" name="fx1_2_0"/>
          <p:cNvSpPr/>
          <p:nvPr/>
        </p:nvSpPr>
        <p:spPr>
          <a:xfrm>
            <a:off x="658368" y="4151376"/>
            <a:ext cx="5257800" cy="1389888"/>
          </a:xfrm>
          <a:prstGeom prst="roundRect">
            <a:avLst>
              <a:gd name="adj" fmla="val 164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2" name="fx1_2_1" descr="/home/user/MyWorkAiBrain/presentations/impulse/assets/memes/notebook-lines-horizontal.png">    </p:cNvPr>
          <p:cNvPicPr>
            <a:picLocks noChangeAspect="1"/>
          </p:cNvPicPr>
          <p:nvPr/>
        </p:nvPicPr>
        <p:blipFill>
          <a:blip r:embed="rId4">
            <a:alphaModFix amt="72000"/>
          </a:blip>
          <a:stretch>
            <a:fillRect/>
          </a:stretch>
        </p:blipFill>
        <p:spPr>
          <a:xfrm>
            <a:off x="690372" y="4192524"/>
            <a:ext cx="5193792" cy="1307592"/>
          </a:xfrm>
          <a:prstGeom prst="rect">
            <a:avLst/>
          </a:prstGeom>
        </p:spPr>
      </p:pic>
      <p:pic>
        <p:nvPicPr>
          <p:cNvPr id="13" name="fx1_2_2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4174236"/>
            <a:ext cx="5202936" cy="155448"/>
          </a:xfrm>
          <a:prstGeom prst="rect">
            <a:avLst/>
          </a:prstGeom>
        </p:spPr>
      </p:pic>
      <p:sp>
        <p:nvSpPr>
          <p:cNvPr id="14" name="fx1_2_3"/>
          <p:cNvSpPr/>
          <p:nvPr/>
        </p:nvSpPr>
        <p:spPr>
          <a:xfrm>
            <a:off x="914400" y="4453128"/>
            <a:ext cx="473659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Я: «просто посмотрю»</a:t>
            </a:r>
            <a:endParaRPr lang="en-US" sz="17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Маркетплейс: «держи 18 товаров»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658368" y="5843016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10" b="1" spc="45" kern="0" dirty="0">
                <a:solidFill>
                  <a:srgbClr val="FFD8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ТРАТ · СТУДЕНТЫ 18–25</a:t>
            </a:r>
            <a:endParaRPr lang="en-US" sz="910" dirty="0"/>
          </a:p>
        </p:txBody>
      </p:sp>
      <p:sp>
        <p:nvSpPr>
          <p:cNvPr id="16" name="fx1_2_4"/>
          <p:cNvSpPr/>
          <p:nvPr/>
        </p:nvSpPr>
        <p:spPr>
          <a:xfrm>
            <a:off x="6446520" y="932688"/>
            <a:ext cx="5029200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7" name="fx1_2_5" descr="/home/user/MyWorkAiBrain/presentations/impulse/assets/memes/rich-money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992124"/>
            <a:ext cx="4910328" cy="3282696"/>
          </a:xfrm>
          <a:prstGeom prst="rect">
            <a:avLst/>
          </a:prstGeom>
        </p:spPr>
      </p:pic>
      <p:pic>
        <p:nvPicPr>
          <p:cNvPr id="18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7">
            <a:alphaModFix amt="62000"/>
          </a:blip>
          <a:stretch>
            <a:fillRect/>
          </a:stretch>
        </p:blipFill>
        <p:spPr>
          <a:xfrm>
            <a:off x="7756307" y="2489363"/>
            <a:ext cx="4055547" cy="4055547"/>
          </a:xfrm>
          <a:prstGeom prst="rect">
            <a:avLst/>
          </a:prstGeom>
        </p:spPr>
      </p:pic>
      <p:sp>
        <p:nvSpPr>
          <p:cNvPr id="19" name="!!paper-sticker"/>
          <p:cNvSpPr/>
          <p:nvPr/>
        </p:nvSpPr>
        <p:spPr>
          <a:xfrm>
            <a:off x="8364639" y="3097695"/>
            <a:ext cx="2838883" cy="283888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0" name="!!comic-ring"/>
          <p:cNvSpPr/>
          <p:nvPr/>
        </p:nvSpPr>
        <p:spPr>
          <a:xfrm>
            <a:off x="8161861" y="2894917"/>
            <a:ext cx="3244438" cy="3244438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!!m-cart">
                <a:extLst>
                  <a:ext uri="{FF2B5EF4-FFF2-40B4-BE49-F238E27FC236}">
                    <a16:creationId xmlns:a16="http://schemas.microsoft.com/office/drawing/2014/main" id="{5E9ADCAD-BCBD-2AAA-218F-B69B6D22515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74736" y="2907792"/>
              <a:ext cx="3218688" cy="3218688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3218688" cy="3218688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2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186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!!m-cart">
                <a:extLst>
                  <a:ext uri="{FF2B5EF4-FFF2-40B4-BE49-F238E27FC236}">
                    <a16:creationId xmlns:a16="http://schemas.microsoft.com/office/drawing/2014/main" id="{5E9ADCAD-BCBD-2AAA-218F-B69B6D2251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74736" y="2907792"/>
                <a:ext cx="3218688" cy="3218688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Shape 12"/>
          <p:cNvSpPr/>
          <p:nvPr/>
        </p:nvSpPr>
        <p:spPr>
          <a:xfrm rot="120000">
            <a:off x="10363444" y="3004353"/>
            <a:ext cx="1078992" cy="365760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3" name="Text 13"/>
          <p:cNvSpPr/>
          <p:nvPr/>
        </p:nvSpPr>
        <p:spPr>
          <a:xfrm>
            <a:off x="10418308" y="3045501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 КОРЗИНУ</a:t>
            </a:r>
            <a:endParaRPr lang="en-US" sz="900" dirty="0"/>
          </a:p>
        </p:txBody>
      </p:sp>
      <p:sp>
        <p:nvSpPr>
          <p:cNvPr id="24" name="fx1_3_6"/>
          <p:cNvSpPr/>
          <p:nvPr/>
        </p:nvSpPr>
        <p:spPr>
          <a:xfrm rot="120000">
            <a:off x="9738360" y="722376"/>
            <a:ext cx="1600200" cy="42062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1_3_7"/>
          <p:cNvSpPr/>
          <p:nvPr/>
        </p:nvSpPr>
        <p:spPr>
          <a:xfrm>
            <a:off x="9793224" y="763524"/>
            <a:ext cx="14904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ПЛАНИРОВАЛА</a:t>
            </a:r>
            <a:endParaRPr lang="en-US" sz="10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wallet">
                <a:extLst>
                  <a:ext uri="{FF2B5EF4-FFF2-40B4-BE49-F238E27FC236}">
                    <a16:creationId xmlns:a16="http://schemas.microsoft.com/office/drawing/2014/main" id="{0F6B1141-C4DC-4F5D-BD4E-5AFF607B92A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675888"/>
              <a:ext cx="2926080" cy="292608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005966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23045" d="1000000"/>
                    <am3d:preTrans dx="-518519" dy="3585185" dz="-2533333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24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wallet">
                <a:extLst>
                  <a:ext uri="{FF2B5EF4-FFF2-40B4-BE49-F238E27FC236}">
                    <a16:creationId xmlns:a16="http://schemas.microsoft.com/office/drawing/2014/main" id="{0F6B1141-C4DC-4F5D-BD4E-5AFF607B92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3675888"/>
                <a:ext cx="2926080" cy="2926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4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7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КАРТА: 106 ₽.</a:t>
            </a:r>
            <a:endParaRPr lang="en-US" sz="27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7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КОРЗИНА: «УЖЕ ОФОРМЛЕНО»</a:t>
            </a:r>
            <a:endParaRPr lang="en-US" sz="27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38528"/>
            <a:ext cx="3566160" cy="219456"/>
          </a:xfrm>
          <a:prstGeom prst="rect">
            <a:avLst/>
          </a:prstGeom>
        </p:spPr>
      </p:pic>
      <p:sp>
        <p:nvSpPr>
          <p:cNvPr id="10" name="fx2_2_0"/>
          <p:cNvSpPr/>
          <p:nvPr/>
        </p:nvSpPr>
        <p:spPr>
          <a:xfrm>
            <a:off x="658368" y="2249424"/>
            <a:ext cx="6272784" cy="3218688"/>
          </a:xfrm>
          <a:prstGeom prst="roundRect">
            <a:avLst>
              <a:gd name="adj" fmla="val 710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2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272284"/>
            <a:ext cx="6217920" cy="155448"/>
          </a:xfrm>
          <a:prstGeom prst="rect">
            <a:avLst/>
          </a:prstGeom>
        </p:spPr>
      </p:pic>
      <p:sp>
        <p:nvSpPr>
          <p:cNvPr id="12" name="fx2_2_2"/>
          <p:cNvSpPr/>
          <p:nvPr/>
        </p:nvSpPr>
        <p:spPr>
          <a:xfrm>
            <a:off x="914400" y="254203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ОЦЕНКА РЫНКА · 2025</a:t>
            </a:r>
            <a:endParaRPr lang="en-US" sz="900" dirty="0"/>
          </a:p>
        </p:txBody>
      </p:sp>
      <p:sp>
        <p:nvSpPr>
          <p:cNvPr id="13" name="fx2_2_3"/>
          <p:cNvSpPr/>
          <p:nvPr/>
        </p:nvSpPr>
        <p:spPr>
          <a:xfrm>
            <a:off x="914400" y="2825496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940 млрд ₽</a:t>
            </a:r>
            <a:endParaRPr lang="en-US" sz="2800" dirty="0"/>
          </a:p>
        </p:txBody>
      </p:sp>
      <p:sp>
        <p:nvSpPr>
          <p:cNvPr id="14" name="fx2_2_4"/>
          <p:cNvSpPr/>
          <p:nvPr/>
        </p:nvSpPr>
        <p:spPr>
          <a:xfrm>
            <a:off x="932688" y="3419856"/>
            <a:ext cx="5650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оборот BNPL в России по оценке сервиса «Долями» (Т-Банк).</a:t>
            </a:r>
            <a:endParaRPr lang="en-US" sz="1200" dirty="0"/>
          </a:p>
        </p:txBody>
      </p:sp>
      <p:sp>
        <p:nvSpPr>
          <p:cNvPr id="15" name="fx2_2_5"/>
          <p:cNvSpPr/>
          <p:nvPr/>
        </p:nvSpPr>
        <p:spPr>
          <a:xfrm>
            <a:off x="905256" y="3941064"/>
            <a:ext cx="5733288" cy="91"/>
          </a:xfrm>
          <a:prstGeom prst="line">
            <a:avLst/>
          </a:prstGeom>
          <a:noFill/>
          <a:ln w="17780">
            <a:solidFill>
              <a:srgbClr val="EF2634"/>
            </a:solidFill>
            <a:prstDash val="solid"/>
          </a:ln>
        </p:spPr>
      </p:sp>
      <p:sp>
        <p:nvSpPr>
          <p:cNvPr id="16" name="fx2_2_6"/>
          <p:cNvSpPr/>
          <p:nvPr/>
        </p:nvSpPr>
        <p:spPr>
          <a:xfrm>
            <a:off x="932688" y="4096512"/>
            <a:ext cx="5632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283-ФЗ · действует с 01.04.2026</a:t>
            </a:r>
            <a:endParaRPr lang="en-US" sz="114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требования к сервисам рассрочки — финансовый контекст, не ярлык поведения.</a:t>
            </a:r>
            <a:endParaRPr lang="en-US" sz="1140" dirty="0"/>
          </a:p>
        </p:txBody>
      </p:sp>
      <p:sp>
        <p:nvSpPr>
          <p:cNvPr id="17" name="fx2_3_7"/>
          <p:cNvSpPr/>
          <p:nvPr/>
        </p:nvSpPr>
        <p:spPr>
          <a:xfrm rot="-60000">
            <a:off x="914400" y="5001768"/>
            <a:ext cx="2907792" cy="33832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2_3_8"/>
          <p:cNvSpPr/>
          <p:nvPr/>
        </p:nvSpPr>
        <p:spPr>
          <a:xfrm>
            <a:off x="969264" y="5042916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BNPL ≠ ИМПУЛЬСИВНОСТЬ</a:t>
            </a:r>
            <a:endParaRPr lang="en-US" sz="910" dirty="0"/>
          </a:p>
        </p:txBody>
      </p:sp>
      <p:sp>
        <p:nvSpPr>
          <p:cNvPr id="19" name="fx2_2_9"/>
          <p:cNvSpPr/>
          <p:nvPr/>
        </p:nvSpPr>
        <p:spPr>
          <a:xfrm>
            <a:off x="7552944" y="1261872"/>
            <a:ext cx="362102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0" name="fx2_2_10" descr="/home/user/MyWorkAiBrain/presentations/impulse/assets/memes/106-rubles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380" y="1321308"/>
            <a:ext cx="3502152" cy="2880360"/>
          </a:xfrm>
          <a:prstGeom prst="rect">
            <a:avLst/>
          </a:prstGeom>
        </p:spPr>
      </p:pic>
      <p:pic>
        <p:nvPicPr>
          <p:cNvPr id="21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977226" y="2975458"/>
            <a:ext cx="3686861" cy="3686861"/>
          </a:xfrm>
          <a:prstGeom prst="rect">
            <a:avLst/>
          </a:prstGeom>
        </p:spPr>
      </p:pic>
      <p:sp>
        <p:nvSpPr>
          <p:cNvPr id="22" name="!!paper-sticker"/>
          <p:cNvSpPr/>
          <p:nvPr/>
        </p:nvSpPr>
        <p:spPr>
          <a:xfrm>
            <a:off x="8530255" y="3528487"/>
            <a:ext cx="2580803" cy="258080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3" name="!!comic-ring"/>
          <p:cNvSpPr/>
          <p:nvPr/>
        </p:nvSpPr>
        <p:spPr>
          <a:xfrm>
            <a:off x="8345912" y="3344144"/>
            <a:ext cx="2949489" cy="294948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4" name="!!m-wallet">
                <a:extLst>
                  <a:ext uri="{FF2B5EF4-FFF2-40B4-BE49-F238E27FC236}">
                    <a16:creationId xmlns:a16="http://schemas.microsoft.com/office/drawing/2014/main" id="{DFA2817D-C2AF-9787-D32E-511F8E124F6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57616" y="3355848"/>
              <a:ext cx="2926080" cy="292608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005966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23045" d="1000000"/>
                    <am3d:preTrans dx="-518519" dy="3585185" dz="-2533333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4" name="!!m-wallet">
                <a:extLst>
                  <a:ext uri="{FF2B5EF4-FFF2-40B4-BE49-F238E27FC236}">
                    <a16:creationId xmlns:a16="http://schemas.microsoft.com/office/drawing/2014/main" id="{DFA2817D-C2AF-9787-D32E-511F8E124F6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57616" y="3355848"/>
                <a:ext cx="2926080" cy="2926080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Shape 16"/>
          <p:cNvSpPr/>
          <p:nvPr/>
        </p:nvSpPr>
        <p:spPr>
          <a:xfrm rot="120000">
            <a:off x="10347350" y="3443630"/>
            <a:ext cx="868680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Text 17"/>
          <p:cNvSpPr/>
          <p:nvPr/>
        </p:nvSpPr>
        <p:spPr>
          <a:xfrm>
            <a:off x="10402214" y="3484778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ПЛАТЁЖ</a:t>
            </a:r>
            <a:endParaRPr lang="en-US" sz="900" dirty="0"/>
          </a:p>
        </p:txBody>
      </p:sp>
      <p:sp>
        <p:nvSpPr>
          <p:cNvPr id="27" name="fx2_3_11"/>
          <p:cNvSpPr/>
          <p:nvPr/>
        </p:nvSpPr>
        <p:spPr>
          <a:xfrm rot="-60000">
            <a:off x="7708392" y="4828032"/>
            <a:ext cx="3246120" cy="429768"/>
          </a:xfrm>
          <a:prstGeom prst="rect">
            <a:avLst/>
          </a:prstGeom>
          <a:solidFill>
            <a:srgbClr val="F5F1E7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2_3_12"/>
          <p:cNvSpPr/>
          <p:nvPr/>
        </p:nvSpPr>
        <p:spPr>
          <a:xfrm>
            <a:off x="7763256" y="4869180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 только зашла посмотреть</a:t>
            </a:r>
            <a:endParaRPr lang="en-US" sz="1000" dirty="0"/>
          </a:p>
        </p:txBody>
      </p:sp>
      <p:sp>
        <p:nvSpPr>
          <p:cNvPr id="29" name="Text 20"/>
          <p:cNvSpPr/>
          <p:nvPr/>
        </p:nvSpPr>
        <p:spPr>
          <a:xfrm>
            <a:off x="658368" y="614476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«Ведомости» / оценка «Долями»; [2] официальный текст 283-ФЗ. Подробности — в файле источников.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cart">
                <a:extLst>
                  <a:ext uri="{FF2B5EF4-FFF2-40B4-BE49-F238E27FC236}">
                    <a16:creationId xmlns:a16="http://schemas.microsoft.com/office/drawing/2014/main" id="{A23A52D4-4026-D65F-FA03-0DE6EBC5CF1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813048" y="3227832"/>
              <a:ext cx="3218688" cy="3218688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3218688" cy="3218688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34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186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cart">
                <a:extLst>
                  <a:ext uri="{FF2B5EF4-FFF2-40B4-BE49-F238E27FC236}">
                    <a16:creationId xmlns:a16="http://schemas.microsoft.com/office/drawing/2014/main" id="{A23A52D4-4026-D65F-FA03-0DE6EBC5CF1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3813048" y="3227832"/>
                <a:ext cx="3218688" cy="3218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!!m-cycle">
                <a:extLst>
                  <a:ext uri="{FF2B5EF4-FFF2-40B4-BE49-F238E27FC236}">
                    <a16:creationId xmlns:a16="http://schemas.microsoft.com/office/drawing/2014/main" id="{71DEC743-98CB-74EE-0E7A-8F1D9D4A0F9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1700784"/>
              <a:ext cx="3438144" cy="3438144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85017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1118" d="1000000"/>
                    <am3d:preTrans dx="1" dy="-894410" dz="-1453417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312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!!m-cycle">
                <a:extLst>
                  <a:ext uri="{FF2B5EF4-FFF2-40B4-BE49-F238E27FC236}">
                    <a16:creationId xmlns:a16="http://schemas.microsoft.com/office/drawing/2014/main" id="{71DEC743-98CB-74EE-0E7A-8F1D9D4A0F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1700784"/>
                <a:ext cx="3438144" cy="343814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1" dur="420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 animBg="1"/>
      <p:bldP spid="17" grpId="0" animBg="1"/>
      <p:bldP spid="18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ВИЖУ → ХОЧУ → КУПИЛ → «ОЙ»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658368" y="1536192"/>
            <a:ext cx="6537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Упрощённая модель: внешний сигнал и эмоция могут ускорить выбор — исход у людей разный.</a:t>
            </a:r>
            <a:endParaRPr lang="en-US" sz="1220" dirty="0"/>
          </a:p>
        </p:txBody>
      </p:sp>
      <p:sp>
        <p:nvSpPr>
          <p:cNvPr id="10" name="fx3_2_0"/>
          <p:cNvSpPr/>
          <p:nvPr/>
        </p:nvSpPr>
        <p:spPr>
          <a:xfrm>
            <a:off x="658368" y="2002536"/>
            <a:ext cx="6419088" cy="960120"/>
          </a:xfrm>
          <a:prstGeom prst="roundRect">
            <a:avLst>
              <a:gd name="adj" fmla="val 2381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3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3">
            <a:alphaModFix amt="96000"/>
          </a:blip>
          <a:stretch>
            <a:fillRect/>
          </a:stretch>
        </p:blipFill>
        <p:spPr>
          <a:xfrm>
            <a:off x="685800" y="2025396"/>
            <a:ext cx="6364224" cy="155448"/>
          </a:xfrm>
          <a:prstGeom prst="rect">
            <a:avLst/>
          </a:prstGeom>
        </p:spPr>
      </p:pic>
      <p:sp>
        <p:nvSpPr>
          <p:cNvPr id="12" name="fx3_2_2"/>
          <p:cNvSpPr/>
          <p:nvPr/>
        </p:nvSpPr>
        <p:spPr>
          <a:xfrm>
            <a:off x="822960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СИГНАЛ</a:t>
            </a:r>
            <a:endParaRPr lang="en-US" sz="1010" dirty="0"/>
          </a:p>
        </p:txBody>
      </p:sp>
      <p:sp>
        <p:nvSpPr>
          <p:cNvPr id="13" name="fx3_2_3"/>
          <p:cNvSpPr/>
          <p:nvPr/>
        </p:nvSpPr>
        <p:spPr>
          <a:xfrm>
            <a:off x="822960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</a:t>
            </a:r>
            <a:endParaRPr lang="en-US" sz="920" dirty="0"/>
          </a:p>
        </p:txBody>
      </p:sp>
      <p:sp>
        <p:nvSpPr>
          <p:cNvPr id="14" name="fx3_2_4"/>
          <p:cNvSpPr/>
          <p:nvPr/>
        </p:nvSpPr>
        <p:spPr>
          <a:xfrm>
            <a:off x="2103120" y="237744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fx3_2_5"/>
          <p:cNvSpPr/>
          <p:nvPr/>
        </p:nvSpPr>
        <p:spPr>
          <a:xfrm>
            <a:off x="2368296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ОТКЛИК</a:t>
            </a:r>
            <a:endParaRPr lang="en-US" sz="1010" dirty="0"/>
          </a:p>
        </p:txBody>
      </p:sp>
      <p:sp>
        <p:nvSpPr>
          <p:cNvPr id="16" name="fx3_2_6"/>
          <p:cNvSpPr/>
          <p:nvPr/>
        </p:nvSpPr>
        <p:spPr>
          <a:xfrm>
            <a:off x="2368296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</a:t>
            </a:r>
            <a:endParaRPr lang="en-US" sz="920" dirty="0"/>
          </a:p>
        </p:txBody>
      </p:sp>
      <p:sp>
        <p:nvSpPr>
          <p:cNvPr id="17" name="fx3_2_7"/>
          <p:cNvSpPr/>
          <p:nvPr/>
        </p:nvSpPr>
        <p:spPr>
          <a:xfrm>
            <a:off x="3648456" y="237744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fx3_2_8"/>
          <p:cNvSpPr/>
          <p:nvPr/>
        </p:nvSpPr>
        <p:spPr>
          <a:xfrm>
            <a:off x="3913632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ДЕЙСТВИЕ</a:t>
            </a:r>
            <a:endParaRPr lang="en-US" sz="1010" dirty="0"/>
          </a:p>
        </p:txBody>
      </p:sp>
      <p:sp>
        <p:nvSpPr>
          <p:cNvPr id="19" name="fx3_2_9"/>
          <p:cNvSpPr/>
          <p:nvPr/>
        </p:nvSpPr>
        <p:spPr>
          <a:xfrm>
            <a:off x="3913632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</a:t>
            </a:r>
            <a:endParaRPr lang="en-US" sz="920" dirty="0"/>
          </a:p>
        </p:txBody>
      </p:sp>
      <p:sp>
        <p:nvSpPr>
          <p:cNvPr id="20" name="fx3_2_10"/>
          <p:cNvSpPr/>
          <p:nvPr/>
        </p:nvSpPr>
        <p:spPr>
          <a:xfrm>
            <a:off x="5193792" y="237744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fx3_2_11"/>
          <p:cNvSpPr/>
          <p:nvPr/>
        </p:nvSpPr>
        <p:spPr>
          <a:xfrm>
            <a:off x="5458968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ПОСЛЕ</a:t>
            </a:r>
            <a:endParaRPr lang="en-US" sz="1010" dirty="0"/>
          </a:p>
        </p:txBody>
      </p:sp>
      <p:sp>
        <p:nvSpPr>
          <p:cNvPr id="22" name="fx3_2_12"/>
          <p:cNvSpPr/>
          <p:nvPr/>
        </p:nvSpPr>
        <p:spPr>
          <a:xfrm>
            <a:off x="5458968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радость / «ой»</a:t>
            </a:r>
            <a:endParaRPr lang="en-US" sz="920" dirty="0"/>
          </a:p>
        </p:txBody>
      </p:sp>
      <p:sp>
        <p:nvSpPr>
          <p:cNvPr id="23" name="fx3_3_13"/>
          <p:cNvSpPr/>
          <p:nvPr/>
        </p:nvSpPr>
        <p:spPr>
          <a:xfrm>
            <a:off x="658368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4" name="fx3_3_14" descr="/home/user/MyWorkAiBrain/presentations/impulse/assets/memes/redbull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268980"/>
            <a:ext cx="941832" cy="941832"/>
          </a:xfrm>
          <a:prstGeom prst="rect">
            <a:avLst/>
          </a:prstGeom>
        </p:spPr>
      </p:pic>
      <p:sp>
        <p:nvSpPr>
          <p:cNvPr id="25" name="fx3_3_15"/>
          <p:cNvSpPr/>
          <p:nvPr/>
        </p:nvSpPr>
        <p:spPr>
          <a:xfrm>
            <a:off x="630936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энергетик</a:t>
            </a:r>
            <a:endParaRPr lang="en-US" sz="820" dirty="0"/>
          </a:p>
        </p:txBody>
      </p:sp>
      <p:sp>
        <p:nvSpPr>
          <p:cNvPr id="26" name="fx3_3_16"/>
          <p:cNvSpPr/>
          <p:nvPr/>
        </p:nvSpPr>
        <p:spPr>
          <a:xfrm>
            <a:off x="1883664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7" name="fx3_3_17" descr="/home/user/MyWorkAiBrain/presentations/impulse/assets/memes/shaver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4812" y="3268980"/>
            <a:ext cx="941832" cy="941832"/>
          </a:xfrm>
          <a:prstGeom prst="rect">
            <a:avLst/>
          </a:prstGeom>
        </p:spPr>
      </p:pic>
      <p:sp>
        <p:nvSpPr>
          <p:cNvPr id="28" name="fx3_3_18"/>
          <p:cNvSpPr/>
          <p:nvPr/>
        </p:nvSpPr>
        <p:spPr>
          <a:xfrm>
            <a:off x="1856232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шаурма</a:t>
            </a:r>
            <a:endParaRPr lang="en-US" sz="820" dirty="0"/>
          </a:p>
        </p:txBody>
      </p:sp>
      <p:sp>
        <p:nvSpPr>
          <p:cNvPr id="29" name="fx3_3_19"/>
          <p:cNvSpPr/>
          <p:nvPr/>
        </p:nvSpPr>
        <p:spPr>
          <a:xfrm>
            <a:off x="3108960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0" name="fx3_3_20" descr="/home/user/MyWorkAiBrain/presentations/impulse/assets/memes/rostic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0108" y="3268980"/>
            <a:ext cx="941832" cy="941832"/>
          </a:xfrm>
          <a:prstGeom prst="rect">
            <a:avLst/>
          </a:prstGeom>
        </p:spPr>
      </p:pic>
      <p:sp>
        <p:nvSpPr>
          <p:cNvPr id="31" name="fx3_3_21"/>
          <p:cNvSpPr/>
          <p:nvPr/>
        </p:nvSpPr>
        <p:spPr>
          <a:xfrm>
            <a:off x="3081528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перекус</a:t>
            </a:r>
            <a:endParaRPr lang="en-US" sz="820" dirty="0"/>
          </a:p>
        </p:txBody>
      </p:sp>
      <p:sp>
        <p:nvSpPr>
          <p:cNvPr id="32" name="fx3_3_22"/>
          <p:cNvSpPr/>
          <p:nvPr/>
        </p:nvSpPr>
        <p:spPr>
          <a:xfrm>
            <a:off x="4334256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3" name="fx3_3_23" descr="/home/user/MyWorkAiBrain/presentations/impulse/assets/memes/kinder-country.jpe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5404" y="3268980"/>
            <a:ext cx="941832" cy="941832"/>
          </a:xfrm>
          <a:prstGeom prst="rect">
            <a:avLst/>
          </a:prstGeom>
        </p:spPr>
      </p:pic>
      <p:sp>
        <p:nvSpPr>
          <p:cNvPr id="34" name="fx3_3_24"/>
          <p:cNvSpPr/>
          <p:nvPr/>
        </p:nvSpPr>
        <p:spPr>
          <a:xfrm>
            <a:off x="4306824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сладкое</a:t>
            </a:r>
            <a:endParaRPr lang="en-US" sz="820" dirty="0"/>
          </a:p>
        </p:txBody>
      </p:sp>
      <p:sp>
        <p:nvSpPr>
          <p:cNvPr id="35" name="fx3_3_25"/>
          <p:cNvSpPr/>
          <p:nvPr/>
        </p:nvSpPr>
        <p:spPr>
          <a:xfrm>
            <a:off x="5559552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6" name="fx3_3_26" descr="/home/user/MyWorkAiBrain/presentations/impulse/assets/memes/coke-zero.jpe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3268980"/>
            <a:ext cx="941832" cy="941832"/>
          </a:xfrm>
          <a:prstGeom prst="rect">
            <a:avLst/>
          </a:prstGeom>
        </p:spPr>
      </p:pic>
      <p:sp>
        <p:nvSpPr>
          <p:cNvPr id="37" name="fx3_3_27"/>
          <p:cNvSpPr/>
          <p:nvPr/>
        </p:nvSpPr>
        <p:spPr>
          <a:xfrm>
            <a:off x="5532120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напиток</a:t>
            </a:r>
            <a:endParaRPr lang="en-US" sz="820" dirty="0"/>
          </a:p>
        </p:txBody>
      </p:sp>
      <p:sp>
        <p:nvSpPr>
          <p:cNvPr id="38" name="fx3_4_28"/>
          <p:cNvSpPr/>
          <p:nvPr/>
        </p:nvSpPr>
        <p:spPr>
          <a:xfrm rot="-24000">
            <a:off x="658368" y="4818888"/>
            <a:ext cx="6382512" cy="566928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9" name="fx3_4_29"/>
          <p:cNvSpPr/>
          <p:nvPr/>
        </p:nvSpPr>
        <p:spPr>
          <a:xfrm>
            <a:off x="713232" y="4860036"/>
            <a:ext cx="6272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 ЭТОГО ДНЯ БРОСАЮ ЛЁГКИЙ ДОФАМИН</a:t>
            </a:r>
            <a:endParaRPr lang="en-US" sz="1520" dirty="0"/>
          </a:p>
        </p:txBody>
      </p:sp>
      <p:pic>
        <p:nvPicPr>
          <p:cNvPr id="40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9">
            <a:alphaModFix amt="62000"/>
          </a:blip>
          <a:stretch>
            <a:fillRect/>
          </a:stretch>
        </p:blipFill>
        <p:spPr>
          <a:xfrm>
            <a:off x="7279721" y="933785"/>
            <a:ext cx="4332061" cy="4332061"/>
          </a:xfrm>
          <a:prstGeom prst="rect">
            <a:avLst/>
          </a:prstGeom>
        </p:spPr>
      </p:pic>
      <p:sp>
        <p:nvSpPr>
          <p:cNvPr id="41" name="!!paper-sticker"/>
          <p:cNvSpPr/>
          <p:nvPr/>
        </p:nvSpPr>
        <p:spPr>
          <a:xfrm>
            <a:off x="7929530" y="1583594"/>
            <a:ext cx="3032443" cy="303244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42" name="!!comic-ring"/>
          <p:cNvSpPr/>
          <p:nvPr/>
        </p:nvSpPr>
        <p:spPr>
          <a:xfrm>
            <a:off x="7712927" y="1366991"/>
            <a:ext cx="3465649" cy="346564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!!m-cycle">
                <a:extLst>
                  <a:ext uri="{FF2B5EF4-FFF2-40B4-BE49-F238E27FC236}">
                    <a16:creationId xmlns:a16="http://schemas.microsoft.com/office/drawing/2014/main" id="{37A938C4-B580-5C26-27E8-A67740AF3EE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1380744"/>
              <a:ext cx="3438144" cy="3438144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85017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1118" d="1000000"/>
                    <am3d:preTrans dx="1" dy="-894410" dz="-1453417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120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!!m-cycle">
                <a:extLst>
                  <a:ext uri="{FF2B5EF4-FFF2-40B4-BE49-F238E27FC236}">
                    <a16:creationId xmlns:a16="http://schemas.microsoft.com/office/drawing/2014/main" id="{37A938C4-B580-5C26-27E8-A67740AF3E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726680" y="1380744"/>
                <a:ext cx="3438144" cy="3438144"/>
              </a:xfrm>
              <a:prstGeom prst="rect">
                <a:avLst/>
              </a:prstGeom>
            </p:spPr>
          </p:pic>
        </mc:Fallback>
      </mc:AlternateContent>
      <p:sp>
        <p:nvSpPr>
          <p:cNvPr id="44" name="Shape 32"/>
          <p:cNvSpPr/>
          <p:nvPr/>
        </p:nvSpPr>
        <p:spPr>
          <a:xfrm rot="120000">
            <a:off x="10064618" y="1483888"/>
            <a:ext cx="694944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5" name="Text 33"/>
          <p:cNvSpPr/>
          <p:nvPr/>
        </p:nvSpPr>
        <p:spPr>
          <a:xfrm>
            <a:off x="10119482" y="1525036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ЦИКЛ</a:t>
            </a:r>
            <a:endParaRPr lang="en-US" sz="900" dirty="0"/>
          </a:p>
        </p:txBody>
      </p:sp>
      <p:sp>
        <p:nvSpPr>
          <p:cNvPr id="46" name="Text 34"/>
          <p:cNvSpPr/>
          <p:nvPr/>
        </p:nvSpPr>
        <p:spPr>
          <a:xfrm>
            <a:off x="658368" y="612648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Теоретическая опора: Rook (1987); Beatty &amp; Ferrell (1998). Схема — концептуальная, не «универсальный закон».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wallet">
                <a:extLst>
                  <a:ext uri="{FF2B5EF4-FFF2-40B4-BE49-F238E27FC236}">
                    <a16:creationId xmlns:a16="http://schemas.microsoft.com/office/drawing/2014/main" id="{4CF671A5-90AE-E585-966E-B9909BC3FEE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520440" y="3675888"/>
              <a:ext cx="2926080" cy="292608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005966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23045" d="1000000"/>
                    <am3d:preTrans dx="-518519" dy="3585185" dz="-2533333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00000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wallet">
                <a:extLst>
                  <a:ext uri="{FF2B5EF4-FFF2-40B4-BE49-F238E27FC236}">
                    <a16:creationId xmlns:a16="http://schemas.microsoft.com/office/drawing/2014/main" id="{4CF671A5-90AE-E585-966E-B9909BC3FE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-3520440" y="3675888"/>
                <a:ext cx="2926080" cy="29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!!m-triggers">
                <a:extLst>
                  <a:ext uri="{FF2B5EF4-FFF2-40B4-BE49-F238E27FC236}">
                    <a16:creationId xmlns:a16="http://schemas.microsoft.com/office/drawing/2014/main" id="{DFB200EE-4D4A-AC28-3E46-65B5DF7C802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2066544"/>
              <a:ext cx="3456432" cy="3456432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5875513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23834" d="1000000"/>
                    <am3d:preTrans dx="9429" dy="-707176" dz="-169722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120000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!!m-triggers">
                <a:extLst>
                  <a:ext uri="{FF2B5EF4-FFF2-40B4-BE49-F238E27FC236}">
                    <a16:creationId xmlns:a16="http://schemas.microsoft.com/office/drawing/2014/main" id="{DFB200EE-4D4A-AC28-3E46-65B5DF7C802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2786055" y="2066544"/>
                <a:ext cx="3456432" cy="345643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6" dur="5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035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ТРИГГЕРЫ НАЖИМАЮТ</a:t>
            </a:r>
            <a:endParaRPr lang="en-US" sz="29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«КУПИТЬ»?</a:t>
            </a:r>
            <a:endParaRPr lang="en-US" sz="29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92808"/>
            <a:ext cx="3291840" cy="210312"/>
          </a:xfrm>
          <a:prstGeom prst="rect">
            <a:avLst/>
          </a:prstGeom>
        </p:spPr>
      </p:pic>
      <p:sp>
        <p:nvSpPr>
          <p:cNvPr id="10" name="fx4_2_0"/>
          <p:cNvSpPr/>
          <p:nvPr/>
        </p:nvSpPr>
        <p:spPr>
          <a:xfrm>
            <a:off x="658368" y="2176272"/>
            <a:ext cx="2980944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4_2_1" descr="/home/user/MyWorkAiBrain/presentations/impulse/assets/memes/where-papa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35708"/>
            <a:ext cx="2862072" cy="2862072"/>
          </a:xfrm>
          <a:prstGeom prst="rect">
            <a:avLst/>
          </a:prstGeom>
        </p:spPr>
      </p:pic>
      <p:sp>
        <p:nvSpPr>
          <p:cNvPr id="12" name="fx4_3_2"/>
          <p:cNvSpPr/>
          <p:nvPr/>
        </p:nvSpPr>
        <p:spPr>
          <a:xfrm rot="-60000">
            <a:off x="877824" y="5294376"/>
            <a:ext cx="2542032" cy="40233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4_3_3"/>
          <p:cNvSpPr/>
          <p:nvPr/>
        </p:nvSpPr>
        <p:spPr>
          <a:xfrm>
            <a:off x="932688" y="5335524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ГДЕ ДЕНЬГИ ПОСЛЕ SALE?</a:t>
            </a:r>
            <a:endParaRPr lang="en-US" sz="930" dirty="0"/>
          </a:p>
        </p:txBody>
      </p:sp>
      <p:sp>
        <p:nvSpPr>
          <p:cNvPr id="14" name="fx4_2_4"/>
          <p:cNvSpPr/>
          <p:nvPr/>
        </p:nvSpPr>
        <p:spPr>
          <a:xfrm>
            <a:off x="3913632" y="1581912"/>
            <a:ext cx="3456432" cy="3986784"/>
          </a:xfrm>
          <a:prstGeom prst="roundRect">
            <a:avLst>
              <a:gd name="adj" fmla="val 661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5" name="fx4_2_5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3941064" y="1604772"/>
            <a:ext cx="3401568" cy="155448"/>
          </a:xfrm>
          <a:prstGeom prst="rect">
            <a:avLst/>
          </a:prstGeom>
        </p:spPr>
      </p:pic>
      <p:sp>
        <p:nvSpPr>
          <p:cNvPr id="16" name="fx4_2_6"/>
          <p:cNvSpPr/>
          <p:nvPr/>
        </p:nvSpPr>
        <p:spPr>
          <a:xfrm>
            <a:off x="4160520" y="190195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FOMO</a:t>
            </a:r>
            <a:endParaRPr lang="en-US" sz="1070" dirty="0"/>
          </a:p>
        </p:txBody>
      </p:sp>
      <p:sp>
        <p:nvSpPr>
          <p:cNvPr id="17" name="fx4_2_7"/>
          <p:cNvSpPr/>
          <p:nvPr/>
        </p:nvSpPr>
        <p:spPr>
          <a:xfrm>
            <a:off x="416052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«вдруг упущу»</a:t>
            </a:r>
            <a:endParaRPr lang="en-US" sz="1050" dirty="0"/>
          </a:p>
        </p:txBody>
      </p:sp>
      <p:sp>
        <p:nvSpPr>
          <p:cNvPr id="18" name="fx4_2_8"/>
          <p:cNvSpPr/>
          <p:nvPr/>
        </p:nvSpPr>
        <p:spPr>
          <a:xfrm>
            <a:off x="4142232" y="2532888"/>
            <a:ext cx="2980944" cy="91"/>
          </a:xfrm>
          <a:prstGeom prst="line">
            <a:avLst/>
          </a:prstGeom>
          <a:noFill/>
          <a:ln w="8255">
            <a:solidFill>
              <a:srgbClr val="9AA4AC">
                <a:alpha val="75000"/>
              </a:srgbClr>
            </a:solidFill>
            <a:prstDash val="solid"/>
          </a:ln>
        </p:spPr>
      </p:sp>
      <p:sp>
        <p:nvSpPr>
          <p:cNvPr id="19" name="fx4_2_9"/>
          <p:cNvSpPr/>
          <p:nvPr/>
        </p:nvSpPr>
        <p:spPr>
          <a:xfrm>
            <a:off x="4160520" y="2688336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286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СРАВНЕНИЕ</a:t>
            </a:r>
            <a:endParaRPr lang="en-US" sz="1070" dirty="0"/>
          </a:p>
        </p:txBody>
      </p:sp>
      <p:sp>
        <p:nvSpPr>
          <p:cNvPr id="20" name="fx4_2_10"/>
          <p:cNvSpPr/>
          <p:nvPr/>
        </p:nvSpPr>
        <p:spPr>
          <a:xfrm>
            <a:off x="4160520" y="295351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всех уже есть»</a:t>
            </a:r>
            <a:endParaRPr lang="en-US" sz="1050" dirty="0"/>
          </a:p>
        </p:txBody>
      </p:sp>
      <p:sp>
        <p:nvSpPr>
          <p:cNvPr id="21" name="fx4_2_11"/>
          <p:cNvSpPr/>
          <p:nvPr/>
        </p:nvSpPr>
        <p:spPr>
          <a:xfrm>
            <a:off x="4142232" y="3319272"/>
            <a:ext cx="2980944" cy="91"/>
          </a:xfrm>
          <a:prstGeom prst="line">
            <a:avLst/>
          </a:prstGeom>
          <a:noFill/>
          <a:ln w="8255">
            <a:solidFill>
              <a:srgbClr val="9AA4AC">
                <a:alpha val="75000"/>
              </a:srgbClr>
            </a:solidFill>
            <a:prstDash val="solid"/>
          </a:ln>
        </p:spPr>
      </p:sp>
      <p:sp>
        <p:nvSpPr>
          <p:cNvPr id="22" name="fx4_2_12"/>
          <p:cNvSpPr/>
          <p:nvPr/>
        </p:nvSpPr>
        <p:spPr>
          <a:xfrm>
            <a:off x="4160520" y="347472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СРОЧНОСТЬ</a:t>
            </a:r>
            <a:endParaRPr lang="en-US" sz="1070" dirty="0"/>
          </a:p>
        </p:txBody>
      </p:sp>
      <p:sp>
        <p:nvSpPr>
          <p:cNvPr id="23" name="fx4_2_13"/>
          <p:cNvSpPr/>
          <p:nvPr/>
        </p:nvSpPr>
        <p:spPr>
          <a:xfrm>
            <a:off x="4160520" y="373989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 · «осталось мало»</a:t>
            </a:r>
            <a:endParaRPr lang="en-US" sz="1050" dirty="0"/>
          </a:p>
        </p:txBody>
      </p:sp>
      <p:sp>
        <p:nvSpPr>
          <p:cNvPr id="24" name="fx4_2_14"/>
          <p:cNvSpPr/>
          <p:nvPr/>
        </p:nvSpPr>
        <p:spPr>
          <a:xfrm>
            <a:off x="4142232" y="4105656"/>
            <a:ext cx="2980944" cy="91"/>
          </a:xfrm>
          <a:prstGeom prst="line">
            <a:avLst/>
          </a:prstGeom>
          <a:noFill/>
          <a:ln w="8255">
            <a:solidFill>
              <a:srgbClr val="9AA4AC">
                <a:alpha val="75000"/>
              </a:srgbClr>
            </a:solidFill>
            <a:prstDash val="solid"/>
          </a:ln>
        </p:spPr>
      </p:sp>
      <p:sp>
        <p:nvSpPr>
          <p:cNvPr id="25" name="fx4_2_15"/>
          <p:cNvSpPr/>
          <p:nvPr/>
        </p:nvSpPr>
        <p:spPr>
          <a:xfrm>
            <a:off x="4160520" y="426110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4F9C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МЕНЬШЕ ТРЕНИЯ</a:t>
            </a:r>
            <a:endParaRPr lang="en-US" sz="1070" dirty="0"/>
          </a:p>
        </p:txBody>
      </p:sp>
      <p:sp>
        <p:nvSpPr>
          <p:cNvPr id="26" name="fx4_2_16"/>
          <p:cNvSpPr/>
          <p:nvPr/>
        </p:nvSpPr>
        <p:spPr>
          <a:xfrm>
            <a:off x="4160520" y="45262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тап · карта сохранена</a:t>
            </a:r>
            <a:endParaRPr lang="en-US" sz="1050" dirty="0"/>
          </a:p>
        </p:txBody>
      </p:sp>
      <p:pic>
        <p:nvPicPr>
          <p:cNvPr id="27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323064" y="1297168"/>
            <a:ext cx="4355104" cy="4355104"/>
          </a:xfrm>
          <a:prstGeom prst="rect">
            <a:avLst/>
          </a:prstGeom>
        </p:spPr>
      </p:pic>
      <p:sp>
        <p:nvSpPr>
          <p:cNvPr id="28" name="!!paper-sticker"/>
          <p:cNvSpPr/>
          <p:nvPr/>
        </p:nvSpPr>
        <p:spPr>
          <a:xfrm>
            <a:off x="7976329" y="1950433"/>
            <a:ext cx="3048573" cy="304857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9" name="!!comic-ring"/>
          <p:cNvSpPr/>
          <p:nvPr/>
        </p:nvSpPr>
        <p:spPr>
          <a:xfrm>
            <a:off x="7758574" y="1732678"/>
            <a:ext cx="3484083" cy="3484083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triggers">
                <a:extLst>
                  <a:ext uri="{FF2B5EF4-FFF2-40B4-BE49-F238E27FC236}">
                    <a16:creationId xmlns:a16="http://schemas.microsoft.com/office/drawing/2014/main" id="{A3C3DC1A-CC53-C6DE-B432-382F729D67E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72400" y="1746504"/>
              <a:ext cx="3456432" cy="3456432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5875513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23834" d="1000000"/>
                    <am3d:preTrans dx="9429" dy="-707176" dz="-169722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triggers">
                <a:extLst>
                  <a:ext uri="{FF2B5EF4-FFF2-40B4-BE49-F238E27FC236}">
                    <a16:creationId xmlns:a16="http://schemas.microsoft.com/office/drawing/2014/main" id="{A3C3DC1A-CC53-C6DE-B432-382F729D67E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72400" y="1746504"/>
                <a:ext cx="3456432" cy="3456432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Shape 22"/>
          <p:cNvSpPr/>
          <p:nvPr/>
        </p:nvSpPr>
        <p:spPr>
          <a:xfrm rot="120000">
            <a:off x="10122774" y="1850197"/>
            <a:ext cx="731520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Text 23"/>
          <p:cNvSpPr/>
          <p:nvPr/>
        </p:nvSpPr>
        <p:spPr>
          <a:xfrm>
            <a:off x="10177638" y="189134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ПИНГ!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658368" y="6153912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Anoop &amp; Rahman (2025); Przybylski et al. (2013); Gibbons &amp; Buunk (1999). Связь ≠ причинность.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4" name="!!m-cycle">
                <a:extLst>
                  <a:ext uri="{FF2B5EF4-FFF2-40B4-BE49-F238E27FC236}">
                    <a16:creationId xmlns:a16="http://schemas.microsoft.com/office/drawing/2014/main" id="{FC1E720E-5228-897E-72D5-77B9CA82F87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32504" y="1700784"/>
              <a:ext cx="3438144" cy="3438144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85017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1118" d="1000000"/>
                    <am3d:preTrans dx="1" dy="-894410" dz="-1453417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552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4" name="!!m-cycle">
                <a:extLst>
                  <a:ext uri="{FF2B5EF4-FFF2-40B4-BE49-F238E27FC236}">
                    <a16:creationId xmlns:a16="http://schemas.microsoft.com/office/drawing/2014/main" id="{FC1E720E-5228-897E-72D5-77B9CA82F8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4032504" y="1700784"/>
                <a:ext cx="3438144" cy="34381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scale">
                <a:extLst>
                  <a:ext uri="{FF2B5EF4-FFF2-40B4-BE49-F238E27FC236}">
                    <a16:creationId xmlns:a16="http://schemas.microsoft.com/office/drawing/2014/main" id="{98CA64FB-925F-2F1F-B642-1B2BD2C8B69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218688"/>
              <a:ext cx="3383280" cy="338328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3383280" cy="3383280"/>
                    </a:xfrm>
                    <a:prstGeom prst="rect">
                      <a:avLst/>
                    </a:prstGeom>
                  </am3d:spPr>
                  <am3d:camera>
                    <am3d:pos x="0" y="0" z="6096773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1716" d="1000000"/>
                    <am3d:preTrans dx="0" dy="47929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18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383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scale">
                <a:extLst>
                  <a:ext uri="{FF2B5EF4-FFF2-40B4-BE49-F238E27FC236}">
                    <a16:creationId xmlns:a16="http://schemas.microsoft.com/office/drawing/2014/main" id="{98CA64FB-925F-2F1F-B642-1B2BD2C8B6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3218688"/>
                <a:ext cx="3383280" cy="3383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4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7208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ГИПОТЕЗЫ — НЕ РЕЗУЛЬТАТЫ</a:t>
            </a:r>
            <a:endParaRPr lang="en-US" sz="29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27048"/>
            <a:ext cx="3657600" cy="219456"/>
          </a:xfrm>
          <a:prstGeom prst="rect">
            <a:avLst/>
          </a:prstGeom>
        </p:spPr>
      </p:pic>
      <p:sp>
        <p:nvSpPr>
          <p:cNvPr id="10" name="fx5_2_0"/>
          <p:cNvSpPr/>
          <p:nvPr/>
        </p:nvSpPr>
        <p:spPr>
          <a:xfrm>
            <a:off x="658368" y="1856232"/>
            <a:ext cx="6446520" cy="832104"/>
          </a:xfrm>
          <a:prstGeom prst="roundRect">
            <a:avLst>
              <a:gd name="adj" fmla="val 274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5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1879092"/>
            <a:ext cx="6391656" cy="155448"/>
          </a:xfrm>
          <a:prstGeom prst="rect">
            <a:avLst/>
          </a:prstGeom>
        </p:spPr>
      </p:pic>
      <p:sp>
        <p:nvSpPr>
          <p:cNvPr id="12" name="fx5_2_2"/>
          <p:cNvSpPr/>
          <p:nvPr/>
        </p:nvSpPr>
        <p:spPr>
          <a:xfrm rot="-120000">
            <a:off x="777240" y="2020824"/>
            <a:ext cx="438912" cy="36576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5_2_3"/>
          <p:cNvSpPr/>
          <p:nvPr/>
        </p:nvSpPr>
        <p:spPr>
          <a:xfrm>
            <a:off x="832104" y="206197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H1</a:t>
            </a:r>
            <a:endParaRPr lang="en-US" sz="1200" dirty="0"/>
          </a:p>
        </p:txBody>
      </p:sp>
      <p:sp>
        <p:nvSpPr>
          <p:cNvPr id="14" name="fx5_2_4"/>
          <p:cNvSpPr/>
          <p:nvPr/>
        </p:nvSpPr>
        <p:spPr>
          <a:xfrm>
            <a:off x="1353312" y="1984248"/>
            <a:ext cx="5586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FoMO ↔ незапланированные покупки</a:t>
            </a:r>
            <a:endParaRPr lang="en-US" sz="1150" dirty="0"/>
          </a:p>
        </p:txBody>
      </p:sp>
      <p:sp>
        <p:nvSpPr>
          <p:cNvPr id="15" name="fx5_2_5"/>
          <p:cNvSpPr/>
          <p:nvPr/>
        </p:nvSpPr>
        <p:spPr>
          <a:xfrm>
            <a:off x="1353312" y="2258568"/>
            <a:ext cx="55686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FoMO — возможно, чаще покупки «не по плану».</a:t>
            </a:r>
            <a:endParaRPr lang="en-US" sz="990" dirty="0"/>
          </a:p>
        </p:txBody>
      </p:sp>
      <p:sp>
        <p:nvSpPr>
          <p:cNvPr id="16" name="fx5_3_6"/>
          <p:cNvSpPr/>
          <p:nvPr/>
        </p:nvSpPr>
        <p:spPr>
          <a:xfrm>
            <a:off x="658368" y="2843784"/>
            <a:ext cx="6446520" cy="832104"/>
          </a:xfrm>
          <a:prstGeom prst="roundRect">
            <a:avLst>
              <a:gd name="adj" fmla="val 274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7" name="fx5_3_7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2866644"/>
            <a:ext cx="6391656" cy="155448"/>
          </a:xfrm>
          <a:prstGeom prst="rect">
            <a:avLst/>
          </a:prstGeom>
        </p:spPr>
      </p:pic>
      <p:sp>
        <p:nvSpPr>
          <p:cNvPr id="18" name="fx5_3_8"/>
          <p:cNvSpPr/>
          <p:nvPr/>
        </p:nvSpPr>
        <p:spPr>
          <a:xfrm rot="-120000">
            <a:off x="777240" y="3008376"/>
            <a:ext cx="438912" cy="365760"/>
          </a:xfrm>
          <a:prstGeom prst="rect">
            <a:avLst/>
          </a:prstGeom>
          <a:solidFill>
            <a:srgbClr val="2860D9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5_3_9"/>
          <p:cNvSpPr/>
          <p:nvPr/>
        </p:nvSpPr>
        <p:spPr>
          <a:xfrm>
            <a:off x="832104" y="304952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H2</a:t>
            </a:r>
            <a:endParaRPr lang="en-US" sz="1200" dirty="0"/>
          </a:p>
        </p:txBody>
      </p:sp>
      <p:sp>
        <p:nvSpPr>
          <p:cNvPr id="20" name="fx5_3_10"/>
          <p:cNvSpPr/>
          <p:nvPr/>
        </p:nvSpPr>
        <p:spPr>
          <a:xfrm>
            <a:off x="1353312" y="2971800"/>
            <a:ext cx="5586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Социальное сравнение ↔ статусные траты</a:t>
            </a:r>
            <a:endParaRPr lang="en-US" sz="1150" dirty="0"/>
          </a:p>
        </p:txBody>
      </p:sp>
      <p:sp>
        <p:nvSpPr>
          <p:cNvPr id="21" name="fx5_3_11"/>
          <p:cNvSpPr/>
          <p:nvPr/>
        </p:nvSpPr>
        <p:spPr>
          <a:xfrm>
            <a:off x="1353312" y="3246120"/>
            <a:ext cx="55686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всех есть» может быть связано с покупками «как у всех».</a:t>
            </a:r>
            <a:endParaRPr lang="en-US" sz="990" dirty="0"/>
          </a:p>
        </p:txBody>
      </p:sp>
      <p:sp>
        <p:nvSpPr>
          <p:cNvPr id="22" name="fx5_4_12"/>
          <p:cNvSpPr/>
          <p:nvPr/>
        </p:nvSpPr>
        <p:spPr>
          <a:xfrm>
            <a:off x="658368" y="3831336"/>
            <a:ext cx="6446520" cy="832104"/>
          </a:xfrm>
          <a:prstGeom prst="roundRect">
            <a:avLst>
              <a:gd name="adj" fmla="val 274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3" name="fx5_4_13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6">
            <a:alphaModFix amt="96000"/>
          </a:blip>
          <a:stretch>
            <a:fillRect/>
          </a:stretch>
        </p:blipFill>
        <p:spPr>
          <a:xfrm>
            <a:off x="685800" y="3854196"/>
            <a:ext cx="6391656" cy="155448"/>
          </a:xfrm>
          <a:prstGeom prst="rect">
            <a:avLst/>
          </a:prstGeom>
        </p:spPr>
      </p:pic>
      <p:sp>
        <p:nvSpPr>
          <p:cNvPr id="24" name="fx5_4_14"/>
          <p:cNvSpPr/>
          <p:nvPr/>
        </p:nvSpPr>
        <p:spPr>
          <a:xfrm rot="-120000">
            <a:off x="777240" y="3995928"/>
            <a:ext cx="438912" cy="365760"/>
          </a:xfrm>
          <a:prstGeom prst="rect">
            <a:avLst/>
          </a:prstGeom>
          <a:solidFill>
            <a:srgbClr val="4F9C75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5_4_15"/>
          <p:cNvSpPr/>
          <p:nvPr/>
        </p:nvSpPr>
        <p:spPr>
          <a:xfrm>
            <a:off x="832104" y="40370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H3</a:t>
            </a:r>
            <a:endParaRPr lang="en-US" sz="1200" dirty="0"/>
          </a:p>
        </p:txBody>
      </p:sp>
      <p:sp>
        <p:nvSpPr>
          <p:cNvPr id="26" name="fx5_4_16"/>
          <p:cNvSpPr/>
          <p:nvPr/>
        </p:nvSpPr>
        <p:spPr>
          <a:xfrm>
            <a:off x="1353312" y="3959352"/>
            <a:ext cx="5586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Финансовые знания ↔ импульсивность</a:t>
            </a:r>
            <a:endParaRPr lang="en-US" sz="1150" dirty="0"/>
          </a:p>
        </p:txBody>
      </p:sp>
      <p:sp>
        <p:nvSpPr>
          <p:cNvPr id="27" name="fx5_4_17"/>
          <p:cNvSpPr/>
          <p:nvPr/>
        </p:nvSpPr>
        <p:spPr>
          <a:xfrm>
            <a:off x="1353312" y="4233672"/>
            <a:ext cx="55686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связь; не обещаем, что знания «выключат» эмоции.</a:t>
            </a:r>
            <a:endParaRPr lang="en-US" sz="990" dirty="0"/>
          </a:p>
        </p:txBody>
      </p:sp>
      <p:sp>
        <p:nvSpPr>
          <p:cNvPr id="28" name="fx5_5_18"/>
          <p:cNvSpPr/>
          <p:nvPr/>
        </p:nvSpPr>
        <p:spPr>
          <a:xfrm rot="24000">
            <a:off x="658368" y="5001768"/>
            <a:ext cx="6382512" cy="46634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5_5_19"/>
          <p:cNvSpPr/>
          <p:nvPr/>
        </p:nvSpPr>
        <p:spPr>
          <a:xfrm>
            <a:off x="713232" y="5042916"/>
            <a:ext cx="627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СНАЧАЛА ИЗМЕРИТЬ. ПОТОМ ДЕЛАТЬ ВЫВОД.</a:t>
            </a:r>
            <a:endParaRPr lang="en-US" sz="1210" dirty="0"/>
          </a:p>
        </p:txBody>
      </p:sp>
      <p:sp>
        <p:nvSpPr>
          <p:cNvPr id="30" name="fx5_2_20"/>
          <p:cNvSpPr/>
          <p:nvPr/>
        </p:nvSpPr>
        <p:spPr>
          <a:xfrm>
            <a:off x="7918704" y="1069848"/>
            <a:ext cx="3383280" cy="2414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1" name="fx5_2_21" descr="/home/user/MyWorkAiBrain/presentations/impulse/assets/memes/serotonin-cat.jpe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8140" y="1129284"/>
            <a:ext cx="3264408" cy="2295144"/>
          </a:xfrm>
          <a:prstGeom prst="rect">
            <a:avLst/>
          </a:prstGeom>
        </p:spPr>
      </p:pic>
      <p:pic>
        <p:nvPicPr>
          <p:cNvPr id="32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8">
            <a:alphaModFix amt="62000"/>
          </a:blip>
          <a:stretch>
            <a:fillRect/>
          </a:stretch>
        </p:blipFill>
        <p:spPr>
          <a:xfrm>
            <a:off x="7323430" y="2458822"/>
            <a:ext cx="4262933" cy="4262933"/>
          </a:xfrm>
          <a:prstGeom prst="rect">
            <a:avLst/>
          </a:prstGeom>
        </p:spPr>
      </p:pic>
      <p:sp>
        <p:nvSpPr>
          <p:cNvPr id="33" name="!!paper-sticker"/>
          <p:cNvSpPr/>
          <p:nvPr/>
        </p:nvSpPr>
        <p:spPr>
          <a:xfrm>
            <a:off x="7962870" y="3098262"/>
            <a:ext cx="2984053" cy="298405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4" name="!!comic-ring"/>
          <p:cNvSpPr/>
          <p:nvPr/>
        </p:nvSpPr>
        <p:spPr>
          <a:xfrm>
            <a:off x="7749723" y="2885115"/>
            <a:ext cx="3410346" cy="3410346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scale">
                <a:extLst>
                  <a:ext uri="{FF2B5EF4-FFF2-40B4-BE49-F238E27FC236}">
                    <a16:creationId xmlns:a16="http://schemas.microsoft.com/office/drawing/2014/main" id="{927E6E88-CBD5-3A07-0D7F-4380D7B7C0A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63256" y="2898648"/>
              <a:ext cx="3383280" cy="338328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3383280" cy="3383280"/>
                    </a:xfrm>
                    <a:prstGeom prst="rect">
                      <a:avLst/>
                    </a:prstGeom>
                  </am3d:spPr>
                  <am3d:camera>
                    <am3d:pos x="0" y="0" z="6096773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1716" d="1000000"/>
                    <am3d:preTrans dx="0" dy="47929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14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383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scale">
                <a:extLst>
                  <a:ext uri="{FF2B5EF4-FFF2-40B4-BE49-F238E27FC236}">
                    <a16:creationId xmlns:a16="http://schemas.microsoft.com/office/drawing/2014/main" id="{927E6E88-CBD5-3A07-0D7F-4380D7B7C0A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763256" y="2898648"/>
                <a:ext cx="3383280" cy="3383280"/>
              </a:xfrm>
              <a:prstGeom prst="rect">
                <a:avLst/>
              </a:prstGeom>
            </p:spPr>
          </p:pic>
        </mc:Fallback>
      </mc:AlternateContent>
      <p:sp>
        <p:nvSpPr>
          <p:cNvPr id="36" name="Shape 25"/>
          <p:cNvSpPr/>
          <p:nvPr/>
        </p:nvSpPr>
        <p:spPr>
          <a:xfrm rot="120000">
            <a:off x="10063886" y="3000146"/>
            <a:ext cx="841248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7" name="Text 26"/>
          <p:cNvSpPr/>
          <p:nvPr/>
        </p:nvSpPr>
        <p:spPr>
          <a:xfrm>
            <a:off x="10118750" y="304129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H1–H3</a:t>
            </a:r>
            <a:endParaRPr lang="en-US" sz="900" dirty="0"/>
          </a:p>
        </p:txBody>
      </p:sp>
      <p:sp>
        <p:nvSpPr>
          <p:cNvPr id="38" name="Text 27"/>
          <p:cNvSpPr/>
          <p:nvPr/>
        </p:nvSpPr>
        <p:spPr>
          <a:xfrm>
            <a:off x="658368" y="6144768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 [5] · социальное сравнение [6] · финансовая грамотность [7]. Подробные шкалы и ограничения — в источниках.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triggers">
                <a:extLst>
                  <a:ext uri="{FF2B5EF4-FFF2-40B4-BE49-F238E27FC236}">
                    <a16:creationId xmlns:a16="http://schemas.microsoft.com/office/drawing/2014/main" id="{3668D81B-8C41-5FC8-6903-5129A9D0C91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50792" y="2066544"/>
              <a:ext cx="3456432" cy="3456432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5875513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23834" d="1000000"/>
                    <am3d:preTrans dx="9429" dy="-707176" dz="-169722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552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triggers">
                <a:extLst>
                  <a:ext uri="{FF2B5EF4-FFF2-40B4-BE49-F238E27FC236}">
                    <a16:creationId xmlns:a16="http://schemas.microsoft.com/office/drawing/2014/main" id="{3668D81B-8C41-5FC8-6903-5129A9D0C91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-4050792" y="2066544"/>
                <a:ext cx="3456432" cy="34564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chestnut">
                <a:extLst>
                  <a:ext uri="{FF2B5EF4-FFF2-40B4-BE49-F238E27FC236}">
                    <a16:creationId xmlns:a16="http://schemas.microsoft.com/office/drawing/2014/main" id="{25022D58-50C2-7885-9443-7CAC60ACEF4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2889504"/>
              <a:ext cx="3264408" cy="3264408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3264408" cy="3264408"/>
                    </a:xfrm>
                    <a:prstGeom prst="rect">
                      <a:avLst/>
                    </a:prstGeom>
                  </am3d:spPr>
                  <am3d:camera>
                    <am3d:pos x="0" y="0" z="778055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1313" d="1000000"/>
                    <am3d:preTrans dx="-26856" dy="-2766516" dz="1458806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240000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6440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chestnut">
                <a:extLst>
                  <a:ext uri="{FF2B5EF4-FFF2-40B4-BE49-F238E27FC236}">
                    <a16:creationId xmlns:a16="http://schemas.microsoft.com/office/drawing/2014/main" id="{25022D58-50C2-7885-9443-7CAC60ACEF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786055" y="2889504"/>
                <a:ext cx="3264408" cy="326440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4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30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Text 4"/>
          <p:cNvSpPr/>
          <p:nvPr/>
        </p:nvSpPr>
        <p:spPr>
          <a:xfrm>
            <a:off x="658368" y="768096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10" b="1" spc="45" kern="0" dirty="0">
                <a:solidFill>
                  <a:srgbClr val="FFD8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ОБЯЗАТЕЛЬНАЯ ВСТАВКА ИЗ ОРИГИНАЛА</a:t>
            </a:r>
            <a:endParaRPr lang="en-US" sz="910" dirty="0"/>
          </a:p>
        </p:txBody>
      </p:sp>
      <p:sp>
        <p:nvSpPr>
          <p:cNvPr id="9" name="!!meme-title"/>
          <p:cNvSpPr/>
          <p:nvPr/>
        </p:nvSpPr>
        <p:spPr>
          <a:xfrm>
            <a:off x="658368" y="1078992"/>
            <a:ext cx="6080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КАШТАН —</a:t>
            </a:r>
            <a:endParaRPr lang="en-US" sz="37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7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 ОБЯЗАТЕЛЬНО</a:t>
            </a:r>
            <a:endParaRPr lang="en-US" sz="3700" dirty="0"/>
          </a:p>
        </p:txBody>
      </p:sp>
      <p:pic>
        <p:nvPicPr>
          <p:cNvPr id="10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4297680" cy="274320"/>
          </a:xfrm>
          <a:prstGeom prst="rect">
            <a:avLst/>
          </a:prstGeom>
        </p:spPr>
      </p:pic>
      <p:sp>
        <p:nvSpPr>
          <p:cNvPr id="11" name="fx6_2_0"/>
          <p:cNvSpPr/>
          <p:nvPr/>
        </p:nvSpPr>
        <p:spPr>
          <a:xfrm>
            <a:off x="658368" y="3017520"/>
            <a:ext cx="5916168" cy="2231136"/>
          </a:xfrm>
          <a:prstGeom prst="roundRect">
            <a:avLst>
              <a:gd name="adj" fmla="val 102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2" name="fx6_2_1" descr="/home/user/MyWorkAiBrain/presentations/impulse/assets/memes/notebook-lines-horizontal.png">    </p:cNvPr>
          <p:cNvPicPr>
            <a:picLocks noChangeAspect="1"/>
          </p:cNvPicPr>
          <p:nvPr/>
        </p:nvPicPr>
        <p:blipFill>
          <a:blip r:embed="rId4">
            <a:alphaModFix amt="64000"/>
          </a:blip>
          <a:stretch>
            <a:fillRect/>
          </a:stretch>
        </p:blipFill>
        <p:spPr>
          <a:xfrm>
            <a:off x="690372" y="3058668"/>
            <a:ext cx="5852160" cy="2148840"/>
          </a:xfrm>
          <a:prstGeom prst="rect">
            <a:avLst/>
          </a:prstGeom>
        </p:spPr>
      </p:pic>
      <p:pic>
        <p:nvPicPr>
          <p:cNvPr id="13" name="fx6_2_2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3040380"/>
            <a:ext cx="5861304" cy="155448"/>
          </a:xfrm>
          <a:prstGeom prst="rect">
            <a:avLst/>
          </a:prstGeom>
        </p:spPr>
      </p:pic>
      <p:sp>
        <p:nvSpPr>
          <p:cNvPr id="14" name="fx6_2_3"/>
          <p:cNvSpPr/>
          <p:nvPr/>
        </p:nvSpPr>
        <p:spPr>
          <a:xfrm>
            <a:off x="914400" y="33192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 презентации — без торга.</a:t>
            </a:r>
            <a:endParaRPr lang="en-US" sz="1700" dirty="0"/>
          </a:p>
        </p:txBody>
      </p:sp>
      <p:sp>
        <p:nvSpPr>
          <p:cNvPr id="15" name="fx6_2_4"/>
          <p:cNvSpPr/>
          <p:nvPr/>
        </p:nvSpPr>
        <p:spPr>
          <a:xfrm>
            <a:off x="914400" y="3767328"/>
            <a:ext cx="5376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 магазине: «Я это планировал?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Зачем мне это? Какова полная цена?»</a:t>
            </a:r>
            <a:endParaRPr lang="en-US" sz="1300" dirty="0"/>
          </a:p>
        </p:txBody>
      </p:sp>
      <p:sp>
        <p:nvSpPr>
          <p:cNvPr id="16" name="fx6_2_5"/>
          <p:cNvSpPr/>
          <p:nvPr/>
        </p:nvSpPr>
        <p:spPr>
          <a:xfrm>
            <a:off x="914400" y="4645152"/>
            <a:ext cx="53400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Каштан здесь — мем-кейс, а не ответ респондента и не научная переменная.</a:t>
            </a:r>
            <a:endParaRPr lang="en-US" sz="1050" dirty="0"/>
          </a:p>
        </p:txBody>
      </p:sp>
      <p:sp>
        <p:nvSpPr>
          <p:cNvPr id="17" name="fx6_2_6"/>
          <p:cNvSpPr/>
          <p:nvPr/>
        </p:nvSpPr>
        <p:spPr>
          <a:xfrm>
            <a:off x="6894576" y="1097280"/>
            <a:ext cx="3383280" cy="2258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8" name="fx6_2_7" descr="/home/user/MyWorkAiBrain/presentations/impulse/assets/memes/chestnuts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4012" y="1156716"/>
            <a:ext cx="3264408" cy="2139696"/>
          </a:xfrm>
          <a:prstGeom prst="rect">
            <a:avLst/>
          </a:prstGeom>
        </p:spPr>
      </p:pic>
      <p:pic>
        <p:nvPicPr>
          <p:cNvPr id="19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7">
            <a:alphaModFix amt="62000"/>
          </a:blip>
          <a:stretch>
            <a:fillRect/>
          </a:stretch>
        </p:blipFill>
        <p:spPr>
          <a:xfrm>
            <a:off x="7832659" y="2145091"/>
            <a:ext cx="4113154" cy="4113154"/>
          </a:xfrm>
          <a:prstGeom prst="rect">
            <a:avLst/>
          </a:prstGeom>
        </p:spPr>
      </p:pic>
      <p:sp>
        <p:nvSpPr>
          <p:cNvPr id="20" name="!!paper-sticker"/>
          <p:cNvSpPr/>
          <p:nvPr/>
        </p:nvSpPr>
        <p:spPr>
          <a:xfrm>
            <a:off x="8449632" y="2762064"/>
            <a:ext cx="2879208" cy="2879208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1" name="!!comic-ring"/>
          <p:cNvSpPr/>
          <p:nvPr/>
        </p:nvSpPr>
        <p:spPr>
          <a:xfrm>
            <a:off x="8243974" y="2556406"/>
            <a:ext cx="3290523" cy="3290523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!!m-chestnut">
                <a:extLst>
                  <a:ext uri="{FF2B5EF4-FFF2-40B4-BE49-F238E27FC236}">
                    <a16:creationId xmlns:a16="http://schemas.microsoft.com/office/drawing/2014/main" id="{4FC485B5-E967-DCE9-E7F4-3FA83329B95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257032" y="2569464"/>
              <a:ext cx="3264408" cy="3264408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3264408" cy="3264408"/>
                    </a:xfrm>
                    <a:prstGeom prst="rect">
                      <a:avLst/>
                    </a:prstGeom>
                  </am3d:spPr>
                  <am3d:camera>
                    <am3d:pos x="0" y="0" z="778055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1313" d="1000000"/>
                    <am3d:preTrans dx="-26856" dy="-2766516" dz="1458806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6440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!!m-chestnut">
                <a:extLst>
                  <a:ext uri="{FF2B5EF4-FFF2-40B4-BE49-F238E27FC236}">
                    <a16:creationId xmlns:a16="http://schemas.microsoft.com/office/drawing/2014/main" id="{4FC485B5-E967-DCE9-E7F4-3FA83329B9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57032" y="2569464"/>
                <a:ext cx="3264408" cy="3264408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Shape 13"/>
          <p:cNvSpPr/>
          <p:nvPr/>
        </p:nvSpPr>
        <p:spPr>
          <a:xfrm rot="120000">
            <a:off x="10476829" y="2667396"/>
            <a:ext cx="804672" cy="34747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Text 14"/>
          <p:cNvSpPr/>
          <p:nvPr/>
        </p:nvSpPr>
        <p:spPr>
          <a:xfrm>
            <a:off x="10531693" y="2708544"/>
            <a:ext cx="6949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900" dirty="0"/>
          </a:p>
        </p:txBody>
      </p:sp>
      <p:sp>
        <p:nvSpPr>
          <p:cNvPr id="25" name="fx6_3_8"/>
          <p:cNvSpPr/>
          <p:nvPr/>
        </p:nvSpPr>
        <p:spPr>
          <a:xfrm rot="60000">
            <a:off x="9774936" y="768096"/>
            <a:ext cx="1444752" cy="438912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fx6_3_9"/>
          <p:cNvSpPr/>
          <p:nvPr/>
        </p:nvSpPr>
        <p:spPr>
          <a:xfrm>
            <a:off x="9829800" y="809244"/>
            <a:ext cx="133502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КАШТАН</a:t>
            </a:r>
            <a:endParaRPr lang="en-US" sz="1300" dirty="0"/>
          </a:p>
        </p:txBody>
      </p:sp>
      <p:sp>
        <p:nvSpPr>
          <p:cNvPr id="27" name="Text 17"/>
          <p:cNvSpPr/>
          <p:nvPr/>
        </p:nvSpPr>
        <p:spPr>
          <a:xfrm>
            <a:off x="658368" y="6099048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Каштан: исходное фото сохранено. 100% — обязательность слайда, а не процент из исследования.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8" name="!!m-scale">
                <a:extLst>
                  <a:ext uri="{FF2B5EF4-FFF2-40B4-BE49-F238E27FC236}">
                    <a16:creationId xmlns:a16="http://schemas.microsoft.com/office/drawing/2014/main" id="{4E9A924D-600C-CF01-534D-F6FAC865F87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977640" y="3218688"/>
              <a:ext cx="3383280" cy="338328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3383280" cy="3383280"/>
                    </a:xfrm>
                    <a:prstGeom prst="rect">
                      <a:avLst/>
                    </a:prstGeom>
                  </am3d:spPr>
                  <am3d:camera>
                    <am3d:pos x="0" y="0" z="6096773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1716" d="1000000"/>
                    <am3d:preTrans dx="0" dy="47929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46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383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8" name="!!m-scale">
                <a:extLst>
                  <a:ext uri="{FF2B5EF4-FFF2-40B4-BE49-F238E27FC236}">
                    <a16:creationId xmlns:a16="http://schemas.microsoft.com/office/drawing/2014/main" id="{4E9A924D-600C-CF01-534D-F6FAC865F8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-3977640" y="3218688"/>
                <a:ext cx="3383280" cy="338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9" name="!!m-clipboard">
                <a:extLst>
                  <a:ext uri="{FF2B5EF4-FFF2-40B4-BE49-F238E27FC236}">
                    <a16:creationId xmlns:a16="http://schemas.microsoft.com/office/drawing/2014/main" id="{9DAAAD1D-1E49-4138-855E-7D54D3DC98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1883664"/>
              <a:ext cx="3438144" cy="3438144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2252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-2985701" dy="0" dz="-194444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18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9" name="!!m-clipboard">
                <a:extLst>
                  <a:ext uri="{FF2B5EF4-FFF2-40B4-BE49-F238E27FC236}">
                    <a16:creationId xmlns:a16="http://schemas.microsoft.com/office/drawing/2014/main" id="{9DAAAD1D-1E49-4138-855E-7D54D3DC98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786055" y="1883664"/>
                <a:ext cx="3438144" cy="343814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6" dur="4208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6" grpId="0" animBg="1"/>
      <p:bldP spid="17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903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27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ОПРОС: АНОНИМНО,</a:t>
            </a:r>
            <a:endParaRPr lang="en-US" sz="2750" dirty="0"/>
          </a:p>
          <a:p>
            <a:pPr algn="l" indent="0" marL="0">
              <a:lnSpc>
                <a:spcPct val="91000"/>
              </a:lnSpc>
              <a:buNone/>
            </a:pPr>
            <a:r>
              <a:rPr lang="en-US" sz="27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ДОБРОВОЛЬНО, БЕЗ СПИСАНИЙ</a:t>
            </a:r>
            <a:endParaRPr lang="en-US" sz="275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20240"/>
            <a:ext cx="3794760" cy="219456"/>
          </a:xfrm>
          <a:prstGeom prst="rect">
            <a:avLst/>
          </a:prstGeom>
        </p:spPr>
      </p:pic>
      <p:sp>
        <p:nvSpPr>
          <p:cNvPr id="10" name="fx7_2_0"/>
          <p:cNvSpPr/>
          <p:nvPr/>
        </p:nvSpPr>
        <p:spPr>
          <a:xfrm>
            <a:off x="658368" y="2249424"/>
            <a:ext cx="6355080" cy="3401568"/>
          </a:xfrm>
          <a:prstGeom prst="roundRect">
            <a:avLst>
              <a:gd name="adj" fmla="val 672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7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272284"/>
            <a:ext cx="6300216" cy="155448"/>
          </a:xfrm>
          <a:prstGeom prst="rect">
            <a:avLst/>
          </a:prstGeom>
        </p:spPr>
      </p:pic>
      <p:sp>
        <p:nvSpPr>
          <p:cNvPr id="12" name="fx7_2_2"/>
          <p:cNvSpPr/>
          <p:nvPr/>
        </p:nvSpPr>
        <p:spPr>
          <a:xfrm>
            <a:off x="914400" y="2523744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≥ 50</a:t>
            </a:r>
            <a:endParaRPr lang="en-US" sz="2700" dirty="0"/>
          </a:p>
        </p:txBody>
      </p:sp>
      <p:sp>
        <p:nvSpPr>
          <p:cNvPr id="13" name="fx7_2_3"/>
          <p:cNvSpPr/>
          <p:nvPr/>
        </p:nvSpPr>
        <p:spPr>
          <a:xfrm>
            <a:off x="2706624" y="25877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пилотная удобная выборка —</a:t>
            </a:r>
            <a:endParaRPr lang="en-US" sz="114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«все студенты России»</a:t>
            </a:r>
            <a:endParaRPr lang="en-US" sz="1140" dirty="0"/>
          </a:p>
        </p:txBody>
      </p:sp>
      <p:sp>
        <p:nvSpPr>
          <p:cNvPr id="14" name="fx7_2_4"/>
          <p:cNvSpPr/>
          <p:nvPr/>
        </p:nvSpPr>
        <p:spPr>
          <a:xfrm>
            <a:off x="932688" y="3355848"/>
            <a:ext cx="722376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5" name="fx7_2_5"/>
          <p:cNvSpPr/>
          <p:nvPr/>
        </p:nvSpPr>
        <p:spPr>
          <a:xfrm>
            <a:off x="987552" y="3396996"/>
            <a:ext cx="612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КТО</a:t>
            </a:r>
            <a:endParaRPr lang="en-US" sz="950" dirty="0"/>
          </a:p>
        </p:txBody>
      </p:sp>
      <p:sp>
        <p:nvSpPr>
          <p:cNvPr id="16" name="fx7_2_6"/>
          <p:cNvSpPr/>
          <p:nvPr/>
        </p:nvSpPr>
        <p:spPr>
          <a:xfrm>
            <a:off x="1810512" y="3387852"/>
            <a:ext cx="47548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студенты 18–25 лет</a:t>
            </a:r>
            <a:endParaRPr lang="en-US" sz="1040" dirty="0"/>
          </a:p>
        </p:txBody>
      </p:sp>
      <p:sp>
        <p:nvSpPr>
          <p:cNvPr id="17" name="fx7_2_7"/>
          <p:cNvSpPr/>
          <p:nvPr/>
        </p:nvSpPr>
        <p:spPr>
          <a:xfrm>
            <a:off x="932688" y="3977640"/>
            <a:ext cx="722376" cy="310896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7_2_8"/>
          <p:cNvSpPr/>
          <p:nvPr/>
        </p:nvSpPr>
        <p:spPr>
          <a:xfrm>
            <a:off x="987552" y="4018788"/>
            <a:ext cx="612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</a:t>
            </a:r>
            <a:endParaRPr lang="en-US" sz="950" dirty="0"/>
          </a:p>
        </p:txBody>
      </p:sp>
      <p:sp>
        <p:nvSpPr>
          <p:cNvPr id="19" name="fx7_2_9"/>
          <p:cNvSpPr/>
          <p:nvPr/>
        </p:nvSpPr>
        <p:spPr>
          <a:xfrm>
            <a:off x="1810512" y="4009644"/>
            <a:ext cx="47548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эпизоды за 30 дней · BNPL отдельно</a:t>
            </a:r>
            <a:endParaRPr lang="en-US" sz="1040" dirty="0"/>
          </a:p>
        </p:txBody>
      </p:sp>
      <p:sp>
        <p:nvSpPr>
          <p:cNvPr id="20" name="fx7_2_10"/>
          <p:cNvSpPr/>
          <p:nvPr/>
        </p:nvSpPr>
        <p:spPr>
          <a:xfrm>
            <a:off x="932688" y="4599432"/>
            <a:ext cx="722376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7_2_11"/>
          <p:cNvSpPr/>
          <p:nvPr/>
        </p:nvSpPr>
        <p:spPr>
          <a:xfrm>
            <a:off x="987552" y="4640580"/>
            <a:ext cx="612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КАК</a:t>
            </a:r>
            <a:endParaRPr lang="en-US" sz="950" dirty="0"/>
          </a:p>
        </p:txBody>
      </p:sp>
      <p:sp>
        <p:nvSpPr>
          <p:cNvPr id="22" name="fx7_2_12"/>
          <p:cNvSpPr/>
          <p:nvPr/>
        </p:nvSpPr>
        <p:spPr>
          <a:xfrm>
            <a:off x="1810512" y="4631436"/>
            <a:ext cx="47548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добровольно · анонимно · минимум данных</a:t>
            </a:r>
            <a:endParaRPr lang="en-US" sz="1040" dirty="0"/>
          </a:p>
        </p:txBody>
      </p:sp>
      <p:sp>
        <p:nvSpPr>
          <p:cNvPr id="23" name="fx7_2_13"/>
          <p:cNvSpPr/>
          <p:nvPr/>
        </p:nvSpPr>
        <p:spPr>
          <a:xfrm>
            <a:off x="932688" y="530352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Измерения: FoMO · социальное сравнение · финансовые знания · импульсивные покупки.</a:t>
            </a:r>
            <a:endParaRPr lang="en-US" sz="990" dirty="0"/>
          </a:p>
        </p:txBody>
      </p:sp>
      <p:pic>
        <p:nvPicPr>
          <p:cNvPr id="24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5">
            <a:alphaModFix amt="62000"/>
          </a:blip>
          <a:stretch>
            <a:fillRect/>
          </a:stretch>
        </p:blipFill>
        <p:spPr>
          <a:xfrm>
            <a:off x="7343729" y="1116665"/>
            <a:ext cx="4332061" cy="4332061"/>
          </a:xfrm>
          <a:prstGeom prst="rect">
            <a:avLst/>
          </a:prstGeom>
        </p:spPr>
      </p:pic>
      <p:sp>
        <p:nvSpPr>
          <p:cNvPr id="25" name="!!paper-sticker"/>
          <p:cNvSpPr/>
          <p:nvPr/>
        </p:nvSpPr>
        <p:spPr>
          <a:xfrm>
            <a:off x="7993538" y="1766474"/>
            <a:ext cx="3032443" cy="303244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6" name="!!comic-ring"/>
          <p:cNvSpPr/>
          <p:nvPr/>
        </p:nvSpPr>
        <p:spPr>
          <a:xfrm>
            <a:off x="7776935" y="1549871"/>
            <a:ext cx="3465649" cy="346564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7" name="!!m-clipboard">
                <a:extLst>
                  <a:ext uri="{FF2B5EF4-FFF2-40B4-BE49-F238E27FC236}">
                    <a16:creationId xmlns:a16="http://schemas.microsoft.com/office/drawing/2014/main" id="{E05A65C9-2A7A-0475-48BF-D779F2550A4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90688" y="1563624"/>
              <a:ext cx="3438144" cy="3438144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2252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-2985701" dy="0" dz="-194444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1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7" name="!!m-clipboard">
                <a:extLst>
                  <a:ext uri="{FF2B5EF4-FFF2-40B4-BE49-F238E27FC236}">
                    <a16:creationId xmlns:a16="http://schemas.microsoft.com/office/drawing/2014/main" id="{E05A65C9-2A7A-0475-48BF-D779F2550A4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90688" y="1563624"/>
                <a:ext cx="3438144" cy="3438144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Shape 20"/>
          <p:cNvSpPr/>
          <p:nvPr/>
        </p:nvSpPr>
        <p:spPr>
          <a:xfrm rot="120000">
            <a:off x="10128626" y="1666768"/>
            <a:ext cx="932688" cy="34747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Text 21"/>
          <p:cNvSpPr/>
          <p:nvPr/>
        </p:nvSpPr>
        <p:spPr>
          <a:xfrm>
            <a:off x="10183490" y="1707916"/>
            <a:ext cx="822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АНКЕТА</a:t>
            </a:r>
            <a:endParaRPr lang="en-US" sz="900" dirty="0"/>
          </a:p>
        </p:txBody>
      </p:sp>
      <p:sp>
        <p:nvSpPr>
          <p:cNvPr id="30" name="fx7_3_14"/>
          <p:cNvSpPr/>
          <p:nvPr/>
        </p:nvSpPr>
        <p:spPr>
          <a:xfrm rot="-120000">
            <a:off x="9592056" y="4864608"/>
            <a:ext cx="1005840" cy="47548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7_3_15"/>
          <p:cNvSpPr/>
          <p:nvPr/>
        </p:nvSpPr>
        <p:spPr>
          <a:xfrm>
            <a:off x="9646920" y="4905756"/>
            <a:ext cx="896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₽0</a:t>
            </a:r>
            <a:endParaRPr lang="en-US" sz="1900" dirty="0"/>
          </a:p>
        </p:txBody>
      </p:sp>
      <p:sp>
        <p:nvSpPr>
          <p:cNvPr id="32" name="Text 24"/>
          <p:cNvSpPr/>
          <p:nvPr/>
        </p:nvSpPr>
        <p:spPr>
          <a:xfrm>
            <a:off x="658368" y="6135624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Шкалы и финансовые вопросы: [5]–[7]. Перевод и понятность нужно проверить до запуска.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chestnut">
                <a:extLst>
                  <a:ext uri="{FF2B5EF4-FFF2-40B4-BE49-F238E27FC236}">
                    <a16:creationId xmlns:a16="http://schemas.microsoft.com/office/drawing/2014/main" id="{9915C033-C7B9-63A5-EEC0-1450ABB74E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858768" y="2889504"/>
              <a:ext cx="3264408" cy="3264408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3264408" cy="3264408"/>
                    </a:xfrm>
                    <a:prstGeom prst="rect">
                      <a:avLst/>
                    </a:prstGeom>
                  </am3d:spPr>
                  <am3d:camera>
                    <am3d:pos x="0" y="0" z="778055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1313" d="1000000"/>
                    <am3d:preTrans dx="-26856" dy="-2766516" dz="1458806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6440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chestnut">
                <a:extLst>
                  <a:ext uri="{FF2B5EF4-FFF2-40B4-BE49-F238E27FC236}">
                    <a16:creationId xmlns:a16="http://schemas.microsoft.com/office/drawing/2014/main" id="{9915C033-C7B9-63A5-EEC0-1450ABB74E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3858768" y="2889504"/>
                <a:ext cx="3264408" cy="32644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4" name="!!m-chart">
                <a:extLst>
                  <a:ext uri="{FF2B5EF4-FFF2-40B4-BE49-F238E27FC236}">
                    <a16:creationId xmlns:a16="http://schemas.microsoft.com/office/drawing/2014/main" id="{12030342-8F16-4D75-3C42-B29E75062EE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2048256"/>
              <a:ext cx="3456432" cy="3456432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6670343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7281" d="1000000"/>
                    <am3d:preTrans dx="-523410" dy="-291276" dz="-2388467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318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4" name="!!m-chart">
                <a:extLst>
                  <a:ext uri="{FF2B5EF4-FFF2-40B4-BE49-F238E27FC236}">
                    <a16:creationId xmlns:a16="http://schemas.microsoft.com/office/drawing/2014/main" id="{12030342-8F16-4D75-3C42-B29E75062EE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786055" y="2048256"/>
                <a:ext cx="3456432" cy="345643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6" dur="4208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492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1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КОРРЕЛЯЦИЯ ≠ ПРИЧИНА</a:t>
            </a:r>
            <a:endParaRPr lang="en-US" sz="31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36192"/>
            <a:ext cx="3474720" cy="219456"/>
          </a:xfrm>
          <a:prstGeom prst="rect">
            <a:avLst/>
          </a:prstGeom>
        </p:spPr>
      </p:pic>
      <p:sp>
        <p:nvSpPr>
          <p:cNvPr id="10" name="fx8_2_0"/>
          <p:cNvSpPr/>
          <p:nvPr/>
        </p:nvSpPr>
        <p:spPr>
          <a:xfrm>
            <a:off x="658368" y="1965960"/>
            <a:ext cx="3246120" cy="2953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8_2_1" descr="/home/user/MyWorkAiBrain/presentations/impulse/assets/memes/budget-jars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025396"/>
            <a:ext cx="3127248" cy="2834640"/>
          </a:xfrm>
          <a:prstGeom prst="rect">
            <a:avLst/>
          </a:prstGeom>
        </p:spPr>
      </p:pic>
      <p:sp>
        <p:nvSpPr>
          <p:cNvPr id="12" name="fx8_3_2"/>
          <p:cNvSpPr/>
          <p:nvPr/>
        </p:nvSpPr>
        <p:spPr>
          <a:xfrm rot="-42000">
            <a:off x="768096" y="5010912"/>
            <a:ext cx="3017520" cy="365760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8_3_3"/>
          <p:cNvSpPr/>
          <p:nvPr/>
        </p:nvSpPr>
        <p:spPr>
          <a:xfrm>
            <a:off x="822960" y="5052060"/>
            <a:ext cx="29077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9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МЕМ, НЕ ФИНАНСОВЫЙ СОВЕТ</a:t>
            </a:r>
            <a:endParaRPr lang="en-US" sz="890" dirty="0"/>
          </a:p>
        </p:txBody>
      </p:sp>
      <p:sp>
        <p:nvSpPr>
          <p:cNvPr id="14" name="fx8_2_4"/>
          <p:cNvSpPr/>
          <p:nvPr/>
        </p:nvSpPr>
        <p:spPr>
          <a:xfrm>
            <a:off x="4489704" y="1764792"/>
            <a:ext cx="3017520" cy="3639312"/>
          </a:xfrm>
          <a:prstGeom prst="roundRect">
            <a:avLst>
              <a:gd name="adj" fmla="val 758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5" name="fx8_2_5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4517136" y="1787652"/>
            <a:ext cx="2962656" cy="155448"/>
          </a:xfrm>
          <a:prstGeom prst="rect">
            <a:avLst/>
          </a:prstGeom>
        </p:spPr>
      </p:pic>
      <p:sp>
        <p:nvSpPr>
          <p:cNvPr id="16" name="fx8_2_6"/>
          <p:cNvSpPr/>
          <p:nvPr/>
        </p:nvSpPr>
        <p:spPr>
          <a:xfrm>
            <a:off x="4736592" y="207568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1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ПЛАН АНАЛИЗА</a:t>
            </a:r>
            <a:endParaRPr lang="en-US" sz="910" dirty="0"/>
          </a:p>
        </p:txBody>
      </p:sp>
      <p:sp>
        <p:nvSpPr>
          <p:cNvPr id="17" name="fx8_2_7"/>
          <p:cNvSpPr/>
          <p:nvPr/>
        </p:nvSpPr>
        <p:spPr>
          <a:xfrm>
            <a:off x="4736592" y="2487168"/>
            <a:ext cx="329184" cy="29260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8_2_8"/>
          <p:cNvSpPr/>
          <p:nvPr/>
        </p:nvSpPr>
        <p:spPr>
          <a:xfrm>
            <a:off x="4791456" y="252831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940" dirty="0"/>
          </a:p>
        </p:txBody>
      </p:sp>
      <p:sp>
        <p:nvSpPr>
          <p:cNvPr id="19" name="fx8_2_9"/>
          <p:cNvSpPr/>
          <p:nvPr/>
        </p:nvSpPr>
        <p:spPr>
          <a:xfrm>
            <a:off x="5184648" y="2505456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описать ответы и пропуски</a:t>
            </a:r>
            <a:endParaRPr lang="en-US" sz="970" dirty="0"/>
          </a:p>
        </p:txBody>
      </p:sp>
      <p:sp>
        <p:nvSpPr>
          <p:cNvPr id="20" name="fx8_2_10"/>
          <p:cNvSpPr/>
          <p:nvPr/>
        </p:nvSpPr>
        <p:spPr>
          <a:xfrm>
            <a:off x="4736592" y="3108960"/>
            <a:ext cx="329184" cy="29260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8_2_11"/>
          <p:cNvSpPr/>
          <p:nvPr/>
        </p:nvSpPr>
        <p:spPr>
          <a:xfrm>
            <a:off x="4791456" y="315010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940" dirty="0"/>
          </a:p>
        </p:txBody>
      </p:sp>
      <p:sp>
        <p:nvSpPr>
          <p:cNvPr id="22" name="fx8_2_12"/>
          <p:cNvSpPr/>
          <p:nvPr/>
        </p:nvSpPr>
        <p:spPr>
          <a:xfrm>
            <a:off x="5184648" y="3127248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Спирмен · доверительные интервалы</a:t>
            </a:r>
            <a:endParaRPr lang="en-US" sz="970" dirty="0"/>
          </a:p>
        </p:txBody>
      </p:sp>
      <p:sp>
        <p:nvSpPr>
          <p:cNvPr id="23" name="fx8_2_13"/>
          <p:cNvSpPr/>
          <p:nvPr/>
        </p:nvSpPr>
        <p:spPr>
          <a:xfrm>
            <a:off x="4736592" y="3730752"/>
            <a:ext cx="329184" cy="29260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8_2_14"/>
          <p:cNvSpPr/>
          <p:nvPr/>
        </p:nvSpPr>
        <p:spPr>
          <a:xfrm>
            <a:off x="4791456" y="3771900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940" dirty="0"/>
          </a:p>
        </p:txBody>
      </p:sp>
      <p:sp>
        <p:nvSpPr>
          <p:cNvPr id="25" name="fx8_2_15"/>
          <p:cNvSpPr/>
          <p:nvPr/>
        </p:nvSpPr>
        <p:spPr>
          <a:xfrm>
            <a:off x="5184648" y="374904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BNPL анализировать отдельно</a:t>
            </a:r>
            <a:endParaRPr lang="en-US" sz="970" dirty="0"/>
          </a:p>
        </p:txBody>
      </p:sp>
      <p:sp>
        <p:nvSpPr>
          <p:cNvPr id="26" name="fx8_2_16"/>
          <p:cNvSpPr/>
          <p:nvPr/>
        </p:nvSpPr>
        <p:spPr>
          <a:xfrm>
            <a:off x="4736592" y="4352544"/>
            <a:ext cx="329184" cy="292608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7" name="fx8_2_17"/>
          <p:cNvSpPr/>
          <p:nvPr/>
        </p:nvSpPr>
        <p:spPr>
          <a:xfrm>
            <a:off x="4791456" y="4393692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940" dirty="0"/>
          </a:p>
        </p:txBody>
      </p:sp>
      <p:sp>
        <p:nvSpPr>
          <p:cNvPr id="28" name="fx8_2_18"/>
          <p:cNvSpPr/>
          <p:nvPr/>
        </p:nvSpPr>
        <p:spPr>
          <a:xfrm>
            <a:off x="5184648" y="4370832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делать причинных выводов</a:t>
            </a:r>
            <a:endParaRPr lang="en-US" sz="970" dirty="0"/>
          </a:p>
        </p:txBody>
      </p:sp>
      <p:pic>
        <p:nvPicPr>
          <p:cNvPr id="29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304776" y="1278880"/>
            <a:ext cx="4355104" cy="4355104"/>
          </a:xfrm>
          <a:prstGeom prst="rect">
            <a:avLst/>
          </a:prstGeom>
        </p:spPr>
      </p:pic>
      <p:sp>
        <p:nvSpPr>
          <p:cNvPr id="30" name="!!paper-sticker"/>
          <p:cNvSpPr/>
          <p:nvPr/>
        </p:nvSpPr>
        <p:spPr>
          <a:xfrm>
            <a:off x="7958041" y="1932145"/>
            <a:ext cx="3048573" cy="304857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1" name="!!comic-ring"/>
          <p:cNvSpPr/>
          <p:nvPr/>
        </p:nvSpPr>
        <p:spPr>
          <a:xfrm>
            <a:off x="7740286" y="1714390"/>
            <a:ext cx="3484083" cy="3484083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hart">
                <a:extLst>
                  <a:ext uri="{FF2B5EF4-FFF2-40B4-BE49-F238E27FC236}">
                    <a16:creationId xmlns:a16="http://schemas.microsoft.com/office/drawing/2014/main" id="{7A636A73-C84F-B03B-DA19-3421AC44F10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54112" y="1728216"/>
              <a:ext cx="3456432" cy="3456432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6670343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7281" d="1000000"/>
                    <am3d:preTrans dx="-523410" dy="-291276" dz="-2388467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11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hart">
                <a:extLst>
                  <a:ext uri="{FF2B5EF4-FFF2-40B4-BE49-F238E27FC236}">
                    <a16:creationId xmlns:a16="http://schemas.microsoft.com/office/drawing/2014/main" id="{7A636A73-C84F-B03B-DA19-3421AC44F1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54112" y="1728216"/>
                <a:ext cx="3456432" cy="3456432"/>
              </a:xfrm>
              <a:prstGeom prst="rect">
                <a:avLst/>
              </a:prstGeom>
            </p:spPr>
          </p:pic>
        </mc:Fallback>
      </mc:AlternateContent>
      <p:sp>
        <p:nvSpPr>
          <p:cNvPr id="33" name="Shape 24"/>
          <p:cNvSpPr/>
          <p:nvPr/>
        </p:nvSpPr>
        <p:spPr>
          <a:xfrm rot="120000">
            <a:off x="10104486" y="1831909"/>
            <a:ext cx="1188720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Text 25"/>
          <p:cNvSpPr/>
          <p:nvPr/>
        </p:nvSpPr>
        <p:spPr>
          <a:xfrm>
            <a:off x="10159350" y="1873057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ВИДНО?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658368" y="613562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Пилотные данные — предварительные. Выборка не репрезентативна; самоотчёт зависит от памяти.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clipboard">
                <a:extLst>
                  <a:ext uri="{FF2B5EF4-FFF2-40B4-BE49-F238E27FC236}">
                    <a16:creationId xmlns:a16="http://schemas.microsoft.com/office/drawing/2014/main" id="{CEA52BFD-1712-C046-A786-2857B5C454F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32504" y="1883664"/>
              <a:ext cx="3438144" cy="3438144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2252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-2985701" dy="0" dz="-194444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6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clipboard">
                <a:extLst>
                  <a:ext uri="{FF2B5EF4-FFF2-40B4-BE49-F238E27FC236}">
                    <a16:creationId xmlns:a16="http://schemas.microsoft.com/office/drawing/2014/main" id="{CEA52BFD-1712-C046-A786-2857B5C454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4032504" y="1883664"/>
                <a:ext cx="3438144" cy="34381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hourglass">
                <a:extLst>
                  <a:ext uri="{FF2B5EF4-FFF2-40B4-BE49-F238E27FC236}">
                    <a16:creationId xmlns:a16="http://schemas.microsoft.com/office/drawing/2014/main" id="{E21A131C-E05D-EC5E-5105-475A6952A67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1984248"/>
              <a:ext cx="3502152" cy="3502152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3502152" cy="3502152"/>
                    </a:xfrm>
                    <a:prstGeom prst="rect">
                      <a:avLst/>
                    </a:prstGeom>
                  </am3d:spPr>
                  <am3d:camera>
                    <am3d:pos x="0" y="0" z="610621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9756" d="1000000"/>
                    <am3d:preTrans dx="0" dy="-43902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336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02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hourglass">
                <a:extLst>
                  <a:ext uri="{FF2B5EF4-FFF2-40B4-BE49-F238E27FC236}">
                    <a16:creationId xmlns:a16="http://schemas.microsoft.com/office/drawing/2014/main" id="{E21A131C-E05D-EC5E-5105-475A6952A67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1984248"/>
                <a:ext cx="3502152" cy="350215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2179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1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ПЕРЕД ОПЛАТОЙ —</a:t>
            </a:r>
            <a:endParaRPr lang="en-US" sz="31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1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ТРИ ШАГА</a:t>
            </a:r>
            <a:endParaRPr lang="en-US" sz="31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11096"/>
            <a:ext cx="2834640" cy="210312"/>
          </a:xfrm>
          <a:prstGeom prst="rect">
            <a:avLst/>
          </a:prstGeom>
        </p:spPr>
      </p:pic>
      <p:sp>
        <p:nvSpPr>
          <p:cNvPr id="10" name="fx9_2_0"/>
          <p:cNvSpPr/>
          <p:nvPr/>
        </p:nvSpPr>
        <p:spPr>
          <a:xfrm>
            <a:off x="658368" y="2194560"/>
            <a:ext cx="6419088" cy="713232"/>
          </a:xfrm>
          <a:prstGeom prst="roundRect">
            <a:avLst>
              <a:gd name="adj" fmla="val 320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9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217420"/>
            <a:ext cx="6364224" cy="155448"/>
          </a:xfrm>
          <a:prstGeom prst="rect">
            <a:avLst/>
          </a:prstGeom>
        </p:spPr>
      </p:pic>
      <p:sp>
        <p:nvSpPr>
          <p:cNvPr id="12" name="fx9_2_2"/>
          <p:cNvSpPr/>
          <p:nvPr/>
        </p:nvSpPr>
        <p:spPr>
          <a:xfrm rot="-120000">
            <a:off x="777240" y="2359152"/>
            <a:ext cx="438912" cy="36576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9_2_3"/>
          <p:cNvSpPr/>
          <p:nvPr/>
        </p:nvSpPr>
        <p:spPr>
          <a:xfrm>
            <a:off x="832104" y="240030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fx9_2_4"/>
          <p:cNvSpPr/>
          <p:nvPr/>
        </p:nvSpPr>
        <p:spPr>
          <a:xfrm>
            <a:off x="1353312" y="2322576"/>
            <a:ext cx="5559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ПАУЗА</a:t>
            </a:r>
            <a:endParaRPr lang="en-US" sz="1180" dirty="0"/>
          </a:p>
        </p:txBody>
      </p:sp>
      <p:sp>
        <p:nvSpPr>
          <p:cNvPr id="15" name="fx9_2_5"/>
          <p:cNvSpPr/>
          <p:nvPr/>
        </p:nvSpPr>
        <p:spPr>
          <a:xfrm>
            <a:off x="1353312" y="2596896"/>
            <a:ext cx="5541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отложить необязательное до завтра</a:t>
            </a:r>
            <a:endParaRPr lang="en-US" sz="970" dirty="0"/>
          </a:p>
        </p:txBody>
      </p:sp>
      <p:sp>
        <p:nvSpPr>
          <p:cNvPr id="16" name="fx9_3_6"/>
          <p:cNvSpPr/>
          <p:nvPr/>
        </p:nvSpPr>
        <p:spPr>
          <a:xfrm>
            <a:off x="658368" y="3063240"/>
            <a:ext cx="6419088" cy="713232"/>
          </a:xfrm>
          <a:prstGeom prst="roundRect">
            <a:avLst>
              <a:gd name="adj" fmla="val 320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7" name="fx9_3_7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3086100"/>
            <a:ext cx="6364224" cy="155448"/>
          </a:xfrm>
          <a:prstGeom prst="rect">
            <a:avLst/>
          </a:prstGeom>
        </p:spPr>
      </p:pic>
      <p:sp>
        <p:nvSpPr>
          <p:cNvPr id="18" name="fx9_3_8"/>
          <p:cNvSpPr/>
          <p:nvPr/>
        </p:nvSpPr>
        <p:spPr>
          <a:xfrm rot="-120000">
            <a:off x="777240" y="3227832"/>
            <a:ext cx="438912" cy="365760"/>
          </a:xfrm>
          <a:prstGeom prst="rect">
            <a:avLst/>
          </a:prstGeom>
          <a:solidFill>
            <a:srgbClr val="4F9C75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9_3_9"/>
          <p:cNvSpPr/>
          <p:nvPr/>
        </p:nvSpPr>
        <p:spPr>
          <a:xfrm>
            <a:off x="832104" y="326898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fx9_3_10"/>
          <p:cNvSpPr/>
          <p:nvPr/>
        </p:nvSpPr>
        <p:spPr>
          <a:xfrm>
            <a:off x="1353312" y="3191256"/>
            <a:ext cx="5559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ПОЛНАЯ ЦЕНА</a:t>
            </a:r>
            <a:endParaRPr lang="en-US" sz="1180" dirty="0"/>
          </a:p>
        </p:txBody>
      </p:sp>
      <p:sp>
        <p:nvSpPr>
          <p:cNvPr id="21" name="fx9_3_11"/>
          <p:cNvSpPr/>
          <p:nvPr/>
        </p:nvSpPr>
        <p:spPr>
          <a:xfrm>
            <a:off x="1353312" y="3465576"/>
            <a:ext cx="5541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сумму и платежи за месяц</a:t>
            </a:r>
            <a:endParaRPr lang="en-US" sz="970" dirty="0"/>
          </a:p>
        </p:txBody>
      </p:sp>
      <p:sp>
        <p:nvSpPr>
          <p:cNvPr id="22" name="fx9_4_12"/>
          <p:cNvSpPr/>
          <p:nvPr/>
        </p:nvSpPr>
        <p:spPr>
          <a:xfrm>
            <a:off x="658368" y="3931920"/>
            <a:ext cx="6419088" cy="713232"/>
          </a:xfrm>
          <a:prstGeom prst="roundRect">
            <a:avLst>
              <a:gd name="adj" fmla="val 320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3" name="fx9_4_13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6">
            <a:alphaModFix amt="96000"/>
          </a:blip>
          <a:stretch>
            <a:fillRect/>
          </a:stretch>
        </p:blipFill>
        <p:spPr>
          <a:xfrm>
            <a:off x="685800" y="3954780"/>
            <a:ext cx="6364224" cy="155448"/>
          </a:xfrm>
          <a:prstGeom prst="rect">
            <a:avLst/>
          </a:prstGeom>
        </p:spPr>
      </p:pic>
      <p:sp>
        <p:nvSpPr>
          <p:cNvPr id="24" name="fx9_4_14"/>
          <p:cNvSpPr/>
          <p:nvPr/>
        </p:nvSpPr>
        <p:spPr>
          <a:xfrm rot="-120000">
            <a:off x="777240" y="4096512"/>
            <a:ext cx="438912" cy="36576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9_4_15"/>
          <p:cNvSpPr/>
          <p:nvPr/>
        </p:nvSpPr>
        <p:spPr>
          <a:xfrm>
            <a:off x="832104" y="413766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fx9_4_16"/>
          <p:cNvSpPr/>
          <p:nvPr/>
        </p:nvSpPr>
        <p:spPr>
          <a:xfrm>
            <a:off x="1353312" y="4059936"/>
            <a:ext cx="5559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МОЙ ПЛАН?</a:t>
            </a:r>
            <a:endParaRPr lang="en-US" sz="1180" dirty="0"/>
          </a:p>
        </p:txBody>
      </p:sp>
      <p:sp>
        <p:nvSpPr>
          <p:cNvPr id="27" name="fx9_4_17"/>
          <p:cNvSpPr/>
          <p:nvPr/>
        </p:nvSpPr>
        <p:spPr>
          <a:xfrm>
            <a:off x="1353312" y="4334256"/>
            <a:ext cx="5541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вернуться к корзине без таймера</a:t>
            </a:r>
            <a:endParaRPr lang="en-US" sz="970" dirty="0"/>
          </a:p>
        </p:txBody>
      </p:sp>
      <p:sp>
        <p:nvSpPr>
          <p:cNvPr id="28" name="fx9_5_18"/>
          <p:cNvSpPr/>
          <p:nvPr/>
        </p:nvSpPr>
        <p:spPr>
          <a:xfrm rot="24000">
            <a:off x="658368" y="5038344"/>
            <a:ext cx="6428232" cy="51206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9_5_19"/>
          <p:cNvSpPr/>
          <p:nvPr/>
        </p:nvSpPr>
        <p:spPr>
          <a:xfrm>
            <a:off x="713232" y="5079492"/>
            <a:ext cx="631850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ЗАПРЕТИТЬ СЕБЕ, А ВЕРНУТЬ СЕБЕ СЕКУНДУ ВЫБОРА</a:t>
            </a:r>
            <a:endParaRPr lang="en-US" sz="1110" dirty="0"/>
          </a:p>
        </p:txBody>
      </p:sp>
      <p:pic>
        <p:nvPicPr>
          <p:cNvPr id="30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7">
            <a:alphaModFix amt="62000"/>
          </a:blip>
          <a:stretch>
            <a:fillRect/>
          </a:stretch>
        </p:blipFill>
        <p:spPr>
          <a:xfrm>
            <a:off x="7271400" y="1208928"/>
            <a:ext cx="4412712" cy="4412712"/>
          </a:xfrm>
          <a:prstGeom prst="rect">
            <a:avLst/>
          </a:prstGeom>
        </p:spPr>
      </p:pic>
      <p:sp>
        <p:nvSpPr>
          <p:cNvPr id="31" name="!!paper-sticker"/>
          <p:cNvSpPr/>
          <p:nvPr/>
        </p:nvSpPr>
        <p:spPr>
          <a:xfrm>
            <a:off x="7933307" y="1870835"/>
            <a:ext cx="3088898" cy="3088898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2" name="!!comic-ring"/>
          <p:cNvSpPr/>
          <p:nvPr/>
        </p:nvSpPr>
        <p:spPr>
          <a:xfrm>
            <a:off x="7712671" y="1650199"/>
            <a:ext cx="3530169" cy="353016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hourglass">
                <a:extLst>
                  <a:ext uri="{FF2B5EF4-FFF2-40B4-BE49-F238E27FC236}">
                    <a16:creationId xmlns:a16="http://schemas.microsoft.com/office/drawing/2014/main" id="{C725848E-2AD3-5365-D6F3-798C8356455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1664208"/>
              <a:ext cx="3502152" cy="3502152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3502152" cy="3502152"/>
                    </a:xfrm>
                    <a:prstGeom prst="rect">
                      <a:avLst/>
                    </a:prstGeom>
                  </am3d:spPr>
                  <am3d:camera>
                    <am3d:pos x="0" y="0" z="610621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9756" d="1000000"/>
                    <am3d:preTrans dx="0" dy="-43902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96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02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hourglass">
                <a:extLst>
                  <a:ext uri="{FF2B5EF4-FFF2-40B4-BE49-F238E27FC236}">
                    <a16:creationId xmlns:a16="http://schemas.microsoft.com/office/drawing/2014/main" id="{C725848E-2AD3-5365-D6F3-798C8356455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726680" y="1664208"/>
                <a:ext cx="3502152" cy="3502152"/>
              </a:xfrm>
              <a:prstGeom prst="rect">
                <a:avLst/>
              </a:prstGeom>
            </p:spPr>
          </p:pic>
        </mc:Fallback>
      </mc:AlternateContent>
      <p:sp>
        <p:nvSpPr>
          <p:cNvPr id="34" name="Shape 24"/>
          <p:cNvSpPr/>
          <p:nvPr/>
        </p:nvSpPr>
        <p:spPr>
          <a:xfrm rot="120000">
            <a:off x="10108143" y="1769273"/>
            <a:ext cx="868680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Text 25"/>
          <p:cNvSpPr/>
          <p:nvPr/>
        </p:nvSpPr>
        <p:spPr>
          <a:xfrm>
            <a:off x="10163007" y="1810421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ПАУЗА</a:t>
            </a:r>
            <a:endParaRPr lang="en-US" sz="900" dirty="0"/>
          </a:p>
        </p:txBody>
      </p:sp>
      <p:sp>
        <p:nvSpPr>
          <p:cNvPr id="36" name="fx9_3_20"/>
          <p:cNvSpPr/>
          <p:nvPr/>
        </p:nvSpPr>
        <p:spPr>
          <a:xfrm>
            <a:off x="9445752" y="4608576"/>
            <a:ext cx="1572768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7" name="fx9_3_21" descr="/home/user/MyWorkAiBrain/presentations/impulse/assets/memes/serotonin-flowers.jpe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188" y="4668012"/>
            <a:ext cx="1453896" cy="145389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58368" y="617220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— предложение проекта, не обещание эффекта и не индивидуальная финансовая рекомендация.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chart">
                <a:extLst>
                  <a:ext uri="{FF2B5EF4-FFF2-40B4-BE49-F238E27FC236}">
                    <a16:creationId xmlns:a16="http://schemas.microsoft.com/office/drawing/2014/main" id="{57B1B26C-1D3D-6F83-C674-95C7700B47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50792" y="2048256"/>
              <a:ext cx="3456432" cy="3456432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6670343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7281" d="1000000"/>
                    <am3d:preTrans dx="-523410" dy="-291276" dz="-2388467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546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chart">
                <a:extLst>
                  <a:ext uri="{FF2B5EF4-FFF2-40B4-BE49-F238E27FC236}">
                    <a16:creationId xmlns:a16="http://schemas.microsoft.com/office/drawing/2014/main" id="{57B1B26C-1D3D-6F83-C674-95C7700B47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-4050792" y="2048256"/>
                <a:ext cx="3456432" cy="34564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cart">
                <a:extLst>
                  <a:ext uri="{FF2B5EF4-FFF2-40B4-BE49-F238E27FC236}">
                    <a16:creationId xmlns:a16="http://schemas.microsoft.com/office/drawing/2014/main" id="{5FEE7694-FB7D-2462-B61A-555BEC0FF7F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675888"/>
              <a:ext cx="3054096" cy="3054096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3054096" cy="3054096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3300000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05409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cart">
                <a:extLst>
                  <a:ext uri="{FF2B5EF4-FFF2-40B4-BE49-F238E27FC236}">
                    <a16:creationId xmlns:a16="http://schemas.microsoft.com/office/drawing/2014/main" id="{5FEE7694-FB7D-2462-B61A-555BEC0FF7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786055" y="3675888"/>
                <a:ext cx="3054096" cy="3054096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4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36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СПАСИБО!</a:t>
            </a:r>
            <a:endParaRPr lang="en-US" sz="34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ВОПРОСЫ?</a:t>
            </a:r>
            <a:endParaRPr lang="en-US" sz="34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57400"/>
            <a:ext cx="2377440" cy="210312"/>
          </a:xfrm>
          <a:prstGeom prst="rect">
            <a:avLst/>
          </a:prstGeom>
        </p:spPr>
      </p:pic>
      <p:sp>
        <p:nvSpPr>
          <p:cNvPr id="10" name="fx10_2_0"/>
          <p:cNvSpPr/>
          <p:nvPr/>
        </p:nvSpPr>
        <p:spPr>
          <a:xfrm>
            <a:off x="658368" y="2386584"/>
            <a:ext cx="6455664" cy="3236976"/>
          </a:xfrm>
          <a:prstGeom prst="roundRect">
            <a:avLst>
              <a:gd name="adj" fmla="val 706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10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409444"/>
            <a:ext cx="6400800" cy="155448"/>
          </a:xfrm>
          <a:prstGeom prst="rect">
            <a:avLst/>
          </a:prstGeom>
        </p:spPr>
      </p:pic>
      <p:sp>
        <p:nvSpPr>
          <p:cNvPr id="12" name="fx10_2_2"/>
          <p:cNvSpPr/>
          <p:nvPr/>
        </p:nvSpPr>
        <p:spPr>
          <a:xfrm>
            <a:off x="914400" y="2688336"/>
            <a:ext cx="5715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9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КОРОТКИЙ СПИСОК · ПОЛНЫЙ — В ОТДЕЛЬНОМ ФАЙЛЕ</a:t>
            </a:r>
            <a:endParaRPr lang="en-US" sz="890" dirty="0"/>
          </a:p>
        </p:txBody>
      </p:sp>
      <p:sp>
        <p:nvSpPr>
          <p:cNvPr id="13" name="fx10_2_3"/>
          <p:cNvSpPr/>
          <p:nvPr/>
        </p:nvSpPr>
        <p:spPr>
          <a:xfrm>
            <a:off x="923544" y="299923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[1]</a:t>
            </a:r>
            <a:endParaRPr lang="en-US" sz="920" dirty="0"/>
          </a:p>
        </p:txBody>
      </p:sp>
      <p:sp>
        <p:nvSpPr>
          <p:cNvPr id="14" name="fx10_2_4"/>
          <p:cNvSpPr/>
          <p:nvPr/>
        </p:nvSpPr>
        <p:spPr>
          <a:xfrm>
            <a:off x="1371600" y="299923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Ведомости, 03.02.2026 · оценка BNPL от «Долями» / Т-Банка</a:t>
            </a:r>
            <a:endParaRPr lang="en-US" sz="880" dirty="0"/>
          </a:p>
        </p:txBody>
      </p:sp>
      <p:sp>
        <p:nvSpPr>
          <p:cNvPr id="15" name="fx10_2_5"/>
          <p:cNvSpPr/>
          <p:nvPr/>
        </p:nvSpPr>
        <p:spPr>
          <a:xfrm>
            <a:off x="923544" y="3337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[2]</a:t>
            </a:r>
            <a:endParaRPr lang="en-US" sz="920" dirty="0"/>
          </a:p>
        </p:txBody>
      </p:sp>
      <p:sp>
        <p:nvSpPr>
          <p:cNvPr id="16" name="fx10_2_6"/>
          <p:cNvSpPr/>
          <p:nvPr/>
        </p:nvSpPr>
        <p:spPr>
          <a:xfrm>
            <a:off x="1371600" y="3337560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ФЗ № 283-ФЗ · официальный текст, 31.07.2025</a:t>
            </a:r>
            <a:endParaRPr lang="en-US" sz="880" dirty="0"/>
          </a:p>
        </p:txBody>
      </p:sp>
      <p:sp>
        <p:nvSpPr>
          <p:cNvPr id="17" name="fx10_2_7"/>
          <p:cNvSpPr/>
          <p:nvPr/>
        </p:nvSpPr>
        <p:spPr>
          <a:xfrm>
            <a:off x="923544" y="36758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[3]</a:t>
            </a:r>
            <a:endParaRPr lang="en-US" sz="920" dirty="0"/>
          </a:p>
        </p:txBody>
      </p:sp>
      <p:sp>
        <p:nvSpPr>
          <p:cNvPr id="18" name="fx10_2_8"/>
          <p:cNvSpPr/>
          <p:nvPr/>
        </p:nvSpPr>
        <p:spPr>
          <a:xfrm>
            <a:off x="1371600" y="3675888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Rook (1987) · The Buying Impulse · doi:10.1086/209105</a:t>
            </a:r>
            <a:endParaRPr lang="en-US" sz="880" dirty="0"/>
          </a:p>
        </p:txBody>
      </p:sp>
      <p:sp>
        <p:nvSpPr>
          <p:cNvPr id="19" name="fx10_2_9"/>
          <p:cNvSpPr/>
          <p:nvPr/>
        </p:nvSpPr>
        <p:spPr>
          <a:xfrm>
            <a:off x="923544" y="401421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[4]</a:t>
            </a:r>
            <a:endParaRPr lang="en-US" sz="920" dirty="0"/>
          </a:p>
        </p:txBody>
      </p:sp>
      <p:sp>
        <p:nvSpPr>
          <p:cNvPr id="20" name="fx10_2_10"/>
          <p:cNvSpPr/>
          <p:nvPr/>
        </p:nvSpPr>
        <p:spPr>
          <a:xfrm>
            <a:off x="1371600" y="4014216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Anoop &amp; Rahman (2025) · online impulse buying · doi:10.1002/cb.2418</a:t>
            </a:r>
            <a:endParaRPr lang="en-US" sz="880" dirty="0"/>
          </a:p>
        </p:txBody>
      </p:sp>
      <p:sp>
        <p:nvSpPr>
          <p:cNvPr id="21" name="fx10_2_11"/>
          <p:cNvSpPr/>
          <p:nvPr/>
        </p:nvSpPr>
        <p:spPr>
          <a:xfrm>
            <a:off x="923544" y="435254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[5]</a:t>
            </a:r>
            <a:endParaRPr lang="en-US" sz="920" dirty="0"/>
          </a:p>
        </p:txBody>
      </p:sp>
      <p:sp>
        <p:nvSpPr>
          <p:cNvPr id="22" name="fx10_2_12"/>
          <p:cNvSpPr/>
          <p:nvPr/>
        </p:nvSpPr>
        <p:spPr>
          <a:xfrm>
            <a:off x="1371600" y="4352544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Przybylski et al. (2013) · FoMO · doi:10.1016/j.chb.2013.02.014</a:t>
            </a:r>
            <a:endParaRPr lang="en-US" sz="880" dirty="0"/>
          </a:p>
        </p:txBody>
      </p:sp>
      <p:sp>
        <p:nvSpPr>
          <p:cNvPr id="23" name="fx10_2_13"/>
          <p:cNvSpPr/>
          <p:nvPr/>
        </p:nvSpPr>
        <p:spPr>
          <a:xfrm>
            <a:off x="923544" y="469087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[6]</a:t>
            </a:r>
            <a:endParaRPr lang="en-US" sz="920" dirty="0"/>
          </a:p>
        </p:txBody>
      </p:sp>
      <p:sp>
        <p:nvSpPr>
          <p:cNvPr id="24" name="fx10_2_14"/>
          <p:cNvSpPr/>
          <p:nvPr/>
        </p:nvSpPr>
        <p:spPr>
          <a:xfrm>
            <a:off x="1371600" y="469087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Gibbons &amp; Buunk (1999) · social comparison · doi:10.1037/0022-3514.76.1.129</a:t>
            </a:r>
            <a:endParaRPr lang="en-US" sz="880" dirty="0"/>
          </a:p>
        </p:txBody>
      </p:sp>
      <p:sp>
        <p:nvSpPr>
          <p:cNvPr id="25" name="fx10_2_15"/>
          <p:cNvSpPr/>
          <p:nvPr/>
        </p:nvSpPr>
        <p:spPr>
          <a:xfrm>
            <a:off x="923544" y="50292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[7]</a:t>
            </a:r>
            <a:endParaRPr lang="en-US" sz="920" dirty="0"/>
          </a:p>
        </p:txBody>
      </p:sp>
      <p:sp>
        <p:nvSpPr>
          <p:cNvPr id="26" name="fx10_2_16"/>
          <p:cNvSpPr/>
          <p:nvPr/>
        </p:nvSpPr>
        <p:spPr>
          <a:xfrm>
            <a:off x="1371600" y="5029200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OECD/INFE (2022) · Financial Literacy Toolkit</a:t>
            </a:r>
            <a:endParaRPr lang="en-US" sz="880" dirty="0"/>
          </a:p>
        </p:txBody>
      </p:sp>
      <p:sp>
        <p:nvSpPr>
          <p:cNvPr id="27" name="fx10_2_17"/>
          <p:cNvSpPr/>
          <p:nvPr/>
        </p:nvSpPr>
        <p:spPr>
          <a:xfrm>
            <a:off x="7772400" y="1115568"/>
            <a:ext cx="3374136" cy="3374136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8" name="fx10_2_18" descr="/home/user/MyWorkAiBrain/presentations/impulse/assets/memes/charged-cat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1836" y="1175004"/>
            <a:ext cx="3255264" cy="3255264"/>
          </a:xfrm>
          <a:prstGeom prst="rect">
            <a:avLst/>
          </a:prstGeom>
        </p:spPr>
      </p:pic>
      <p:pic>
        <p:nvPicPr>
          <p:cNvPr id="29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869144" y="2958816"/>
            <a:ext cx="3848161" cy="3848161"/>
          </a:xfrm>
          <a:prstGeom prst="rect">
            <a:avLst/>
          </a:prstGeom>
        </p:spPr>
      </p:pic>
      <p:sp>
        <p:nvSpPr>
          <p:cNvPr id="30" name="!!paper-sticker"/>
          <p:cNvSpPr/>
          <p:nvPr/>
        </p:nvSpPr>
        <p:spPr>
          <a:xfrm>
            <a:off x="8446368" y="3536040"/>
            <a:ext cx="2693713" cy="269371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1" name="!!comic-ring"/>
          <p:cNvSpPr/>
          <p:nvPr/>
        </p:nvSpPr>
        <p:spPr>
          <a:xfrm>
            <a:off x="8253960" y="3343632"/>
            <a:ext cx="3078529" cy="307852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art">
                <a:extLst>
                  <a:ext uri="{FF2B5EF4-FFF2-40B4-BE49-F238E27FC236}">
                    <a16:creationId xmlns:a16="http://schemas.microsoft.com/office/drawing/2014/main" id="{2BAE1F20-A5E0-B3C0-E6C2-DB4475FC7C1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266176" y="3355848"/>
              <a:ext cx="3054096" cy="3054096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3054096" cy="3054096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10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05409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art">
                <a:extLst>
                  <a:ext uri="{FF2B5EF4-FFF2-40B4-BE49-F238E27FC236}">
                    <a16:creationId xmlns:a16="http://schemas.microsoft.com/office/drawing/2014/main" id="{2BAE1F20-A5E0-B3C0-E6C2-DB4475FC7C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266176" y="3355848"/>
                <a:ext cx="3054096" cy="3054096"/>
              </a:xfrm>
              <a:prstGeom prst="rect">
                <a:avLst/>
              </a:prstGeom>
            </p:spPr>
          </p:pic>
        </mc:Fallback>
      </mc:AlternateContent>
      <p:sp>
        <p:nvSpPr>
          <p:cNvPr id="33" name="Shape 24"/>
          <p:cNvSpPr/>
          <p:nvPr/>
        </p:nvSpPr>
        <p:spPr>
          <a:xfrm rot="120000">
            <a:off x="10342961" y="3447471"/>
            <a:ext cx="804672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Text 25"/>
          <p:cNvSpPr/>
          <p:nvPr/>
        </p:nvSpPr>
        <p:spPr>
          <a:xfrm>
            <a:off x="10397825" y="3488619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ШУТКА</a:t>
            </a:r>
            <a:endParaRPr lang="en-US" sz="900" dirty="0"/>
          </a:p>
        </p:txBody>
      </p:sp>
      <p:sp>
        <p:nvSpPr>
          <p:cNvPr id="35" name="fx10_3_19"/>
          <p:cNvSpPr/>
          <p:nvPr/>
        </p:nvSpPr>
        <p:spPr>
          <a:xfrm rot="-60000">
            <a:off x="7918704" y="5111496"/>
            <a:ext cx="3273552" cy="42976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10_3_20"/>
          <p:cNvSpPr/>
          <p:nvPr/>
        </p:nvSpPr>
        <p:spPr>
          <a:xfrm>
            <a:off x="7973568" y="5152644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 ₽ НЕ СПИСЫВАЕМ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7781544" y="5687568"/>
            <a:ext cx="3429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План исследования ≠ результаты опроса.</a:t>
            </a:r>
            <a:endParaRPr lang="en-US" sz="1020" dirty="0"/>
          </a:p>
        </p:txBody>
      </p:sp>
      <p:sp>
        <p:nvSpPr>
          <p:cNvPr id="38" name="Text 29"/>
          <p:cNvSpPr/>
          <p:nvPr/>
        </p:nvSpPr>
        <p:spPr>
          <a:xfrm>
            <a:off x="658368" y="615391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Полные библиографические записи, ссылки и методологические оговорки — в exports/ekonomika123-3d-presentation-sources.md.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ourglass">
                <a:extLst>
                  <a:ext uri="{FF2B5EF4-FFF2-40B4-BE49-F238E27FC236}">
                    <a16:creationId xmlns:a16="http://schemas.microsoft.com/office/drawing/2014/main" id="{4398D123-4A50-B56E-AB35-B0BE0F694E8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96512" y="1984248"/>
              <a:ext cx="3502152" cy="3502152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3502152" cy="3502152"/>
                    </a:xfrm>
                    <a:prstGeom prst="rect">
                      <a:avLst/>
                    </a:prstGeom>
                  </am3d:spPr>
                  <am3d:camera>
                    <am3d:pos x="0" y="0" z="610621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9756" d="1000000"/>
                    <am3d:preTrans dx="0" dy="-43902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528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02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ourglass">
                <a:extLst>
                  <a:ext uri="{FF2B5EF4-FFF2-40B4-BE49-F238E27FC236}">
                    <a16:creationId xmlns:a16="http://schemas.microsoft.com/office/drawing/2014/main" id="{4398D123-4A50-B56E-AB35-B0BE0F694E8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4096512" y="1984248"/>
                <a:ext cx="3502152" cy="350215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5" grpId="0" animBg="1"/>
      <p:bldP spid="3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MyWorkAiBrain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Почему мы покупаем ненужное? — мемная 3D-презентация</dc:title>
  <dc:subject>Мем-коллаж в стиле оригинала; проект исследования импульсивных трат у студентов</dc:subject>
  <dc:creator>MyWorkAiBrain</dc:creator>
  <cp:lastModifiedBy>MyWorkAiBrain</cp:lastModifiedBy>
  <cp:revision>1</cp:revision>
  <dcterms:created xsi:type="dcterms:W3CDTF">2026-10-11T20:59:46Z</dcterms:created>
  <dcterms:modified xsi:type="dcterms:W3CDTF">2026-10-11T20:59:46Z</dcterms:modified>
</cp:coreProperties>
</file>