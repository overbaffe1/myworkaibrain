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Тема моего проекта — психология импульсивных трат: почему мы покупаем ненужное.
Смотрите, что произошло за последние годы. Покупка перестала быть событием: раньше нужно было пойти в магазин, достать деньги, отдать их — было время передумать. Сейчас достаточно двух кликов, а карта уже сохранена в приложении.
Мой экспонат — смартфон. Палец нажимает «купить», и из экрана буквально вылетает монета: деньги уходят быстрее, чем мы успеваем их посчитать. Обратите внимание на счётчик корзины — он тикает.
В проекте я не буду говорить «это просто слабость характера». Импульсивная покупка — предсказуемая реакция на конкретную среду: на таймеры, на «499 рублей в месяц», на ленту с чужими покупками. И, что важно, эту среду можно частично выключить — об этом будет памятка в конце.
Масштаб проблемы я покажу цифрами на следующем слайде: рынок «покупок частями» за 2025 год вырос в два с половиной раза.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масштаба. По оценке сервиса «Долями» Т-Банка, за 2025 год оборот сервисов рассрочки в России составил 940 миллиардов рублей — это в два с половиной раза больше, чем годом ранее, когда рынок оценивался примерно в 300 миллиардов. На 2026 год прогноз — 1,2–1,25 триллиона рублей.
Второй слой — наши привычки. По опросам, доля россиян, которые сообщают о незапланированных покупках, выросла с 57% в 2021 году до 63% в 2025-м. Средний чек такой покупки — примерно 3–4 тысячи рублей.
И самое неприятное место: импульсные траты на маркетплейсах обходятся в среднем 11 200 рублей в месяц, медиана — 8 500. Это уже не «мелочь».
Государство тоже заметило проблему: с 1 апреля 2026 года сервисы рассрочки работают по закону 283-ФЗ — про это отдельный слайд.
Мой экспонат — карта у платёжного терминала: касание, и четыре монеты — четыре платежа — выстраиваются одна за другой.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научная часть. Что такое импульсивная покупка с точки зрения исследований?
Классическое определение дал Деннис Рук в 1987 году: это внезапное, часто мощное и настойчивое желание купить немедленно. Обратите внимание: не «глупость», а эмоциональный позыв, который опережает оценку.
Хокинс Стерн ещё в 1962-м разделил такие покупки на три типа: чистая импульсивная — незапланированная вообще; напоминающая — увидел и вспомнил, что хотел; и запланированная-импульсивная — шёл за одним, а купил другое.
Есть важный механизм — «боль платежа», его описали Прилек и Левенштейн: расставаться с деньгами неприятно. В онлайне эту боль гасят: карта сохранена, деньги «невидимы», а рассрочка делит платёж на четыре части.
И сразу сниму стигму: импульс есть у всех. Проблема не в самом импульсе, а в том, управляет ли он бюджетом.
Мой экспонат — корзина, которая набивается сама: товары падают в неё по одному.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вообще так трудно удержаться? Коротко — четыре механизма.
Первый: дофамин отвечает за предвкушение, а не за награду. Работы Вольфрама Шульца показали: всплеск дофамина происходит в момент ожидания. То есть удовольствие мы получаем уже тогда, когда кладём товар в корзину, — задолго до доставки.
Второй: смещение к настоящему, present bias. «Сейчас» для мозга весит больше, чем «через месяц», причём непропорционально. Рассрочка играет ровно на этом: наслаждение — сразу, а платежи — потом и как бы не наши.
Третий: разрыв покупки и платежа. Когда решение принимается в момент, когда платить не надо, тормоз просто не включается.
Четвёртый, самый неудобный: финансовая грамотность — не броня. Метаанализ Фернандеса, Линча и Нетемайера показал, что программы просвещения слабо меняют реальное поведение. Знать — не значит поступать иначе.
Мой экспонат — «однорукий» автомат: рычаг, три барабана, монеты. Это метафора «лёгкого дофамина».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приёмы, которые буквально продают за нас. Я собрал пять, самые частые.
Первый — один клик. Карта сохранена, адрес сохранён, кнопка «купить» в одно касание. Мы убрали единственную паузу, которая была у человека.
Второй — таймер и дефицит. «Осталось две штуки», «скидка сгорит через 14:59». Дефицит повышает perceived ценность — это классика влияния, описанная Чалдини.
Третий — якорь скидки. «Было 4 999, стало 2 999». Мы сравниваем новую цену со старой, а не со своим бюджетом на месяц.
Четвёртый — FOMO и социальное сравнение. Лента показывает чужое потребление как норму. Исследования Прибыльского показывают связь FOMO с импульсивным поведением.
Пятый — рассрочка вместо цены: «всего 499 рублей в месяц». Звучит как чашка кофе, а не как решение на две тысячи.
Мой экспонат — часы-будильник со скидочным ярлыком: стрелки бегут, звонит — «успей купить».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 «плати потом» — и про новые правила.
Механика простая: оператор платит магазину сразу, а покупатель возвращает сумму частями, обычно четырьмя платежами и без процентов. Магазин получает деньги, человек — товар, и в моменте покупка ощущается бесплатной.
Рынок за 2025 год — 940 миллиардов рублей, это в 2,5 раза больше 2024-го. Доля рассрочки в розничных платежах выросла с 0,5% до 1,1%.
С 1 апреля 2026 года действует закон 283-ФЗ. Он вводит реестр операторов Банка России, ограничивает срок рассрочки шестью месяцами — а с 2028 года четырьмя, ограничивает неустойку 20% годовых, запрещает скрытые комиссии и разные цены в зависимости от формы оплаты. И важное: если долг превысил 50 000 рублей, данные уходят в бюро кредитных историй.
То есть рассрочка перестаёт быть «невидимой» — но психологический механизм остаётся тем же.
Мой экспонат — чек, который печатает себя: четыре платежа и красная итоговая строка.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цели и задачи проекта.
Цель — изучить психологические механизмы импульсивных покупок: когнитивные искажения, самоконтроль и влияние среды на финансовое поведение студентов, а затем разработать памятку, которая помогает сократить незапланированные расходы.
Мне важно, чтобы цель была проверяемой. Поэтому в ней три части. Первая — «изучить»: разобраться в теории поведенческой экономики. Вторая — «измерить»: собрать собственные данные, не ограничиваться чужими опросами. Третья — «помочь»: получить инструмент, который можно дать человеку в руки.
Акцент на слове «измерить»: результат проекта — не пересказ чужих исследований, а анкета на 50+ респондентов и обработанные данные.
Мой экспонат — мишень: дротик влетает в центр, а по доске расходятся волны удара. Цель должна быть видна и измерима.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проекта — шесть шагов, они идут по порядку.
Первое: изучить теорию — поведенческую экономику и когнитивные искажения.
Второе: проанализировать новости и кейсы: BNPL, кредиты, «шопинг-ловушки» — то, как об этом пишут и что предлагают рынку.
Третье: разработать анкету. У неё шесть блоков: импульсивность, FOMO, социальное сравнение, отношение к рассрочке, привычки и бюджет.
Четвёртое: провести опрос студентов 18–25 лет, выборка не меньше 50 человек.
Пятое: обработать статистику — корреляции, сравнение групп, проверка гипотез.
Шестое: собрать памятку и представить результаты.
Обратите внимание на слово «проверить»: гипотезы могут не подтвердиться, и это тоже результат — так мы узнаем, что дело не в том, о чём мы думали.
Мой экспонат — песочные часы: песок пересыпается вниз и обратно, время проекта идёт.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гипотезы, которые я проверяю.
H1: чем выше FOMO и импульсивность, тем больше незапланированных покупок и покупок в рассрочку. Это основная связь, её мы проверяем корреляцией.
H2: социальное сравнение и «потребление на показ» связаны с ростом статусных покупок — распродажи, советы блогеров, вещи «как у всех».
H3: финансовая грамотность снижает, но не устраняет влияние искажений. Человек может знать про эффект якоря, понимать, что такое рассрочка, — и всё равно покупать импульсивно.
H3 — самая спорная и самая интересная. Если она подтвердится, значит, проблема не в незнании, а в среде и в моменте решения. И тогда помогает не «просвещение», а конкретные барьеры.
Мой экспонат — весы: на одной чаше «хочу сейчас», на другой — бюджет. Чаши спорят, и коромысло никак не успокоится.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я это измеряю — методология, четыре блока.
Первый: выборка. Студенты 18–25 лет, не меньше 50 человек, онлайн-анкета, анонимно и добровольно.
Второй: инструменты. Беру шкалу импульсивности в покупках Рука и Фишера в адаптации, добавляю блок FOMO, блок социального сравнения и блок вопросов про рассрочку — пользовался ли, сколько раз, как оформлял.
Третий: что считаем. Частоту незапланированных покупок за месяц, средний чек, количество активных рассрочек и субъективную оценку самоконтроля.
Четвёртый: анализ. Корреляции, сравнение групп, проверка значимости. И обязательно — ограничения: мы опираемся на самоотчёт, а людям свойственно давать социально желательные ответы. Это я честно укажу в результатах.
Мой экспонат — планшет с анкетой: лупа идёт по строкам, галочки появляются одна за другой.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в группе максимального риска и кому адресован результат.
Смотрите на возраст: среди людей до 25 лет импульсивные покупки совершают 46% опрошенных, в группе 26–34 — 38%, после 45 лет — всего 19%. То есть риск падает с возрастом, и наша аудитория — самая уязвимая.
При этом молодые не безрассудны: 83% из них планируют бюджет. Но почти 70% всё равно выходят за рамки плана. Проблема не в отсутствии плана, а в моменте решения — когда палец уже на кнопке.
Деньги уходят в самое «дешёвое» на вид: маркетплейсы, кофе, доставка. В среднем 11 200 рублей в месяц.
Результаты я адресую трём группам: самим студентам, преподавателям и центрам финансовой грамотности.
Мой экспонат — студенческий рюкзак: клапан открывается, телефон поднимается, а монеты незаметно утекают наружу.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должно получиться на выходе — памятка «Как не купить ненужное». Четыре правила.
Первое: правило 24 часов. Положил в корзину — вернись завтра. Импульс не переживает ночь: если через сутки желание осталось, это уже осознанная покупка.
Второе: лимит и список. Бюджет недели задаём заранее, список — до того, как открыли приложение. Меню вместо прилавка.
Третье: убрать обезболивание. Платить картой и сразу, а не частями; выключить «один клик» и удалить сохранённую карту из магазинов, где мы покупаем импульсивно.
Четвёртое: тише лента. Отключить push и рассылки, отписаться от «скидочных» каналов. Меньше триггеров — меньше решений на автомате.
И отдельно — как мы проверим эффект: попросим участников две недели пользоваться памяткой и сравним частоту незапланированных покупок с исходными данными.
Мой экспонат — карточка-чеклист с карандашом и циферблатом «24 часа».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Выводы, которые я хочу оставить.
Первый: импульсивная покупка — не слабость характера, а предсказуемая реакция на среду. Уберите таймер, «499 в месяц» и один клик — импульсу станет труднее.
Второй: регулирование снижает риски, но не отменяет психологию. Закон ограничил срок и спрятал комиссии, но лимит в 50 000 рублей — это уже данные в бюро кредитных историй, то есть решение всё равно уходит в будущее.
Третий: знания не заменяют правила. Лучше всего работают заранее заданные барьеры: пауза, список, лимит, отсутствие сохранённой карты.
Что дальше: собрать анкету, провести опрос, проверить гипотезы и представить памятку.
Спасибо за внимание! Готов ответить на вопросы — особенно про то, как формулировать вопросы анкеты, чтобы не подсказывать ответ.
Мой последний экспонат — кошелёк с замком: монета падает внутрь, клапан закрывается, замок щёлкает. Бюджет под контролем — это и есть цель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Relationship Id="rIdM3d15" Type="http://schemas.microsoft.com/office/2017/06/relationships/model3d" Target="../media/model3d15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M3d16" Type="http://schemas.microsoft.com/office/2017/06/relationships/model3d" Target="../media/model3d16.glb"/><Relationship Id="rIdM3d17" Type="http://schemas.microsoft.com/office/2017/06/relationships/model3d" Target="../media/model3d17.glb"/><Relationship Id="rIdM3d18" Type="http://schemas.microsoft.com/office/2017/06/relationships/model3d" Target="../media/model3d18.glb"/><Relationship Id="rIdM3d19" Type="http://schemas.microsoft.com/office/2017/06/relationships/model3d" Target="../media/model3d19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6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Relationship Id="rIdM3d20" Type="http://schemas.microsoft.com/office/2017/06/relationships/model3d" Target="../media/model3d20.glb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7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Relationship Id="rIdM3d27" Type="http://schemas.microsoft.com/office/2017/06/relationships/model3d" Target="../media/model3d27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8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M3d28" Type="http://schemas.microsoft.com/office/2017/06/relationships/model3d" Target="../media/model3d28.glb"/><Relationship Id="rIdM3d29" Type="http://schemas.microsoft.com/office/2017/06/relationships/model3d" Target="../media/model3d29.glb"/><Relationship Id="rIdM3d30" Type="http://schemas.microsoft.com/office/2017/06/relationships/model3d" Target="../media/model3d30.glb"/><Relationship Id="rIdM3d31" Type="http://schemas.microsoft.com/office/2017/06/relationships/model3d" Target="../media/model3d31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9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9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Relationship Id="rIdM3d32" Type="http://schemas.microsoft.com/office/2017/06/relationships/model3d" Target="../media/model3d32.glb"/><Relationship Id="rIdM3d33" Type="http://schemas.microsoft.com/office/2017/06/relationships/model3d" Target="../media/model3d33.glb"/><Relationship Id="rIdM3d34" Type="http://schemas.microsoft.com/office/2017/06/relationships/model3d" Target="../media/model3d34.glb"/><Relationship Id="rIdM3d35" Type="http://schemas.microsoft.com/office/2017/06/relationships/model3d" Target="../media/model3d35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0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0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Relationship Id="rIdM3d36" Type="http://schemas.microsoft.com/office/2017/06/relationships/model3d" Target="../media/model3d36.glb"/><Relationship Id="rIdM3d37" Type="http://schemas.microsoft.com/office/2017/06/relationships/model3d" Target="../media/model3d37.glb"/><Relationship Id="rIdM3d38" Type="http://schemas.microsoft.com/office/2017/06/relationships/model3d" Target="../media/model3d38.glb"/><Relationship Id="rIdM3d39" Type="http://schemas.microsoft.com/office/2017/06/relationships/model3d" Target="../media/model3d39.glb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1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Relationship Id="rIdM3d40" Type="http://schemas.microsoft.com/office/2017/06/relationships/model3d" Target="../media/model3d40.glb"/><Relationship Id="rIdM3d41" Type="http://schemas.microsoft.com/office/2017/06/relationships/model3d" Target="../media/model3d41.glb"/><Relationship Id="rIdM3d42" Type="http://schemas.microsoft.com/office/2017/06/relationships/model3d" Target="../media/model3d42.glb"/><Relationship Id="rIdM3d43" Type="http://schemas.microsoft.com/office/2017/06/relationships/model3d" Target="../media/model3d43.glb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Relationship Id="rIdM3d44" Type="http://schemas.microsoft.com/office/2017/06/relationships/model3d" Target="../media/model3d44.glb"/><Relationship Id="rIdM3d45" Type="http://schemas.microsoft.com/office/2017/06/relationships/model3d" Target="../media/model3d45.glb"/><Relationship Id="rIdM3d46" Type="http://schemas.microsoft.com/office/2017/06/relationships/model3d" Target="../media/model3d46.glb"/><Relationship Id="rIdM3d47" Type="http://schemas.microsoft.com/office/2017/06/relationships/model3d" Target="../media/model3d47.glb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3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Relationship Id="rIdM3d48" Type="http://schemas.microsoft.com/office/2017/06/relationships/model3d" Target="../media/model3d48.glb"/><Relationship Id="rIdM3d49" Type="http://schemas.microsoft.com/office/2017/06/relationships/model3d" Target="../media/model3d49.glb"/><Relationship Id="rIdM3d50" Type="http://schemas.microsoft.com/office/2017/06/relationships/model3d" Target="../media/model3d50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token">
                <a:extLst>
                  <a:ext uri="{FF2B5EF4-FFF2-40B4-BE49-F238E27FC236}">
                    <a16:creationId xmlns:a16="http://schemas.microsoft.com/office/drawing/2014/main" id="{5BCE7118-1CC6-D178-6B41-894BC67583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2336" y="89611"/>
              <a:ext cx="566928" cy="566928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token">
                <a:extLst>
                  <a:ext uri="{FF2B5EF4-FFF2-40B4-BE49-F238E27FC236}">
                    <a16:creationId xmlns:a16="http://schemas.microsoft.com/office/drawing/2014/main" id="{5BCE7118-1CC6-D178-6B41-894BC67583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2336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ПРОЕКТНОЕ ИССЛЕДОВАНИЕ  ·  ПОВЕДЕНЧЕСКАЯ ЭКОНОМИКА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900" dirty="0"/>
          </a:p>
        </p:txBody>
      </p:sp>
      <p:pic>
        <p:nvPicPr>
          <p:cNvPr id="10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-283464"/>
            <a:ext cx="7424928" cy="7424928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7514539" y="1022299"/>
            <a:ext cx="4813402" cy="4813402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6848856" y="356616"/>
            <a:ext cx="6144768" cy="614476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3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810" y="4760366"/>
            <a:ext cx="3686861" cy="92171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phone">
                <a:extLst>
                  <a:ext uri="{FF2B5EF4-FFF2-40B4-BE49-F238E27FC236}">
                    <a16:creationId xmlns:a16="http://schemas.microsoft.com/office/drawing/2014/main" id="{E23ED0B6-D7BA-8A4B-5343-C0D96CBEA3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60920" y="868680"/>
              <a:ext cx="5120640" cy="512064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5120640" cy="5120640"/>
                    </a:xfrm>
                    <a:prstGeom prst="rect">
                      <a:avLst/>
                    </a:prstGeom>
                  </am3d:spPr>
                  <am3d:camera>
                    <am3d:pos x="0" y="0" z="559698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3236" d="1000000"/>
                    <am3d:preTrans dx="-779562" dy="1182482" dz="-2601459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120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phone">
                <a:extLst>
                  <a:ext uri="{FF2B5EF4-FFF2-40B4-BE49-F238E27FC236}">
                    <a16:creationId xmlns:a16="http://schemas.microsoft.com/office/drawing/2014/main" id="{E23ED0B6-D7BA-8A4B-5343-C0D96CBEA3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60920" y="868680"/>
                <a:ext cx="5120640" cy="512064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7955280" y="5961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Смартфон: палец нажимает «купить» — монета вылетает из экрана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0515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40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Психология</a:t>
            </a:r>
            <a:endParaRPr lang="en-US" sz="40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5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импульсивных трат</a:t>
            </a:r>
            <a:endParaRPr lang="en-US" sz="4000" dirty="0"/>
          </a:p>
        </p:txBody>
      </p:sp>
      <p:sp>
        <p:nvSpPr>
          <p:cNvPr id="17" name="fx1_1_1"/>
          <p:cNvSpPr/>
          <p:nvPr/>
        </p:nvSpPr>
        <p:spPr>
          <a:xfrm>
            <a:off x="685800" y="3017520"/>
            <a:ext cx="1005840" cy="36576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200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мы покупаем ненужное — и как сократить незапланированные расходы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160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18–25 ЛЕТ   ·   АНКЕТА N ≥ 50   ·   ПАМЯТКА «КАК НЕ КУПИТЬ НЕНУЖНОЕ»</a:t>
            </a:r>
            <a:endParaRPr lang="en-US" sz="1100" dirty="0"/>
          </a:p>
        </p:txBody>
      </p:sp>
      <p:sp>
        <p:nvSpPr>
          <p:cNvPr id="20" name="fx1_8_4"/>
          <p:cNvSpPr/>
          <p:nvPr/>
        </p:nvSpPr>
        <p:spPr>
          <a:xfrm>
            <a:off x="685800" y="4828032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4965192"/>
            <a:ext cx="50292" cy="59436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4690872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46908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4992624"/>
            <a:ext cx="6309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2022 года рынок рассрочки вырос почти в 40 раз —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 940 млрд ₽ за 2025 год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Кнопка «купить» дешевеет быстрее, чем растёт наша зарплата.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card">
                <a:extLst>
                  <a:ext uri="{FF2B5EF4-FFF2-40B4-BE49-F238E27FC236}">
                    <a16:creationId xmlns:a16="http://schemas.microsoft.com/office/drawing/2014/main" id="{FD418C43-64C6-F602-AFE9-8EF753B6FF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71600"/>
              <a:ext cx="4434840" cy="443484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602777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20408" d="1000000"/>
                    <am3d:preTrans dx="-1469389" dy="-1744898" dz="-1193877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card">
                <a:extLst>
                  <a:ext uri="{FF2B5EF4-FFF2-40B4-BE49-F238E27FC236}">
                    <a16:creationId xmlns:a16="http://schemas.microsoft.com/office/drawing/2014/main" id="{FD418C43-64C6-F602-AFE9-8EF753B6FF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371600"/>
                <a:ext cx="4434840" cy="443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0167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31CB76D9-9A8A-954E-92A8-B1D4DA8EDF0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04011" y="89611"/>
              <a:ext cx="566928" cy="566928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31CB76D9-9A8A-954E-92A8-B1D4DA8ED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04011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ПОЧЕМУ ОБ ЭТОМ СТОИТ ГОВОРИТЬ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241" y="8001"/>
            <a:ext cx="6430518" cy="643051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31125" y="1138885"/>
            <a:ext cx="4168750" cy="416875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54596" y="562356"/>
            <a:ext cx="5321808" cy="532180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003" y="4453928"/>
            <a:ext cx="2926994" cy="73174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rd">
                <a:extLst>
                  <a:ext uri="{FF2B5EF4-FFF2-40B4-BE49-F238E27FC236}">
                    <a16:creationId xmlns:a16="http://schemas.microsoft.com/office/drawing/2014/main" id="{6BDF5708-AFEE-6859-2F1C-7A3D58A3AB7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1005840"/>
              <a:ext cx="4434840" cy="443484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602777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20408" d="1000000"/>
                    <am3d:preTrans dx="-1469389" dy="-1744898" dz="-1193877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rd">
                <a:extLst>
                  <a:ext uri="{FF2B5EF4-FFF2-40B4-BE49-F238E27FC236}">
                    <a16:creationId xmlns:a16="http://schemas.microsoft.com/office/drawing/2014/main" id="{6BDF5708-AFEE-6859-2F1C-7A3D58A3AB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1005840"/>
                <a:ext cx="4434840" cy="4434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7932420" y="5925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 терминал: одно касание — и четыре платежа выстроились в очередь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Порог покупки упал до двух кликов</a:t>
            </a:r>
            <a:endParaRPr lang="en-US" sz="3300" dirty="0"/>
          </a:p>
        </p:txBody>
      </p:sp>
      <p:sp>
        <p:nvSpPr>
          <p:cNvPr id="18" name="fx2_1_1"/>
          <p:cNvSpPr/>
          <p:nvPr/>
        </p:nvSpPr>
        <p:spPr>
          <a:xfrm>
            <a:off x="685800" y="2066544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19" name="fx2_1_2"/>
          <p:cNvSpPr/>
          <p:nvPr/>
        </p:nvSpPr>
        <p:spPr>
          <a:xfrm>
            <a:off x="685800" y="2212848"/>
            <a:ext cx="41148" cy="109728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0" name="fx2_1_3"/>
          <p:cNvSpPr/>
          <p:nvPr/>
        </p:nvSpPr>
        <p:spPr>
          <a:xfrm>
            <a:off x="923544" y="21762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940 млрд ₽</a:t>
            </a:r>
            <a:endParaRPr lang="en-US" sz="2400" dirty="0"/>
          </a:p>
        </p:txBody>
      </p:sp>
      <p:sp>
        <p:nvSpPr>
          <p:cNvPr id="21" name="fx2_1_4"/>
          <p:cNvSpPr/>
          <p:nvPr/>
        </p:nvSpPr>
        <p:spPr>
          <a:xfrm>
            <a:off x="923544" y="25786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 сервисов рассрочки в РФ за 2025 г.; в 2024-м было ≈300 млрд ₽ (рост в 2,5 раза)</a:t>
            </a:r>
            <a:endParaRPr lang="en-US" sz="1050" dirty="0"/>
          </a:p>
        </p:txBody>
      </p:sp>
      <p:sp>
        <p:nvSpPr>
          <p:cNvPr id="22" name="fx2_1_5"/>
          <p:cNvSpPr/>
          <p:nvPr/>
        </p:nvSpPr>
        <p:spPr>
          <a:xfrm>
            <a:off x="923544" y="31821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«Долями» (Т-Банк), «Ведомости», февраль 2026</a:t>
            </a:r>
            <a:endParaRPr lang="en-US" sz="800" dirty="0"/>
          </a:p>
        </p:txBody>
      </p:sp>
      <p:sp>
        <p:nvSpPr>
          <p:cNvPr id="23" name="fx2_2_6"/>
          <p:cNvSpPr/>
          <p:nvPr/>
        </p:nvSpPr>
        <p:spPr>
          <a:xfrm>
            <a:off x="4114800" y="2066544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4" name="fx2_2_7"/>
          <p:cNvSpPr/>
          <p:nvPr/>
        </p:nvSpPr>
        <p:spPr>
          <a:xfrm>
            <a:off x="4114800" y="2212848"/>
            <a:ext cx="41148" cy="109728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5" name="fx2_2_8"/>
          <p:cNvSpPr/>
          <p:nvPr/>
        </p:nvSpPr>
        <p:spPr>
          <a:xfrm>
            <a:off x="4352544" y="21762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≈1,25 трлн ₽</a:t>
            </a:r>
            <a:endParaRPr lang="en-US" sz="2400" dirty="0"/>
          </a:p>
        </p:txBody>
      </p:sp>
      <p:sp>
        <p:nvSpPr>
          <p:cNvPr id="26" name="fx2_2_9"/>
          <p:cNvSpPr/>
          <p:nvPr/>
        </p:nvSpPr>
        <p:spPr>
          <a:xfrm>
            <a:off x="4352544" y="25786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оборота BNPL на 2026 год (+30%); доля в розничных платежах выросла с 0,5% до 1,1%</a:t>
            </a:r>
            <a:endParaRPr lang="en-US" sz="1050" dirty="0"/>
          </a:p>
        </p:txBody>
      </p:sp>
      <p:sp>
        <p:nvSpPr>
          <p:cNvPr id="27" name="fx2_2_10"/>
          <p:cNvSpPr/>
          <p:nvPr/>
        </p:nvSpPr>
        <p:spPr>
          <a:xfrm>
            <a:off x="4352544" y="31821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А. Войлукова, РАНХиГС, февраль 2026</a:t>
            </a:r>
            <a:endParaRPr lang="en-US" sz="800" dirty="0"/>
          </a:p>
        </p:txBody>
      </p:sp>
      <p:sp>
        <p:nvSpPr>
          <p:cNvPr id="28" name="fx2_1_11"/>
          <p:cNvSpPr/>
          <p:nvPr/>
        </p:nvSpPr>
        <p:spPr>
          <a:xfrm>
            <a:off x="685800" y="3602736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9" name="fx2_1_12"/>
          <p:cNvSpPr/>
          <p:nvPr/>
        </p:nvSpPr>
        <p:spPr>
          <a:xfrm>
            <a:off x="685800" y="3749040"/>
            <a:ext cx="41148" cy="1097280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30" name="fx2_1_13"/>
          <p:cNvSpPr/>
          <p:nvPr/>
        </p:nvSpPr>
        <p:spPr>
          <a:xfrm>
            <a:off x="923544" y="371246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2400" dirty="0"/>
          </a:p>
        </p:txBody>
      </p:sp>
      <p:sp>
        <p:nvSpPr>
          <p:cNvPr id="31" name="fx2_1_14"/>
          <p:cNvSpPr/>
          <p:nvPr/>
        </p:nvSpPr>
        <p:spPr>
          <a:xfrm>
            <a:off x="923544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россиян сообщали о незапланированных покупках в 2025 г. (в 2021-м — 57%); чек 3–4 тыс. ₽</a:t>
            </a:r>
            <a:endParaRPr lang="en-US" sz="1050" dirty="0"/>
          </a:p>
        </p:txBody>
      </p:sp>
      <p:sp>
        <p:nvSpPr>
          <p:cNvPr id="32" name="fx2_1_15"/>
          <p:cNvSpPr/>
          <p:nvPr/>
        </p:nvSpPr>
        <p:spPr>
          <a:xfrm>
            <a:off x="923544" y="47183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ВЦИОМ / «Российская газета», май 2026</a:t>
            </a:r>
            <a:endParaRPr lang="en-US" sz="800" dirty="0"/>
          </a:p>
        </p:txBody>
      </p:sp>
      <p:sp>
        <p:nvSpPr>
          <p:cNvPr id="33" name="fx2_2_16"/>
          <p:cNvSpPr/>
          <p:nvPr/>
        </p:nvSpPr>
        <p:spPr>
          <a:xfrm>
            <a:off x="4114800" y="3602736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34" name="fx2_2_17"/>
          <p:cNvSpPr/>
          <p:nvPr/>
        </p:nvSpPr>
        <p:spPr>
          <a:xfrm>
            <a:off x="4114800" y="3749040"/>
            <a:ext cx="41148" cy="1097280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35" name="fx2_2_18"/>
          <p:cNvSpPr/>
          <p:nvPr/>
        </p:nvSpPr>
        <p:spPr>
          <a:xfrm>
            <a:off x="4352544" y="371246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11 200 ₽/мес</a:t>
            </a:r>
            <a:endParaRPr lang="en-US" sz="2400" dirty="0"/>
          </a:p>
        </p:txBody>
      </p:sp>
      <p:sp>
        <p:nvSpPr>
          <p:cNvPr id="36" name="fx2_2_19"/>
          <p:cNvSpPr/>
          <p:nvPr/>
        </p:nvSpPr>
        <p:spPr>
          <a:xfrm>
            <a:off x="4352544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средние импульсные траты на маркетплейсах (медиана 8 500 ₽); 46% — люди до 25 лет</a:t>
            </a:r>
            <a:endParaRPr lang="en-US" sz="1050" dirty="0"/>
          </a:p>
        </p:txBody>
      </p:sp>
      <p:sp>
        <p:nvSpPr>
          <p:cNvPr id="37" name="fx2_2_20"/>
          <p:cNvSpPr/>
          <p:nvPr/>
        </p:nvSpPr>
        <p:spPr>
          <a:xfrm>
            <a:off x="4352544" y="47183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«Выберу.ру», май 2026</a:t>
            </a:r>
            <a:endParaRPr lang="en-US" sz="800" dirty="0"/>
          </a:p>
        </p:txBody>
      </p:sp>
      <p:sp>
        <p:nvSpPr>
          <p:cNvPr id="38" name="fx2_8_21"/>
          <p:cNvSpPr/>
          <p:nvPr/>
        </p:nvSpPr>
        <p:spPr>
          <a:xfrm>
            <a:off x="685800" y="5138928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9" name="fx2_8_22"/>
          <p:cNvSpPr/>
          <p:nvPr/>
        </p:nvSpPr>
        <p:spPr>
          <a:xfrm>
            <a:off x="685800" y="5276088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0" name="fx2_8_23"/>
          <p:cNvSpPr/>
          <p:nvPr/>
        </p:nvSpPr>
        <p:spPr>
          <a:xfrm>
            <a:off x="941832" y="5001768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1" name="fx2_8_24"/>
          <p:cNvSpPr/>
          <p:nvPr/>
        </p:nvSpPr>
        <p:spPr>
          <a:xfrm>
            <a:off x="941832" y="5001768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ГЛАВНОЕ</a:t>
            </a:r>
            <a:endParaRPr lang="en-US" sz="850" dirty="0"/>
          </a:p>
        </p:txBody>
      </p:sp>
      <p:sp>
        <p:nvSpPr>
          <p:cNvPr id="42" name="fx2_8_25"/>
          <p:cNvSpPr/>
          <p:nvPr/>
        </p:nvSpPr>
        <p:spPr>
          <a:xfrm>
            <a:off x="960120" y="53035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Маркетплейсы и доставка снизили цену ошибки: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 принимается в момент, когда платить не нужно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товар сейчас, деньги потом.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!!m-phone">
                <a:extLst>
                  <a:ext uri="{FF2B5EF4-FFF2-40B4-BE49-F238E27FC236}">
                    <a16:creationId xmlns:a16="http://schemas.microsoft.com/office/drawing/2014/main" id="{1A34A6F7-7294-5B1B-77E6-5C1C1B6E27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669280" y="1234440"/>
              <a:ext cx="5120640" cy="512064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5120640" cy="5120640"/>
                    </a:xfrm>
                    <a:prstGeom prst="rect">
                      <a:avLst/>
                    </a:prstGeom>
                  </am3d:spPr>
                  <am3d:camera>
                    <am3d:pos x="0" y="0" z="559698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3236" d="1000000"/>
                    <am3d:preTrans dx="-779562" dy="1182482" dz="-2601459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120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!!m-phone">
                <a:extLst>
                  <a:ext uri="{FF2B5EF4-FFF2-40B4-BE49-F238E27FC236}">
                    <a16:creationId xmlns:a16="http://schemas.microsoft.com/office/drawing/2014/main" id="{1A34A6F7-7294-5B1B-77E6-5C1C1B6E27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669280" y="1234440"/>
                <a:ext cx="5120640" cy="51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cart">
                <a:extLst>
                  <a:ext uri="{FF2B5EF4-FFF2-40B4-BE49-F238E27FC236}">
                    <a16:creationId xmlns:a16="http://schemas.microsoft.com/office/drawing/2014/main" id="{197D29AE-A1D9-2A05-F8B7-0F7466F2C3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63040"/>
              <a:ext cx="4297680" cy="429768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9295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14060" d="1000000"/>
                    <am3d:preTrans dx="-212877" dy="102006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cart">
                <a:extLst>
                  <a:ext uri="{FF2B5EF4-FFF2-40B4-BE49-F238E27FC236}">
                    <a16:creationId xmlns:a16="http://schemas.microsoft.com/office/drawing/2014/main" id="{197D29AE-A1D9-2A05-F8B7-0F7466F2C3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6304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803349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BBBE6D4D-8823-D9FD-30A8-0D706B5468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5685" y="89611"/>
              <a:ext cx="566928" cy="566928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75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BBBE6D4D-8823-D9FD-30A8-0D706B5468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05685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ЧТО ИМЕННО МЫ ИЗУЧАЕМ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42" y="130302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8450" y="1226210"/>
            <a:ext cx="4039819" cy="4039819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59752" y="667512"/>
            <a:ext cx="5157216" cy="515721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149" y="4385005"/>
            <a:ext cx="2922422" cy="73060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rt">
                <a:extLst>
                  <a:ext uri="{FF2B5EF4-FFF2-40B4-BE49-F238E27FC236}">
                    <a16:creationId xmlns:a16="http://schemas.microsoft.com/office/drawing/2014/main" id="{310FBE6B-0FD7-C380-79AF-FD95A28D15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97280"/>
              <a:ext cx="4297680" cy="429768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9295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14060" d="1000000"/>
                    <am3d:preTrans dx="-212877" dy="102006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rt">
                <a:extLst>
                  <a:ext uri="{FF2B5EF4-FFF2-40B4-BE49-F238E27FC236}">
                    <a16:creationId xmlns:a16="http://schemas.microsoft.com/office/drawing/2014/main" id="{310FBE6B-0FD7-C380-79AF-FD95A28D15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9728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7909560" y="5925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набивается сама: покупки падают в неё одна за другой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Импульсивная покупка — это не «слабость»</a:t>
            </a:r>
            <a:endParaRPr lang="en-US" sz="3000" dirty="0"/>
          </a:p>
        </p:txBody>
      </p:sp>
      <p:sp>
        <p:nvSpPr>
          <p:cNvPr id="18" name="fx3_1_1"/>
          <p:cNvSpPr/>
          <p:nvPr/>
        </p:nvSpPr>
        <p:spPr>
          <a:xfrm>
            <a:off x="685800" y="20116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3_1_2"/>
          <p:cNvSpPr/>
          <p:nvPr/>
        </p:nvSpPr>
        <p:spPr>
          <a:xfrm>
            <a:off x="1252728" y="2057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Внезапный позыв</a:t>
            </a:r>
            <a:endParaRPr lang="en-US" sz="1400" dirty="0"/>
          </a:p>
        </p:txBody>
      </p:sp>
      <p:sp>
        <p:nvSpPr>
          <p:cNvPr id="20" name="fx3_1_3"/>
          <p:cNvSpPr/>
          <p:nvPr/>
        </p:nvSpPr>
        <p:spPr>
          <a:xfrm>
            <a:off x="1252728" y="2322576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 (1987): «внезапное, часто мощное и настойчивое желание купить немедленно». Эмоция опережает оценку последствий.</a:t>
            </a:r>
            <a:endParaRPr lang="en-US" sz="1150" dirty="0"/>
          </a:p>
        </p:txBody>
      </p:sp>
      <p:sp>
        <p:nvSpPr>
          <p:cNvPr id="21" name="fx3_2_4"/>
          <p:cNvSpPr/>
          <p:nvPr/>
        </p:nvSpPr>
        <p:spPr>
          <a:xfrm>
            <a:off x="685800" y="298094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3_2_5"/>
          <p:cNvSpPr/>
          <p:nvPr/>
        </p:nvSpPr>
        <p:spPr>
          <a:xfrm>
            <a:off x="1252728" y="30266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типа покупок</a:t>
            </a:r>
            <a:endParaRPr lang="en-US" sz="1400" dirty="0"/>
          </a:p>
        </p:txBody>
      </p:sp>
      <p:sp>
        <p:nvSpPr>
          <p:cNvPr id="23" name="fx3_2_6"/>
          <p:cNvSpPr/>
          <p:nvPr/>
        </p:nvSpPr>
        <p:spPr>
          <a:xfrm>
            <a:off x="1252728" y="329184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Стерн (1962): чистая импульсивная — незапланированная; напоминающая — увидел и вспомнил; запланированная-импульсивная — шёл за одним, купил другое.</a:t>
            </a:r>
            <a:endParaRPr lang="en-US" sz="1150" dirty="0"/>
          </a:p>
        </p:txBody>
      </p:sp>
      <p:sp>
        <p:nvSpPr>
          <p:cNvPr id="24" name="fx3_3_7"/>
          <p:cNvSpPr/>
          <p:nvPr/>
        </p:nvSpPr>
        <p:spPr>
          <a:xfrm>
            <a:off x="685800" y="395020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3_3_8"/>
          <p:cNvSpPr/>
          <p:nvPr/>
        </p:nvSpPr>
        <p:spPr>
          <a:xfrm>
            <a:off x="1252728" y="3995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«Боль платежа»</a:t>
            </a:r>
            <a:endParaRPr lang="en-US" sz="1400" dirty="0"/>
          </a:p>
        </p:txBody>
      </p:sp>
      <p:sp>
        <p:nvSpPr>
          <p:cNvPr id="26" name="fx3_3_9"/>
          <p:cNvSpPr/>
          <p:nvPr/>
        </p:nvSpPr>
        <p:spPr>
          <a:xfrm>
            <a:off x="1252728" y="4261104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Прилек и Левенштейн (1998): расставаться с деньгами неприятно. Сохранённая карта и рассрочка эту боль снимают.</a:t>
            </a:r>
            <a:endParaRPr lang="en-US" sz="1150" dirty="0"/>
          </a:p>
        </p:txBody>
      </p:sp>
      <p:sp>
        <p:nvSpPr>
          <p:cNvPr id="27" name="fx3_6_10"/>
          <p:cNvSpPr/>
          <p:nvPr/>
        </p:nvSpPr>
        <p:spPr>
          <a:xfrm>
            <a:off x="685800" y="5138928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fx3_6_11"/>
          <p:cNvSpPr/>
          <p:nvPr/>
        </p:nvSpPr>
        <p:spPr>
          <a:xfrm>
            <a:off x="685800" y="5276088"/>
            <a:ext cx="50292" cy="56692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9" name="fx3_6_12"/>
          <p:cNvSpPr/>
          <p:nvPr/>
        </p:nvSpPr>
        <p:spPr>
          <a:xfrm>
            <a:off x="941832" y="500176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0" name="fx3_6_13"/>
          <p:cNvSpPr/>
          <p:nvPr/>
        </p:nvSpPr>
        <p:spPr>
          <a:xfrm>
            <a:off x="941832" y="5001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1" name="fx3_6_14"/>
          <p:cNvSpPr/>
          <p:nvPr/>
        </p:nvSpPr>
        <p:spPr>
          <a:xfrm>
            <a:off x="960120" y="5303520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Импульс есть у всех — вопрос в том,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управляет ли он бюджетом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Поэтому мы измеряем не «характер», а частоту и сумму незапланированных покупок.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card">
                <a:extLst>
                  <a:ext uri="{FF2B5EF4-FFF2-40B4-BE49-F238E27FC236}">
                    <a16:creationId xmlns:a16="http://schemas.microsoft.com/office/drawing/2014/main" id="{B00963C1-8AFB-0B34-8589-73E3D21499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83480" y="1371600"/>
              <a:ext cx="4434840" cy="443484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602777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20408" d="1000000"/>
                    <am3d:preTrans dx="-1469389" dy="-1744898" dz="-1193877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card">
                <a:extLst>
                  <a:ext uri="{FF2B5EF4-FFF2-40B4-BE49-F238E27FC236}">
                    <a16:creationId xmlns:a16="http://schemas.microsoft.com/office/drawing/2014/main" id="{B00963C1-8AFB-0B34-8589-73E3D21499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83480" y="1371600"/>
                <a:ext cx="4434840" cy="44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lever">
                <a:extLst>
                  <a:ext uri="{FF2B5EF4-FFF2-40B4-BE49-F238E27FC236}">
                    <a16:creationId xmlns:a16="http://schemas.microsoft.com/office/drawing/2014/main" id="{B1C179A6-AADC-E2B3-385F-B2C412E67C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71600"/>
              <a:ext cx="4389120" cy="438912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995870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9425" d="1000000"/>
                    <am3d:preTrans dx="-3248275" dy="-620689" dz="-165517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lever">
                <a:extLst>
                  <a:ext uri="{FF2B5EF4-FFF2-40B4-BE49-F238E27FC236}">
                    <a16:creationId xmlns:a16="http://schemas.microsoft.com/office/drawing/2014/main" id="{B1C179A6-AADC-E2B3-385F-B2C412E67C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7160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705024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7F6A6DF3-993F-45D3-C707-2398616C35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07360" y="89611"/>
              <a:ext cx="566928" cy="566928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262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7F6A6DF3-993F-45D3-C707-2398616C35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07360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МЕХАНИЗМ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8288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21194" y="1137514"/>
            <a:ext cx="4125773" cy="412577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50608" y="566928"/>
            <a:ext cx="5266944" cy="52669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352544"/>
            <a:ext cx="3072384" cy="76809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lever">
                <a:extLst>
                  <a:ext uri="{FF2B5EF4-FFF2-40B4-BE49-F238E27FC236}">
                    <a16:creationId xmlns:a16="http://schemas.microsoft.com/office/drawing/2014/main" id="{EE35A453-BEB6-0C2E-89B1-338E99178D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05840"/>
              <a:ext cx="4389120" cy="4389120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995870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9425" d="1000000"/>
                    <am3d:preTrans dx="-3248275" dy="-620689" dz="-165517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lever">
                <a:extLst>
                  <a:ext uri="{FF2B5EF4-FFF2-40B4-BE49-F238E27FC236}">
                    <a16:creationId xmlns:a16="http://schemas.microsoft.com/office/drawing/2014/main" id="{EE35A453-BEB6-0C2E-89B1-338E99178D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0584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4_9_0"/>
          <p:cNvSpPr/>
          <p:nvPr/>
        </p:nvSpPr>
        <p:spPr>
          <a:xfrm>
            <a:off x="7955280" y="5925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 «ДОФАМИН»: рычаг — и барабаны крутят предвкушение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«Лёгкий дофамин»: награда без ожидания</a:t>
            </a:r>
            <a:endParaRPr lang="en-US" sz="3100" dirty="0"/>
          </a:p>
        </p:txBody>
      </p:sp>
      <p:sp>
        <p:nvSpPr>
          <p:cNvPr id="18" name="fx4_1_1"/>
          <p:cNvSpPr/>
          <p:nvPr/>
        </p:nvSpPr>
        <p:spPr>
          <a:xfrm>
            <a:off x="685800" y="19659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4_1_2"/>
          <p:cNvSpPr/>
          <p:nvPr/>
        </p:nvSpPr>
        <p:spPr>
          <a:xfrm>
            <a:off x="1252728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Дофамин — про предвкушение</a:t>
            </a:r>
            <a:endParaRPr lang="en-US" sz="1300" dirty="0"/>
          </a:p>
        </p:txBody>
      </p:sp>
      <p:sp>
        <p:nvSpPr>
          <p:cNvPr id="20" name="fx4_1_3"/>
          <p:cNvSpPr/>
          <p:nvPr/>
        </p:nvSpPr>
        <p:spPr>
          <a:xfrm>
            <a:off x="1252728" y="227685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Шульц (1997): нейромедиатор выделяется в момент ожидания награды. «Добавить в корзину» уже приятно — до покупки.</a:t>
            </a:r>
            <a:endParaRPr lang="en-US" sz="1050" dirty="0"/>
          </a:p>
        </p:txBody>
      </p:sp>
      <p:sp>
        <p:nvSpPr>
          <p:cNvPr id="21" name="fx4_2_4"/>
          <p:cNvSpPr/>
          <p:nvPr/>
        </p:nvSpPr>
        <p:spPr>
          <a:xfrm>
            <a:off x="685800" y="275234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4_2_5"/>
          <p:cNvSpPr/>
          <p:nvPr/>
        </p:nvSpPr>
        <p:spPr>
          <a:xfrm>
            <a:off x="1252728" y="27980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Смещение к настоящему</a:t>
            </a:r>
            <a:endParaRPr lang="en-US" sz="1300" dirty="0"/>
          </a:p>
        </p:txBody>
      </p:sp>
      <p:sp>
        <p:nvSpPr>
          <p:cNvPr id="23" name="fx4_2_6"/>
          <p:cNvSpPr/>
          <p:nvPr/>
        </p:nvSpPr>
        <p:spPr>
          <a:xfrm>
            <a:off x="1252728" y="306324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bias (Лейбсон, 1997): выгода «сейчас» перевешивает выгоду «потом». Рассрочка выставляет цену в будущее.</a:t>
            </a:r>
            <a:endParaRPr lang="en-US" sz="1050" dirty="0"/>
          </a:p>
        </p:txBody>
      </p:sp>
      <p:sp>
        <p:nvSpPr>
          <p:cNvPr id="24" name="fx4_3_7"/>
          <p:cNvSpPr/>
          <p:nvPr/>
        </p:nvSpPr>
        <p:spPr>
          <a:xfrm>
            <a:off x="685800" y="35387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4_3_8"/>
          <p:cNvSpPr/>
          <p:nvPr/>
        </p:nvSpPr>
        <p:spPr>
          <a:xfrm>
            <a:off x="1252728" y="3584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покупки и платежа</a:t>
            </a:r>
            <a:endParaRPr lang="en-US" sz="1300" dirty="0"/>
          </a:p>
        </p:txBody>
      </p:sp>
      <p:sp>
        <p:nvSpPr>
          <p:cNvPr id="26" name="fx4_3_9"/>
          <p:cNvSpPr/>
          <p:nvPr/>
        </p:nvSpPr>
        <p:spPr>
          <a:xfrm>
            <a:off x="1252728" y="3849624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BNPL: товар — сегодня, платёж — четырьмя частями. Решение принимается там, где платить ещё не нужно.</a:t>
            </a:r>
            <a:endParaRPr lang="en-US" sz="1050" dirty="0"/>
          </a:p>
        </p:txBody>
      </p:sp>
      <p:sp>
        <p:nvSpPr>
          <p:cNvPr id="27" name="fx4_4_10"/>
          <p:cNvSpPr/>
          <p:nvPr/>
        </p:nvSpPr>
        <p:spPr>
          <a:xfrm>
            <a:off x="685800" y="432511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fx4_4_11"/>
          <p:cNvSpPr/>
          <p:nvPr/>
        </p:nvSpPr>
        <p:spPr>
          <a:xfrm>
            <a:off x="1252728" y="4370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Грамотность ≠ поведение</a:t>
            </a:r>
            <a:endParaRPr lang="en-US" sz="1300" dirty="0"/>
          </a:p>
        </p:txBody>
      </p:sp>
      <p:sp>
        <p:nvSpPr>
          <p:cNvPr id="29" name="fx4_4_12"/>
          <p:cNvSpPr/>
          <p:nvPr/>
        </p:nvSpPr>
        <p:spPr>
          <a:xfrm>
            <a:off x="1252728" y="46360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Метаанализ Fernandes, Lynch, Netemeyer (2014): просвещение объясняет крайне малую часть реальных финансовых действий.</a:t>
            </a:r>
            <a:endParaRPr lang="en-US" sz="1050" dirty="0"/>
          </a:p>
        </p:txBody>
      </p:sp>
      <p:sp>
        <p:nvSpPr>
          <p:cNvPr id="30" name="fx4_6_13"/>
          <p:cNvSpPr/>
          <p:nvPr/>
        </p:nvSpPr>
        <p:spPr>
          <a:xfrm>
            <a:off x="685800" y="5230368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4_6_14"/>
          <p:cNvSpPr/>
          <p:nvPr/>
        </p:nvSpPr>
        <p:spPr>
          <a:xfrm>
            <a:off x="685800" y="5367528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4_6_15"/>
          <p:cNvSpPr/>
          <p:nvPr/>
        </p:nvSpPr>
        <p:spPr>
          <a:xfrm>
            <a:off x="941832" y="509320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4_6_16"/>
          <p:cNvSpPr/>
          <p:nvPr/>
        </p:nvSpPr>
        <p:spPr>
          <a:xfrm>
            <a:off x="941832" y="5093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4" name="fx4_6_17"/>
          <p:cNvSpPr/>
          <p:nvPr/>
        </p:nvSpPr>
        <p:spPr>
          <a:xfrm>
            <a:off x="960120" y="539496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Импульс живёт минуты.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Правило «24 часов» работает потому,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что предвкушение слабеет быстрее, чем приходят платежи по рассрочке.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cart">
                <a:extLst>
                  <a:ext uri="{FF2B5EF4-FFF2-40B4-BE49-F238E27FC236}">
                    <a16:creationId xmlns:a16="http://schemas.microsoft.com/office/drawing/2014/main" id="{6DF14953-E893-4FA2-AD89-1F4E4290CB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463040"/>
              <a:ext cx="4297680" cy="4297680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9295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14060" d="1000000"/>
                    <am3d:preTrans dx="-212877" dy="102006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cart">
                <a:extLst>
                  <a:ext uri="{FF2B5EF4-FFF2-40B4-BE49-F238E27FC236}">
                    <a16:creationId xmlns:a16="http://schemas.microsoft.com/office/drawing/2014/main" id="{6DF14953-E893-4FA2-AD89-1F4E4290CB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46304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clock">
                <a:extLst>
                  <a:ext uri="{FF2B5EF4-FFF2-40B4-BE49-F238E27FC236}">
                    <a16:creationId xmlns:a16="http://schemas.microsoft.com/office/drawing/2014/main" id="{9EE8ED29-B4FE-2922-1ED6-AD7EE45621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297680" cy="4297680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17246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830" d="1000000"/>
                    <am3d:preTrans dx="0" dy="2297872" dz="-567587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288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clock">
                <a:extLst>
                  <a:ext uri="{FF2B5EF4-FFF2-40B4-BE49-F238E27FC236}">
                    <a16:creationId xmlns:a16="http://schemas.microsoft.com/office/drawing/2014/main" id="{9EE8ED29-B4FE-2922-1ED6-AD7EE45621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1732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360669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8A7E53B0-3ED8-0EAB-BF34-DAFAAB835D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09034" y="89611"/>
              <a:ext cx="566928" cy="566928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350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8A7E53B0-3ED8-0EAB-BF34-DAFAAB835D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09034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ЛОВУШКИ ИНТЕРФЕЙСА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42" y="84582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8450" y="1180490"/>
            <a:ext cx="4039819" cy="4039819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59752" y="621792"/>
            <a:ext cx="5157216" cy="515721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149" y="4339285"/>
            <a:ext cx="2922422" cy="73060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lock">
                <a:extLst>
                  <a:ext uri="{FF2B5EF4-FFF2-40B4-BE49-F238E27FC236}">
                    <a16:creationId xmlns:a16="http://schemas.microsoft.com/office/drawing/2014/main" id="{1D7A9FCC-B3BF-7B4C-08E5-3C4FBDA5EF2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51560"/>
              <a:ext cx="4297680" cy="4297680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17246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830" d="1000000"/>
                    <am3d:preTrans dx="0" dy="2297872" dz="-567587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lock">
                <a:extLst>
                  <a:ext uri="{FF2B5EF4-FFF2-40B4-BE49-F238E27FC236}">
                    <a16:creationId xmlns:a16="http://schemas.microsoft.com/office/drawing/2014/main" id="{1D7A9FCC-B3BF-7B4C-08E5-3C4FBDA5EF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5156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5_9_0"/>
          <p:cNvSpPr/>
          <p:nvPr/>
        </p:nvSpPr>
        <p:spPr>
          <a:xfrm>
            <a:off x="7909560" y="5925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Часы со скидочным ярлыком: «успей, пока 14:59»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приёмов, которые продают за нас</a:t>
            </a:r>
            <a:endParaRPr lang="en-US" sz="3100" dirty="0"/>
          </a:p>
        </p:txBody>
      </p:sp>
      <p:sp>
        <p:nvSpPr>
          <p:cNvPr id="18" name="fx5_1_1"/>
          <p:cNvSpPr/>
          <p:nvPr/>
        </p:nvSpPr>
        <p:spPr>
          <a:xfrm>
            <a:off x="685800" y="18745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fx5_1_2"/>
          <p:cNvSpPr/>
          <p:nvPr/>
        </p:nvSpPr>
        <p:spPr>
          <a:xfrm>
            <a:off x="1252728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клик</a:t>
            </a:r>
            <a:endParaRPr lang="en-US" sz="1250" dirty="0"/>
          </a:p>
        </p:txBody>
      </p:sp>
      <p:sp>
        <p:nvSpPr>
          <p:cNvPr id="20" name="fx5_1_3"/>
          <p:cNvSpPr/>
          <p:nvPr/>
        </p:nvSpPr>
        <p:spPr>
          <a:xfrm>
            <a:off x="1252728" y="21854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Сохранённая карта и «купить в один тап». Пауза, за которую можно передумать, исчезает.</a:t>
            </a:r>
            <a:endParaRPr lang="en-US" sz="1000" dirty="0"/>
          </a:p>
        </p:txBody>
      </p:sp>
      <p:sp>
        <p:nvSpPr>
          <p:cNvPr id="21" name="fx5_2_4"/>
          <p:cNvSpPr/>
          <p:nvPr/>
        </p:nvSpPr>
        <p:spPr>
          <a:xfrm>
            <a:off x="685800" y="25146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fx5_2_5"/>
          <p:cNvSpPr/>
          <p:nvPr/>
        </p:nvSpPr>
        <p:spPr>
          <a:xfrm>
            <a:off x="1252728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 и дефицит</a:t>
            </a:r>
            <a:endParaRPr lang="en-US" sz="1250" dirty="0"/>
          </a:p>
        </p:txBody>
      </p:sp>
      <p:sp>
        <p:nvSpPr>
          <p:cNvPr id="23" name="fx5_2_6"/>
          <p:cNvSpPr/>
          <p:nvPr/>
        </p:nvSpPr>
        <p:spPr>
          <a:xfrm>
            <a:off x="1252728" y="28254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«Осталось 2 штуки», скидка сгорает через 15 минут. Дефицит повышает ценность (Чалдини).</a:t>
            </a:r>
            <a:endParaRPr lang="en-US" sz="1000" dirty="0"/>
          </a:p>
        </p:txBody>
      </p:sp>
      <p:sp>
        <p:nvSpPr>
          <p:cNvPr id="24" name="fx5_3_7"/>
          <p:cNvSpPr/>
          <p:nvPr/>
        </p:nvSpPr>
        <p:spPr>
          <a:xfrm>
            <a:off x="685800" y="31546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fx5_3_8"/>
          <p:cNvSpPr/>
          <p:nvPr/>
        </p:nvSpPr>
        <p:spPr>
          <a:xfrm>
            <a:off x="1252728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Якорь скидки</a:t>
            </a:r>
            <a:endParaRPr lang="en-US" sz="1250" dirty="0"/>
          </a:p>
        </p:txBody>
      </p:sp>
      <p:sp>
        <p:nvSpPr>
          <p:cNvPr id="26" name="fx5_3_9"/>
          <p:cNvSpPr/>
          <p:nvPr/>
        </p:nvSpPr>
        <p:spPr>
          <a:xfrm>
            <a:off x="1252728" y="34655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«Было 4 999 ₽, стало 2 999 ₽»: сравниваем со старой ценой, а не со своим бюджетом.</a:t>
            </a:r>
            <a:endParaRPr lang="en-US" sz="1000" dirty="0"/>
          </a:p>
        </p:txBody>
      </p:sp>
      <p:sp>
        <p:nvSpPr>
          <p:cNvPr id="27" name="fx5_4_10"/>
          <p:cNvSpPr/>
          <p:nvPr/>
        </p:nvSpPr>
        <p:spPr>
          <a:xfrm>
            <a:off x="685800" y="37947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fx5_4_11"/>
          <p:cNvSpPr/>
          <p:nvPr/>
        </p:nvSpPr>
        <p:spPr>
          <a:xfrm>
            <a:off x="1252728" y="3840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и соцсравнение</a:t>
            </a:r>
            <a:endParaRPr lang="en-US" sz="1250" dirty="0"/>
          </a:p>
        </p:txBody>
      </p:sp>
      <p:sp>
        <p:nvSpPr>
          <p:cNvPr id="29" name="fx5_4_12"/>
          <p:cNvSpPr/>
          <p:nvPr/>
        </p:nvSpPr>
        <p:spPr>
          <a:xfrm>
            <a:off x="1252728" y="41056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показывает чужое потребление как норму; FOMO связан с импульсивными покупками (Прибыльский и др., 2013).</a:t>
            </a:r>
            <a:endParaRPr lang="en-US" sz="1000" dirty="0"/>
          </a:p>
        </p:txBody>
      </p:sp>
      <p:sp>
        <p:nvSpPr>
          <p:cNvPr id="30" name="fx5_5_13"/>
          <p:cNvSpPr/>
          <p:nvPr/>
        </p:nvSpPr>
        <p:spPr>
          <a:xfrm>
            <a:off x="685800" y="44348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fx5_5_14"/>
          <p:cNvSpPr/>
          <p:nvPr/>
        </p:nvSpPr>
        <p:spPr>
          <a:xfrm>
            <a:off x="1252728" y="4480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«в месяц»</a:t>
            </a:r>
            <a:endParaRPr lang="en-US" sz="1250" dirty="0"/>
          </a:p>
        </p:txBody>
      </p:sp>
      <p:sp>
        <p:nvSpPr>
          <p:cNvPr id="32" name="fx5_5_15"/>
          <p:cNvSpPr/>
          <p:nvPr/>
        </p:nvSpPr>
        <p:spPr>
          <a:xfrm>
            <a:off x="1252728" y="47457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«Всего 499 ₽/мес» читается как кофе, а не как решение на 2 000 ₽ на полгода.</a:t>
            </a:r>
            <a:endParaRPr lang="en-US" sz="1000" dirty="0"/>
          </a:p>
        </p:txBody>
      </p:sp>
      <p:sp>
        <p:nvSpPr>
          <p:cNvPr id="33" name="fx5_6_16"/>
          <p:cNvSpPr/>
          <p:nvPr/>
        </p:nvSpPr>
        <p:spPr>
          <a:xfrm>
            <a:off x="685800" y="5413248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5_6_17"/>
          <p:cNvSpPr/>
          <p:nvPr/>
        </p:nvSpPr>
        <p:spPr>
          <a:xfrm>
            <a:off x="685800" y="5550408"/>
            <a:ext cx="50292" cy="51206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5_6_18"/>
          <p:cNvSpPr/>
          <p:nvPr/>
        </p:nvSpPr>
        <p:spPr>
          <a:xfrm>
            <a:off x="941832" y="5276088"/>
            <a:ext cx="151333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6" name="fx5_6_19"/>
          <p:cNvSpPr/>
          <p:nvPr/>
        </p:nvSpPr>
        <p:spPr>
          <a:xfrm>
            <a:off x="941832" y="527608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НАШИ ДАННЫЕ</a:t>
            </a:r>
            <a:endParaRPr lang="en-US" sz="850" dirty="0"/>
          </a:p>
        </p:txBody>
      </p:sp>
      <p:sp>
        <p:nvSpPr>
          <p:cNvPr id="37" name="fx5_6_20"/>
          <p:cNvSpPr/>
          <p:nvPr/>
        </p:nvSpPr>
        <p:spPr>
          <a:xfrm>
            <a:off x="960120" y="557784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опросе молодёжи 18–35 лет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 спонтанных трат — маркетплейсы</a:t>
            </a:r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28% — кофе навынос, 24% — доставка еды. Импульс живёт в самых «дешёвых» привычках.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lever">
                <a:extLst>
                  <a:ext uri="{FF2B5EF4-FFF2-40B4-BE49-F238E27FC236}">
                    <a16:creationId xmlns:a16="http://schemas.microsoft.com/office/drawing/2014/main" id="{A848A0F2-4F27-AAA8-E7D5-DEF3EFE365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371600"/>
              <a:ext cx="4389120" cy="4389120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995870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9425" d="1000000"/>
                    <am3d:preTrans dx="-3248275" dy="-620689" dz="-165517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lever">
                <a:extLst>
                  <a:ext uri="{FF2B5EF4-FFF2-40B4-BE49-F238E27FC236}">
                    <a16:creationId xmlns:a16="http://schemas.microsoft.com/office/drawing/2014/main" id="{A848A0F2-4F27-AAA8-E7D5-DEF3EFE365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371600"/>
                <a:ext cx="4389120" cy="43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receipt">
                <a:extLst>
                  <a:ext uri="{FF2B5EF4-FFF2-40B4-BE49-F238E27FC236}">
                    <a16:creationId xmlns:a16="http://schemas.microsoft.com/office/drawing/2014/main" id="{FCB6BB91-CDCF-A8FB-0CBB-474ACC4D1A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44752"/>
              <a:ext cx="4434840" cy="4434840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519501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0901" d="1000000"/>
                    <am3d:preTrans dx="0" dy="162162" dz="-29189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receipt">
                <a:extLst>
                  <a:ext uri="{FF2B5EF4-FFF2-40B4-BE49-F238E27FC236}">
                    <a16:creationId xmlns:a16="http://schemas.microsoft.com/office/drawing/2014/main" id="{FCB6BB91-CDCF-A8FB-0CBB-474ACC4D1A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44752"/>
                <a:ext cx="4434840" cy="443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4508373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C0979441-27C6-447F-D27F-03DD014543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10709" y="89611"/>
              <a:ext cx="566928" cy="566928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438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C0979441-27C6-447F-D27F-03DD014543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10709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ОСОБЕННОСТИ РОССИЙСКОГО РЫНКА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409" y="81153"/>
            <a:ext cx="6430518" cy="643051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32293" y="1212037"/>
            <a:ext cx="4168750" cy="416875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55764" y="635508"/>
            <a:ext cx="5321808" cy="532180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868" y="4726648"/>
            <a:ext cx="2749601" cy="6874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receipt">
                <a:extLst>
                  <a:ext uri="{FF2B5EF4-FFF2-40B4-BE49-F238E27FC236}">
                    <a16:creationId xmlns:a16="http://schemas.microsoft.com/office/drawing/2014/main" id="{FBE98704-48DC-ACE0-D869-460ED34A09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99248" y="1078992"/>
              <a:ext cx="4434840" cy="4434840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519501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0901" d="1000000"/>
                    <am3d:preTrans dx="0" dy="162162" dz="-29189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receipt">
                <a:extLst>
                  <a:ext uri="{FF2B5EF4-FFF2-40B4-BE49-F238E27FC236}">
                    <a16:creationId xmlns:a16="http://schemas.microsoft.com/office/drawing/2014/main" id="{FBE98704-48DC-ACE0-D869-460ED34A09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99248" y="1078992"/>
                <a:ext cx="4434840" cy="4434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6_9_0"/>
          <p:cNvSpPr/>
          <p:nvPr/>
        </p:nvSpPr>
        <p:spPr>
          <a:xfrm>
            <a:off x="8133588" y="5961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06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 печатает себя: четыре платежа и красная строка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«Плати потом»: как устроена рассрочка</a:t>
            </a:r>
            <a:endParaRPr lang="en-US" sz="3100" dirty="0"/>
          </a:p>
        </p:txBody>
      </p:sp>
      <p:sp>
        <p:nvSpPr>
          <p:cNvPr id="18" name="fx6_1_1"/>
          <p:cNvSpPr/>
          <p:nvPr/>
        </p:nvSpPr>
        <p:spPr>
          <a:xfrm>
            <a:off x="685800" y="198424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6_1_2"/>
          <p:cNvSpPr/>
          <p:nvPr/>
        </p:nvSpPr>
        <p:spPr>
          <a:xfrm>
            <a:off x="1252728" y="2029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BNPL</a:t>
            </a:r>
            <a:endParaRPr lang="en-US" sz="1300" dirty="0"/>
          </a:p>
        </p:txBody>
      </p:sp>
      <p:sp>
        <p:nvSpPr>
          <p:cNvPr id="20" name="fx6_1_3"/>
          <p:cNvSpPr/>
          <p:nvPr/>
        </p:nvSpPr>
        <p:spPr>
          <a:xfrm>
            <a:off x="1252728" y="22951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платит магазину сразу, покупатель возвращает сумму частями (обычно 4 платежа) без процентов.</a:t>
            </a:r>
            <a:endParaRPr lang="en-US" sz="1050" dirty="0"/>
          </a:p>
        </p:txBody>
      </p:sp>
      <p:sp>
        <p:nvSpPr>
          <p:cNvPr id="21" name="fx6_2_4"/>
          <p:cNvSpPr/>
          <p:nvPr/>
        </p:nvSpPr>
        <p:spPr>
          <a:xfrm>
            <a:off x="685800" y="2788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6_2_5"/>
          <p:cNvSpPr/>
          <p:nvPr/>
        </p:nvSpPr>
        <p:spPr>
          <a:xfrm>
            <a:off x="1252728" y="2834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300" dirty="0"/>
          </a:p>
        </p:txBody>
      </p:sp>
      <p:sp>
        <p:nvSpPr>
          <p:cNvPr id="23" name="fx6_2_6"/>
          <p:cNvSpPr/>
          <p:nvPr/>
        </p:nvSpPr>
        <p:spPr>
          <a:xfrm>
            <a:off x="1252728" y="309981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год — 940 млрд ₽ (+2,5 к 2024 году). Доля в розничных платежах: 0,5% → 1,1%, прогноз на 2026 — 1,4%.</a:t>
            </a:r>
            <a:endParaRPr lang="en-US" sz="1050" dirty="0"/>
          </a:p>
        </p:txBody>
      </p:sp>
      <p:sp>
        <p:nvSpPr>
          <p:cNvPr id="24" name="fx6_3_7"/>
          <p:cNvSpPr/>
          <p:nvPr/>
        </p:nvSpPr>
        <p:spPr>
          <a:xfrm>
            <a:off x="685800" y="359359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6_3_8"/>
          <p:cNvSpPr/>
          <p:nvPr/>
        </p:nvSpPr>
        <p:spPr>
          <a:xfrm>
            <a:off x="1252728" y="36393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№ 283-ФЗ</a:t>
            </a:r>
            <a:endParaRPr lang="en-US" sz="1300" dirty="0"/>
          </a:p>
        </p:txBody>
      </p:sp>
      <p:sp>
        <p:nvSpPr>
          <p:cNvPr id="26" name="fx6_3_9"/>
          <p:cNvSpPr/>
          <p:nvPr/>
        </p:nvSpPr>
        <p:spPr>
          <a:xfrm>
            <a:off x="1252728" y="39044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01.04.2026: реестр операторов ЦБ, срок рассрочки ≤ 6 мес. (с 2028 — 4 мес.), неустойка ≤ 20% годовых, запрет скрытых комиссий и разных цен.</a:t>
            </a:r>
            <a:endParaRPr lang="en-US" sz="1050" dirty="0"/>
          </a:p>
        </p:txBody>
      </p:sp>
      <p:sp>
        <p:nvSpPr>
          <p:cNvPr id="27" name="fx6_4_10"/>
          <p:cNvSpPr/>
          <p:nvPr/>
        </p:nvSpPr>
        <p:spPr>
          <a:xfrm>
            <a:off x="685800" y="439826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fx6_4_11"/>
          <p:cNvSpPr/>
          <p:nvPr/>
        </p:nvSpPr>
        <p:spPr>
          <a:xfrm>
            <a:off x="1252728" y="44439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долга</a:t>
            </a:r>
            <a:endParaRPr lang="en-US" sz="1300" dirty="0"/>
          </a:p>
        </p:txBody>
      </p:sp>
      <p:sp>
        <p:nvSpPr>
          <p:cNvPr id="29" name="fx6_4_12"/>
          <p:cNvSpPr/>
          <p:nvPr/>
        </p:nvSpPr>
        <p:spPr>
          <a:xfrm>
            <a:off x="1252728" y="4709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Свыше 50 000 ₽ задолженности оператор обязан передать данные в бюро кредитных историй.</a:t>
            </a:r>
            <a:endParaRPr lang="en-US" sz="1050" dirty="0"/>
          </a:p>
        </p:txBody>
      </p:sp>
      <p:sp>
        <p:nvSpPr>
          <p:cNvPr id="30" name="fx6_6_13"/>
          <p:cNvSpPr/>
          <p:nvPr/>
        </p:nvSpPr>
        <p:spPr>
          <a:xfrm>
            <a:off x="685800" y="5358384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6_6_14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6_6_15"/>
          <p:cNvSpPr/>
          <p:nvPr/>
        </p:nvSpPr>
        <p:spPr>
          <a:xfrm>
            <a:off x="941832" y="5221224"/>
            <a:ext cx="1801368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6_6_16"/>
          <p:cNvSpPr/>
          <p:nvPr/>
        </p:nvSpPr>
        <p:spPr>
          <a:xfrm>
            <a:off x="941832" y="5221224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ЧТО ИЗМЕНИЛОСЬ</a:t>
            </a:r>
            <a:endParaRPr lang="en-US" sz="850" dirty="0"/>
          </a:p>
        </p:txBody>
      </p:sp>
      <p:sp>
        <p:nvSpPr>
          <p:cNvPr id="34" name="fx6_6_17"/>
          <p:cNvSpPr/>
          <p:nvPr/>
        </p:nvSpPr>
        <p:spPr>
          <a:xfrm>
            <a:off x="960120" y="552297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Раньше срок рассрочки не ограничивался ничем, а цена в рассрочку могла быть выше.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Теперь цена обязана быть одинаковой при любой оплате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clock">
                <a:extLst>
                  <a:ext uri="{FF2B5EF4-FFF2-40B4-BE49-F238E27FC236}">
                    <a16:creationId xmlns:a16="http://schemas.microsoft.com/office/drawing/2014/main" id="{258FFE1F-CBDE-ED1F-FE2C-246C50337A7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417320"/>
              <a:ext cx="4297680" cy="4297680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17246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830" d="1000000"/>
                    <am3d:preTrans dx="0" dy="2297872" dz="-567587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7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clock">
                <a:extLst>
                  <a:ext uri="{FF2B5EF4-FFF2-40B4-BE49-F238E27FC236}">
                    <a16:creationId xmlns:a16="http://schemas.microsoft.com/office/drawing/2014/main" id="{258FFE1F-CBDE-ED1F-FE2C-246C50337A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41732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target">
                <a:extLst>
                  <a:ext uri="{FF2B5EF4-FFF2-40B4-BE49-F238E27FC236}">
                    <a16:creationId xmlns:a16="http://schemas.microsoft.com/office/drawing/2014/main" id="{7488B5C7-9052-88E4-BA33-DA8E999104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434840" cy="443484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65514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5666" d="1000000"/>
                    <am3d:preTrans dx="0" dy="-570825" dz="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target">
                <a:extLst>
                  <a:ext uri="{FF2B5EF4-FFF2-40B4-BE49-F238E27FC236}">
                    <a16:creationId xmlns:a16="http://schemas.microsoft.com/office/drawing/2014/main" id="{7488B5C7-9052-88E4-BA33-DA8E999104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17320"/>
                <a:ext cx="4434840" cy="443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41004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DFC6F478-BF26-1DFF-AD49-E3984012CF3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12384" y="89611"/>
              <a:ext cx="566928" cy="566928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525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DFC6F478-BF26-1DFF-AD49-E3984012CF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12384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ЦЕЛЬ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961" y="53721"/>
            <a:ext cx="6430518" cy="643051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76845" y="1184605"/>
            <a:ext cx="4168750" cy="416875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00316" y="608076"/>
            <a:ext cx="5321808" cy="532180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071" y="4555084"/>
            <a:ext cx="2838298" cy="70957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target">
                <a:extLst>
                  <a:ext uri="{FF2B5EF4-FFF2-40B4-BE49-F238E27FC236}">
                    <a16:creationId xmlns:a16="http://schemas.microsoft.com/office/drawing/2014/main" id="{8762D586-3DA9-6CFC-0834-06E6EE1202B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43800" y="1051560"/>
              <a:ext cx="4434840" cy="4434840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65514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5666" d="1000000"/>
                    <am3d:preTrans dx="0" dy="-570825" dz="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target">
                <a:extLst>
                  <a:ext uri="{FF2B5EF4-FFF2-40B4-BE49-F238E27FC236}">
                    <a16:creationId xmlns:a16="http://schemas.microsoft.com/office/drawing/2014/main" id="{8762D586-3DA9-6CFC-0834-06E6EE1202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3800" y="1051560"/>
                <a:ext cx="4434840" cy="4434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7_9_0"/>
          <p:cNvSpPr/>
          <p:nvPr/>
        </p:nvSpPr>
        <p:spPr>
          <a:xfrm>
            <a:off x="7978140" y="5925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07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Мишень: дротик входит в центр — «цель должна быть проверяемой»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проекта</a:t>
            </a:r>
            <a:endParaRPr lang="en-US" sz="3400" dirty="0"/>
          </a:p>
        </p:txBody>
      </p:sp>
      <p:sp>
        <p:nvSpPr>
          <p:cNvPr id="18" name="fx7_1_1"/>
          <p:cNvSpPr/>
          <p:nvPr/>
        </p:nvSpPr>
        <p:spPr>
          <a:xfrm>
            <a:off x="68580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психологические механизмы импульсивных покупок и влияние этих механизмов на финансовое поведение студентов — </a:t>
            </a:r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разработать памятку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помогающую сократить незапланированные расходы.</a:t>
            </a:r>
            <a:endParaRPr lang="en-US" sz="1350" dirty="0"/>
          </a:p>
        </p:txBody>
      </p:sp>
      <p:sp>
        <p:nvSpPr>
          <p:cNvPr id="19" name="fx7_2_2"/>
          <p:cNvSpPr/>
          <p:nvPr/>
        </p:nvSpPr>
        <p:spPr>
          <a:xfrm>
            <a:off x="685800" y="3127248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0" name="fx7_2_3"/>
          <p:cNvSpPr/>
          <p:nvPr/>
        </p:nvSpPr>
        <p:spPr>
          <a:xfrm>
            <a:off x="685800" y="3291840"/>
            <a:ext cx="41148" cy="108813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1" name="fx7_2_4"/>
          <p:cNvSpPr/>
          <p:nvPr/>
        </p:nvSpPr>
        <p:spPr>
          <a:xfrm>
            <a:off x="886968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</a:t>
            </a:r>
            <a:endParaRPr lang="en-US" sz="950" dirty="0"/>
          </a:p>
        </p:txBody>
      </p:sp>
      <p:sp>
        <p:nvSpPr>
          <p:cNvPr id="22" name="fx7_2_5"/>
          <p:cNvSpPr/>
          <p:nvPr/>
        </p:nvSpPr>
        <p:spPr>
          <a:xfrm>
            <a:off x="886968" y="358444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Теорию: когнитивные искажения, поведенческая экономика, самоконтроль. Разобраться, где именно ломается рациональное решение.</a:t>
            </a:r>
            <a:endParaRPr lang="en-US" sz="1050" dirty="0"/>
          </a:p>
        </p:txBody>
      </p:sp>
      <p:sp>
        <p:nvSpPr>
          <p:cNvPr id="23" name="fx7_3_6"/>
          <p:cNvSpPr/>
          <p:nvPr/>
        </p:nvSpPr>
        <p:spPr>
          <a:xfrm>
            <a:off x="2953512" y="3127248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4" name="fx7_3_7"/>
          <p:cNvSpPr/>
          <p:nvPr/>
        </p:nvSpPr>
        <p:spPr>
          <a:xfrm>
            <a:off x="2953512" y="3291840"/>
            <a:ext cx="41148" cy="108813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5" name="fx7_3_8"/>
          <p:cNvSpPr/>
          <p:nvPr/>
        </p:nvSpPr>
        <p:spPr>
          <a:xfrm>
            <a:off x="3154680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ИЗМЕРИТЬ</a:t>
            </a:r>
            <a:endParaRPr lang="en-US" sz="950" dirty="0"/>
          </a:p>
        </p:txBody>
      </p:sp>
      <p:sp>
        <p:nvSpPr>
          <p:cNvPr id="26" name="fx7_3_9"/>
          <p:cNvSpPr/>
          <p:nvPr/>
        </p:nvSpPr>
        <p:spPr>
          <a:xfrm>
            <a:off x="3154680" y="358444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Собственные данные, а не только чужие опросы: анкета, N ≥ 50, статистическая проверка гипотез H1–H3.</a:t>
            </a:r>
            <a:endParaRPr lang="en-US" sz="1050" dirty="0"/>
          </a:p>
        </p:txBody>
      </p:sp>
      <p:sp>
        <p:nvSpPr>
          <p:cNvPr id="27" name="fx7_4_10"/>
          <p:cNvSpPr/>
          <p:nvPr/>
        </p:nvSpPr>
        <p:spPr>
          <a:xfrm>
            <a:off x="5221224" y="3127248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8" name="fx7_4_11"/>
          <p:cNvSpPr/>
          <p:nvPr/>
        </p:nvSpPr>
        <p:spPr>
          <a:xfrm>
            <a:off x="5221224" y="3291840"/>
            <a:ext cx="41148" cy="108813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9" name="fx7_4_12"/>
          <p:cNvSpPr/>
          <p:nvPr/>
        </p:nvSpPr>
        <p:spPr>
          <a:xfrm>
            <a:off x="5422392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ПОМОЧЬ</a:t>
            </a:r>
            <a:endParaRPr lang="en-US" sz="950" dirty="0"/>
          </a:p>
        </p:txBody>
      </p:sp>
      <p:sp>
        <p:nvSpPr>
          <p:cNvPr id="30" name="fx7_4_13"/>
          <p:cNvSpPr/>
          <p:nvPr/>
        </p:nvSpPr>
        <p:spPr>
          <a:xfrm>
            <a:off x="5422392" y="358444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«Как не купить ненужное» — 4 правила, которые можно применить сегодня же, без приложения и подписок.</a:t>
            </a:r>
            <a:endParaRPr lang="en-US" sz="1050" dirty="0"/>
          </a:p>
        </p:txBody>
      </p:sp>
      <p:sp>
        <p:nvSpPr>
          <p:cNvPr id="31" name="fx7_6_14"/>
          <p:cNvSpPr/>
          <p:nvPr/>
        </p:nvSpPr>
        <p:spPr>
          <a:xfrm>
            <a:off x="685800" y="495604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7_6_15"/>
          <p:cNvSpPr/>
          <p:nvPr/>
        </p:nvSpPr>
        <p:spPr>
          <a:xfrm>
            <a:off x="685800" y="5093208"/>
            <a:ext cx="50292" cy="59436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3" name="fx7_6_16"/>
          <p:cNvSpPr/>
          <p:nvPr/>
        </p:nvSpPr>
        <p:spPr>
          <a:xfrm>
            <a:off x="941832" y="481888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4" name="fx7_6_17"/>
          <p:cNvSpPr/>
          <p:nvPr/>
        </p:nvSpPr>
        <p:spPr>
          <a:xfrm>
            <a:off x="941832" y="48188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7_6_18"/>
          <p:cNvSpPr/>
          <p:nvPr/>
        </p:nvSpPr>
        <p:spPr>
          <a:xfrm>
            <a:off x="960120" y="5120640"/>
            <a:ext cx="6309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 чек одной импульсивной покупки —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тысячи рублей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(РЭУ им. Плеханова). Это цена «мелочи со скидкой» — и та сумма, которую можно вернуть за месяц.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receipt">
                <a:extLst>
                  <a:ext uri="{FF2B5EF4-FFF2-40B4-BE49-F238E27FC236}">
                    <a16:creationId xmlns:a16="http://schemas.microsoft.com/office/drawing/2014/main" id="{9C76E911-153F-0F4E-28F6-D2320D7F36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83480" y="1444752"/>
              <a:ext cx="4434840" cy="443484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5195017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0901" d="1000000"/>
                    <am3d:preTrans dx="0" dy="162162" dz="-29189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receipt">
                <a:extLst>
                  <a:ext uri="{FF2B5EF4-FFF2-40B4-BE49-F238E27FC236}">
                    <a16:creationId xmlns:a16="http://schemas.microsoft.com/office/drawing/2014/main" id="{9C76E911-153F-0F4E-28F6-D2320D7F36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83480" y="1444752"/>
                <a:ext cx="4434840" cy="44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hourglass">
                <a:extLst>
                  <a:ext uri="{FF2B5EF4-FFF2-40B4-BE49-F238E27FC236}">
                    <a16:creationId xmlns:a16="http://schemas.microsoft.com/office/drawing/2014/main" id="{45DFC823-4D90-4B95-341E-52C058AEDD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434840" cy="443484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771740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9519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hourglass">
                <a:extLst>
                  <a:ext uri="{FF2B5EF4-FFF2-40B4-BE49-F238E27FC236}">
                    <a16:creationId xmlns:a16="http://schemas.microsoft.com/office/drawing/2014/main" id="{45DFC823-4D90-4B95-341E-52C058AEDDA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17320"/>
                <a:ext cx="4434840" cy="443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311722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338EEF83-E457-93E4-B846-F1A014C79C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14058" y="89611"/>
              <a:ext cx="566928" cy="566928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613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338EEF83-E457-93E4-B846-F1A014C79C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14058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ЗАДАЧИ И ЭТАПЫ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409" y="53721"/>
            <a:ext cx="6430518" cy="643051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32293" y="1184605"/>
            <a:ext cx="4168750" cy="416875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55764" y="608076"/>
            <a:ext cx="5321808" cy="532180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4621606"/>
            <a:ext cx="2660904" cy="66522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hourglass">
                <a:extLst>
                  <a:ext uri="{FF2B5EF4-FFF2-40B4-BE49-F238E27FC236}">
                    <a16:creationId xmlns:a16="http://schemas.microsoft.com/office/drawing/2014/main" id="{9FFE6B1E-8FB6-1B59-1090-BD0DCBDCA8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99248" y="1051560"/>
              <a:ext cx="4434840" cy="4434840"/>
            </p:xfrm>
            <a:graphic>
              <a:graphicData uri="http://schemas.microsoft.com/office/drawing/2017/model3d">
                <am3d:model3d r:embed="rIdM3d29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771740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9519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hourglass">
                <a:extLst>
                  <a:ext uri="{FF2B5EF4-FFF2-40B4-BE49-F238E27FC236}">
                    <a16:creationId xmlns:a16="http://schemas.microsoft.com/office/drawing/2014/main" id="{9FFE6B1E-8FB6-1B59-1090-BD0DCBDCA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99248" y="1051560"/>
                <a:ext cx="4434840" cy="4434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8_9_0"/>
          <p:cNvSpPr/>
          <p:nvPr/>
        </p:nvSpPr>
        <p:spPr>
          <a:xfrm>
            <a:off x="8133588" y="5925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08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Песочные часы: время пересыпается — этапы проекта идут один за другим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Шесть шагов исследования</a:t>
            </a:r>
            <a:endParaRPr lang="en-US" sz="3300" dirty="0"/>
          </a:p>
        </p:txBody>
      </p:sp>
      <p:sp>
        <p:nvSpPr>
          <p:cNvPr id="18" name="fx8_1_1"/>
          <p:cNvSpPr/>
          <p:nvPr/>
        </p:nvSpPr>
        <p:spPr>
          <a:xfrm>
            <a:off x="685800" y="198424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8_1_2"/>
          <p:cNvSpPr/>
          <p:nvPr/>
        </p:nvSpPr>
        <p:spPr>
          <a:xfrm>
            <a:off x="1252728" y="2029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20" name="fx8_1_3"/>
          <p:cNvSpPr/>
          <p:nvPr/>
        </p:nvSpPr>
        <p:spPr>
          <a:xfrm>
            <a:off x="1252728" y="229514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Поведенческая экономика: когнитивные искажения, самоконтроль, модели импульсивного выбора.</a:t>
            </a:r>
            <a:endParaRPr lang="en-US" sz="1050" dirty="0"/>
          </a:p>
        </p:txBody>
      </p:sp>
      <p:sp>
        <p:nvSpPr>
          <p:cNvPr id="21" name="fx8_2_4"/>
          <p:cNvSpPr/>
          <p:nvPr/>
        </p:nvSpPr>
        <p:spPr>
          <a:xfrm>
            <a:off x="685800" y="271576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8_2_5"/>
          <p:cNvSpPr/>
          <p:nvPr/>
        </p:nvSpPr>
        <p:spPr>
          <a:xfrm>
            <a:off x="1252728" y="2761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Контент-анализ</a:t>
            </a:r>
            <a:endParaRPr lang="en-US" sz="1300" dirty="0"/>
          </a:p>
        </p:txBody>
      </p:sp>
      <p:sp>
        <p:nvSpPr>
          <p:cNvPr id="23" name="fx8_2_6"/>
          <p:cNvSpPr/>
          <p:nvPr/>
        </p:nvSpPr>
        <p:spPr>
          <a:xfrm>
            <a:off x="1252728" y="30266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и кейсы: BNPL, кредиты, «шопинг-ловушки», приёмы маркетплейсов.</a:t>
            </a:r>
            <a:endParaRPr lang="en-US" sz="1050" dirty="0"/>
          </a:p>
        </p:txBody>
      </p:sp>
      <p:sp>
        <p:nvSpPr>
          <p:cNvPr id="24" name="fx8_3_7"/>
          <p:cNvSpPr/>
          <p:nvPr/>
        </p:nvSpPr>
        <p:spPr>
          <a:xfrm>
            <a:off x="685800" y="34472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8_3_8"/>
          <p:cNvSpPr/>
          <p:nvPr/>
        </p:nvSpPr>
        <p:spPr>
          <a:xfrm>
            <a:off x="1252728" y="3493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</a:t>
            </a:r>
            <a:endParaRPr lang="en-US" sz="1300" dirty="0"/>
          </a:p>
        </p:txBody>
      </p:sp>
      <p:sp>
        <p:nvSpPr>
          <p:cNvPr id="26" name="fx8_3_9"/>
          <p:cNvSpPr/>
          <p:nvPr/>
        </p:nvSpPr>
        <p:spPr>
          <a:xfrm>
            <a:off x="1252728" y="375818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блоков: импульсивность, FOMO, соцсравнение, рассрочка, привычки, бюджет.</a:t>
            </a:r>
            <a:endParaRPr lang="en-US" sz="1050" dirty="0"/>
          </a:p>
        </p:txBody>
      </p:sp>
      <p:sp>
        <p:nvSpPr>
          <p:cNvPr id="27" name="fx8_4_10"/>
          <p:cNvSpPr/>
          <p:nvPr/>
        </p:nvSpPr>
        <p:spPr>
          <a:xfrm>
            <a:off x="3931920" y="198424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fx8_4_11"/>
          <p:cNvSpPr/>
          <p:nvPr/>
        </p:nvSpPr>
        <p:spPr>
          <a:xfrm>
            <a:off x="4498848" y="2029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</a:t>
            </a:r>
            <a:endParaRPr lang="en-US" sz="1300" dirty="0"/>
          </a:p>
        </p:txBody>
      </p:sp>
      <p:sp>
        <p:nvSpPr>
          <p:cNvPr id="29" name="fx8_4_12"/>
          <p:cNvSpPr/>
          <p:nvPr/>
        </p:nvSpPr>
        <p:spPr>
          <a:xfrm>
            <a:off x="4498848" y="229514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студентов 18–25 лет, N ≥ 50; анонимно и добровольно.</a:t>
            </a:r>
            <a:endParaRPr lang="en-US" sz="1050" dirty="0"/>
          </a:p>
        </p:txBody>
      </p:sp>
      <p:sp>
        <p:nvSpPr>
          <p:cNvPr id="30" name="fx8_5_13"/>
          <p:cNvSpPr/>
          <p:nvPr/>
        </p:nvSpPr>
        <p:spPr>
          <a:xfrm>
            <a:off x="3931920" y="271576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31" name="fx8_5_14"/>
          <p:cNvSpPr/>
          <p:nvPr/>
        </p:nvSpPr>
        <p:spPr>
          <a:xfrm>
            <a:off x="4498848" y="2761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</a:t>
            </a:r>
            <a:endParaRPr lang="en-US" sz="1300" dirty="0"/>
          </a:p>
        </p:txBody>
      </p:sp>
      <p:sp>
        <p:nvSpPr>
          <p:cNvPr id="32" name="fx8_5_15"/>
          <p:cNvSpPr/>
          <p:nvPr/>
        </p:nvSpPr>
        <p:spPr>
          <a:xfrm>
            <a:off x="4498848" y="30266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Корреляции Спирмена, χ², сравнение групп, проверка H1–H3.</a:t>
            </a:r>
            <a:endParaRPr lang="en-US" sz="1050" dirty="0"/>
          </a:p>
        </p:txBody>
      </p:sp>
      <p:sp>
        <p:nvSpPr>
          <p:cNvPr id="33" name="fx8_6_16"/>
          <p:cNvSpPr/>
          <p:nvPr/>
        </p:nvSpPr>
        <p:spPr>
          <a:xfrm>
            <a:off x="3931920" y="34472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fx8_6_17"/>
          <p:cNvSpPr/>
          <p:nvPr/>
        </p:nvSpPr>
        <p:spPr>
          <a:xfrm>
            <a:off x="4498848" y="3493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</a:t>
            </a:r>
            <a:endParaRPr lang="en-US" sz="1300" dirty="0"/>
          </a:p>
        </p:txBody>
      </p:sp>
      <p:sp>
        <p:nvSpPr>
          <p:cNvPr id="35" name="fx8_6_18"/>
          <p:cNvSpPr/>
          <p:nvPr/>
        </p:nvSpPr>
        <p:spPr>
          <a:xfrm>
            <a:off x="4498848" y="375818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не купить ненужное»: 4 правила + способ проверить эффект.</a:t>
            </a:r>
            <a:endParaRPr lang="en-US" sz="1050" dirty="0"/>
          </a:p>
        </p:txBody>
      </p:sp>
      <p:sp>
        <p:nvSpPr>
          <p:cNvPr id="36" name="fx8_7_19"/>
          <p:cNvSpPr/>
          <p:nvPr/>
        </p:nvSpPr>
        <p:spPr>
          <a:xfrm>
            <a:off x="685800" y="495604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fx8_7_20"/>
          <p:cNvSpPr/>
          <p:nvPr/>
        </p:nvSpPr>
        <p:spPr>
          <a:xfrm>
            <a:off x="685800" y="5093208"/>
            <a:ext cx="50292" cy="59436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8" name="fx8_7_21"/>
          <p:cNvSpPr/>
          <p:nvPr/>
        </p:nvSpPr>
        <p:spPr>
          <a:xfrm>
            <a:off x="941832" y="481888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9" name="fx8_7_22"/>
          <p:cNvSpPr/>
          <p:nvPr/>
        </p:nvSpPr>
        <p:spPr>
          <a:xfrm>
            <a:off x="941832" y="48188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0" name="fx8_7_23"/>
          <p:cNvSpPr/>
          <p:nvPr/>
        </p:nvSpPr>
        <p:spPr>
          <a:xfrm>
            <a:off x="960120" y="5120640"/>
            <a:ext cx="6309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Ключевое слово в задачах —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«проверить», а не «подтвердить»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отрицательный результат по гипотезе тоже результат, и он честнее подгонки данных.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target">
                <a:extLst>
                  <a:ext uri="{FF2B5EF4-FFF2-40B4-BE49-F238E27FC236}">
                    <a16:creationId xmlns:a16="http://schemas.microsoft.com/office/drawing/2014/main" id="{C81AA452-444B-658D-A6FA-C130D93ABB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83480" y="1417320"/>
              <a:ext cx="4434840" cy="4434840"/>
            </p:xfrm>
            <a:graphic>
              <a:graphicData uri="http://schemas.microsoft.com/office/drawing/2017/model3d">
                <am3d:model3d r:embed="rIdM3d30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65514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5666" d="1000000"/>
                    <am3d:preTrans dx="0" dy="-570825" dz="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target">
                <a:extLst>
                  <a:ext uri="{FF2B5EF4-FFF2-40B4-BE49-F238E27FC236}">
                    <a16:creationId xmlns:a16="http://schemas.microsoft.com/office/drawing/2014/main" id="{C81AA452-444B-658D-A6FA-C130D93ABB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83480" y="1417320"/>
                <a:ext cx="4434840" cy="44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!!m-scales">
                <a:extLst>
                  <a:ext uri="{FF2B5EF4-FFF2-40B4-BE49-F238E27FC236}">
                    <a16:creationId xmlns:a16="http://schemas.microsoft.com/office/drawing/2014/main" id="{C839E49A-3C06-3FA6-01A7-F6CCD776B9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63040"/>
              <a:ext cx="4297680" cy="4297680"/>
            </p:xfrm>
            <a:graphic>
              <a:graphicData uri="http://schemas.microsoft.com/office/drawing/2017/model3d">
                <am3d:model3d r:embed="rIdM3d31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5083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0981" d="1000000"/>
                    <am3d:preTrans dx="482238" dy="4958278" dz="-79299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!!m-scales">
                <a:extLst>
                  <a:ext uri="{FF2B5EF4-FFF2-40B4-BE49-F238E27FC236}">
                    <a16:creationId xmlns:a16="http://schemas.microsoft.com/office/drawing/2014/main" id="{C839E49A-3C06-3FA6-01A7-F6CCD776B9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6304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213397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DCA12FAB-A46A-EFD8-896B-2B75613E44F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15733" y="89611"/>
              <a:ext cx="566928" cy="566928"/>
            </p:xfrm>
            <a:graphic>
              <a:graphicData uri="http://schemas.microsoft.com/office/drawing/2017/model3d">
                <am3d:model3d r:embed="rIdM3d32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700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DCA12FAB-A46A-EFD8-896B-2B75613E44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15733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ГИПОТЕЗЫ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42" y="130302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8450" y="1226210"/>
            <a:ext cx="4039819" cy="4039819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59752" y="667512"/>
            <a:ext cx="5157216" cy="515721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126" y="4481703"/>
            <a:ext cx="2836469" cy="70911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cales">
                <a:extLst>
                  <a:ext uri="{FF2B5EF4-FFF2-40B4-BE49-F238E27FC236}">
                    <a16:creationId xmlns:a16="http://schemas.microsoft.com/office/drawing/2014/main" id="{1F067611-CC07-18E3-24F7-147062A59D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97280"/>
              <a:ext cx="4297680" cy="4297680"/>
            </p:xfrm>
            <a:graphic>
              <a:graphicData uri="http://schemas.microsoft.com/office/drawing/2017/model3d">
                <am3d:model3d r:embed="rIdM3d33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5083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0981" d="1000000"/>
                    <am3d:preTrans dx="482238" dy="4958278" dz="-79299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cales">
                <a:extLst>
                  <a:ext uri="{FF2B5EF4-FFF2-40B4-BE49-F238E27FC236}">
                    <a16:creationId xmlns:a16="http://schemas.microsoft.com/office/drawing/2014/main" id="{1F067611-CC07-18E3-24F7-147062A59D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9728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9_9_0"/>
          <p:cNvSpPr/>
          <p:nvPr/>
        </p:nvSpPr>
        <p:spPr>
          <a:xfrm>
            <a:off x="7909560" y="5925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09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Весы: «хочу сейчас» против бюджета — чаши не могут договориться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именно мы проверяем</a:t>
            </a:r>
            <a:endParaRPr lang="en-US" sz="3200" dirty="0"/>
          </a:p>
        </p:txBody>
      </p:sp>
      <p:sp>
        <p:nvSpPr>
          <p:cNvPr id="18" name="fx9_1_1"/>
          <p:cNvSpPr/>
          <p:nvPr/>
        </p:nvSpPr>
        <p:spPr>
          <a:xfrm>
            <a:off x="685800" y="2011680"/>
            <a:ext cx="6766560" cy="877824"/>
          </a:xfrm>
          <a:prstGeom prst="roundRect">
            <a:avLst>
              <a:gd name="adj" fmla="val 833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19" name="fx9_1_2"/>
          <p:cNvSpPr/>
          <p:nvPr/>
        </p:nvSpPr>
        <p:spPr>
          <a:xfrm>
            <a:off x="886968" y="22311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400" dirty="0"/>
          </a:p>
        </p:txBody>
      </p:sp>
      <p:sp>
        <p:nvSpPr>
          <p:cNvPr id="20" name="fx9_1_3"/>
          <p:cNvSpPr/>
          <p:nvPr/>
        </p:nvSpPr>
        <p:spPr>
          <a:xfrm>
            <a:off x="1618488" y="2157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и импульсивность</a:t>
            </a:r>
            <a:endParaRPr lang="en-US" sz="1350" dirty="0"/>
          </a:p>
        </p:txBody>
      </p:sp>
      <p:sp>
        <p:nvSpPr>
          <p:cNvPr id="21" name="fx9_1_4"/>
          <p:cNvSpPr/>
          <p:nvPr/>
        </p:nvSpPr>
        <p:spPr>
          <a:xfrm>
            <a:off x="1618488" y="24414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выше FOMO и импульсивность — тем больше незапланированных покупок и покупок в рассрочку.</a:t>
            </a:r>
            <a:endParaRPr lang="en-US" sz="1050" dirty="0"/>
          </a:p>
        </p:txBody>
      </p:sp>
      <p:sp>
        <p:nvSpPr>
          <p:cNvPr id="22" name="fx9_2_5"/>
          <p:cNvSpPr/>
          <p:nvPr/>
        </p:nvSpPr>
        <p:spPr>
          <a:xfrm>
            <a:off x="685800" y="3035808"/>
            <a:ext cx="6766560" cy="877824"/>
          </a:xfrm>
          <a:prstGeom prst="roundRect">
            <a:avLst>
              <a:gd name="adj" fmla="val 833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3" name="fx9_2_6"/>
          <p:cNvSpPr/>
          <p:nvPr/>
        </p:nvSpPr>
        <p:spPr>
          <a:xfrm>
            <a:off x="886968" y="32552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400" dirty="0"/>
          </a:p>
        </p:txBody>
      </p:sp>
      <p:sp>
        <p:nvSpPr>
          <p:cNvPr id="24" name="fx9_2_7"/>
          <p:cNvSpPr/>
          <p:nvPr/>
        </p:nvSpPr>
        <p:spPr>
          <a:xfrm>
            <a:off x="1618488" y="31821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Социальное сравнение</a:t>
            </a:r>
            <a:endParaRPr lang="en-US" sz="1350" dirty="0"/>
          </a:p>
        </p:txBody>
      </p:sp>
      <p:sp>
        <p:nvSpPr>
          <p:cNvPr id="25" name="fx9_2_8"/>
          <p:cNvSpPr/>
          <p:nvPr/>
        </p:nvSpPr>
        <p:spPr>
          <a:xfrm>
            <a:off x="1618488" y="34655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«Потребление на показ» и сравнение с другими ведут к росту статусных покупок: распродажи, советы блогеров.</a:t>
            </a:r>
            <a:endParaRPr lang="en-US" sz="1050" dirty="0"/>
          </a:p>
        </p:txBody>
      </p:sp>
      <p:sp>
        <p:nvSpPr>
          <p:cNvPr id="26" name="fx9_3_9"/>
          <p:cNvSpPr/>
          <p:nvPr/>
        </p:nvSpPr>
        <p:spPr>
          <a:xfrm>
            <a:off x="685800" y="4059936"/>
            <a:ext cx="6766560" cy="877824"/>
          </a:xfrm>
          <a:prstGeom prst="roundRect">
            <a:avLst>
              <a:gd name="adj" fmla="val 8333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7" name="fx9_3_10"/>
          <p:cNvSpPr/>
          <p:nvPr/>
        </p:nvSpPr>
        <p:spPr>
          <a:xfrm>
            <a:off x="886968" y="4279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400" dirty="0"/>
          </a:p>
        </p:txBody>
      </p:sp>
      <p:sp>
        <p:nvSpPr>
          <p:cNvPr id="28" name="fx9_3_11"/>
          <p:cNvSpPr/>
          <p:nvPr/>
        </p:nvSpPr>
        <p:spPr>
          <a:xfrm>
            <a:off x="1618488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Грамотность не защита</a:t>
            </a:r>
            <a:endParaRPr lang="en-US" sz="1350" dirty="0"/>
          </a:p>
        </p:txBody>
      </p:sp>
      <p:sp>
        <p:nvSpPr>
          <p:cNvPr id="29" name="fx9_3_12"/>
          <p:cNvSpPr/>
          <p:nvPr/>
        </p:nvSpPr>
        <p:spPr>
          <a:xfrm>
            <a:off x="1618488" y="44897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грамотность снижает, но НЕ устраняет влияние искажений: осведомлённость выше, поведение прежнее.</a:t>
            </a:r>
            <a:endParaRPr lang="en-US" sz="1050" dirty="0"/>
          </a:p>
        </p:txBody>
      </p:sp>
      <p:sp>
        <p:nvSpPr>
          <p:cNvPr id="30" name="fx9_5_13"/>
          <p:cNvSpPr/>
          <p:nvPr/>
        </p:nvSpPr>
        <p:spPr>
          <a:xfrm>
            <a:off x="685800" y="5138928"/>
            <a:ext cx="6766560" cy="859536"/>
          </a:xfrm>
          <a:prstGeom prst="roundRect">
            <a:avLst>
              <a:gd name="adj" fmla="val 8511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9_5_14"/>
          <p:cNvSpPr/>
          <p:nvPr/>
        </p:nvSpPr>
        <p:spPr>
          <a:xfrm>
            <a:off x="685800" y="5276088"/>
            <a:ext cx="50292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9_5_15"/>
          <p:cNvSpPr/>
          <p:nvPr/>
        </p:nvSpPr>
        <p:spPr>
          <a:xfrm>
            <a:off x="941832" y="5001768"/>
            <a:ext cx="1705356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9_5_16"/>
          <p:cNvSpPr/>
          <p:nvPr/>
        </p:nvSpPr>
        <p:spPr>
          <a:xfrm>
            <a:off x="941832" y="5001768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СПОРНЫЙ ПУНКТ</a:t>
            </a:r>
            <a:endParaRPr lang="en-US" sz="850" dirty="0"/>
          </a:p>
        </p:txBody>
      </p:sp>
      <p:sp>
        <p:nvSpPr>
          <p:cNvPr id="34" name="fx9_5_17"/>
          <p:cNvSpPr/>
          <p:nvPr/>
        </p:nvSpPr>
        <p:spPr>
          <a:xfrm>
            <a:off x="960120" y="530352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самая спорная. Если грамотность «не защищает», значит, дело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в знаниях, а в среде и в моменте решения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hourglass">
                <a:extLst>
                  <a:ext uri="{FF2B5EF4-FFF2-40B4-BE49-F238E27FC236}">
                    <a16:creationId xmlns:a16="http://schemas.microsoft.com/office/drawing/2014/main" id="{111A927A-8518-9509-690D-25200F0216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83480" y="1417320"/>
              <a:ext cx="4434840" cy="4434840"/>
            </p:xfrm>
            <a:graphic>
              <a:graphicData uri="http://schemas.microsoft.com/office/drawing/2017/model3d">
                <am3d:model3d r:embed="rIdM3d34">
                  <am3d:spPr>
                    <a:xfrm>
                      <a:off x="0" y="0"/>
                      <a:ext cx="4434840" cy="4434840"/>
                    </a:xfrm>
                    <a:prstGeom prst="rect">
                      <a:avLst/>
                    </a:prstGeom>
                  </am3d:spPr>
                  <am3d:camera>
                    <am3d:pos x="0" y="0" z="771740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9519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34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hourglass">
                <a:extLst>
                  <a:ext uri="{FF2B5EF4-FFF2-40B4-BE49-F238E27FC236}">
                    <a16:creationId xmlns:a16="http://schemas.microsoft.com/office/drawing/2014/main" id="{111A927A-8518-9509-690D-25200F0216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83480" y="1417320"/>
                <a:ext cx="4434840" cy="44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survey">
                <a:extLst>
                  <a:ext uri="{FF2B5EF4-FFF2-40B4-BE49-F238E27FC236}">
                    <a16:creationId xmlns:a16="http://schemas.microsoft.com/office/drawing/2014/main" id="{7E7591C3-C933-176B-5FA1-68F4B46930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89888"/>
              <a:ext cx="4480560" cy="4480560"/>
            </p:xfrm>
            <a:graphic>
              <a:graphicData uri="http://schemas.microsoft.com/office/drawing/2017/model3d">
                <am3d:model3d r:embed="rIdM3d35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57798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830" d="1000000"/>
                    <am3d:preTrans dx="0" dy="0" dz="-148404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survey">
                <a:extLst>
                  <a:ext uri="{FF2B5EF4-FFF2-40B4-BE49-F238E27FC236}">
                    <a16:creationId xmlns:a16="http://schemas.microsoft.com/office/drawing/2014/main" id="{7E7591C3-C933-176B-5FA1-68F4B46930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89888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8115071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0C9E2B98-A6C1-4C93-EFAC-A7446F1D19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17407" y="89611"/>
              <a:ext cx="566928" cy="566928"/>
            </p:xfrm>
            <a:graphic>
              <a:graphicData uri="http://schemas.microsoft.com/office/drawing/2017/model3d">
                <am3d:model3d r:embed="rIdM3d36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788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0C9E2B98-A6C1-4C93-EFAC-A7446F1D19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17407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МЕТОД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834" y="16002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15377" y="1158545"/>
            <a:ext cx="4211726" cy="421172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32904" y="576072"/>
            <a:ext cx="5376672" cy="5376672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266" y="4619777"/>
            <a:ext cx="2777947" cy="69448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urvey">
                <a:extLst>
                  <a:ext uri="{FF2B5EF4-FFF2-40B4-BE49-F238E27FC236}">
                    <a16:creationId xmlns:a16="http://schemas.microsoft.com/office/drawing/2014/main" id="{984E089F-82F2-1397-E2FD-F49BDBF353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80960" y="1024128"/>
              <a:ext cx="4480560" cy="4480560"/>
            </p:xfrm>
            <a:graphic>
              <a:graphicData uri="http://schemas.microsoft.com/office/drawing/2017/model3d">
                <am3d:model3d r:embed="rIdM3d37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57798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830" d="1000000"/>
                    <am3d:preTrans dx="0" dy="0" dz="-148404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urvey">
                <a:extLst>
                  <a:ext uri="{FF2B5EF4-FFF2-40B4-BE49-F238E27FC236}">
                    <a16:creationId xmlns:a16="http://schemas.microsoft.com/office/drawing/2014/main" id="{984E089F-82F2-1397-E2FD-F49BDBF353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0960" y="1024128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0_9_0"/>
          <p:cNvSpPr/>
          <p:nvPr/>
        </p:nvSpPr>
        <p:spPr>
          <a:xfrm>
            <a:off x="8138160" y="5961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10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Анкета: лупа идёт по строкам, ответы отмечаются галочками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мы это измеряем</a:t>
            </a:r>
            <a:endParaRPr lang="en-US" sz="3300" dirty="0"/>
          </a:p>
        </p:txBody>
      </p:sp>
      <p:sp>
        <p:nvSpPr>
          <p:cNvPr id="18" name="fx10_1_1"/>
          <p:cNvSpPr/>
          <p:nvPr/>
        </p:nvSpPr>
        <p:spPr>
          <a:xfrm>
            <a:off x="685800" y="19659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10_1_2"/>
          <p:cNvSpPr/>
          <p:nvPr/>
        </p:nvSpPr>
        <p:spPr>
          <a:xfrm>
            <a:off x="1252728" y="2011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</a:t>
            </a:r>
            <a:endParaRPr lang="en-US" sz="1300" dirty="0"/>
          </a:p>
        </p:txBody>
      </p:sp>
      <p:sp>
        <p:nvSpPr>
          <p:cNvPr id="20" name="fx10_1_3"/>
          <p:cNvSpPr/>
          <p:nvPr/>
        </p:nvSpPr>
        <p:spPr>
          <a:xfrm>
            <a:off x="1252728" y="227685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18–25 лет, N ≥ 50. Онлайн-анкета: анонимно, добровольно, без сбора личных данных.</a:t>
            </a:r>
            <a:endParaRPr lang="en-US" sz="1050" dirty="0"/>
          </a:p>
        </p:txBody>
      </p:sp>
      <p:sp>
        <p:nvSpPr>
          <p:cNvPr id="21" name="fx10_2_4"/>
          <p:cNvSpPr/>
          <p:nvPr/>
        </p:nvSpPr>
        <p:spPr>
          <a:xfrm>
            <a:off x="685800" y="275234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10_2_5"/>
          <p:cNvSpPr/>
          <p:nvPr/>
        </p:nvSpPr>
        <p:spPr>
          <a:xfrm>
            <a:off x="1252728" y="2798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300" dirty="0"/>
          </a:p>
        </p:txBody>
      </p:sp>
      <p:sp>
        <p:nvSpPr>
          <p:cNvPr id="23" name="fx10_2_6"/>
          <p:cNvSpPr/>
          <p:nvPr/>
        </p:nvSpPr>
        <p:spPr>
          <a:xfrm>
            <a:off x="1252728" y="306324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 импульсивности в покупках (Rook &amp; Fisher, 1995, адаптация), блок FOMO, блок соцсравнения, блок про BNPL.</a:t>
            </a:r>
            <a:endParaRPr lang="en-US" sz="1050" dirty="0"/>
          </a:p>
        </p:txBody>
      </p:sp>
      <p:sp>
        <p:nvSpPr>
          <p:cNvPr id="24" name="fx10_3_7"/>
          <p:cNvSpPr/>
          <p:nvPr/>
        </p:nvSpPr>
        <p:spPr>
          <a:xfrm>
            <a:off x="685800" y="35387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10_3_8"/>
          <p:cNvSpPr/>
          <p:nvPr/>
        </p:nvSpPr>
        <p:spPr>
          <a:xfrm>
            <a:off x="1252728" y="35844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считаем</a:t>
            </a:r>
            <a:endParaRPr lang="en-US" sz="1300" dirty="0"/>
          </a:p>
        </p:txBody>
      </p:sp>
      <p:sp>
        <p:nvSpPr>
          <p:cNvPr id="26" name="fx10_3_9"/>
          <p:cNvSpPr/>
          <p:nvPr/>
        </p:nvSpPr>
        <p:spPr>
          <a:xfrm>
            <a:off x="1252728" y="3849624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Частоту незапланированных покупок за месяц, средний чек, число активных рассрочек, самоконтроль.</a:t>
            </a:r>
            <a:endParaRPr lang="en-US" sz="1050" dirty="0"/>
          </a:p>
        </p:txBody>
      </p:sp>
      <p:sp>
        <p:nvSpPr>
          <p:cNvPr id="27" name="fx10_4_10"/>
          <p:cNvSpPr/>
          <p:nvPr/>
        </p:nvSpPr>
        <p:spPr>
          <a:xfrm>
            <a:off x="685800" y="432511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fx10_4_11"/>
          <p:cNvSpPr/>
          <p:nvPr/>
        </p:nvSpPr>
        <p:spPr>
          <a:xfrm>
            <a:off x="1252728" y="43708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и ограничения</a:t>
            </a:r>
            <a:endParaRPr lang="en-US" sz="1300" dirty="0"/>
          </a:p>
        </p:txBody>
      </p:sp>
      <p:sp>
        <p:nvSpPr>
          <p:cNvPr id="29" name="fx10_4_12"/>
          <p:cNvSpPr/>
          <p:nvPr/>
        </p:nvSpPr>
        <p:spPr>
          <a:xfrm>
            <a:off x="1252728" y="463600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Корреляции Спирмена, χ², сравнение групп. Ограничение: самоотчёт и социальная желательность ответов.</a:t>
            </a:r>
            <a:endParaRPr lang="en-US" sz="1050" dirty="0"/>
          </a:p>
        </p:txBody>
      </p:sp>
      <p:sp>
        <p:nvSpPr>
          <p:cNvPr id="30" name="fx10_6_13"/>
          <p:cNvSpPr/>
          <p:nvPr/>
        </p:nvSpPr>
        <p:spPr>
          <a:xfrm>
            <a:off x="685800" y="5230368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10_6_14"/>
          <p:cNvSpPr/>
          <p:nvPr/>
        </p:nvSpPr>
        <p:spPr>
          <a:xfrm>
            <a:off x="685800" y="5367528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10_6_15"/>
          <p:cNvSpPr/>
          <p:nvPr/>
        </p:nvSpPr>
        <p:spPr>
          <a:xfrm>
            <a:off x="941832" y="509320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10_6_16"/>
          <p:cNvSpPr/>
          <p:nvPr/>
        </p:nvSpPr>
        <p:spPr>
          <a:xfrm>
            <a:off x="941832" y="5093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4" name="fx10_6_17"/>
          <p:cNvSpPr/>
          <p:nvPr/>
        </p:nvSpPr>
        <p:spPr>
          <a:xfrm>
            <a:off x="960120" y="539496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 на качество анкеты: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если вопрос можно понять двумя способами — он уже испортил данные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Поэтому формулировки проверяем до поля.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scales">
                <a:extLst>
                  <a:ext uri="{FF2B5EF4-FFF2-40B4-BE49-F238E27FC236}">
                    <a16:creationId xmlns:a16="http://schemas.microsoft.com/office/drawing/2014/main" id="{D7DFE3C7-C227-3959-DBA2-5AD8C5518B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463040"/>
              <a:ext cx="4297680" cy="4297680"/>
            </p:xfrm>
            <a:graphic>
              <a:graphicData uri="http://schemas.microsoft.com/office/drawing/2017/model3d">
                <am3d:model3d r:embed="rIdM3d38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5083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0981" d="1000000"/>
                    <am3d:preTrans dx="482238" dy="4958278" dz="-792998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scales">
                <a:extLst>
                  <a:ext uri="{FF2B5EF4-FFF2-40B4-BE49-F238E27FC236}">
                    <a16:creationId xmlns:a16="http://schemas.microsoft.com/office/drawing/2014/main" id="{D7DFE3C7-C227-3959-DBA2-5AD8C5518B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46304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backpack">
                <a:extLst>
                  <a:ext uri="{FF2B5EF4-FFF2-40B4-BE49-F238E27FC236}">
                    <a16:creationId xmlns:a16="http://schemas.microsoft.com/office/drawing/2014/main" id="{C90828D8-43BE-A21D-9F1B-2E18677642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89888"/>
              <a:ext cx="4480560" cy="4480560"/>
            </p:xfrm>
            <a:graphic>
              <a:graphicData uri="http://schemas.microsoft.com/office/drawing/2017/model3d">
                <am3d:model3d r:embed="rIdM3d39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62297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41895" d="1000000"/>
                    <am3d:preTrans dx="0" dy="-4944" dz="-1978105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backpack">
                <a:extLst>
                  <a:ext uri="{FF2B5EF4-FFF2-40B4-BE49-F238E27FC236}">
                    <a16:creationId xmlns:a16="http://schemas.microsoft.com/office/drawing/2014/main" id="{C90828D8-43BE-A21D-9F1B-2E18677642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89888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1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016746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7F388CB8-739F-A756-D2BD-89A9E6B3D1F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419082" y="89611"/>
              <a:ext cx="566928" cy="566928"/>
            </p:xfrm>
            <a:graphic>
              <a:graphicData uri="http://schemas.microsoft.com/office/drawing/2017/model3d">
                <am3d:model3d r:embed="rIdM3d40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7F388CB8-739F-A756-D2BD-89A9E6B3D1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419082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ЦЕЛЕВАЯ АУДИТОРИЯ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06" y="16002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05649" y="1158545"/>
            <a:ext cx="4211726" cy="421172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23176" y="576072"/>
            <a:ext cx="5376672" cy="5376672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733" y="4563770"/>
            <a:ext cx="2867558" cy="71689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ackpack">
                <a:extLst>
                  <a:ext uri="{FF2B5EF4-FFF2-40B4-BE49-F238E27FC236}">
                    <a16:creationId xmlns:a16="http://schemas.microsoft.com/office/drawing/2014/main" id="{09728748-C6E9-2C86-3E2F-AD3DD82E4B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71232" y="1024128"/>
              <a:ext cx="4480560" cy="4480560"/>
            </p:xfrm>
            <a:graphic>
              <a:graphicData uri="http://schemas.microsoft.com/office/drawing/2017/model3d">
                <am3d:model3d r:embed="rIdM3d41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62297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41895" d="1000000"/>
                    <am3d:preTrans dx="0" dy="-4944" dz="-1978105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ackpack">
                <a:extLst>
                  <a:ext uri="{FF2B5EF4-FFF2-40B4-BE49-F238E27FC236}">
                    <a16:creationId xmlns:a16="http://schemas.microsoft.com/office/drawing/2014/main" id="{09728748-C6E9-2C86-3E2F-AD3DD82E4B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1232" y="1024128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1_9_0"/>
          <p:cNvSpPr/>
          <p:nvPr/>
        </p:nvSpPr>
        <p:spPr>
          <a:xfrm>
            <a:off x="8028432" y="5961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Рюкзак студента: телефон поднимается, монеты утекают наружу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в зоне максимального риска</a:t>
            </a:r>
            <a:endParaRPr lang="en-US" sz="3100" dirty="0"/>
          </a:p>
        </p:txBody>
      </p:sp>
      <p:sp>
        <p:nvSpPr>
          <p:cNvPr id="18" name="fx11_1_1"/>
          <p:cNvSpPr/>
          <p:nvPr/>
        </p:nvSpPr>
        <p:spPr>
          <a:xfrm>
            <a:off x="685800" y="2048256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19" name="fx11_1_2"/>
          <p:cNvSpPr/>
          <p:nvPr/>
        </p:nvSpPr>
        <p:spPr>
          <a:xfrm>
            <a:off x="685800" y="2194560"/>
            <a:ext cx="41148" cy="111556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0" name="fx11_1_3"/>
          <p:cNvSpPr/>
          <p:nvPr/>
        </p:nvSpPr>
        <p:spPr>
          <a:xfrm>
            <a:off x="923544" y="2157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 до 25 лет</a:t>
            </a:r>
            <a:endParaRPr lang="en-US" sz="2100" dirty="0"/>
          </a:p>
        </p:txBody>
      </p:sp>
      <p:sp>
        <p:nvSpPr>
          <p:cNvPr id="21" name="fx11_1_4"/>
          <p:cNvSpPr/>
          <p:nvPr/>
        </p:nvSpPr>
        <p:spPr>
          <a:xfrm>
            <a:off x="923544" y="25603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совершают импульсивные покупки; 26–34 — 38%, 35–44 — треть, 45+ — 19%</a:t>
            </a:r>
            <a:endParaRPr lang="en-US" sz="1050" dirty="0"/>
          </a:p>
        </p:txBody>
      </p:sp>
      <p:sp>
        <p:nvSpPr>
          <p:cNvPr id="22" name="fx11_1_5"/>
          <p:cNvSpPr/>
          <p:nvPr/>
        </p:nvSpPr>
        <p:spPr>
          <a:xfrm>
            <a:off x="923544" y="31821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«Выберу.ру» (3 000 респондентов), май 2026</a:t>
            </a:r>
            <a:endParaRPr lang="en-US" sz="800" dirty="0"/>
          </a:p>
        </p:txBody>
      </p:sp>
      <p:sp>
        <p:nvSpPr>
          <p:cNvPr id="23" name="fx11_2_6"/>
          <p:cNvSpPr/>
          <p:nvPr/>
        </p:nvSpPr>
        <p:spPr>
          <a:xfrm>
            <a:off x="4114800" y="2048256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4" name="fx11_2_7"/>
          <p:cNvSpPr/>
          <p:nvPr/>
        </p:nvSpPr>
        <p:spPr>
          <a:xfrm>
            <a:off x="4114800" y="2194560"/>
            <a:ext cx="41148" cy="1115568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25" name="fx11_2_8"/>
          <p:cNvSpPr/>
          <p:nvPr/>
        </p:nvSpPr>
        <p:spPr>
          <a:xfrm>
            <a:off x="4352544" y="2157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 / 70%</a:t>
            </a:r>
            <a:endParaRPr lang="en-US" sz="2100" dirty="0"/>
          </a:p>
        </p:txBody>
      </p:sp>
      <p:sp>
        <p:nvSpPr>
          <p:cNvPr id="26" name="fx11_2_9"/>
          <p:cNvSpPr/>
          <p:nvPr/>
        </p:nvSpPr>
        <p:spPr>
          <a:xfrm>
            <a:off x="4352544" y="25603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молодых 18–35 лет планируют бюджет — но не обходятся без спонтанных трат</a:t>
            </a:r>
            <a:endParaRPr lang="en-US" sz="1050" dirty="0"/>
          </a:p>
        </p:txBody>
      </p:sp>
      <p:sp>
        <p:nvSpPr>
          <p:cNvPr id="27" name="fx11_2_10"/>
          <p:cNvSpPr/>
          <p:nvPr/>
        </p:nvSpPr>
        <p:spPr>
          <a:xfrm>
            <a:off x="4352544" y="31821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«Сберстрахование жизни» / «Работа.ру», июнь 2026</a:t>
            </a:r>
            <a:endParaRPr lang="en-US" sz="800" dirty="0"/>
          </a:p>
        </p:txBody>
      </p:sp>
      <p:sp>
        <p:nvSpPr>
          <p:cNvPr id="28" name="fx11_1_11"/>
          <p:cNvSpPr/>
          <p:nvPr/>
        </p:nvSpPr>
        <p:spPr>
          <a:xfrm>
            <a:off x="685800" y="3584448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29" name="fx11_1_12"/>
          <p:cNvSpPr/>
          <p:nvPr/>
        </p:nvSpPr>
        <p:spPr>
          <a:xfrm>
            <a:off x="685800" y="3730752"/>
            <a:ext cx="41148" cy="111556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0" name="fx11_1_13"/>
          <p:cNvSpPr/>
          <p:nvPr/>
        </p:nvSpPr>
        <p:spPr>
          <a:xfrm>
            <a:off x="923544" y="36941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11 200 ₽/мес</a:t>
            </a:r>
            <a:endParaRPr lang="en-US" sz="2100" dirty="0"/>
          </a:p>
        </p:txBody>
      </p:sp>
      <p:sp>
        <p:nvSpPr>
          <p:cNvPr id="31" name="fx11_1_14"/>
          <p:cNvSpPr/>
          <p:nvPr/>
        </p:nvSpPr>
        <p:spPr>
          <a:xfrm>
            <a:off x="923544" y="40965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импульсные траты на маркетплейсах: медиана 8 500 ₽/мес; 34% — главная «вредная привычка»</a:t>
            </a:r>
            <a:endParaRPr lang="en-US" sz="1050" dirty="0"/>
          </a:p>
        </p:txBody>
      </p:sp>
      <p:sp>
        <p:nvSpPr>
          <p:cNvPr id="32" name="fx11_1_15"/>
          <p:cNvSpPr/>
          <p:nvPr/>
        </p:nvSpPr>
        <p:spPr>
          <a:xfrm>
            <a:off x="923544" y="47183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«Выберу.ру», май 2026</a:t>
            </a:r>
            <a:endParaRPr lang="en-US" sz="800" dirty="0"/>
          </a:p>
        </p:txBody>
      </p:sp>
      <p:sp>
        <p:nvSpPr>
          <p:cNvPr id="33" name="fx11_2_16"/>
          <p:cNvSpPr/>
          <p:nvPr/>
        </p:nvSpPr>
        <p:spPr>
          <a:xfrm>
            <a:off x="4114800" y="3584448"/>
            <a:ext cx="3246120" cy="1408176"/>
          </a:xfrm>
          <a:prstGeom prst="roundRect">
            <a:avLst>
              <a:gd name="adj" fmla="val 5195"/>
            </a:avLst>
          </a:prstGeom>
          <a:solidFill>
            <a:srgbClr val="1A1B26">
              <a:alpha val="82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</p:spPr>
      </p:sp>
      <p:sp>
        <p:nvSpPr>
          <p:cNvPr id="34" name="fx11_2_17"/>
          <p:cNvSpPr/>
          <p:nvPr/>
        </p:nvSpPr>
        <p:spPr>
          <a:xfrm>
            <a:off x="4114800" y="3730752"/>
            <a:ext cx="41148" cy="111556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11_2_18"/>
          <p:cNvSpPr/>
          <p:nvPr/>
        </p:nvSpPr>
        <p:spPr>
          <a:xfrm>
            <a:off x="4352544" y="36941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 / 28 / 24</a:t>
            </a:r>
            <a:endParaRPr lang="en-US" sz="2100" dirty="0"/>
          </a:p>
        </p:txBody>
      </p:sp>
      <p:sp>
        <p:nvSpPr>
          <p:cNvPr id="36" name="fx11_2_19"/>
          <p:cNvSpPr/>
          <p:nvPr/>
        </p:nvSpPr>
        <p:spPr>
          <a:xfrm>
            <a:off x="4352544" y="40965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спонтанных трат молодёжи: маркетплейсы / кофе навынос / доставка еды</a:t>
            </a:r>
            <a:endParaRPr lang="en-US" sz="1050" dirty="0"/>
          </a:p>
        </p:txBody>
      </p:sp>
      <p:sp>
        <p:nvSpPr>
          <p:cNvPr id="37" name="fx11_2_20"/>
          <p:cNvSpPr/>
          <p:nvPr/>
        </p:nvSpPr>
        <p:spPr>
          <a:xfrm>
            <a:off x="4352544" y="47183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«Сберстрахование жизни» / «Работа.ру», июнь 2026</a:t>
            </a:r>
            <a:endParaRPr lang="en-US" sz="800" dirty="0"/>
          </a:p>
        </p:txBody>
      </p:sp>
      <p:sp>
        <p:nvSpPr>
          <p:cNvPr id="38" name="fx11_6_21"/>
          <p:cNvSpPr/>
          <p:nvPr/>
        </p:nvSpPr>
        <p:spPr>
          <a:xfrm>
            <a:off x="685800" y="512064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9" name="fx11_6_22"/>
          <p:cNvSpPr/>
          <p:nvPr/>
        </p:nvSpPr>
        <p:spPr>
          <a:xfrm>
            <a:off x="685800" y="5257800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0" name="fx11_6_23"/>
          <p:cNvSpPr/>
          <p:nvPr/>
        </p:nvSpPr>
        <p:spPr>
          <a:xfrm>
            <a:off x="941832" y="4983480"/>
            <a:ext cx="1801368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1" name="fx11_6_24"/>
          <p:cNvSpPr/>
          <p:nvPr/>
        </p:nvSpPr>
        <p:spPr>
          <a:xfrm>
            <a:off x="941832" y="498348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КОМУ ЭТО НУЖНО</a:t>
            </a:r>
            <a:endParaRPr lang="en-US" sz="850" dirty="0"/>
          </a:p>
        </p:txBody>
      </p:sp>
      <p:sp>
        <p:nvSpPr>
          <p:cNvPr id="42" name="fx11_6_25"/>
          <p:cNvSpPr/>
          <p:nvPr/>
        </p:nvSpPr>
        <p:spPr>
          <a:xfrm>
            <a:off x="960120" y="528523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Адресаты результата: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студенты</a:t>
            </a:r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(памятка),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преподаватели и центры финграмотности</a:t>
            </a:r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(данные и метод), и сам проект — как пример исследования своими руками.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!!m-survey">
                <a:extLst>
                  <a:ext uri="{FF2B5EF4-FFF2-40B4-BE49-F238E27FC236}">
                    <a16:creationId xmlns:a16="http://schemas.microsoft.com/office/drawing/2014/main" id="{FEE3CD47-5AC5-3A31-5F1A-E8C692532B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389888"/>
              <a:ext cx="4480560" cy="4480560"/>
            </p:xfrm>
            <a:graphic>
              <a:graphicData uri="http://schemas.microsoft.com/office/drawing/2017/model3d">
                <am3d:model3d r:embed="rIdM3d42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57798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3830" d="1000000"/>
                    <am3d:preTrans dx="0" dy="0" dz="-148404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!!m-survey">
                <a:extLst>
                  <a:ext uri="{FF2B5EF4-FFF2-40B4-BE49-F238E27FC236}">
                    <a16:creationId xmlns:a16="http://schemas.microsoft.com/office/drawing/2014/main" id="{FEE3CD47-5AC5-3A31-5F1A-E8C692532B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389888"/>
                <a:ext cx="4480560" cy="44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memo">
                <a:extLst>
                  <a:ext uri="{FF2B5EF4-FFF2-40B4-BE49-F238E27FC236}">
                    <a16:creationId xmlns:a16="http://schemas.microsoft.com/office/drawing/2014/main" id="{1BE253E0-5BBE-3302-27D0-407EECC958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89888"/>
              <a:ext cx="4480560" cy="4480560"/>
            </p:xfrm>
            <a:graphic>
              <a:graphicData uri="http://schemas.microsoft.com/office/drawing/2017/model3d">
                <am3d:model3d r:embed="rIdM3d43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565450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54852" d="1000000"/>
                    <am3d:preTrans dx="0" dy="759494" dz="-130063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memo">
                <a:extLst>
                  <a:ext uri="{FF2B5EF4-FFF2-40B4-BE49-F238E27FC236}">
                    <a16:creationId xmlns:a16="http://schemas.microsoft.com/office/drawing/2014/main" id="{1BE253E0-5BBE-3302-27D0-407EECC958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89888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2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918421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F26CCC81-F5D7-75C5-4938-7AF85A994F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320757" y="89611"/>
              <a:ext cx="566928" cy="566928"/>
            </p:xfrm>
            <a:graphic>
              <a:graphicData uri="http://schemas.microsoft.com/office/drawing/2017/model3d">
                <am3d:model3d r:embed="rIdM3d44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963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F26CCC81-F5D7-75C5-4938-7AF85A994F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20757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РЕЗУЛЬТАТ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834" y="16002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15377" y="1158545"/>
            <a:ext cx="4211726" cy="421172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32904" y="576072"/>
            <a:ext cx="5376672" cy="5376672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266" y="4619777"/>
            <a:ext cx="2777947" cy="69448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memo">
                <a:extLst>
                  <a:ext uri="{FF2B5EF4-FFF2-40B4-BE49-F238E27FC236}">
                    <a16:creationId xmlns:a16="http://schemas.microsoft.com/office/drawing/2014/main" id="{D0342E7A-47A4-C0B3-588F-79B9DE128D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80960" y="1024128"/>
              <a:ext cx="4480560" cy="4480560"/>
            </p:xfrm>
            <a:graphic>
              <a:graphicData uri="http://schemas.microsoft.com/office/drawing/2017/model3d">
                <am3d:model3d r:embed="rIdM3d45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565450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54852" d="1000000"/>
                    <am3d:preTrans dx="0" dy="759494" dz="-130063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memo">
                <a:extLst>
                  <a:ext uri="{FF2B5EF4-FFF2-40B4-BE49-F238E27FC236}">
                    <a16:creationId xmlns:a16="http://schemas.microsoft.com/office/drawing/2014/main" id="{D0342E7A-47A4-C0B3-588F-79B9DE128D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0960" y="1024128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2_9_0"/>
          <p:cNvSpPr/>
          <p:nvPr/>
        </p:nvSpPr>
        <p:spPr>
          <a:xfrm>
            <a:off x="8138160" y="5961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Памятка: карандаш отмечает правила, «24 ч» делает оборот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Памятка: «Как не купить ненужное»</a:t>
            </a:r>
            <a:endParaRPr lang="en-US" sz="3100" dirty="0"/>
          </a:p>
        </p:txBody>
      </p:sp>
      <p:sp>
        <p:nvSpPr>
          <p:cNvPr id="18" name="fx12_1_1"/>
          <p:cNvSpPr/>
          <p:nvPr/>
        </p:nvSpPr>
        <p:spPr>
          <a:xfrm>
            <a:off x="685800" y="194767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12_1_2"/>
          <p:cNvSpPr/>
          <p:nvPr/>
        </p:nvSpPr>
        <p:spPr>
          <a:xfrm>
            <a:off x="1252728" y="1993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24 часов</a:t>
            </a:r>
            <a:endParaRPr lang="en-US" sz="1300" dirty="0"/>
          </a:p>
        </p:txBody>
      </p:sp>
      <p:sp>
        <p:nvSpPr>
          <p:cNvPr id="20" name="fx12_1_3"/>
          <p:cNvSpPr/>
          <p:nvPr/>
        </p:nvSpPr>
        <p:spPr>
          <a:xfrm>
            <a:off x="1252728" y="22585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Добавил в корзину — вернись на следующий день. Импульс не переживает ночь, а осознанное решение остаётся.</a:t>
            </a:r>
            <a:endParaRPr lang="en-US" sz="1050" dirty="0"/>
          </a:p>
        </p:txBody>
      </p:sp>
      <p:sp>
        <p:nvSpPr>
          <p:cNvPr id="21" name="fx12_2_4"/>
          <p:cNvSpPr/>
          <p:nvPr/>
        </p:nvSpPr>
        <p:spPr>
          <a:xfrm>
            <a:off x="685800" y="275234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12_2_5"/>
          <p:cNvSpPr/>
          <p:nvPr/>
        </p:nvSpPr>
        <p:spPr>
          <a:xfrm>
            <a:off x="1252728" y="2798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и список</a:t>
            </a:r>
            <a:endParaRPr lang="en-US" sz="1300" dirty="0"/>
          </a:p>
        </p:txBody>
      </p:sp>
      <p:sp>
        <p:nvSpPr>
          <p:cNvPr id="23" name="fx12_2_6"/>
          <p:cNvSpPr/>
          <p:nvPr/>
        </p:nvSpPr>
        <p:spPr>
          <a:xfrm>
            <a:off x="1252728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недели — заранее; список покупок — до открытия приложения, а не в момент выбора.</a:t>
            </a:r>
            <a:endParaRPr lang="en-US" sz="1050" dirty="0"/>
          </a:p>
        </p:txBody>
      </p:sp>
      <p:sp>
        <p:nvSpPr>
          <p:cNvPr id="24" name="fx12_3_7"/>
          <p:cNvSpPr/>
          <p:nvPr/>
        </p:nvSpPr>
        <p:spPr>
          <a:xfrm>
            <a:off x="685800" y="355701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12_3_8"/>
          <p:cNvSpPr/>
          <p:nvPr/>
        </p:nvSpPr>
        <p:spPr>
          <a:xfrm>
            <a:off x="1252728" y="36027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Убрать «обезболивание»</a:t>
            </a:r>
            <a:endParaRPr lang="en-US" sz="1300" dirty="0"/>
          </a:p>
        </p:txBody>
      </p:sp>
      <p:sp>
        <p:nvSpPr>
          <p:cNvPr id="26" name="fx12_3_9"/>
          <p:cNvSpPr/>
          <p:nvPr/>
        </p:nvSpPr>
        <p:spPr>
          <a:xfrm>
            <a:off x="1252728" y="38679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Платить сразу, а не частями; отключить «один клик» и удалить сохранённую карту из импульсивных магазинов.</a:t>
            </a:r>
            <a:endParaRPr lang="en-US" sz="1050" dirty="0"/>
          </a:p>
        </p:txBody>
      </p:sp>
      <p:sp>
        <p:nvSpPr>
          <p:cNvPr id="27" name="fx12_4_10"/>
          <p:cNvSpPr/>
          <p:nvPr/>
        </p:nvSpPr>
        <p:spPr>
          <a:xfrm>
            <a:off x="685800" y="43616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fx12_4_11"/>
          <p:cNvSpPr/>
          <p:nvPr/>
        </p:nvSpPr>
        <p:spPr>
          <a:xfrm>
            <a:off x="1252728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Тише лента</a:t>
            </a:r>
            <a:endParaRPr lang="en-US" sz="1300" dirty="0"/>
          </a:p>
        </p:txBody>
      </p:sp>
      <p:sp>
        <p:nvSpPr>
          <p:cNvPr id="29" name="fx12_4_12"/>
          <p:cNvSpPr/>
          <p:nvPr/>
        </p:nvSpPr>
        <p:spPr>
          <a:xfrm>
            <a:off x="1252728" y="46725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Отписаться от скидочных рассылок, выключить push. Меньше триггеров — меньше автоматических решений.</a:t>
            </a:r>
            <a:endParaRPr lang="en-US" sz="1050" dirty="0"/>
          </a:p>
        </p:txBody>
      </p:sp>
      <p:sp>
        <p:nvSpPr>
          <p:cNvPr id="30" name="fx12_6_13"/>
          <p:cNvSpPr/>
          <p:nvPr/>
        </p:nvSpPr>
        <p:spPr>
          <a:xfrm>
            <a:off x="685800" y="5394960"/>
            <a:ext cx="6766560" cy="804672"/>
          </a:xfrm>
          <a:prstGeom prst="roundRect">
            <a:avLst>
              <a:gd name="adj" fmla="val 9091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12_6_14"/>
          <p:cNvSpPr/>
          <p:nvPr/>
        </p:nvSpPr>
        <p:spPr>
          <a:xfrm>
            <a:off x="685800" y="5532120"/>
            <a:ext cx="50292" cy="53035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12_6_15"/>
          <p:cNvSpPr/>
          <p:nvPr/>
        </p:nvSpPr>
        <p:spPr>
          <a:xfrm>
            <a:off x="941832" y="5257800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12_6_16"/>
          <p:cNvSpPr/>
          <p:nvPr/>
        </p:nvSpPr>
        <p:spPr>
          <a:xfrm>
            <a:off x="941832" y="52578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ПРОВЕРКА</a:t>
            </a:r>
            <a:endParaRPr lang="en-US" sz="850" dirty="0"/>
          </a:p>
        </p:txBody>
      </p:sp>
      <p:sp>
        <p:nvSpPr>
          <p:cNvPr id="34" name="fx12_6_17"/>
          <p:cNvSpPr/>
          <p:nvPr/>
        </p:nvSpPr>
        <p:spPr>
          <a:xfrm>
            <a:off x="960120" y="55595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проверим эффект: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две недели работы с памяткой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 сравнение частоты незапланированных покупок с исходным самоотчётом.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backpack">
                <a:extLst>
                  <a:ext uri="{FF2B5EF4-FFF2-40B4-BE49-F238E27FC236}">
                    <a16:creationId xmlns:a16="http://schemas.microsoft.com/office/drawing/2014/main" id="{8481A502-8524-DE6B-FE75-535AEA9BCC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389888"/>
              <a:ext cx="4480560" cy="4480560"/>
            </p:xfrm>
            <a:graphic>
              <a:graphicData uri="http://schemas.microsoft.com/office/drawing/2017/model3d">
                <am3d:model3d r:embed="rIdM3d46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62297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41895" d="1000000"/>
                    <am3d:preTrans dx="0" dy="-4944" dz="-1978105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backpack">
                <a:extLst>
                  <a:ext uri="{FF2B5EF4-FFF2-40B4-BE49-F238E27FC236}">
                    <a16:creationId xmlns:a16="http://schemas.microsoft.com/office/drawing/2014/main" id="{8481A502-8524-DE6B-FE75-535AEA9BCC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389888"/>
                <a:ext cx="4480560" cy="44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wallet">
                <a:extLst>
                  <a:ext uri="{FF2B5EF4-FFF2-40B4-BE49-F238E27FC236}">
                    <a16:creationId xmlns:a16="http://schemas.microsoft.com/office/drawing/2014/main" id="{A67C48E8-CA70-3DB5-C6A5-DFDEDE6023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44752"/>
              <a:ext cx="4343400" cy="4343400"/>
            </p:xfrm>
            <a:graphic>
              <a:graphicData uri="http://schemas.microsoft.com/office/drawing/2017/model3d">
                <am3d:model3d r:embed="rIdM3d47">
                  <am3d:spPr>
                    <a:xfrm>
                      <a:off x="0" y="0"/>
                      <a:ext cx="4343400" cy="4343400"/>
                    </a:xfrm>
                    <a:prstGeom prst="rect">
                      <a:avLst/>
                    </a:prstGeom>
                  </am3d:spPr>
                  <am3d:camera>
                    <am3d:pos x="0" y="0" z="6951206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53125" d="1000000"/>
                    <am3d:preTrans dx="0" dy="-1845703" dz="-516796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434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wallet">
                <a:extLst>
                  <a:ext uri="{FF2B5EF4-FFF2-40B4-BE49-F238E27FC236}">
                    <a16:creationId xmlns:a16="http://schemas.microsoft.com/office/drawing/2014/main" id="{A67C48E8-CA70-3DB5-C6A5-DFDEDE6023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44752"/>
                <a:ext cx="4343400" cy="434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3">
    <p:bg>
      <p:bgPr>
        <a:solidFill>
          <a:srgbClr val="0F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impulse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token">
                <a:extLst>
                  <a:ext uri="{FF2B5EF4-FFF2-40B4-BE49-F238E27FC236}">
                    <a16:creationId xmlns:a16="http://schemas.microsoft.com/office/drawing/2014/main" id="{1B0D989F-17D7-3ED2-615C-062543B947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22431" y="89611"/>
              <a:ext cx="566928" cy="566928"/>
            </p:xfrm>
            <a:graphic>
              <a:graphicData uri="http://schemas.microsoft.com/office/drawing/2017/model3d">
                <am3d:model3d r:embed="rIdM3d48">
                  <am3d:spPr>
                    <a:xfrm>
                      <a:off x="0" y="0"/>
                      <a:ext cx="566928" cy="566928"/>
                    </a:xfrm>
                    <a:prstGeom prst="rect">
                      <a:avLst/>
                    </a:prstGeom>
                  </am3d:spPr>
                  <am3d:camera>
                    <am3d:pos x="0" y="0" z="6676638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576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051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66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token">
                <a:extLst>
                  <a:ext uri="{FF2B5EF4-FFF2-40B4-BE49-F238E27FC236}">
                    <a16:creationId xmlns:a16="http://schemas.microsoft.com/office/drawing/2014/main" id="{1B0D989F-17D7-3ED2-615C-062543B947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22431" y="89611"/>
                <a:ext cx="56692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8866A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ВЫВОДЫ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ПСИХОЛОГИЯ ИМПУЛЬСИВНЫХ ТРАТ  ·  ПРОЕКТНОЕ ИССЛЕДОВАНИЕ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900" dirty="0"/>
          </a:p>
        </p:txBody>
      </p:sp>
      <p:pic>
        <p:nvPicPr>
          <p:cNvPr id="11" name="!!glow" descr="/home/user/MyWorkAiBrain/presentations/impulse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95" y="101727"/>
            <a:ext cx="6297930" cy="629793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11262" y="1209294"/>
            <a:ext cx="4082796" cy="408279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46620" y="644652"/>
            <a:ext cx="5212080" cy="521208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impulse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4662297"/>
            <a:ext cx="2606040" cy="65151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wallet">
                <a:extLst>
                  <a:ext uri="{FF2B5EF4-FFF2-40B4-BE49-F238E27FC236}">
                    <a16:creationId xmlns:a16="http://schemas.microsoft.com/office/drawing/2014/main" id="{754BF284-A7E8-3443-F37C-6214FBAF7F4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80960" y="1078992"/>
              <a:ext cx="4343400" cy="4343400"/>
            </p:xfrm>
            <a:graphic>
              <a:graphicData uri="http://schemas.microsoft.com/office/drawing/2017/model3d">
                <am3d:model3d r:embed="rIdM3d49">
                  <am3d:spPr>
                    <a:xfrm>
                      <a:off x="0" y="0"/>
                      <a:ext cx="4343400" cy="4343400"/>
                    </a:xfrm>
                    <a:prstGeom prst="rect">
                      <a:avLst/>
                    </a:prstGeom>
                  </am3d:spPr>
                  <am3d:camera>
                    <am3d:pos x="0" y="0" z="6951206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53125" d="1000000"/>
                    <am3d:preTrans dx="0" dy="-1845703" dz="-516796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434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wallet">
                <a:extLst>
                  <a:ext uri="{FF2B5EF4-FFF2-40B4-BE49-F238E27FC236}">
                    <a16:creationId xmlns:a16="http://schemas.microsoft.com/office/drawing/2014/main" id="{754BF284-A7E8-3443-F37C-6214FBAF7F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0960" y="1078992"/>
                <a:ext cx="4343400" cy="43434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3_9_0"/>
          <p:cNvSpPr/>
          <p:nvPr/>
        </p:nvSpPr>
        <p:spPr>
          <a:xfrm>
            <a:off x="806958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 с замком: монета внутри, клапан закрыт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69264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уже понимаем</a:t>
            </a:r>
            <a:endParaRPr lang="en-US" sz="3300" dirty="0"/>
          </a:p>
        </p:txBody>
      </p:sp>
      <p:sp>
        <p:nvSpPr>
          <p:cNvPr id="18" name="fx13_1_1"/>
          <p:cNvSpPr/>
          <p:nvPr/>
        </p:nvSpPr>
        <p:spPr>
          <a:xfrm>
            <a:off x="685800" y="192938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13_1_2"/>
          <p:cNvSpPr/>
          <p:nvPr/>
        </p:nvSpPr>
        <p:spPr>
          <a:xfrm>
            <a:off x="1252728" y="19751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Среда, а не характер</a:t>
            </a:r>
            <a:endParaRPr lang="en-US" sz="1300" dirty="0"/>
          </a:p>
        </p:txBody>
      </p:sp>
      <p:sp>
        <p:nvSpPr>
          <p:cNvPr id="20" name="fx13_1_3"/>
          <p:cNvSpPr/>
          <p:nvPr/>
        </p:nvSpPr>
        <p:spPr>
          <a:xfrm>
            <a:off x="1252728" y="224028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Импульсивная покупка — предсказуемая реакция на среду: два клика, таймер, «499 ₽/мес».</a:t>
            </a:r>
            <a:endParaRPr lang="en-US" sz="1050" dirty="0"/>
          </a:p>
        </p:txBody>
      </p:sp>
      <p:sp>
        <p:nvSpPr>
          <p:cNvPr id="21" name="fx13_2_4"/>
          <p:cNvSpPr/>
          <p:nvPr/>
        </p:nvSpPr>
        <p:spPr>
          <a:xfrm>
            <a:off x="685800" y="271576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2" name="fx13_2_5"/>
          <p:cNvSpPr/>
          <p:nvPr/>
        </p:nvSpPr>
        <p:spPr>
          <a:xfrm>
            <a:off x="1252728" y="27614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плюс психология</a:t>
            </a:r>
            <a:endParaRPr lang="en-US" sz="1300" dirty="0"/>
          </a:p>
        </p:txBody>
      </p:sp>
      <p:sp>
        <p:nvSpPr>
          <p:cNvPr id="23" name="fx13_2_6"/>
          <p:cNvSpPr/>
          <p:nvPr/>
        </p:nvSpPr>
        <p:spPr>
          <a:xfrm>
            <a:off x="1252728" y="3026664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283-ФЗ снижает риски (реестр ЦБ, срок ≤ 6 мес., лимит 50 000 ₽), но решение всё равно уходит в будущее.</a:t>
            </a:r>
            <a:endParaRPr lang="en-US" sz="1050" dirty="0"/>
          </a:p>
        </p:txBody>
      </p:sp>
      <p:sp>
        <p:nvSpPr>
          <p:cNvPr id="24" name="fx13_3_7"/>
          <p:cNvSpPr/>
          <p:nvPr/>
        </p:nvSpPr>
        <p:spPr>
          <a:xfrm>
            <a:off x="685800" y="350215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fx13_3_8"/>
          <p:cNvSpPr/>
          <p:nvPr/>
        </p:nvSpPr>
        <p:spPr>
          <a:xfrm>
            <a:off x="1252728" y="35478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вместо знаний</a:t>
            </a:r>
            <a:endParaRPr lang="en-US" sz="1300" dirty="0"/>
          </a:p>
        </p:txBody>
      </p:sp>
      <p:sp>
        <p:nvSpPr>
          <p:cNvPr id="26" name="fx13_3_9"/>
          <p:cNvSpPr/>
          <p:nvPr/>
        </p:nvSpPr>
        <p:spPr>
          <a:xfrm>
            <a:off x="1252728" y="381304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Работают заранее заданные барьеры: пауза 24 часа, список, лимит, отсутствие сохранённой карты.</a:t>
            </a:r>
            <a:endParaRPr lang="en-US" sz="1050" dirty="0"/>
          </a:p>
        </p:txBody>
      </p:sp>
      <p:sp>
        <p:nvSpPr>
          <p:cNvPr id="27" name="fx13_4_10"/>
          <p:cNvSpPr/>
          <p:nvPr/>
        </p:nvSpPr>
        <p:spPr>
          <a:xfrm>
            <a:off x="685800" y="4443984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211A10">
              <a:alpha val="92000"/>
            </a:srgbClr>
          </a:solidFill>
          <a:ln w="12700">
            <a:solidFill>
              <a:srgbClr val="E3B663">
                <a:alpha val="52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fx13_4_11"/>
          <p:cNvSpPr/>
          <p:nvPr/>
        </p:nvSpPr>
        <p:spPr>
          <a:xfrm>
            <a:off x="685800" y="4581144"/>
            <a:ext cx="50292" cy="56692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9" name="fx13_4_12"/>
          <p:cNvSpPr/>
          <p:nvPr/>
        </p:nvSpPr>
        <p:spPr>
          <a:xfrm>
            <a:off x="941832" y="430682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0" name="fx13_4_13"/>
          <p:cNvSpPr/>
          <p:nvPr/>
        </p:nvSpPr>
        <p:spPr>
          <a:xfrm>
            <a:off x="941832" y="43068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ИТОГ</a:t>
            </a:r>
            <a:endParaRPr lang="en-US" sz="850" dirty="0"/>
          </a:p>
        </p:txBody>
      </p:sp>
      <p:sp>
        <p:nvSpPr>
          <p:cNvPr id="31" name="fx13_4_14"/>
          <p:cNvSpPr/>
          <p:nvPr/>
        </p:nvSpPr>
        <p:spPr>
          <a:xfrm>
            <a:off x="960120" y="4608576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Главный результат — не «мы узнали, что студенты импульсивны», а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список барьеров, которые действительно работают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p:sp>
        <p:nvSpPr>
          <p:cNvPr id="32" name="fx13_5_15"/>
          <p:cNvSpPr/>
          <p:nvPr/>
        </p:nvSpPr>
        <p:spPr>
          <a:xfrm>
            <a:off x="685800" y="5413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400" dirty="0"/>
          </a:p>
        </p:txBody>
      </p:sp>
      <p:sp>
        <p:nvSpPr>
          <p:cNvPr id="33" name="fx13_6_16"/>
          <p:cNvSpPr/>
          <p:nvPr/>
        </p:nvSpPr>
        <p:spPr>
          <a:xfrm>
            <a:off x="685800" y="5815584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«Долями» (Т-Банк) / «Ведомости», февраль 2026 · Федеральный закон № 283-ФЗ от 31.07.2025 (в силе с 01.04.2026) · ВЦИОМ / «Российская газета», май 2026 · исследование «Выберу.ру», май 2026 · «Сберстрахование жизни» и «Работа.ру», июнь 2026 · D. W. Rook (1987); Rook &amp; Fisher (1995); H. Stern (1962); Prelec &amp; Loewenstein (1998); W. Schultz (1997); D. Laibson (1997); R. Cialdini; Przybylski et al. (2013); Fernandes, Lynch &amp; Netemeyer (2014). </a:t>
            </a:r>
            <a:pPr algn="l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A9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3D-экспонаты и их анимации смоделированы кодом (Blender) специально для этой презентации.</a:t>
            </a:r>
            <a:endParaRPr lang="en-US" sz="7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memo">
                <a:extLst>
                  <a:ext uri="{FF2B5EF4-FFF2-40B4-BE49-F238E27FC236}">
                    <a16:creationId xmlns:a16="http://schemas.microsoft.com/office/drawing/2014/main" id="{9FA3A459-8F96-4DF8-D71A-68688E6B83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389888"/>
              <a:ext cx="4480560" cy="4480560"/>
            </p:xfrm>
            <a:graphic>
              <a:graphicData uri="http://schemas.microsoft.com/office/drawing/2017/model3d">
                <am3d:model3d r:embed="rIdM3d50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565450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54852" d="1000000"/>
                    <am3d:preTrans dx="0" dy="759494" dz="-130063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memo">
                <a:extLst>
                  <a:ext uri="{FF2B5EF4-FFF2-40B4-BE49-F238E27FC236}">
                    <a16:creationId xmlns:a16="http://schemas.microsoft.com/office/drawing/2014/main" id="{9FA3A459-8F96-4DF8-D71A-68688E6B83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389888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Психология импульсивных трат — 3D-презентация</dc:title>
  <dc:subject>Проектное исследование: импульсивные покупки, BNPL, когнитивные искажения</dc:subject>
  <dc:creator>omgGame</dc:creator>
  <cp:lastModifiedBy>omgGame</cp:lastModifiedBy>
  <cp:revision>1</cp:revision>
  <dcterms:created xsi:type="dcterms:W3CDTF">2026-10-11T19:58:58Z</dcterms:created>
  <dcterms:modified xsi:type="dcterms:W3CDTF">2026-10-11T19:58:58Z</dcterms:modified>
</cp:coreProperties>
</file>