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оригинале у проекта была простая, узнаваемая интонация: серьёзная тема, рассказанная через мемы и самоиронию. Я её сохраняю, но собираю в одну историю — каштан теперь наш постоянный ревизор корзины. На экране рядом с его новой 3D-версией осталась и исходная фотография каштанов из оригинальной презентации.
Тема проекта — психология импульсивных трат: почему мы покупаем незапланированное и какие цифровые триггеры могут ускорять решение. Это не рассказ о том, что люди «плохо обращаются с деньгами», а план небольшого исследования поведения студентов 18–25 лет. Важно: результаты ещё не собраны, поэтому дальше будут гипотезы и методика, а не выдуманные цифры.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эта тема актуальна именно сейчас? В оригинальном проекте был приведён рост BNPL — сервисов оплаты частями. По опубликованной в феврале 2026 года оценке, совокупные транзакции крупнейших таких сервисов в России за 2025 год составили около 940 миллиардов рублей, примерно в два с половиной раза больше оценки за 2024 год. Это именно оценка оборота ряда сервисов, не общий долг домохозяйств и не официальная статистика всех покупок.
А с первого апреля 2026 года действует федеральный закон номер 283-ФЗ о деятельности сервисов рассрочки. Для нашей темы это контекст: способы оплаты и интерфейс меняются, а решение часто принимается прямо в приложении. Мем «С вас списано 100 рублей» здесь не доказательство, а узнаваемая шутка про мелкие, но повторяющиеся траты.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Импульсивная покупка — не синоним любой спонтанной покупки и не диагноз. В исследованиях её связывают с незапланированным решением, сильным желанием купить сразу и меньшим вниманием к последствиям. На решение могут влиять и особенности человека, и контекст: что показал экран, есть ли ощущение срочности, насколько легко оплатить.
В этой презентации мы показываем короткую модель для проверки: стимул — например, скидка или рекомендация; чувство «надо сейчас»; упрощённая оплата; затем уже оценка покупки. Это схема гипотезы, не утверждение, что каждый пользователь проходит один и тот же путь. Мем про «инвестиции в серотонин» оставляем как мем, но не сводим психологию к одному нейромедиатору.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— три проверяемые гипотезы. Первая: чем чаще человек испытывает FOMO и чем выше склонность к импульсивным покупкам, тем больше у него незапланированных покупок и опыта оплаты частями. Вторая: социальное сравнение и контент блогеров могут быть связаны с покупками ради статуса или «как у других». Третья: финансовая грамотность может быть связана с меньшей частотой спонтанных трат, но сама по себе не создаёт иммунитет.
Все три пункта — именно гипотезы. В публикациях есть основания их изучать, но это не значит, что мы уже получили такой результат на студентах нашего вуза. В небольшом опросе мы сможем говорить об ассоциациях, но не доказывать причинно-следственные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сохраняется из оригинала: изучить психологические механизмы импульсивных покупок и их связь с финансовым поведением студентов, а затем подготовить понятную памятку. Мы не пытаемся пристыдить человека за чипсы или кружку «по акции». Вопрос другой: что произошло до клика и какую небольшую паузу можно вернуть?
Чтобы прийти к этой цели, сначала разбираем понятия и источники, затем описываем типичные цифровые триггеры, составляем анкету и собираем ответы, а после аккуратно проверяем гипотезы. Финальный продукт — короткая памятка, которую можно использовать в повседневных покупках. Четыре пункта на слайде — план действий, а не уже завершённые этапы.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Аудитория исследования — студенты вузов от 18 до 25 лет. В оригинальном проекте был задан минимум в 50 участников; сохраняем его как плановый порог для учебного, разведочного опроса. Это не репрезентативная выборка всех молодых людей России.
Планируем добровольную анонимную онлайн-анкету. В ней можно спросить о незапланированных покупках за последний месяц, использовании оплаты частями, реакции на ограниченные скидки и рекомендации в соцсетях, а также о простых практиках бюджета. В анализе начнём с описательной статистики и проверки связей между ответами. Опрос — срез самоотчётов: он не докажет, что именно FOMO «вызвал» покупку. И ещё раз: данных пока нет, этот слайд описывает будущую методику.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Памятка — практический выход проекта. Она не обещает, что один лайфхак отменит все спонтанные покупки. Это простые способы вернуть время на выбор. Первый вопрос: я хотел эту вещь до того, как увидел скидку или рекомендацию? Второй: купил бы её по полной цене и завтра? Третий: могу ли я оплатить её целиком, не ухудшая обязательные платежи?
Для необязательных покупок можно испытать правило паузы — добавить вещь в список желаний и вернуться к ней через сутки. Убрать сохранённую карту или отключить рекламные уведомления — значит добавить трение. А расходы на «приятное» можно заранее выделить в отдельный бюджет. Поэтому исходный мем с банками — не мораль, а шутливое напоминание: чипсы тоже входят в бюджет, если ты так решил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проекта есть ограничения, и лучше назвать их заранее. Если мы наберём не менее 50 человек через доступные студенческие каналы, выборка будет удобной, а не случайной. Ответы о тратах — самоотчёт: человек может забыть покупку или округлить сумму. Один опрос показывает связи в конкретный момент, но не объясняет причину и следствие. Результаты нельзя автоматически переносить на всех студентов и тем более на всех потребителей.
Значит, будущий итог должен быть осторожным: проверить, какие факторы в этой группе связаны с незапланированными тратами, и подготовить понятную памятку. Сейчас это план исследования, а не готовые результаты, диагноз или обвинение.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проекта можно уместить в одну мысль: импульсивная покупка — это не только личное качество и не только реклама. Важны человек, ситуация и устройство интерфейса. Мы планируем проверить три связи на небольшой студенческой выборке и подготовить инструменты, которые возвращают выбор: пауза, список желаний, понятный лимит и проверка полной суммы.
А каштан остаётся с нами — как в оригинале. Его вопрос перед последним кликом: «Я это планировал? Смогу спокойно оплатить? Захочу ли я это завтра?» Спасибо за внимание. Все источники и полный текст выступления находятся в сопроводительных файлах, а заметки докладчика — внутри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3" Type="http://schemas.microsoft.com/office/2017/06/relationships/model3d" Target="../media/model3d3.glb"/><Relationship Id="rIdM3d4" Type="http://schemas.microsoft.com/office/2017/06/relationships/model3d" Target="../media/model3d4.glb"/><Relationship Id="rIdM3d5" Type="http://schemas.microsoft.com/office/2017/06/relationships/model3d" Target="../media/model3d5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6" Type="http://schemas.microsoft.com/office/2017/06/relationships/model3d" Target="../media/model3d6.glb"/><Relationship Id="rIdM3d7" Type="http://schemas.microsoft.com/office/2017/06/relationships/model3d" Target="../media/model3d7.glb"/><Relationship Id="rIdM3d8" Type="http://schemas.microsoft.com/office/2017/06/relationships/model3d" Target="../media/model3d8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4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5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6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M3d15" Type="http://schemas.microsoft.com/office/2017/06/relationships/model3d" Target="../media/model3d15.glb"/><Relationship Id="rIdM3d16" Type="http://schemas.microsoft.com/office/2017/06/relationships/model3d" Target="../media/model3d16.glb"/><Relationship Id="rIdM3d17" Type="http://schemas.microsoft.com/office/2017/06/relationships/model3d" Target="../media/model3d17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4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18" Type="http://schemas.microsoft.com/office/2017/06/relationships/model3d" Target="../media/model3d18.glb"/><Relationship Id="rIdM3d19" Type="http://schemas.microsoft.com/office/2017/06/relationships/model3d" Target="../media/model3d19.glb"/><Relationship Id="rIdM3d20" Type="http://schemas.microsoft.com/office/2017/06/relationships/model3d" Target="../media/model3d20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4-4.png"/><Relationship Id="rId5" Type="http://schemas.openxmlformats.org/officeDocument/2006/relationships/image" Target="../media/image-1-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Relationship Id="rIdM3d21" Type="http://schemas.microsoft.com/office/2017/06/relationships/model3d" Target="../media/model3d21.glb"/><Relationship Id="rIdM3d22" Type="http://schemas.microsoft.com/office/2017/06/relationships/model3d" Target="../media/model3d22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Relationship Id="rIdM3d23" Type="http://schemas.microsoft.com/office/2017/06/relationships/model3d" Target="../media/model3d23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5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МЕМЫ СОХРАНЕНЫ</a:t>
            </a:r>
            <a:endParaRPr lang="en-US" sz="1050" dirty="0"/>
          </a:p>
        </p:txBody>
      </p:sp>
      <p:sp>
        <p:nvSpPr>
          <p:cNvPr id="6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8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9</a:t>
            </a:r>
            <a:endParaRPr lang="en-US" sz="880" dirty="0"/>
          </a:p>
        </p:txBody>
      </p:sp>
      <p:sp>
        <p:nvSpPr>
          <p:cNvPr id="9" name="!!title"/>
          <p:cNvSpPr/>
          <p:nvPr/>
        </p:nvSpPr>
        <p:spPr>
          <a:xfrm>
            <a:off x="694944" y="1170432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Каштан</a:t>
            </a:r>
            <a:endParaRPr lang="en-US" sz="50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5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корзине.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22376" y="289864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МЫ ПОКУПАЕМ НЕНУЖНОЕ — И КАК ВЕРНУТЬ СЕБЕ ПАУЗУ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22376" y="3721608"/>
            <a:ext cx="4892040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3B663">
                <a:alpha val="5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3749040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ПРОЕКТ-ИССЛЕДОВАНИЕ  ·  СТУДЕНТЫ 18–25  ·  ПЛАН N ≥ 50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94944" y="4343400"/>
            <a:ext cx="2560320" cy="1856232"/>
          </a:xfrm>
          <a:prstGeom prst="roundRect">
            <a:avLst>
              <a:gd name="adj" fmla="val 2956"/>
            </a:avLst>
          </a:prstGeom>
          <a:solidFill>
            <a:srgbClr val="F5EFE6"/>
          </a:solidFill>
          <a:ln w="10160">
            <a:solidFill>
              <a:srgbClr val="F5EFE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1" descr="/home/user/MyWorkAiBrain/presentations/impulse/assets/chestnuts-original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49" y="4443984"/>
            <a:ext cx="2059110" cy="13761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5528" y="5888736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ОРИГИНАЛЬНЫЙ КАШТАН — НА МЕСТЕ ✓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3493008" y="4663440"/>
            <a:ext cx="2615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Каштан-ревизор: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«Ты это хотел — или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тебе показали скидку?»</a:t>
            </a:r>
            <a:endParaRPr lang="en-US" sz="1600" dirty="0"/>
          </a:p>
        </p:txBody>
      </p:sp>
      <p:pic>
        <p:nvPicPr>
          <p:cNvPr id="17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383" y="-344729"/>
            <a:ext cx="7401154" cy="7401154"/>
          </a:xfrm>
          <a:prstGeom prst="rect">
            <a:avLst/>
          </a:prstGeom>
        </p:spPr>
      </p:pic>
      <p:sp>
        <p:nvSpPr>
          <p:cNvPr id="18" name="!!ring1"/>
          <p:cNvSpPr/>
          <p:nvPr/>
        </p:nvSpPr>
        <p:spPr>
          <a:xfrm>
            <a:off x="6322162" y="854050"/>
            <a:ext cx="5003597" cy="5003597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19" name="!!ring2"/>
          <p:cNvSpPr/>
          <p:nvPr/>
        </p:nvSpPr>
        <p:spPr>
          <a:xfrm>
            <a:off x="5748833" y="280721"/>
            <a:ext cx="6150254" cy="6150254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20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611" y="4606747"/>
            <a:ext cx="3752698" cy="93817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!!m-chestnut">
                <a:extLst>
                  <a:ext uri="{FF2B5EF4-FFF2-40B4-BE49-F238E27FC236}">
                    <a16:creationId xmlns:a16="http://schemas.microsoft.com/office/drawing/2014/main" id="{3936CB0D-AFB4-AB1E-F106-5640295E26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17920" y="749808"/>
              <a:ext cx="5212080" cy="521208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212080" cy="5212080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2120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!!m-chestnut">
                <a:extLst>
                  <a:ext uri="{FF2B5EF4-FFF2-40B4-BE49-F238E27FC236}">
                    <a16:creationId xmlns:a16="http://schemas.microsoft.com/office/drawing/2014/main" id="{3936CB0D-AFB4-AB1E-F106-5640295E26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7920" y="749808"/>
                <a:ext cx="5212080" cy="521208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fx1_8_0"/>
          <p:cNvSpPr/>
          <p:nvPr/>
        </p:nvSpPr>
        <p:spPr>
          <a:xfrm>
            <a:off x="6784848" y="591616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КАШТАН-РЕВИЗОР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Машет, моргает и не осуждает</a:t>
            </a:r>
            <a:endParaRPr lang="en-US" sz="88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!!m-smartphone">
                <a:extLst>
                  <a:ext uri="{FF2B5EF4-FFF2-40B4-BE49-F238E27FC236}">
                    <a16:creationId xmlns:a16="http://schemas.microsoft.com/office/drawing/2014/main" id="{2FF91F9E-F904-49EA-08FA-4E68BE04B81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44168"/>
              <a:ext cx="4160520" cy="416052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4160520" cy="4160520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1605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!!m-smartphone">
                <a:extLst>
                  <a:ext uri="{FF2B5EF4-FFF2-40B4-BE49-F238E27FC236}">
                    <a16:creationId xmlns:a16="http://schemas.microsoft.com/office/drawing/2014/main" id="{2FF91F9E-F904-49EA-08FA-4E68BE04B8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344168"/>
                <a:ext cx="4160520" cy="416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1351026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КОНТЕКСТ  ·  ОПЛАТА ЧАСТЯМИ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126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Рассрочка стала</a:t>
            </a:r>
            <a:endParaRPr lang="en-US" sz="33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обычным кликом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694944" y="2286000"/>
            <a:ext cx="6053328" cy="1243584"/>
          </a:xfrm>
          <a:prstGeom prst="roundRect">
            <a:avLst>
              <a:gd name="adj" fmla="val 7353"/>
            </a:avLst>
          </a:prstGeom>
          <a:solidFill>
            <a:srgbClr val="271719">
              <a:alpha val="95000"/>
            </a:srgbClr>
          </a:solidFill>
          <a:ln w="10160">
            <a:solidFill>
              <a:srgbClr val="E3B663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43230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940 млрд ₽</a:t>
            </a:r>
            <a:endParaRPr lang="en-US" sz="3500" dirty="0"/>
          </a:p>
        </p:txBody>
      </p:sp>
      <p:sp>
        <p:nvSpPr>
          <p:cNvPr id="13" name="Text 10"/>
          <p:cNvSpPr/>
          <p:nvPr/>
        </p:nvSpPr>
        <p:spPr>
          <a:xfrm>
            <a:off x="3529584" y="2468880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транзакций крупнейших BNPL-сервисов в России за 2025 год: ≈2,5× к 2024-му. [1]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" y="3685032"/>
            <a:ext cx="6053328" cy="768096"/>
          </a:xfrm>
          <a:prstGeom prst="roundRect">
            <a:avLst>
              <a:gd name="adj" fmla="val 11905"/>
            </a:avLst>
          </a:prstGeom>
          <a:solidFill>
            <a:srgbClr val="251714">
              <a:alpha val="94000"/>
            </a:srgbClr>
          </a:solidFill>
          <a:ln w="12700">
            <a:solidFill>
              <a:srgbClr val="E8866A">
                <a:alpha val="6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840480"/>
            <a:ext cx="41148" cy="457200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16" name="Text 13"/>
          <p:cNvSpPr/>
          <p:nvPr/>
        </p:nvSpPr>
        <p:spPr>
          <a:xfrm>
            <a:off x="987552" y="3803904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КОНТЕКСТ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87552" y="4050792"/>
            <a:ext cx="5550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6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1 апреля 2026 года действует ФЗ № 283-ФЗ о сервисах рассрочки. [2]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94944" y="4663440"/>
            <a:ext cx="2221992" cy="1581912"/>
          </a:xfrm>
          <a:prstGeom prst="roundRect">
            <a:avLst>
              <a:gd name="adj" fmla="val 3468"/>
            </a:avLst>
          </a:prstGeom>
          <a:solidFill>
            <a:srgbClr val="F5EFE6"/>
          </a:solidFill>
          <a:ln w="10160">
            <a:solidFill>
              <a:srgbClr val="F5EFE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1" descr="/home/user/MyWorkAiBrain/presentations/impulse/assets/meme-100-rub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26" y="4764024"/>
            <a:ext cx="1138428" cy="11384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5528" y="5971032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 ВАС СПИСАНО 100 ₽» — И ТАК КАЖДЫЙ ДЕНЬ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3182112" y="478231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Небольшой платёж выглядит легче</a:t>
            </a:r>
            <a:endParaRPr lang="en-US" sz="12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полной цены. Исследуем, когда</a:t>
            </a:r>
            <a:endParaRPr lang="en-US" sz="12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влияет на выбор — без ярлыка</a:t>
            </a:r>
            <a:endParaRPr lang="en-US" sz="12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людей нет финансовой грамотности». </a:t>
            </a:r>
            <a:endParaRPr lang="en-US" sz="1240" dirty="0"/>
          </a:p>
        </p:txBody>
      </p:sp>
      <p:pic>
        <p:nvPicPr>
          <p:cNvPr id="22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59" y="177851"/>
            <a:ext cx="5907938" cy="5907938"/>
          </a:xfrm>
          <a:prstGeom prst="rect">
            <a:avLst/>
          </a:prstGeom>
        </p:spPr>
      </p:pic>
      <p:sp>
        <p:nvSpPr>
          <p:cNvPr id="23" name="!!ring1"/>
          <p:cNvSpPr/>
          <p:nvPr/>
        </p:nvSpPr>
        <p:spPr>
          <a:xfrm>
            <a:off x="7142378" y="1134770"/>
            <a:ext cx="3994099" cy="3994099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24" name="!!ring2"/>
          <p:cNvSpPr/>
          <p:nvPr/>
        </p:nvSpPr>
        <p:spPr>
          <a:xfrm>
            <a:off x="6684721" y="677113"/>
            <a:ext cx="4909414" cy="4909414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25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246" y="4223957"/>
            <a:ext cx="2912364" cy="72809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!!m-smartphone">
                <a:extLst>
                  <a:ext uri="{FF2B5EF4-FFF2-40B4-BE49-F238E27FC236}">
                    <a16:creationId xmlns:a16="http://schemas.microsoft.com/office/drawing/2014/main" id="{D7182F6B-5B3F-DDFD-09E3-D99C0CFB78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59168" y="1051560"/>
              <a:ext cx="4160520" cy="416052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160520" cy="4160520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9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1605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!!m-smartphone">
                <a:extLst>
                  <a:ext uri="{FF2B5EF4-FFF2-40B4-BE49-F238E27FC236}">
                    <a16:creationId xmlns:a16="http://schemas.microsoft.com/office/drawing/2014/main" id="{D7182F6B-5B3F-DDFD-09E3-D99C0CFB78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9168" y="1051560"/>
                <a:ext cx="4160520" cy="416052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fx2_8_0"/>
          <p:cNvSpPr/>
          <p:nvPr/>
        </p:nvSpPr>
        <p:spPr>
          <a:xfrm>
            <a:off x="7315200" y="55138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ПОКУПКИ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мигает — кнопка ждёт</a:t>
            </a:r>
            <a:endParaRPr lang="en-US" sz="880" dirty="0"/>
          </a:p>
        </p:txBody>
      </p:sp>
      <p:sp>
        <p:nvSpPr>
          <p:cNvPr id="28" name="Text 21"/>
          <p:cNvSpPr/>
          <p:nvPr/>
        </p:nvSpPr>
        <p:spPr>
          <a:xfrm>
            <a:off x="694944" y="62727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Сноска: оценка «Долями» / публикация о рынке BNPL; это не сумма просрочки. [1]</a:t>
            </a:r>
            <a:endParaRPr lang="en-US" sz="76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!!m-chestnut">
                <a:extLst>
                  <a:ext uri="{FF2B5EF4-FFF2-40B4-BE49-F238E27FC236}">
                    <a16:creationId xmlns:a16="http://schemas.microsoft.com/office/drawing/2014/main" id="{3A569972-B8FE-A74A-103F-39EF8B31E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760720" y="1042416"/>
              <a:ext cx="5212080" cy="521208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212080" cy="5212080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7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2120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!!m-chestnut">
                <a:extLst>
                  <a:ext uri="{FF2B5EF4-FFF2-40B4-BE49-F238E27FC236}">
                    <a16:creationId xmlns:a16="http://schemas.microsoft.com/office/drawing/2014/main" id="{3A569972-B8FE-A74A-103F-39EF8B31E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760720" y="1042416"/>
                <a:ext cx="5212080" cy="52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!!m-cart">
                <a:extLst>
                  <a:ext uri="{FF2B5EF4-FFF2-40B4-BE49-F238E27FC236}">
                    <a16:creationId xmlns:a16="http://schemas.microsoft.com/office/drawing/2014/main" id="{77B18F96-C8D7-CF16-2642-2E0D78E8BF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26464"/>
              <a:ext cx="3840480" cy="384048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81685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7273" d="1000000"/>
                    <am3d:preTrans dx="2421818" dy="-17476363" dz="2290909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!!m-cart">
                <a:extLst>
                  <a:ext uri="{FF2B5EF4-FFF2-40B4-BE49-F238E27FC236}">
                    <a16:creationId xmlns:a16="http://schemas.microsoft.com/office/drawing/2014/main" id="{77B18F96-C8D7-CF16-2642-2E0D78E8BF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26464"/>
                <a:ext cx="3840480" cy="38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2702052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МЕХАНИЗМ  ·  ОТ СТИМУЛА ДО ЧЕКА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 — короткий</a:t>
            </a:r>
            <a:endParaRPr lang="en-US" sz="33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маршрут к клику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335024" y="2221992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СТИМУЛ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1335024" y="251460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Пуш, таймер «успей», блогер, знакомая вещь в ленте.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731520" y="308152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335024" y="3063240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СРОЧНОСТЬ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1335024" y="3355848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«Потом будет поздно» или «у всех уже есть».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731520" y="39227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335024" y="3904488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1335024" y="4197096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Сохранённая карта и оплата частями сокращают паузу.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731520" y="476402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335024" y="4745736"/>
            <a:ext cx="3877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1340" dirty="0"/>
          </a:p>
        </p:txBody>
      </p:sp>
      <p:sp>
        <p:nvSpPr>
          <p:cNvPr id="22" name="Text 19"/>
          <p:cNvSpPr/>
          <p:nvPr/>
        </p:nvSpPr>
        <p:spPr>
          <a:xfrm>
            <a:off x="1335024" y="5038344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Радость, «норм» или сожаление — проверим в анкете.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340096" y="2240280"/>
            <a:ext cx="1682496" cy="2212848"/>
          </a:xfrm>
          <a:prstGeom prst="roundRect">
            <a:avLst>
              <a:gd name="adj" fmla="val 3261"/>
            </a:avLst>
          </a:prstGeom>
          <a:solidFill>
            <a:srgbClr val="F5EFE6"/>
          </a:solidFill>
          <a:ln w="10160">
            <a:solidFill>
              <a:srgbClr val="F5EFE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1" descr="/home/user/MyWorkAiBrain/presentations/impulse/assets/meme-serotonin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661949"/>
            <a:ext cx="1536192" cy="109519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13248" y="4160520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 ИЗ ОРИГИНАЛА: «ВЛОЖИЛАСЬ В СЕРОТОНИН»</a:t>
            </a:r>
            <a:endParaRPr lang="en-US" sz="680" dirty="0"/>
          </a:p>
        </p:txBody>
      </p:sp>
      <p:sp>
        <p:nvSpPr>
          <p:cNvPr id="26" name="Shape 22"/>
          <p:cNvSpPr/>
          <p:nvPr/>
        </p:nvSpPr>
        <p:spPr>
          <a:xfrm>
            <a:off x="731520" y="5650992"/>
            <a:ext cx="6172200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8866A">
                <a:alpha val="58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1248" y="5678424"/>
            <a:ext cx="5952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«СЛАБАЯ ВОЛЯ»  ·  ЧЕЛОВЕК + СИТУАЦИЯ + ИНТЕРФЕЙС</a:t>
            </a:r>
            <a:endParaRPr lang="en-US" sz="840" dirty="0"/>
          </a:p>
        </p:txBody>
      </p:sp>
      <p:pic>
        <p:nvPicPr>
          <p:cNvPr id="28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1" y="327355"/>
            <a:ext cx="5453482" cy="5453482"/>
          </a:xfrm>
          <a:prstGeom prst="rect">
            <a:avLst/>
          </a:prstGeom>
        </p:spPr>
      </p:pic>
      <p:sp>
        <p:nvSpPr>
          <p:cNvPr id="29" name="!!ring1"/>
          <p:cNvSpPr/>
          <p:nvPr/>
        </p:nvSpPr>
        <p:spPr>
          <a:xfrm>
            <a:off x="7556602" y="1210666"/>
            <a:ext cx="3686861" cy="3686861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30" name="!!ring2"/>
          <p:cNvSpPr/>
          <p:nvPr/>
        </p:nvSpPr>
        <p:spPr>
          <a:xfrm>
            <a:off x="7134149" y="788213"/>
            <a:ext cx="4531766" cy="4531766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31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4062222"/>
            <a:ext cx="2688336" cy="6720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cart">
                <a:extLst>
                  <a:ext uri="{FF2B5EF4-FFF2-40B4-BE49-F238E27FC236}">
                    <a16:creationId xmlns:a16="http://schemas.microsoft.com/office/drawing/2014/main" id="{E8E9FB19-C2F0-65CC-4D6A-9982F489AA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79792" y="1133856"/>
              <a:ext cx="3840480" cy="384048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81685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7273" d="1000000"/>
                    <am3d:preTrans dx="2421818" dy="-17476363" dz="2290909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3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cart">
                <a:extLst>
                  <a:ext uri="{FF2B5EF4-FFF2-40B4-BE49-F238E27FC236}">
                    <a16:creationId xmlns:a16="http://schemas.microsoft.com/office/drawing/2014/main" id="{E8E9FB19-C2F0-65CC-4D6A-9982F489AA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9792" y="1133856"/>
                <a:ext cx="3840480" cy="38404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fx3_8_0"/>
          <p:cNvSpPr/>
          <p:nvPr/>
        </p:nvSpPr>
        <p:spPr>
          <a:xfrm>
            <a:off x="7571232" y="5394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сами подпрыгивают к покупке</a:t>
            </a:r>
            <a:endParaRPr lang="en-US" sz="880" dirty="0"/>
          </a:p>
        </p:txBody>
      </p:sp>
      <p:sp>
        <p:nvSpPr>
          <p:cNvPr id="34" name="Text 27"/>
          <p:cNvSpPr/>
          <p:nvPr/>
        </p:nvSpPr>
        <p:spPr>
          <a:xfrm>
            <a:off x="694944" y="6208776"/>
            <a:ext cx="6720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Определения: Rook &amp; Fisher (1995); Verplanken &amp; Herabadi (2001). FOMO: Przybylski et al. (2013). [3][4][7]</a:t>
            </a:r>
            <a:endParaRPr lang="en-US" sz="76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smartphone">
                <a:extLst>
                  <a:ext uri="{FF2B5EF4-FFF2-40B4-BE49-F238E27FC236}">
                    <a16:creationId xmlns:a16="http://schemas.microsoft.com/office/drawing/2014/main" id="{4A00B880-A8F0-F2D6-58B5-81D321559B9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09160" y="1344168"/>
              <a:ext cx="4160520" cy="416052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160520" cy="4160520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6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1605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smartphone">
                <a:extLst>
                  <a:ext uri="{FF2B5EF4-FFF2-40B4-BE49-F238E27FC236}">
                    <a16:creationId xmlns:a16="http://schemas.microsoft.com/office/drawing/2014/main" id="{4A00B880-A8F0-F2D6-58B5-81D321559B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09160" y="1344168"/>
                <a:ext cx="4160520" cy="41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hestnut">
                <a:extLst>
                  <a:ext uri="{FF2B5EF4-FFF2-40B4-BE49-F238E27FC236}">
                    <a16:creationId xmlns:a16="http://schemas.microsoft.com/office/drawing/2014/main" id="{DF354FC9-C5B3-102E-9917-43FFB2BE2E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53896"/>
              <a:ext cx="3822192" cy="3822192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hestnut">
                <a:extLst>
                  <a:ext uri="{FF2B5EF4-FFF2-40B4-BE49-F238E27FC236}">
                    <a16:creationId xmlns:a16="http://schemas.microsoft.com/office/drawing/2014/main" id="{DF354FC9-C5B3-102E-9917-43FFB2BE2E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53896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4053078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ГИПОТЕЗЫ  ·  ЧТО ПРОВЕРИМ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Гипотезы — вопросы,</a:t>
            </a:r>
            <a:endParaRPr lang="en-US" sz="32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не готовые ответы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94944" y="2212848"/>
            <a:ext cx="6446520" cy="896112"/>
          </a:xfrm>
          <a:prstGeom prst="roundRect">
            <a:avLst>
              <a:gd name="adj" fmla="val 10204"/>
            </a:avLst>
          </a:prstGeom>
          <a:solidFill>
            <a:srgbClr val="21131A">
              <a:alpha val="91000"/>
            </a:srgbClr>
          </a:solidFill>
          <a:ln w="10160">
            <a:solidFill>
              <a:srgbClr val="E3B663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386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499616" y="23317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+ импульсивность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99616" y="2624328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связаны с большим числом незапланированных покупок и более частым BNPL.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694944" y="3310128"/>
            <a:ext cx="6446520" cy="896112"/>
          </a:xfrm>
          <a:prstGeom prst="roundRect">
            <a:avLst>
              <a:gd name="adj" fmla="val 10204"/>
            </a:avLst>
          </a:prstGeom>
          <a:solidFill>
            <a:srgbClr val="21131A">
              <a:alpha val="91000"/>
            </a:srgbClr>
          </a:solidFill>
          <a:ln w="10160">
            <a:solidFill>
              <a:srgbClr val="E3B663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4838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499616" y="342900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Социальное сравнение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99616" y="3721608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связано со статусными покупками и покупками под влиянием рекомендаций.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694944" y="4407408"/>
            <a:ext cx="6446520" cy="896112"/>
          </a:xfrm>
          <a:prstGeom prst="roundRect">
            <a:avLst>
              <a:gd name="adj" fmla="val 10204"/>
            </a:avLst>
          </a:prstGeom>
          <a:solidFill>
            <a:srgbClr val="21131A">
              <a:alpha val="91000"/>
            </a:srgbClr>
          </a:solidFill>
          <a:ln w="10160">
            <a:solidFill>
              <a:srgbClr val="A4D9C6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581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A4D9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499616" y="452628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грамотность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9616" y="4818888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ослаблять связь, но не даёт автоматического «иммунитета».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713232" y="5660136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8866A">
                <a:alpha val="5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568756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КОРРЕЛЯЦИЯ ≠ ПРИЧИНА</a:t>
            </a:r>
            <a:endParaRPr lang="en-US" sz="880" dirty="0"/>
          </a:p>
        </p:txBody>
      </p:sp>
      <p:pic>
        <p:nvPicPr>
          <p:cNvPr id="25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708" y="358628"/>
            <a:ext cx="5427513" cy="5427513"/>
          </a:xfrm>
          <a:prstGeom prst="rect">
            <a:avLst/>
          </a:prstGeom>
        </p:spPr>
      </p:pic>
      <p:sp>
        <p:nvSpPr>
          <p:cNvPr id="26" name="!!ring1"/>
          <p:cNvSpPr/>
          <p:nvPr/>
        </p:nvSpPr>
        <p:spPr>
          <a:xfrm>
            <a:off x="7592812" y="1237732"/>
            <a:ext cx="3669304" cy="3669304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27" name="!!ring2"/>
          <p:cNvSpPr/>
          <p:nvPr/>
        </p:nvSpPr>
        <p:spPr>
          <a:xfrm>
            <a:off x="7172371" y="817291"/>
            <a:ext cx="4510187" cy="4510187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28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697" y="4075709"/>
            <a:ext cx="2675534" cy="6688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!!m-chestnut">
                <a:extLst>
                  <a:ext uri="{FF2B5EF4-FFF2-40B4-BE49-F238E27FC236}">
                    <a16:creationId xmlns:a16="http://schemas.microsoft.com/office/drawing/2014/main" id="{235BCC38-265D-86D1-1CB5-94A5C31889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16368" y="1161288"/>
              <a:ext cx="3822192" cy="3822192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!!m-chestnut">
                <a:extLst>
                  <a:ext uri="{FF2B5EF4-FFF2-40B4-BE49-F238E27FC236}">
                    <a16:creationId xmlns:a16="http://schemas.microsoft.com/office/drawing/2014/main" id="{235BCC38-265D-86D1-1CB5-94A5C31889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6368" y="1161288"/>
                <a:ext cx="3822192" cy="3822192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fx4_8_0"/>
          <p:cNvSpPr/>
          <p:nvPr/>
        </p:nvSpPr>
        <p:spPr>
          <a:xfrm>
            <a:off x="7571232" y="5394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 СПРАШИВАЕТ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«Это гипотеза или ты уже купил?»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694944" y="6208776"/>
            <a:ext cx="6812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Основания для гипотез: FOMO [4], сравнение [5], финансовая грамотность [6].</a:t>
            </a:r>
            <a:endParaRPr lang="en-US" sz="77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cart">
                <a:extLst>
                  <a:ext uri="{FF2B5EF4-FFF2-40B4-BE49-F238E27FC236}">
                    <a16:creationId xmlns:a16="http://schemas.microsoft.com/office/drawing/2014/main" id="{DDD4FAA2-C262-6BE5-FC71-541D6B9266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89120" y="1426464"/>
              <a:ext cx="3840480" cy="384048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81685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7273" d="1000000"/>
                    <am3d:preTrans dx="2421818" dy="-17476363" dz="2290909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0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cart">
                <a:extLst>
                  <a:ext uri="{FF2B5EF4-FFF2-40B4-BE49-F238E27FC236}">
                    <a16:creationId xmlns:a16="http://schemas.microsoft.com/office/drawing/2014/main" id="{DDD4FAA2-C262-6BE5-FC71-541D6B926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89120" y="1426464"/>
                <a:ext cx="3840480" cy="38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wallet">
                <a:extLst>
                  <a:ext uri="{FF2B5EF4-FFF2-40B4-BE49-F238E27FC236}">
                    <a16:creationId xmlns:a16="http://schemas.microsoft.com/office/drawing/2014/main" id="{A9A03D1F-3008-8424-FFDC-EE443EA5E3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527048"/>
              <a:ext cx="3822192" cy="3822192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3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wallet">
                <a:extLst>
                  <a:ext uri="{FF2B5EF4-FFF2-40B4-BE49-F238E27FC236}">
                    <a16:creationId xmlns:a16="http://schemas.microsoft.com/office/drawing/2014/main" id="{A9A03D1F-3008-8424-FFDC-EE443EA5E3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527048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5404104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ПЛАН ПРОЕКТА  ·  ОТ ВОПРОСА К ПАМЯТКЕ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теории — к полезной</a:t>
            </a:r>
            <a:endParaRPr lang="en-US" sz="32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памятке без морали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94944" y="2148840"/>
            <a:ext cx="6492240" cy="859536"/>
          </a:xfrm>
          <a:prstGeom prst="roundRect">
            <a:avLst>
              <a:gd name="adj" fmla="val 10638"/>
            </a:avLst>
          </a:prstGeom>
          <a:solidFill>
            <a:srgbClr val="251714">
              <a:alpha val="94000"/>
            </a:srgbClr>
          </a:solidFill>
          <a:ln w="12700">
            <a:solidFill>
              <a:srgbClr val="E3B663">
                <a:alpha val="6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2304288"/>
            <a:ext cx="41148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226771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87552" y="2514600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Понять, какие психологические механизмы и цифровые триггеры связаны с импульсивными тратами студентов.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" y="3310128"/>
            <a:ext cx="3136392" cy="1005840"/>
          </a:xfrm>
          <a:prstGeom prst="roundRect">
            <a:avLst>
              <a:gd name="adj" fmla="val 9091"/>
            </a:avLst>
          </a:prstGeom>
          <a:solidFill>
            <a:srgbClr val="21131A">
              <a:alpha val="85000"/>
            </a:srgbClr>
          </a:solidFill>
          <a:ln w="10160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08176" y="344728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теорию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408176" y="3758184"/>
            <a:ext cx="22128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Импульсивность, FOMO, самоконтроль и поведенческие подсказки.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4005072" y="3310128"/>
            <a:ext cx="3136392" cy="1005840"/>
          </a:xfrm>
          <a:prstGeom prst="roundRect">
            <a:avLst>
              <a:gd name="adj" fmla="val 9091"/>
            </a:avLst>
          </a:prstGeom>
          <a:solidFill>
            <a:srgbClr val="21131A">
              <a:alpha val="85000"/>
            </a:srgbClr>
          </a:solidFill>
          <a:ln w="10160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87952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18304" y="344728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Описать контекст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4718304" y="3758184"/>
            <a:ext cx="22128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Реклама, скидки, таймеры, маркетплейсы и BNPL.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94944" y="4517136"/>
            <a:ext cx="3136392" cy="1005840"/>
          </a:xfrm>
          <a:prstGeom prst="roundRect">
            <a:avLst>
              <a:gd name="adj" fmla="val 9091"/>
            </a:avLst>
          </a:prstGeom>
          <a:solidFill>
            <a:srgbClr val="21131A">
              <a:alpha val="85000"/>
            </a:srgbClr>
          </a:solidFill>
          <a:ln w="10160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6542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08176" y="46542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опрос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1408176" y="4965192"/>
            <a:ext cx="22128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18–25 лет; целевой минимум — 50 ответов.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4005072" y="4517136"/>
            <a:ext cx="3136392" cy="1005840"/>
          </a:xfrm>
          <a:prstGeom prst="roundRect">
            <a:avLst>
              <a:gd name="adj" fmla="val 9091"/>
            </a:avLst>
          </a:prstGeom>
          <a:solidFill>
            <a:srgbClr val="21131A">
              <a:alpha val="85000"/>
            </a:srgbClr>
          </a:solidFill>
          <a:ln w="10160">
            <a:solidFill>
              <a:srgbClr val="E8866A">
                <a:alpha val="2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87952" y="46542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18304" y="46542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результат</a:t>
            </a:r>
            <a:endParaRPr lang="en-US" sz="1220" dirty="0"/>
          </a:p>
        </p:txBody>
      </p:sp>
      <p:sp>
        <p:nvSpPr>
          <p:cNvPr id="30" name="Text 27"/>
          <p:cNvSpPr/>
          <p:nvPr/>
        </p:nvSpPr>
        <p:spPr>
          <a:xfrm>
            <a:off x="4718304" y="4965192"/>
            <a:ext cx="22128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связи и сделать памятку «пауза до оплаты».</a:t>
            </a:r>
            <a:endParaRPr lang="en-US" sz="970" dirty="0"/>
          </a:p>
        </p:txBody>
      </p:sp>
      <p:pic>
        <p:nvPicPr>
          <p:cNvPr id="3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20" y="431780"/>
            <a:ext cx="5427513" cy="5427513"/>
          </a:xfrm>
          <a:prstGeom prst="rect">
            <a:avLst/>
          </a:prstGeom>
        </p:spPr>
      </p:pic>
      <p:sp>
        <p:nvSpPr>
          <p:cNvPr id="32" name="!!ring1"/>
          <p:cNvSpPr/>
          <p:nvPr/>
        </p:nvSpPr>
        <p:spPr>
          <a:xfrm>
            <a:off x="7574524" y="1310884"/>
            <a:ext cx="3669304" cy="3669304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33" name="!!ring2"/>
          <p:cNvSpPr/>
          <p:nvPr/>
        </p:nvSpPr>
        <p:spPr>
          <a:xfrm>
            <a:off x="7154083" y="890443"/>
            <a:ext cx="4510187" cy="4510187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3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409" y="4148861"/>
            <a:ext cx="2675534" cy="6688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wallet">
                <a:extLst>
                  <a:ext uri="{FF2B5EF4-FFF2-40B4-BE49-F238E27FC236}">
                    <a16:creationId xmlns:a16="http://schemas.microsoft.com/office/drawing/2014/main" id="{8842293F-0F6C-352C-9316-AF149D053A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1234440"/>
              <a:ext cx="3822192" cy="3822192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wallet">
                <a:extLst>
                  <a:ext uri="{FF2B5EF4-FFF2-40B4-BE49-F238E27FC236}">
                    <a16:creationId xmlns:a16="http://schemas.microsoft.com/office/drawing/2014/main" id="{8842293F-0F6C-352C-9316-AF149D053A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98080" y="1234440"/>
                <a:ext cx="3822192" cy="3822192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fx5_8_0"/>
          <p:cNvSpPr/>
          <p:nvPr/>
        </p:nvSpPr>
        <p:spPr>
          <a:xfrm>
            <a:off x="7607808" y="54589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планировать, чем стыдить</a:t>
            </a:r>
            <a:endParaRPr lang="en-US" sz="88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chestnut">
                <a:extLst>
                  <a:ext uri="{FF2B5EF4-FFF2-40B4-BE49-F238E27FC236}">
                    <a16:creationId xmlns:a16="http://schemas.microsoft.com/office/drawing/2014/main" id="{FEB1416B-3C5E-1151-6B31-12E0BB01F2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70832" y="1453896"/>
              <a:ext cx="3822192" cy="3822192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7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chestnut">
                <a:extLst>
                  <a:ext uri="{FF2B5EF4-FFF2-40B4-BE49-F238E27FC236}">
                    <a16:creationId xmlns:a16="http://schemas.microsoft.com/office/drawing/2014/main" id="{FEB1416B-3C5E-1151-6B31-12E0BB01F2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70832" y="1453896"/>
                <a:ext cx="3822192" cy="382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smartphone">
                <a:extLst>
                  <a:ext uri="{FF2B5EF4-FFF2-40B4-BE49-F238E27FC236}">
                    <a16:creationId xmlns:a16="http://schemas.microsoft.com/office/drawing/2014/main" id="{7DA7A2C3-8533-CA23-0C61-7A2CE64E4E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35608"/>
              <a:ext cx="3822192" cy="3822192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smartphone">
                <a:extLst>
                  <a:ext uri="{FF2B5EF4-FFF2-40B4-BE49-F238E27FC236}">
                    <a16:creationId xmlns:a16="http://schemas.microsoft.com/office/drawing/2014/main" id="{7DA7A2C3-8533-CA23-0C61-7A2CE64E4E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435608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6755130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МЕТОД  ·  ЦЕЛЕВАЯ АУДИТОРИЯ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675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Проверяем на студентах —</a:t>
            </a:r>
            <a:endParaRPr lang="en-US" sz="31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гадаем по мемам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740664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9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1773936" y="22494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18–25 лет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773936" y="2551176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целевой объём — N ≥ 50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64792" y="2953512"/>
            <a:ext cx="5148072" cy="91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9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1773936" y="308152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Анонимная онлайн-анкета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1773936" y="3383280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добровольное; без имён и оценок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764792" y="3785616"/>
            <a:ext cx="5148072" cy="91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" y="3941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90" b="1" spc="180" kern="0" dirty="0">
                <a:solidFill>
                  <a:srgbClr val="A4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1773936" y="391363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 и триггеры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1773936" y="4215384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FOMO, соцсети, импульсивность, бюджет, BNPL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764792" y="4617720"/>
            <a:ext cx="5148072" cy="91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" y="4773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9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890" dirty="0"/>
          </a:p>
        </p:txBody>
      </p:sp>
      <p:sp>
        <p:nvSpPr>
          <p:cNvPr id="24" name="Text 21"/>
          <p:cNvSpPr/>
          <p:nvPr/>
        </p:nvSpPr>
        <p:spPr>
          <a:xfrm>
            <a:off x="1773936" y="474573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— описательная статистика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1773936" y="504748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— связи; не причинные выводы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40664" y="5687568"/>
            <a:ext cx="5394960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8866A">
                <a:alpha val="5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" y="571500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ИССЛЕДОВАНИЯ  ·  ДАННЫЕ ЕЩЁ НЕ СОБРАНЫ</a:t>
            </a:r>
            <a:endParaRPr lang="en-US" sz="860" dirty="0"/>
          </a:p>
        </p:txBody>
      </p:sp>
      <p:pic>
        <p:nvPicPr>
          <p:cNvPr id="28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20" y="340340"/>
            <a:ext cx="5427513" cy="5427513"/>
          </a:xfrm>
          <a:prstGeom prst="rect">
            <a:avLst/>
          </a:prstGeom>
        </p:spPr>
      </p:pic>
      <p:sp>
        <p:nvSpPr>
          <p:cNvPr id="29" name="!!ring1"/>
          <p:cNvSpPr/>
          <p:nvPr/>
        </p:nvSpPr>
        <p:spPr>
          <a:xfrm>
            <a:off x="7574524" y="1219444"/>
            <a:ext cx="3669304" cy="3669304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30" name="!!ring2"/>
          <p:cNvSpPr/>
          <p:nvPr/>
        </p:nvSpPr>
        <p:spPr>
          <a:xfrm>
            <a:off x="7154083" y="799003"/>
            <a:ext cx="4510187" cy="4510187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31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409" y="4057421"/>
            <a:ext cx="2675534" cy="6688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smartphone">
                <a:extLst>
                  <a:ext uri="{FF2B5EF4-FFF2-40B4-BE49-F238E27FC236}">
                    <a16:creationId xmlns:a16="http://schemas.microsoft.com/office/drawing/2014/main" id="{20A36FEA-5B12-70F7-45C8-F99061293C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1143000"/>
              <a:ext cx="3822192" cy="3822192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96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smartphone">
                <a:extLst>
                  <a:ext uri="{FF2B5EF4-FFF2-40B4-BE49-F238E27FC236}">
                    <a16:creationId xmlns:a16="http://schemas.microsoft.com/office/drawing/2014/main" id="{20A36FEA-5B12-70F7-45C8-F99061293C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98080" y="1143000"/>
                <a:ext cx="3822192" cy="3822192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fx6_8_0"/>
          <p:cNvSpPr/>
          <p:nvPr/>
        </p:nvSpPr>
        <p:spPr>
          <a:xfrm>
            <a:off x="7516368" y="5394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В ТЕЛЕФОНЕ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— да. Выдуманные итоги — нет</a:t>
            </a:r>
            <a:endParaRPr lang="en-US" sz="88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wallet">
                <a:extLst>
                  <a:ext uri="{FF2B5EF4-FFF2-40B4-BE49-F238E27FC236}">
                    <a16:creationId xmlns:a16="http://schemas.microsoft.com/office/drawing/2014/main" id="{15E72E50-5C10-5595-A61E-202311439A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70832" y="1527048"/>
              <a:ext cx="3822192" cy="3822192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58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wallet">
                <a:extLst>
                  <a:ext uri="{FF2B5EF4-FFF2-40B4-BE49-F238E27FC236}">
                    <a16:creationId xmlns:a16="http://schemas.microsoft.com/office/drawing/2014/main" id="{15E72E50-5C10-5595-A61E-202311439A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70832" y="1527048"/>
                <a:ext cx="3822192" cy="382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wallet">
                <a:extLst>
                  <a:ext uri="{FF2B5EF4-FFF2-40B4-BE49-F238E27FC236}">
                    <a16:creationId xmlns:a16="http://schemas.microsoft.com/office/drawing/2014/main" id="{EBA3A990-4FB3-7C3C-01A9-47331DF186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08176"/>
              <a:ext cx="3822192" cy="3822192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3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wallet">
                <a:extLst>
                  <a:ext uri="{FF2B5EF4-FFF2-40B4-BE49-F238E27FC236}">
                    <a16:creationId xmlns:a16="http://schemas.microsoft.com/office/drawing/2014/main" id="{EBA3A990-4FB3-7C3C-01A9-47331DF186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408176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8106156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ПРАКТИКА  ·  ПАУЗА ПЕРЕД ОПЛАТОЙ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720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Каштановый анти-импульс:</a:t>
            </a:r>
            <a:endParaRPr lang="en-US" sz="31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вопроса до оплаты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694944" y="2267712"/>
            <a:ext cx="3822192" cy="694944"/>
          </a:xfrm>
          <a:prstGeom prst="roundRect">
            <a:avLst>
              <a:gd name="adj" fmla="val 13158"/>
            </a:avLst>
          </a:prstGeom>
          <a:solidFill>
            <a:srgbClr val="21131A">
              <a:alpha val="88000"/>
            </a:srgbClr>
          </a:solidFill>
          <a:ln w="10160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4048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316736" y="235915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хотел(а) это до того, как увидел(а) скидку?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94944" y="3099816"/>
            <a:ext cx="3822192" cy="694944"/>
          </a:xfrm>
          <a:prstGeom prst="roundRect">
            <a:avLst>
              <a:gd name="adj" fmla="val 13158"/>
            </a:avLst>
          </a:prstGeom>
          <a:solidFill>
            <a:srgbClr val="21131A">
              <a:alpha val="88000"/>
            </a:srgbClr>
          </a:solidFill>
          <a:ln w="10160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2369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316736" y="319125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Купил(а) бы это завтра — и по полной цене?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94944" y="3931920"/>
            <a:ext cx="3822192" cy="694944"/>
          </a:xfrm>
          <a:prstGeom prst="roundRect">
            <a:avLst>
              <a:gd name="adj" fmla="val 13158"/>
            </a:avLst>
          </a:prstGeom>
          <a:solidFill>
            <a:srgbClr val="21131A">
              <a:alpha val="88000"/>
            </a:srgbClr>
          </a:solidFill>
          <a:ln w="10160">
            <a:solidFill>
              <a:srgbClr val="A4D9C6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069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316736" y="402336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Могу оплатить всю сумму без нового долга?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4754880" y="2331720"/>
            <a:ext cx="2139696" cy="2423160"/>
          </a:xfrm>
          <a:prstGeom prst="roundRect">
            <a:avLst>
              <a:gd name="adj" fmla="val 2564"/>
            </a:avLst>
          </a:prstGeom>
          <a:solidFill>
            <a:srgbClr val="F5EFE6"/>
          </a:solidFill>
          <a:ln w="10160">
            <a:solidFill>
              <a:srgbClr val="F5EFE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1" descr="/home/user/MyWorkAiBrain/presentations/impulse/assets/meme-budget-jar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545685"/>
            <a:ext cx="1938528" cy="176205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55464" y="448970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ФОНДА: НА ВАЖНОЕ / НА ЧИПСЫ</a:t>
            </a:r>
            <a:endParaRPr lang="en-US" sz="740" dirty="0"/>
          </a:p>
        </p:txBody>
      </p:sp>
      <p:sp>
        <p:nvSpPr>
          <p:cNvPr id="23" name="Shape 19"/>
          <p:cNvSpPr/>
          <p:nvPr/>
        </p:nvSpPr>
        <p:spPr>
          <a:xfrm>
            <a:off x="694944" y="4919472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8866A">
                <a:alpha val="58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4672" y="494690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24 ЧАСА  ·  ВИШЛИСТ  ·  БЕЗ СОХРАНЁННОЙ КАРТЫ</a:t>
            </a:r>
            <a:endParaRPr lang="en-US" sz="790" dirty="0"/>
          </a:p>
        </p:txBody>
      </p:sp>
      <p:sp>
        <p:nvSpPr>
          <p:cNvPr id="25" name="Text 21"/>
          <p:cNvSpPr/>
          <p:nvPr/>
        </p:nvSpPr>
        <p:spPr>
          <a:xfrm>
            <a:off x="722376" y="540410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инструменты выбора, не универсальное лечение и не повод стыдить себя.</a:t>
            </a:r>
            <a:endParaRPr lang="en-US" sz="980" dirty="0"/>
          </a:p>
        </p:txBody>
      </p:sp>
      <p:pic>
        <p:nvPicPr>
          <p:cNvPr id="26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420" y="312908"/>
            <a:ext cx="5427513" cy="5427513"/>
          </a:xfrm>
          <a:prstGeom prst="rect">
            <a:avLst/>
          </a:prstGeom>
        </p:spPr>
      </p:pic>
      <p:sp>
        <p:nvSpPr>
          <p:cNvPr id="27" name="!!ring1"/>
          <p:cNvSpPr/>
          <p:nvPr/>
        </p:nvSpPr>
        <p:spPr>
          <a:xfrm>
            <a:off x="7574524" y="1192012"/>
            <a:ext cx="3669304" cy="3669304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28" name="!!ring2"/>
          <p:cNvSpPr/>
          <p:nvPr/>
        </p:nvSpPr>
        <p:spPr>
          <a:xfrm>
            <a:off x="7154083" y="771571"/>
            <a:ext cx="4510187" cy="4510187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29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409" y="4029989"/>
            <a:ext cx="2675534" cy="6688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!!m-wallet">
                <a:extLst>
                  <a:ext uri="{FF2B5EF4-FFF2-40B4-BE49-F238E27FC236}">
                    <a16:creationId xmlns:a16="http://schemas.microsoft.com/office/drawing/2014/main" id="{31EF93B0-D51A-CD2D-F6A3-98DCD049C5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1115568"/>
              <a:ext cx="3822192" cy="3822192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!!m-wallet">
                <a:extLst>
                  <a:ext uri="{FF2B5EF4-FFF2-40B4-BE49-F238E27FC236}">
                    <a16:creationId xmlns:a16="http://schemas.microsoft.com/office/drawing/2014/main" id="{31EF93B0-D51A-CD2D-F6A3-98DCD049C5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1115568"/>
                <a:ext cx="3822192" cy="3822192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fx7_8_0"/>
          <p:cNvSpPr/>
          <p:nvPr/>
        </p:nvSpPr>
        <p:spPr>
          <a:xfrm>
            <a:off x="7543800" y="53949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подождёт. Выбор — останется</a:t>
            </a:r>
            <a:endParaRPr lang="en-US" sz="88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smartphone">
                <a:extLst>
                  <a:ext uri="{FF2B5EF4-FFF2-40B4-BE49-F238E27FC236}">
                    <a16:creationId xmlns:a16="http://schemas.microsoft.com/office/drawing/2014/main" id="{8602F495-219B-51E8-666E-7FA12D0A44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70832" y="1435608"/>
              <a:ext cx="3822192" cy="3822192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538823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5676" d="1000000"/>
                    <am3d:preTrans dx="0" dy="-19216217" dz="-139864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6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smartphone">
                <a:extLst>
                  <a:ext uri="{FF2B5EF4-FFF2-40B4-BE49-F238E27FC236}">
                    <a16:creationId xmlns:a16="http://schemas.microsoft.com/office/drawing/2014/main" id="{8602F495-219B-51E8-666E-7FA12D0A4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370832" y="1435608"/>
                <a:ext cx="3822192" cy="382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hestnut">
                <a:extLst>
                  <a:ext uri="{FF2B5EF4-FFF2-40B4-BE49-F238E27FC236}">
                    <a16:creationId xmlns:a16="http://schemas.microsoft.com/office/drawing/2014/main" id="{04A2D9C2-A2EE-0891-E1FB-FA67C713D4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35608"/>
              <a:ext cx="3822192" cy="3822192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hestnut">
                <a:extLst>
                  <a:ext uri="{FF2B5EF4-FFF2-40B4-BE49-F238E27FC236}">
                    <a16:creationId xmlns:a16="http://schemas.microsoft.com/office/drawing/2014/main" id="{04A2D9C2-A2EE-0891-E1FB-FA67C713D4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35608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9457182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ЧЕСТНЫЕ ОГРАНИЧЕНИЯ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9326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ответов — не 50 миллионов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94944" y="1746504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Мини-опрос помогает увидеть сигналы, но не выдаёт их за истину для всех.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94944" y="2587752"/>
            <a:ext cx="3127248" cy="941832"/>
          </a:xfrm>
          <a:prstGeom prst="roundRect">
            <a:avLst>
              <a:gd name="adj" fmla="val 9709"/>
            </a:avLst>
          </a:prstGeom>
          <a:solidFill>
            <a:srgbClr val="21131A">
              <a:alpha val="87000"/>
            </a:srgbClr>
          </a:solidFill>
          <a:ln w="10160">
            <a:solidFill>
              <a:srgbClr val="E3B663">
                <a:alpha val="27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73405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868680" y="301752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≥ 50 — учебный минимум, а не репрезентативность.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3986784" y="2587752"/>
            <a:ext cx="3127248" cy="941832"/>
          </a:xfrm>
          <a:prstGeom prst="roundRect">
            <a:avLst>
              <a:gd name="adj" fmla="val 9709"/>
            </a:avLst>
          </a:prstGeom>
          <a:solidFill>
            <a:srgbClr val="21131A">
              <a:alpha val="87000"/>
            </a:srgbClr>
          </a:solidFill>
          <a:ln w="10160">
            <a:solidFill>
              <a:srgbClr val="E3B663">
                <a:alpha val="27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60520" y="273405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САМООТЧЁТ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4160520" y="301752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и желание выглядеть рациональнее могут искажать ответы.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94944" y="3712464"/>
            <a:ext cx="3127248" cy="941832"/>
          </a:xfrm>
          <a:prstGeom prst="roundRect">
            <a:avLst>
              <a:gd name="adj" fmla="val 9709"/>
            </a:avLst>
          </a:prstGeom>
          <a:solidFill>
            <a:srgbClr val="21131A">
              <a:alpha val="87000"/>
            </a:srgbClr>
          </a:solidFill>
          <a:ln w="10160">
            <a:solidFill>
              <a:srgbClr val="E3B663">
                <a:alpha val="27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858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СРЕЗ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68680" y="4142232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между факторами не доказывает причинность.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3986784" y="3712464"/>
            <a:ext cx="3127248" cy="941832"/>
          </a:xfrm>
          <a:prstGeom prst="roundRect">
            <a:avLst>
              <a:gd name="adj" fmla="val 9709"/>
            </a:avLst>
          </a:prstGeom>
          <a:solidFill>
            <a:srgbClr val="21131A">
              <a:alpha val="87000"/>
            </a:srgbClr>
          </a:solidFill>
          <a:ln w="10160">
            <a:solidFill>
              <a:srgbClr val="A4D9C6">
                <a:alpha val="27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60520" y="3858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180" kern="0" dirty="0">
                <a:solidFill>
                  <a:srgbClr val="A4D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ДИАГНОЗ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160520" y="4142232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изучаем покупки, не ставим психологические ярлыки.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94944" y="5084064"/>
            <a:ext cx="6419088" cy="758952"/>
          </a:xfrm>
          <a:prstGeom prst="roundRect">
            <a:avLst>
              <a:gd name="adj" fmla="val 12048"/>
            </a:avLst>
          </a:prstGeom>
          <a:solidFill>
            <a:srgbClr val="251714">
              <a:alpha val="94000"/>
            </a:srgbClr>
          </a:solidFill>
          <a:ln w="12700">
            <a:solidFill>
              <a:srgbClr val="E8866A">
                <a:alpha val="6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5239512"/>
            <a:ext cx="41148" cy="448056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26" name="Text 23"/>
          <p:cNvSpPr/>
          <p:nvPr/>
        </p:nvSpPr>
        <p:spPr>
          <a:xfrm>
            <a:off x="987552" y="5202936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8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ПРОДУКТ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87552" y="5449824"/>
            <a:ext cx="5916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проекта: вернуть паузу перед оплатой и выбирать без самостыда.</a:t>
            </a:r>
            <a:endParaRPr lang="en-US" sz="1230" dirty="0"/>
          </a:p>
        </p:txBody>
      </p:sp>
      <p:pic>
        <p:nvPicPr>
          <p:cNvPr id="28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708" y="340340"/>
            <a:ext cx="5427513" cy="5427513"/>
          </a:xfrm>
          <a:prstGeom prst="rect">
            <a:avLst/>
          </a:prstGeom>
        </p:spPr>
      </p:pic>
      <p:sp>
        <p:nvSpPr>
          <p:cNvPr id="29" name="!!ring1"/>
          <p:cNvSpPr/>
          <p:nvPr/>
        </p:nvSpPr>
        <p:spPr>
          <a:xfrm>
            <a:off x="7592812" y="1219444"/>
            <a:ext cx="3669304" cy="3669304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30" name="!!ring2"/>
          <p:cNvSpPr/>
          <p:nvPr/>
        </p:nvSpPr>
        <p:spPr>
          <a:xfrm>
            <a:off x="7172371" y="799003"/>
            <a:ext cx="4510187" cy="4510187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31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697" y="4057421"/>
            <a:ext cx="2675534" cy="6688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chestnut">
                <a:extLst>
                  <a:ext uri="{FF2B5EF4-FFF2-40B4-BE49-F238E27FC236}">
                    <a16:creationId xmlns:a16="http://schemas.microsoft.com/office/drawing/2014/main" id="{880046D3-336A-B03B-7F14-37BA5B3266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16368" y="1143000"/>
              <a:ext cx="3822192" cy="3822192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chestnut">
                <a:extLst>
                  <a:ext uri="{FF2B5EF4-FFF2-40B4-BE49-F238E27FC236}">
                    <a16:creationId xmlns:a16="http://schemas.microsoft.com/office/drawing/2014/main" id="{880046D3-336A-B03B-7F14-37BA5B3266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6368" y="1143000"/>
                <a:ext cx="3822192" cy="3822192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fx8_8_0"/>
          <p:cNvSpPr/>
          <p:nvPr/>
        </p:nvSpPr>
        <p:spPr>
          <a:xfrm>
            <a:off x="7516368" y="5394960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 ЗА ЧЕСТНОСТЬ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 — не метод, но хороший крючок</a:t>
            </a:r>
            <a:endParaRPr lang="en-US" sz="88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wallet">
                <a:extLst>
                  <a:ext uri="{FF2B5EF4-FFF2-40B4-BE49-F238E27FC236}">
                    <a16:creationId xmlns:a16="http://schemas.microsoft.com/office/drawing/2014/main" id="{1F1FC24D-4C85-28D0-9A96-01EEBAB4CCD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70832" y="1408176"/>
              <a:ext cx="3822192" cy="3822192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3822192" cy="3822192"/>
                    </a:xfrm>
                    <a:prstGeom prst="rect">
                      <a:avLst/>
                    </a:prstGeom>
                  </am3d:spPr>
                  <am3d:camera>
                    <am3d:pos x="0" y="0" z="64371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7458" d="1000000"/>
                    <am3d:preTrans dx="0" dy="-19983051" dz="-140339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58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221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wallet">
                <a:extLst>
                  <a:ext uri="{FF2B5EF4-FFF2-40B4-BE49-F238E27FC236}">
                    <a16:creationId xmlns:a16="http://schemas.microsoft.com/office/drawing/2014/main" id="{1F1FC24D-4C85-28D0-9A96-01EEBAB4CC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70832" y="1408176"/>
                <a:ext cx="3822192" cy="38221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D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94944" y="393192"/>
            <a:ext cx="10808208" cy="91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94944" y="380390"/>
            <a:ext cx="10808208" cy="25603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94944" y="704088"/>
            <a:ext cx="292608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15568" y="5852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ИТОГ  ·  СПАСИБО ЗА ВНИМАНИЕ</a:t>
            </a:r>
            <a:endParaRPr lang="en-US" sz="1050" dirty="0"/>
          </a:p>
        </p:txBody>
      </p:sp>
      <p:sp>
        <p:nvSpPr>
          <p:cNvPr id="7" name="!!footline"/>
          <p:cNvSpPr/>
          <p:nvPr/>
        </p:nvSpPr>
        <p:spPr>
          <a:xfrm>
            <a:off x="694944" y="6400800"/>
            <a:ext cx="10808208" cy="91"/>
          </a:xfrm>
          <a:prstGeom prst="line">
            <a:avLst/>
          </a:prstGeom>
          <a:noFill/>
          <a:ln w="889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94944" y="6492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spc="1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  ·  ПРОЕКТ-ИССЛЕДОВАНИЕ</a:t>
            </a:r>
            <a:endParaRPr lang="en-US" sz="880" dirty="0"/>
          </a:p>
        </p:txBody>
      </p:sp>
      <p:sp>
        <p:nvSpPr>
          <p:cNvPr id="9" name="!!pagenum"/>
          <p:cNvSpPr/>
          <p:nvPr/>
        </p:nvSpPr>
        <p:spPr>
          <a:xfrm>
            <a:off x="10588752" y="6492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9</a:t>
            </a:r>
            <a:endParaRPr lang="en-US" sz="880" dirty="0"/>
          </a:p>
        </p:txBody>
      </p:sp>
      <p:sp>
        <p:nvSpPr>
          <p:cNvPr id="10" name="!!title"/>
          <p:cNvSpPr/>
          <p:nvPr/>
        </p:nvSpPr>
        <p:spPr>
          <a:xfrm>
            <a:off x="694944" y="1133856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4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Сначала пауза.</a:t>
            </a:r>
            <a:endParaRPr lang="en-US" sz="42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4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Потом оплата.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31520" y="2971800"/>
            <a:ext cx="5742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Покупка — это человек + ситуация + интерфейс.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— не запретить радость, а вернуть себе выбор.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31520" y="4133088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2E201C">
              <a:alpha val="96000"/>
            </a:srgbClr>
          </a:solidFill>
          <a:ln w="10160">
            <a:solidFill>
              <a:srgbClr val="E8866A">
                <a:alpha val="5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160520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spc="70" kern="0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 СПРАШИВАЕТ: «Я ЭТО ПЛАНИРОВАЛ(А)?»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49808" y="45079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4944" y="4937760"/>
            <a:ext cx="2267712" cy="1335024"/>
          </a:xfrm>
          <a:prstGeom prst="roundRect">
            <a:avLst>
              <a:gd name="adj" fmla="val 4110"/>
            </a:avLst>
          </a:prstGeom>
          <a:solidFill>
            <a:srgbClr val="F5EFE6"/>
          </a:solidFill>
          <a:ln w="10160">
            <a:solidFill>
              <a:srgbClr val="F5EFE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1" descr="/home/user/MyWorkAiBrain/presentations/impulse/assets/chestnuts-original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63" y="5001768"/>
            <a:ext cx="1484475" cy="9921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8952" y="60441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 — ЛЕГЕНДА ОРИГИНАЛА ✓</a:t>
            </a:r>
            <a:endParaRPr lang="en-US" sz="740" dirty="0"/>
          </a:p>
        </p:txBody>
      </p:sp>
      <p:sp>
        <p:nvSpPr>
          <p:cNvPr id="18" name="Text 14"/>
          <p:cNvSpPr/>
          <p:nvPr/>
        </p:nvSpPr>
        <p:spPr>
          <a:xfrm>
            <a:off x="3182112" y="50017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[1] оценка BNPL 2025; [2] ФЗ № 283-ФЗ; [3–7] научные работы об импульсивных покупках, FOMO, сравнении и финансовой грамотности.</a:t>
            </a: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Полные библиографические данные и ссылки — в отдельном файле источников.</a:t>
            </a:r>
            <a:endParaRPr lang="en-US" sz="980" dirty="0"/>
          </a:p>
        </p:txBody>
      </p:sp>
      <p:pic>
        <p:nvPicPr>
          <p:cNvPr id="19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29" y="-296723"/>
            <a:ext cx="7076542" cy="7076542"/>
          </a:xfrm>
          <a:prstGeom prst="rect">
            <a:avLst/>
          </a:prstGeom>
        </p:spPr>
      </p:pic>
      <p:sp>
        <p:nvSpPr>
          <p:cNvPr id="20" name="!!ring1"/>
          <p:cNvSpPr/>
          <p:nvPr/>
        </p:nvSpPr>
        <p:spPr>
          <a:xfrm>
            <a:off x="6637630" y="849478"/>
            <a:ext cx="4784141" cy="4784141"/>
          </a:xfrm>
          <a:prstGeom prst="ellipse">
            <a:avLst/>
          </a:prstGeom>
          <a:ln w="9525">
            <a:solidFill>
              <a:srgbClr val="E3B663">
                <a:alpha val="16000"/>
              </a:srgbClr>
            </a:solidFill>
            <a:prstDash val="solid"/>
          </a:ln>
        </p:spPr>
      </p:sp>
      <p:sp>
        <p:nvSpPr>
          <p:cNvPr id="21" name="!!ring2"/>
          <p:cNvSpPr/>
          <p:nvPr/>
        </p:nvSpPr>
        <p:spPr>
          <a:xfrm>
            <a:off x="6089447" y="301295"/>
            <a:ext cx="5880506" cy="5880506"/>
          </a:xfrm>
          <a:prstGeom prst="ellipse">
            <a:avLst/>
          </a:prstGeom>
          <a:ln w="8255">
            <a:solidFill>
              <a:srgbClr val="E3B663">
                <a:alpha val="10000"/>
              </a:srgbClr>
            </a:solidFill>
            <a:prstDash val="dash"/>
          </a:ln>
        </p:spPr>
      </p:sp>
      <p:pic>
        <p:nvPicPr>
          <p:cNvPr id="22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647" y="4487418"/>
            <a:ext cx="3588106" cy="89702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!!m-chestnut">
                <a:extLst>
                  <a:ext uri="{FF2B5EF4-FFF2-40B4-BE49-F238E27FC236}">
                    <a16:creationId xmlns:a16="http://schemas.microsoft.com/office/drawing/2014/main" id="{1748A50D-57F8-EB1D-B815-E9152AD8A7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37960" y="749808"/>
              <a:ext cx="4983480" cy="498348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4983480" cy="4983480"/>
                    </a:xfrm>
                    <a:prstGeom prst="rect">
                      <a:avLst/>
                    </a:prstGeom>
                  </am3d:spPr>
                  <am3d:camera>
                    <am3d:pos x="0" y="0" z="684849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8887" d="1000000"/>
                    <am3d:preTrans dx="0" dy="-18171079" dz="-44878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983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!!m-chestnut">
                <a:extLst>
                  <a:ext uri="{FF2B5EF4-FFF2-40B4-BE49-F238E27FC236}">
                    <a16:creationId xmlns:a16="http://schemas.microsoft.com/office/drawing/2014/main" id="{1748A50D-57F8-EB1D-B815-E9152AD8A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7960" y="749808"/>
                <a:ext cx="4983480" cy="498348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fx9_8_0"/>
          <p:cNvSpPr/>
          <p:nvPr/>
        </p:nvSpPr>
        <p:spPr>
          <a:xfrm>
            <a:off x="6995160" y="585216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КАШТАН ОСТАЛСЯ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Мем-легенда оригинала — теперь 3D</a:t>
            </a:r>
            <a:endParaRPr lang="en-US" sz="8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Каштан в корзине — психология импульсивных трат</dc:title>
  <dc:subject>Учебный проект об импульсивных покупках, BNPL и финансовом поведении студентов</dc:subject>
  <dc:creator>Arena Agent</dc:creator>
  <cp:lastModifiedBy>Arena Agent</cp:lastModifiedBy>
  <cp:revision>1</cp:revision>
  <dcterms:created xsi:type="dcterms:W3CDTF">2026-10-11T21:17:19Z</dcterms:created>
  <dcterms:modified xsi:type="dcterms:W3CDTF">2026-10-11T21:17:19Z</dcterms:modified>
</cp:coreProperties>
</file>