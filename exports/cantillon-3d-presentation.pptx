
<file path=[Content_Types].xml><?xml version="1.0" encoding="utf-8"?>
<Types xmlns="http://schemas.openxmlformats.org/package/2006/content-types">
  <Default Extension="glb" ContentType="model/gltf.binary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Сегодня я расскажу о Ричарде Кантильоне — ирландско-французском банкире XVIII века. Его имя знают меньше, чем имя Адама Смита, но именно он первым описал в экономической теории фигуру предпринимателя.
Самое интересное: само французское слово entrepreneur существовало и раньше, но именно Кантильон, примерно в 1730 году, первым сделал предпринимателя центральной фигурой экономической теории. Это часто приписывают Жан-Батисту Сэю, но Сэй писал на семьдесят лет позже.
А ещё его жизнь — готовый сюжет для сериала: миллионы на финансовом пузыре, угроза Бастилией и загадочная смерть, которую до сих пор не могут объяснить.
Каждый слайд сопровождает «экспонат» — 3D-предмет, связанный с его жизнью или идеями. И они не просто стоят: в каждом экспонате что-то движется. Первый — торговый корабль: он идёт по волнам, паруса дышат, вымпел полощется, а над мачтами кружит чайка. Это риск, морская торговля и, возможно, бегство за океан.
План: где он родился, чем занимался, его главная мысль и что он дал теории предпринимательства.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Ричард Кантильон родился в 1680-х годах в графстве Керри на юго-западе Ирландии, в католической дворянской семье. Его род потерял земли при конфискациях Кромвеля и Вильгельма Оранского — и, как многие ирландские католики, молодой Кантильон уехал во Францию. В 1708 году он получил французское подданство.
В семье были банкиры: двоюродный брат вёл банк в Париже — позже это станет стартом его карьеры. Он свободно жил между английским и французским мирами, а главную книгу написал по-французски.
Экспонат — ирландская арфа, символ его родины: по струнам пробегает глиссандо, каждая струна дрожит, и из неё вылетают ноты.
А вот самое интересное: мы не знаем ни точной даты его рождения, ни даже того, как он выглядел. Достоверных портретов нет. Есть лишь гипотеза экономиста Марка Торнтона, что Кантильон — мужчина слева на семейном портрете кисти Николя де Ларжильера, около 1710 года. Атрибуция спорная, поэтому я показываю его со знаком вопроса.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Чем он занимался? Если коротко — деньгами. Около 1711 года он в Испании, во время войны за испанское наследство, работает на британского генерального казначея Джеймса Бриджеса: организует выплаты британским военнопленным. Так появляются связи и покровитель.
В 1714 году он возвращается в Париж и начинает в банке двоюродного брата, а в 1716-м при поддержке Бриджеса выкупает банк и становится хозяином. Его клиенты — двор изгнанных Стюартов, ирландские и британские эмигранты, поэт Александр Поуп, политик Болингброк.
И наконец — спекулянт: на пузыре Миссисипской компании он заработает огромное состояние. По завещанию 1732 года видно, насколько он был богат и осторожен: деньги на депозитах в банках Лондона, Амстердама, Брюсселя, Вены и Кадиса, поместья — в Англии и во французской Луизиане.
Экспонат — окованный сундук: смотрите, ключ поворачивается и крышка открывается. Самое интересное: уезжая из Парижа, Кантильон запер все бумаги в сундук и оставил его на хранение английским монахам-бенедиктинцам — переждать «финансовую бурю», которую он предвидел.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финансовая история его жизни — пузырь Миссисипи. В 1716 году шотландец Джон Ло убеждает регента Франции, что бумажные деньги решат проблему огромного государственного долга, и открывает банк. Затем появляется Миссисипская компания — монополия на освоение французской Луизианы. Её акции за пару лет взлетают примерно в двадцать раз.
Кантильон считал систему Ло обречённой — и именно поэтому на ней заработал: купил рано, продал дорого, а клиентам давал кредиты под залог акций. Когда в 1720 году пузырь лопнул, он стал одним из «миссисипских миллионеров» — около двадцати миллионов ливров.
Экспонат — пузырь над стопкой акций: он раздувается, лопается, бумаги взлетают — и всё начинается снова.
Самое интересное — «дуэль» с Ло. По рассказу барона Гримма, Ло пригрозил: «Я могу сегодня же вечером отправить вас в Бастилию, если вы не покинете королевство». Кантильон подумал и ответил: «Хорошо. Я не уеду — и помогу вашей системе преуспеть». Взял массу новых бумаг, выгодно разместил их, обменял на золото — и всё-таки уехал. Это рассказ современника, его стоит подавать как легенду. Итог: Ло умер в 1729 году в Венеции разорённым, а Кантильон остался мультимиллионером.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труд Кантильона — «Опыт о природе торговли вообще», по-французски «Essai sur la nature du commerce en général». Он написан примерно в 1730 году и считается первым систематическим трактатом, который охватывает экономику целиком: производство, деньги, цены, процент, международную торговлю.
История книги — сама по себе детектив. Она вышла только в 1755 году, через двадцать один год после смерти автора, анонимно, с фальшивым адресом «Лондон, у Флетчера Джайлса» и пометкой «переведено с английского». В рукописи её успели прочитать французские экономисты — физиократы.
Адам Смит в «Богатстве народов» 1776 года ссылается на Кантильона — это один из немногих авторов, которых Смит вообще цитирует. Потом книгу забыли почти на сто лет, пока в 1881 году Стэнли Джевонс не открыл её заново и не назвал «колыбелью политической экономии».
Экспонат — раскрытая книга: страницы листаются сами, а перо макается в чернильницу.
Самое интересное: Шумпетер — тот самый, про которого другая презентация, — назвал «Essai» «первым систематическим проникновением в область экономики». А статистическое приложение к книге потеряно до сих пор.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мысль Кантильона: экономика — это система, которая сама себя регулирует через рынки, цены и деньги. Не государство и не казна, а миллионы решений людей определяют, что производится и по какой цене.
В этой системе он выделил три группы. Землевладельцы — независимы, их расходы задают спрос. Наёмные работники живут на фиксированном доходе. И предприниматели — все, чей доход заранее неизвестен: они покупают по известной цене, а продают по неизвестной. Именно они подстраивают производство под спрос.
Экспонат — весы: коромысло само качается и ищет равновесие, как рынок. На одной чаше монеты — известный доход, на другой — игральная кость: доход неизвестный.
Самое парадоксальное: у Кантильона генерал на жалованье — наёмный работник, а трубочист и водонос — предприниматели. Важен не размер дохода и не статус, а то, известен ли доход заранее.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главное для нашей темы — кто такой предприниматель у Кантильона. Его определение очень простое: предприниматель платит известную цену сегодня, чтобы продать по неизвестной цене завтра. Между этими двумя ценами — неопределённость: никто не знает, каким будет спрос, сколько продержатся клиенты и что сделают конкуренты. Если угадал — прибыль, если нет — банкротство.
Экспонат — игральные кости, которые всё время катятся, и монета-ставка, крутящаяся волчком: результат заранее не знает никто. Прибыль — плата за взятую неопределённость, убыток — её цена.
Отсюда очень широкий список: фермер, оптовик, пекарь, мясник, трактирщик, купец, а ещё — трубочист, водонос, швея, художник, врач, адвокат. Все, кто живёт «в неопределённости».
И самая удивительная фраза из книги: «…даже нищие и грабители — предприниматели этого класса». Для Кантильона важна не мораль и не размер дела, а только одно — неопределённость дохода.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большая идея Кантильона — его именем её и назвали: эффект Кантильона. Он наблюдал пузырь Ло изнутри и понял: новые деньги не распределяются по экономике равномерно, как вода в ванне. Они входят в конкретной точке — и расходятся кругами. Экспонат — монета падает в воду, и по ней расходятся круги.
Механизм такой. Появляются новые деньги — от нового рудника, печатного станка или кредита. Первые получатели тратят их по старым ценам и выигрывают. Цены растут на то, что покупают именно они. А те, к кому деньги приходят последними, — получают их уже после роста цен и проигрывают.
Пример самого Кантильона: если открыли новые серебряные рудники, разбогатевшие шахтёры начинают есть больше мяса и пить вино вместо пива — мясо и вино дорожают, и фермеры переводят землю под скот и виноградники. Деньги меняют не только уровень цен, но и структуру всей экономики.
Самое интересное: термин жив и сегодня. Эффектом Кантильона объясняют, почему от печатания денег центробанками раньше всех выигрывают банки и владельцы активов, а люди с фиксированным доходом — проигрывают.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Итак, что Кантильон дал теории предпринимательства. Первое: он ввёл само понятие и сделал предпринимателя центральной фигурой экономики, а не просто «торговцем». Второе: определил его функцию — нести неопределённость; это не капитал и не профессия, а доход «по неизвестной цене». Третье: показал, что предприниматели координируют рынок — подстраивают предложение под спрос и связывают рынки разных мест.
С этого начинается эстафета идей, которую можно проследить до наших дней. Кантильон, около 1730 года: предприниматель несёт риск. Сэй, 1803: предприниматель — организатор производства. Шумпетер, 1911: предприниматель — новатор, который осуществляет новые комбинации. Найт, 1921: прибыль — награда за неизмеримую неопределённость. Кирцнер, 1973: предприниматель — тот, кто первым замечает возможность.
Экспонат — компас: его встряхивает, стрелка мечется — и снова находит север. Инструмент для движения в неопределённости.
Самое интересное: американский экономист Мюррей Ротбард назвал Кантильона «отцом-основателем современной экономики» — то есть поставил его раньше Адама Смита.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самая загадочная часть. 14 мая 1734 года, около трёх часов ночи, в лондонском доме Кантильона на Албемарл-стрит начинается пожар. Сгорает его дом и два соседних. В постели находят обгоревшее тело. В доме, по сообщениям, было ценностей на двести тысяч фунтов; повар-француз, уволенный за три недели до этого, бежал за море под чужим именем. Трёх слуг судили за убийство и поджог — и в декабре оправдали.
Экспонат — свеча: пламя дрожит, вьётся дымок, по свече ползёт капля воска, а вокруг огня кружит мотылёк. Сосед, граф Эгмонт, записал в дневник версии, ходившие по городу: пришёл пьяным и поджёг полог кровати; уснул со свечой; или слуги убили его и подожгли дом.
Самая распространённая версия — убийство. Но главный биограф Кантильона, Антуан Мёрфи, предложил другую: Кантильон мог инсценировать собственную смерть — у него было много причин исчезнуть, от бесконечных судов до угроз бывших клиентов. Улика: в декабре 1734 года в голландском Суринаме появился «шевалье де Лувиньи» с бумагами Кантильона и его новым завещанием, датированным 11 апреля 1734 года — за месяц до пожара. И вскоре этот человек исчез.
Подведу итог. Кто он: ирландско-французский банкир, миллионер пузыря Миссисипи, автор первого трактата обо всей экономике. Главная мысль: экономика — саморегулирующаяся система, а деньги не нейтральны. Вклад: предприниматель — тот, кто покупает по известной цене и продаёт по неизвестной, то есть несёт неопределённость.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Relationship Id="rIdM3d1" Type="http://schemas.microsoft.com/office/2017/06/relationships/model3d" Target="../media/model3d1.glb"/><Relationship Id="rIdM3d2" Type="http://schemas.microsoft.com/office/2017/06/relationships/model3d" Target="../media/model3d2.glb"/><Relationship Id="rIdM3d3" Type="http://schemas.microsoft.com/office/2017/06/relationships/model3d" Target="../media/model3d3.glb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2-5.png"/><Relationship Id="rId6" Type="http://schemas.openxmlformats.org/officeDocument/2006/relationships/image" Target="../media/image-2-6.jpg"/><Relationship Id="rId7" Type="http://schemas.openxmlformats.org/officeDocument/2006/relationships/image" Target="../media/image-1-6.png"/><Relationship Id="rId8" Type="http://schemas.openxmlformats.org/officeDocument/2006/relationships/image" Target="../media/image-1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Relationship Id="rIdM3d4" Type="http://schemas.microsoft.com/office/2017/06/relationships/model3d" Target="../media/model3d4.glb"/><Relationship Id="rIdM3d5" Type="http://schemas.microsoft.com/office/2017/06/relationships/model3d" Target="../media/model3d5.glb"/><Relationship Id="rIdM3d6" Type="http://schemas.microsoft.com/office/2017/06/relationships/model3d" Target="../media/model3d6.glb"/><Relationship Id="rIdM3d7" Type="http://schemas.microsoft.com/office/2017/06/relationships/model3d" Target="../media/model3d7.glb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3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3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Relationship Id="rIdM3d8" Type="http://schemas.microsoft.com/office/2017/06/relationships/model3d" Target="../media/model3d8.glb"/><Relationship Id="rIdM3d9" Type="http://schemas.microsoft.com/office/2017/06/relationships/model3d" Target="../media/model3d9.glb"/><Relationship Id="rIdM3d10" Type="http://schemas.microsoft.com/office/2017/06/relationships/model3d" Target="../media/model3d10.glb"/><Relationship Id="rIdM3d11" Type="http://schemas.microsoft.com/office/2017/06/relationships/model3d" Target="../media/model3d11.glb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4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4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Relationship Id="rIdM3d12" Type="http://schemas.microsoft.com/office/2017/06/relationships/model3d" Target="../media/model3d12.glb"/><Relationship Id="rIdM3d13" Type="http://schemas.microsoft.com/office/2017/06/relationships/model3d" Target="../media/model3d13.glb"/><Relationship Id="rIdM3d14" Type="http://schemas.microsoft.com/office/2017/06/relationships/model3d" Target="../media/model3d14.glb"/><Relationship Id="rIdM3d15" Type="http://schemas.microsoft.com/office/2017/06/relationships/model3d" Target="../media/model3d15.glb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5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M3d16" Type="http://schemas.microsoft.com/office/2017/06/relationships/model3d" Target="../media/model3d16.glb"/><Relationship Id="rIdM3d17" Type="http://schemas.microsoft.com/office/2017/06/relationships/model3d" Target="../media/model3d17.glb"/><Relationship Id="rIdM3d18" Type="http://schemas.microsoft.com/office/2017/06/relationships/model3d" Target="../media/model3d18.glb"/><Relationship Id="rIdM3d19" Type="http://schemas.microsoft.com/office/2017/06/relationships/model3d" Target="../media/model3d19.glb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6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6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Relationship Id="rIdM3d20" Type="http://schemas.microsoft.com/office/2017/06/relationships/model3d" Target="../media/model3d20.glb"/><Relationship Id="rIdM3d21" Type="http://schemas.microsoft.com/office/2017/06/relationships/model3d" Target="../media/model3d21.glb"/><Relationship Id="rIdM3d22" Type="http://schemas.microsoft.com/office/2017/06/relationships/model3d" Target="../media/model3d22.glb"/><Relationship Id="rIdM3d23" Type="http://schemas.microsoft.com/office/2017/06/relationships/model3d" Target="../media/model3d23.glb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7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7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Relationship Id="rIdM3d24" Type="http://schemas.microsoft.com/office/2017/06/relationships/model3d" Target="../media/model3d24.glb"/><Relationship Id="rIdM3d25" Type="http://schemas.microsoft.com/office/2017/06/relationships/model3d" Target="../media/model3d25.glb"/><Relationship Id="rIdM3d26" Type="http://schemas.microsoft.com/office/2017/06/relationships/model3d" Target="../media/model3d26.glb"/><Relationship Id="rIdM3d27" Type="http://schemas.microsoft.com/office/2017/06/relationships/model3d" Target="../media/model3d27.glb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8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8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M3d28" Type="http://schemas.microsoft.com/office/2017/06/relationships/model3d" Target="../media/model3d28.glb"/><Relationship Id="rIdM3d29" Type="http://schemas.microsoft.com/office/2017/06/relationships/model3d" Target="../media/model3d29.glb"/><Relationship Id="rIdM3d30" Type="http://schemas.microsoft.com/office/2017/06/relationships/model3d" Target="../media/model3d30.glb"/><Relationship Id="rIdM3d31" Type="http://schemas.microsoft.com/office/2017/06/relationships/model3d" Target="../media/model3d31.glb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9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9-5.png"/><Relationship Id="rId6" Type="http://schemas.openxmlformats.org/officeDocument/2006/relationships/image" Target="../media/image-1-6.png"/><Relationship Id="rId7" Type="http://schemas.openxmlformats.org/officeDocument/2006/relationships/image" Target="../media/image-1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Relationship Id="rIdM3d32" Type="http://schemas.microsoft.com/office/2017/06/relationships/model3d" Target="../media/model3d32.glb"/><Relationship Id="rIdM3d33" Type="http://schemas.microsoft.com/office/2017/06/relationships/model3d" Target="../media/model3d33.glb"/><Relationship Id="rIdM3d34" Type="http://schemas.microsoft.com/office/2017/06/relationships/model3d" Target="../media/model3d34.glb"/><Relationship Id="rIdM3d35" Type="http://schemas.microsoft.com/office/2017/06/relationships/model3d" Target="../media/model3d35.glb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0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0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Relationship Id="rIdM3d36" Type="http://schemas.microsoft.com/office/2017/06/relationships/model3d" Target="../media/model3d36.glb"/><Relationship Id="rIdM3d37" Type="http://schemas.microsoft.com/office/2017/06/relationships/model3d" Target="../media/model3d37.glb"/><Relationship Id="rIdM3d38" Type="http://schemas.microsoft.com/office/2017/06/relationships/model3d" Target="../media/model3d38.glb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11480" y="98755"/>
              <a:ext cx="548640" cy="548640"/>
            </p:xfrm>
            <a:graphic>
              <a:graphicData uri="http://schemas.microsoft.com/office/drawing/2017/model3d">
                <am3d:model3d r:embed="rIdM3d1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" name="!!coin">
                <a:extLst>
                  <a:ext uri="{FF2B5EF4-FFF2-40B4-BE49-F238E27FC236}">
                    <a16:creationId xmlns:a16="http://schemas.microsoft.com/office/drawing/2014/main" id="{9A1E02E9-F241-D40B-F581-53B1510117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1480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6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ЭКОНОМИКА  ·  РИСК  ·  ПРЕДПРИНИМАТЕЛЬСТВО</a:t>
            </a:r>
            <a:endParaRPr lang="en-US" sz="1100" dirty="0"/>
          </a:p>
        </p:txBody>
      </p:sp>
      <p:sp>
        <p:nvSpPr>
          <p:cNvPr id="7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8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9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10</a:t>
            </a:r>
            <a:endParaRPr lang="en-US" sz="900" dirty="0"/>
          </a:p>
        </p:txBody>
      </p:sp>
      <p:pic>
        <p:nvPicPr>
          <p:cNvPr id="10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338" y="-907542"/>
            <a:ext cx="9678924" cy="9678924"/>
          </a:xfrm>
          <a:prstGeom prst="rect">
            <a:avLst/>
          </a:prstGeom>
        </p:spPr>
      </p:pic>
      <p:sp>
        <p:nvSpPr>
          <p:cNvPr id="11" name="!!ring1"/>
          <p:cNvSpPr/>
          <p:nvPr/>
        </p:nvSpPr>
        <p:spPr>
          <a:xfrm>
            <a:off x="5549494" y="794614"/>
            <a:ext cx="6274613" cy="6274613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2" name="!!ring2"/>
          <p:cNvSpPr/>
          <p:nvPr/>
        </p:nvSpPr>
        <p:spPr>
          <a:xfrm>
            <a:off x="4681728" y="-73152"/>
            <a:ext cx="8010144" cy="801014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3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5667451"/>
            <a:ext cx="5340096" cy="133502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4" name="!!m-ship">
                <a:extLst>
                  <a:ext uri="{FF2B5EF4-FFF2-40B4-BE49-F238E27FC236}">
                    <a16:creationId xmlns:a16="http://schemas.microsoft.com/office/drawing/2014/main" id="{0B4DA675-D15B-28B5-04DA-001D143288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349240" y="594360"/>
              <a:ext cx="6675120" cy="6675120"/>
            </p:xfrm>
            <a:graphic>
              <a:graphicData uri="http://schemas.microsoft.com/office/drawing/2017/model3d">
                <am3d:model3d r:embed="rIdM3d2">
                  <am3d:spPr>
                    <a:xfrm>
                      <a:off x="0" y="0"/>
                      <a:ext cx="6675120" cy="6675120"/>
                    </a:xfrm>
                    <a:prstGeom prst="rect">
                      <a:avLst/>
                    </a:prstGeom>
                  </am3d:spPr>
                  <am3d:camera>
                    <am3d:pos x="0" y="0" z="570367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2581" d="1000000"/>
                    <am3d:preTrans dx="-1974193" dy="-4006451" dz="-46452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20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6675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4" name="!!m-ship">
                <a:extLst>
                  <a:ext uri="{FF2B5EF4-FFF2-40B4-BE49-F238E27FC236}">
                    <a16:creationId xmlns:a16="http://schemas.microsoft.com/office/drawing/2014/main" id="{0B4DA675-D15B-28B5-04DA-001D143288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9240" y="594360"/>
                <a:ext cx="6675120" cy="667512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fx1_9_0"/>
          <p:cNvSpPr/>
          <p:nvPr/>
        </p:nvSpPr>
        <p:spPr>
          <a:xfrm>
            <a:off x="7863840" y="1188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01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Корабль идёт по волнам, над мачтами кружит чайка</a:t>
            </a:r>
            <a:endParaRPr lang="en-US" sz="900" dirty="0"/>
          </a:p>
        </p:txBody>
      </p:sp>
      <p:sp>
        <p:nvSpPr>
          <p:cNvPr id="16" name="!!title"/>
          <p:cNvSpPr/>
          <p:nvPr/>
        </p:nvSpPr>
        <p:spPr>
          <a:xfrm>
            <a:off x="685800" y="114300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Ричард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Кантильон</a:t>
            </a:r>
            <a:endParaRPr lang="en-US" sz="5200" dirty="0"/>
          </a:p>
        </p:txBody>
      </p:sp>
      <p:sp>
        <p:nvSpPr>
          <p:cNvPr id="17" name="fx1_1_1"/>
          <p:cNvSpPr/>
          <p:nvPr/>
        </p:nvSpPr>
        <p:spPr>
          <a:xfrm>
            <a:off x="685800" y="3584448"/>
            <a:ext cx="1005840" cy="3657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18" name="fx1_1_2"/>
          <p:cNvSpPr/>
          <p:nvPr/>
        </p:nvSpPr>
        <p:spPr>
          <a:xfrm>
            <a:off x="685800" y="3749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Банкир-миллионер, который первым описал предпринимателя — и исчез при загадочных обстоятельствах</a:t>
            </a:r>
            <a:endParaRPr lang="en-US" sz="1800" dirty="0"/>
          </a:p>
        </p:txBody>
      </p:sp>
      <p:sp>
        <p:nvSpPr>
          <p:cNvPr id="19" name="fx1_2_3"/>
          <p:cNvSpPr/>
          <p:nvPr/>
        </p:nvSpPr>
        <p:spPr>
          <a:xfrm>
            <a:off x="685800" y="47731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25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1680-е — 1734   ·   ИРЛАНДИЯ → ПАРИЖ → ЛОНДОН</a:t>
            </a:r>
            <a:endParaRPr lang="en-US" sz="1200" dirty="0"/>
          </a:p>
        </p:txBody>
      </p:sp>
      <p:sp>
        <p:nvSpPr>
          <p:cNvPr id="20" name="fx1_8_4"/>
          <p:cNvSpPr/>
          <p:nvPr/>
        </p:nvSpPr>
        <p:spPr>
          <a:xfrm>
            <a:off x="685800" y="534924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1" name="fx1_8_5"/>
          <p:cNvSpPr/>
          <p:nvPr/>
        </p:nvSpPr>
        <p:spPr>
          <a:xfrm>
            <a:off x="685800" y="5495544"/>
            <a:ext cx="50292" cy="54864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2" name="fx1_8_6"/>
          <p:cNvSpPr/>
          <p:nvPr/>
        </p:nvSpPr>
        <p:spPr>
          <a:xfrm>
            <a:off x="941832" y="521208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23" name="fx1_8_7"/>
          <p:cNvSpPr/>
          <p:nvPr/>
        </p:nvSpPr>
        <p:spPr>
          <a:xfrm>
            <a:off x="941832" y="5212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24" name="fx1_8_8"/>
          <p:cNvSpPr/>
          <p:nvPr/>
        </p:nvSpPr>
        <p:spPr>
          <a:xfrm>
            <a:off x="960120" y="55321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Предпринимателя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центральной фигурой экономики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первым сделал он — примерно за 70 лет до Сэя, которому это часто приписывают.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5" name="!!m-harp">
                <a:extLst>
                  <a:ext uri="{FF2B5EF4-FFF2-40B4-BE49-F238E27FC236}">
                    <a16:creationId xmlns:a16="http://schemas.microsoft.com/office/drawing/2014/main" id="{8730512D-E292-9DE0-9E62-E7B81FAE94D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389120" cy="4389120"/>
            </p:xfrm>
            <a:graphic>
              <a:graphicData uri="http://schemas.microsoft.com/office/drawing/2017/model3d">
                <am3d:model3d r:embed="rIdM3d3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69018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480" d="1000000"/>
                    <am3d:preTrans dx="-156106" dy="-462164" dz="-168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5" name="!!m-harp">
                <a:extLst>
                  <a:ext uri="{FF2B5EF4-FFF2-40B4-BE49-F238E27FC236}">
                    <a16:creationId xmlns:a16="http://schemas.microsoft.com/office/drawing/2014/main" id="{8730512D-E292-9DE0-9E62-E7B81FAE94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740335" y="123444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4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2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202233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613713" y="98755"/>
              <a:ext cx="548640" cy="548640"/>
            </p:xfrm>
            <a:graphic>
              <a:graphicData uri="http://schemas.microsoft.com/office/drawing/2017/model3d">
                <am3d:model3d r:embed="rIdM3d4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87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5BA6A588-A434-5FF5-30AE-B471887C719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13713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— ГДЕ РОДИЛСЯ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-118872"/>
            <a:ext cx="6364224" cy="63642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29754" y="1000354"/>
            <a:ext cx="4125773" cy="4125773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059168" y="429768"/>
            <a:ext cx="5266944" cy="526694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2013" y="4303166"/>
            <a:ext cx="2721254" cy="68031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harp">
                <a:extLst>
                  <a:ext uri="{FF2B5EF4-FFF2-40B4-BE49-F238E27FC236}">
                    <a16:creationId xmlns:a16="http://schemas.microsoft.com/office/drawing/2014/main" id="{368BF625-03F1-3E96-D7FB-50150A6A522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98080" y="868680"/>
              <a:ext cx="4389120" cy="4389120"/>
            </p:xfrm>
            <a:graphic>
              <a:graphicData uri="http://schemas.microsoft.com/office/drawing/2017/model3d">
                <am3d:model3d r:embed="rIdM3d5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69018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480" d="1000000"/>
                    <am3d:preTrans dx="-156106" dy="-462164" dz="-168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56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harp">
                <a:extLst>
                  <a:ext uri="{FF2B5EF4-FFF2-40B4-BE49-F238E27FC236}">
                    <a16:creationId xmlns:a16="http://schemas.microsoft.com/office/drawing/2014/main" id="{368BF625-03F1-3E96-D7FB-50150A6A522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98080" y="868680"/>
                <a:ext cx="4389120" cy="4389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2_9_0"/>
          <p:cNvSpPr/>
          <p:nvPr/>
        </p:nvSpPr>
        <p:spPr>
          <a:xfrm>
            <a:off x="7909560" y="495056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02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Арфа: глиссандо по струнам — и ноты взлетают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Ирландец из графства Керри</a:t>
            </a:r>
            <a:endParaRPr lang="en-US" sz="3300" dirty="0"/>
          </a:p>
        </p:txBody>
      </p:sp>
      <p:sp>
        <p:nvSpPr>
          <p:cNvPr id="18" name="fx2_1_1"/>
          <p:cNvSpPr/>
          <p:nvPr/>
        </p:nvSpPr>
        <p:spPr>
          <a:xfrm>
            <a:off x="685800" y="2103120"/>
            <a:ext cx="2880360" cy="896112"/>
          </a:xfrm>
          <a:prstGeom prst="roundRect">
            <a:avLst>
              <a:gd name="adj" fmla="val 8163"/>
            </a:avLst>
          </a:prstGeom>
          <a:solidFill>
            <a:srgbClr val="22121A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19" name="fx2_1_2"/>
          <p:cNvSpPr/>
          <p:nvPr/>
        </p:nvSpPr>
        <p:spPr>
          <a:xfrm>
            <a:off x="685800" y="2267712"/>
            <a:ext cx="41148" cy="56692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0" name="fx2_1_3"/>
          <p:cNvSpPr/>
          <p:nvPr/>
        </p:nvSpPr>
        <p:spPr>
          <a:xfrm>
            <a:off x="914400" y="2221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РОДИЛСЯ</a:t>
            </a:r>
            <a:endParaRPr lang="en-US" sz="950" dirty="0"/>
          </a:p>
        </p:txBody>
      </p:sp>
      <p:sp>
        <p:nvSpPr>
          <p:cNvPr id="21" name="fx2_1_4"/>
          <p:cNvSpPr/>
          <p:nvPr/>
        </p:nvSpPr>
        <p:spPr>
          <a:xfrm>
            <a:off x="914400" y="24323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1680-е годы</a:t>
            </a:r>
            <a:endParaRPr lang="en-US" sz="1650" dirty="0"/>
          </a:p>
        </p:txBody>
      </p:sp>
      <p:sp>
        <p:nvSpPr>
          <p:cNvPr id="22" name="fx2_1_5"/>
          <p:cNvSpPr/>
          <p:nvPr/>
        </p:nvSpPr>
        <p:spPr>
          <a:xfrm>
            <a:off x="91440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графство Керри, Ирландия</a:t>
            </a:r>
            <a:endParaRPr lang="en-US" sz="1050" dirty="0"/>
          </a:p>
        </p:txBody>
      </p:sp>
      <p:sp>
        <p:nvSpPr>
          <p:cNvPr id="23" name="fx2_1_6"/>
          <p:cNvSpPr/>
          <p:nvPr/>
        </p:nvSpPr>
        <p:spPr>
          <a:xfrm>
            <a:off x="3703320" y="2103120"/>
            <a:ext cx="2880360" cy="896112"/>
          </a:xfrm>
          <a:prstGeom prst="roundRect">
            <a:avLst>
              <a:gd name="adj" fmla="val 8163"/>
            </a:avLst>
          </a:prstGeom>
          <a:solidFill>
            <a:srgbClr val="22121A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4" name="fx2_1_7"/>
          <p:cNvSpPr/>
          <p:nvPr/>
        </p:nvSpPr>
        <p:spPr>
          <a:xfrm>
            <a:off x="3703320" y="2267712"/>
            <a:ext cx="41148" cy="56692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25" name="fx2_1_8"/>
          <p:cNvSpPr/>
          <p:nvPr/>
        </p:nvSpPr>
        <p:spPr>
          <a:xfrm>
            <a:off x="3931920" y="22219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СЕМЬЯ</a:t>
            </a:r>
            <a:endParaRPr lang="en-US" sz="950" dirty="0"/>
          </a:p>
        </p:txBody>
      </p:sp>
      <p:sp>
        <p:nvSpPr>
          <p:cNvPr id="26" name="fx2_1_9"/>
          <p:cNvSpPr/>
          <p:nvPr/>
        </p:nvSpPr>
        <p:spPr>
          <a:xfrm>
            <a:off x="3931920" y="243230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Католики-дворяне</a:t>
            </a:r>
            <a:endParaRPr lang="en-US" sz="1650" dirty="0"/>
          </a:p>
        </p:txBody>
      </p:sp>
      <p:sp>
        <p:nvSpPr>
          <p:cNvPr id="27" name="fx2_1_10"/>
          <p:cNvSpPr/>
          <p:nvPr/>
        </p:nvSpPr>
        <p:spPr>
          <a:xfrm>
            <a:off x="3931920" y="2724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лишились земель при Кромвеле</a:t>
            </a:r>
            <a:endParaRPr lang="en-US" sz="1050" dirty="0"/>
          </a:p>
        </p:txBody>
      </p:sp>
      <p:sp>
        <p:nvSpPr>
          <p:cNvPr id="28" name="fx2_2_11"/>
          <p:cNvSpPr/>
          <p:nvPr/>
        </p:nvSpPr>
        <p:spPr>
          <a:xfrm>
            <a:off x="685800" y="3108960"/>
            <a:ext cx="2880360" cy="896112"/>
          </a:xfrm>
          <a:prstGeom prst="roundRect">
            <a:avLst>
              <a:gd name="adj" fmla="val 8163"/>
            </a:avLst>
          </a:prstGeom>
          <a:solidFill>
            <a:srgbClr val="22121A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9" name="fx2_2_12"/>
          <p:cNvSpPr/>
          <p:nvPr/>
        </p:nvSpPr>
        <p:spPr>
          <a:xfrm>
            <a:off x="685800" y="3273552"/>
            <a:ext cx="41148" cy="56692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0" name="fx2_2_13"/>
          <p:cNvSpPr/>
          <p:nvPr/>
        </p:nvSpPr>
        <p:spPr>
          <a:xfrm>
            <a:off x="914400" y="3227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ПЕРЕЕЗД</a:t>
            </a:r>
            <a:endParaRPr lang="en-US" sz="950" dirty="0"/>
          </a:p>
        </p:txBody>
      </p:sp>
      <p:sp>
        <p:nvSpPr>
          <p:cNvPr id="31" name="fx2_2_14"/>
          <p:cNvSpPr/>
          <p:nvPr/>
        </p:nvSpPr>
        <p:spPr>
          <a:xfrm>
            <a:off x="914400" y="3438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Франция</a:t>
            </a:r>
            <a:endParaRPr lang="en-US" sz="1650" dirty="0"/>
          </a:p>
        </p:txBody>
      </p:sp>
      <p:sp>
        <p:nvSpPr>
          <p:cNvPr id="32" name="fx2_2_15"/>
          <p:cNvSpPr/>
          <p:nvPr/>
        </p:nvSpPr>
        <p:spPr>
          <a:xfrm>
            <a:off x="914400" y="3730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французское подданство — 1708</a:t>
            </a:r>
            <a:endParaRPr lang="en-US" sz="1050" dirty="0"/>
          </a:p>
        </p:txBody>
      </p:sp>
      <p:sp>
        <p:nvSpPr>
          <p:cNvPr id="33" name="fx2_2_16"/>
          <p:cNvSpPr/>
          <p:nvPr/>
        </p:nvSpPr>
        <p:spPr>
          <a:xfrm>
            <a:off x="3703320" y="3108960"/>
            <a:ext cx="2880360" cy="896112"/>
          </a:xfrm>
          <a:prstGeom prst="roundRect">
            <a:avLst>
              <a:gd name="adj" fmla="val 8163"/>
            </a:avLst>
          </a:prstGeom>
          <a:solidFill>
            <a:srgbClr val="22121A">
              <a:alpha val="78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34" name="fx2_2_17"/>
          <p:cNvSpPr/>
          <p:nvPr/>
        </p:nvSpPr>
        <p:spPr>
          <a:xfrm>
            <a:off x="3703320" y="3273552"/>
            <a:ext cx="41148" cy="566928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5" name="fx2_2_18"/>
          <p:cNvSpPr/>
          <p:nvPr/>
        </p:nvSpPr>
        <p:spPr>
          <a:xfrm>
            <a:off x="3931920" y="32278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РОДНЯ</a:t>
            </a:r>
            <a:endParaRPr lang="en-US" sz="950" dirty="0"/>
          </a:p>
        </p:txBody>
      </p:sp>
      <p:sp>
        <p:nvSpPr>
          <p:cNvPr id="36" name="fx2_2_19"/>
          <p:cNvSpPr/>
          <p:nvPr/>
        </p:nvSpPr>
        <p:spPr>
          <a:xfrm>
            <a:off x="3931920" y="343814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Банкиры</a:t>
            </a:r>
            <a:endParaRPr lang="en-US" sz="1650" dirty="0"/>
          </a:p>
        </p:txBody>
      </p:sp>
      <p:sp>
        <p:nvSpPr>
          <p:cNvPr id="37" name="fx2_2_20"/>
          <p:cNvSpPr/>
          <p:nvPr/>
        </p:nvSpPr>
        <p:spPr>
          <a:xfrm>
            <a:off x="3931920" y="37307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двоюродный брат вёл банк в Париже</a:t>
            </a:r>
            <a:endParaRPr lang="en-US" sz="1050" dirty="0"/>
          </a:p>
        </p:txBody>
      </p:sp>
      <p:sp>
        <p:nvSpPr>
          <p:cNvPr id="38" name="fx2_3_21"/>
          <p:cNvSpPr/>
          <p:nvPr/>
        </p:nvSpPr>
        <p:spPr>
          <a:xfrm>
            <a:off x="621792" y="4142232"/>
            <a:ext cx="2368296" cy="1764451"/>
          </a:xfrm>
          <a:prstGeom prst="rect">
            <a:avLst/>
          </a:prstGeom>
          <a:solidFill>
            <a:srgbClr val="2A1A0C"/>
          </a:solidFill>
          <a:ln w="19050">
            <a:solidFill>
              <a:srgbClr val="E3B663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pic>
        <p:nvPicPr>
          <p:cNvPr id="39" name="fx2_3_22" descr="/home/user/MyWorkAiBrain/presentations/cantillon/assets/largilliere-family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06240"/>
            <a:ext cx="2240280" cy="1636435"/>
          </a:xfrm>
          <a:prstGeom prst="rect">
            <a:avLst/>
          </a:prstGeom>
        </p:spPr>
      </p:pic>
      <p:sp>
        <p:nvSpPr>
          <p:cNvPr id="40" name="fx2_3_23"/>
          <p:cNvSpPr/>
          <p:nvPr/>
        </p:nvSpPr>
        <p:spPr>
          <a:xfrm>
            <a:off x="621792" y="5934115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Н. де Ларжильер, ок. 1710. </a:t>
            </a:r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Кантильон слева?</a:t>
            </a:r>
            <a:endParaRPr lang="en-US" sz="900" dirty="0"/>
          </a:p>
        </p:txBody>
      </p:sp>
      <p:sp>
        <p:nvSpPr>
          <p:cNvPr id="41" name="fx2_4_24"/>
          <p:cNvSpPr/>
          <p:nvPr/>
        </p:nvSpPr>
        <p:spPr>
          <a:xfrm>
            <a:off x="3200400" y="4279392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2" name="fx2_4_25"/>
          <p:cNvSpPr/>
          <p:nvPr/>
        </p:nvSpPr>
        <p:spPr>
          <a:xfrm>
            <a:off x="3200400" y="4425696"/>
            <a:ext cx="50292" cy="149047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3" name="fx2_4_26"/>
          <p:cNvSpPr/>
          <p:nvPr/>
        </p:nvSpPr>
        <p:spPr>
          <a:xfrm>
            <a:off x="3456432" y="4142232"/>
            <a:ext cx="151333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44" name="fx2_4_27"/>
          <p:cNvSpPr/>
          <p:nvPr/>
        </p:nvSpPr>
        <p:spPr>
          <a:xfrm>
            <a:off x="3456432" y="4142232"/>
            <a:ext cx="15133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ЗАГАДКА № 1</a:t>
            </a:r>
            <a:endParaRPr lang="en-US" sz="850" dirty="0"/>
          </a:p>
        </p:txBody>
      </p:sp>
      <p:sp>
        <p:nvSpPr>
          <p:cNvPr id="45" name="fx2_4_28"/>
          <p:cNvSpPr/>
          <p:nvPr/>
        </p:nvSpPr>
        <p:spPr>
          <a:xfrm>
            <a:off x="3474720" y="4462272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Мы не знаем ни точной даты его рождения, ни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он выглядел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достоверных портретов нет. Есть лишь гипотеза (М. Торнтон, 2018), что он — мужчина на семейном портрете Ларжильера.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6" name="!!m-ship">
                <a:extLst>
                  <a:ext uri="{FF2B5EF4-FFF2-40B4-BE49-F238E27FC236}">
                    <a16:creationId xmlns:a16="http://schemas.microsoft.com/office/drawing/2014/main" id="{DB10A92F-6A5A-C6D1-89E5-7D2A4B27A5E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7223760" y="960120"/>
              <a:ext cx="6675120" cy="6675120"/>
            </p:xfrm>
            <a:graphic>
              <a:graphicData uri="http://schemas.microsoft.com/office/drawing/2017/model3d">
                <am3d:model3d r:embed="rIdM3d6">
                  <am3d:spPr>
                    <a:xfrm>
                      <a:off x="0" y="0"/>
                      <a:ext cx="6675120" cy="6675120"/>
                    </a:xfrm>
                    <a:prstGeom prst="rect">
                      <a:avLst/>
                    </a:prstGeom>
                  </am3d:spPr>
                  <am3d:camera>
                    <am3d:pos x="0" y="0" z="57036726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322581" d="1000000"/>
                    <am3d:preTrans dx="-1974193" dy="-4006451" dz="-46452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84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6675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6" name="!!m-ship">
                <a:extLst>
                  <a:ext uri="{FF2B5EF4-FFF2-40B4-BE49-F238E27FC236}">
                    <a16:creationId xmlns:a16="http://schemas.microsoft.com/office/drawing/2014/main" id="{DB10A92F-6A5A-C6D1-89E5-7D2A4B27A5E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7223760" y="960120"/>
                <a:ext cx="6675120" cy="66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7" name="!!m-chest">
                <a:extLst>
                  <a:ext uri="{FF2B5EF4-FFF2-40B4-BE49-F238E27FC236}">
                    <a16:creationId xmlns:a16="http://schemas.microsoft.com/office/drawing/2014/main" id="{222C6A6D-25C3-06F0-B176-13C2ACA393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25880"/>
              <a:ext cx="4480560" cy="4480560"/>
            </p:xfrm>
            <a:graphic>
              <a:graphicData uri="http://schemas.microsoft.com/office/drawing/2017/model3d">
                <am3d:model3d r:embed="rIdM3d7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63818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31099" d="1000000"/>
                    <am3d:preTrans dx="0" dy="1813409" dz="-4089385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3120000" az="0"/>
                    <am3d:postTrans dx="0" dy="0" dz="0"/>
                  </am3d:trans>
                  <am3d:raster rName="Office3DRenderer" rVer="16.0.8326">
                    <am3d:blip r:embed="rId8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7" name="!!m-chest">
                <a:extLst>
                  <a:ext uri="{FF2B5EF4-FFF2-40B4-BE49-F238E27FC236}">
                    <a16:creationId xmlns:a16="http://schemas.microsoft.com/office/drawing/2014/main" id="{222C6A6D-25C3-06F0-B176-13C2ACA393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40335" y="1325880"/>
                <a:ext cx="4480560" cy="448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3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2404466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815946" y="98755"/>
              <a:ext cx="548640" cy="548640"/>
            </p:xfrm>
            <a:graphic>
              <a:graphicData uri="http://schemas.microsoft.com/office/drawing/2017/model3d">
                <am3d:model3d r:embed="rIdM3d8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175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12A0E007-ECA8-02A4-EC24-107FC5338D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15946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— ЧЕМ ЗАНИМАЛСЯ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514" y="-48006"/>
            <a:ext cx="6496812" cy="6496812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541057" y="1094537"/>
            <a:ext cx="4211726" cy="421172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958584" y="512064"/>
            <a:ext cx="5376672" cy="5376672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502" y="3928491"/>
            <a:ext cx="3494837" cy="873709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hest">
                <a:extLst>
                  <a:ext uri="{FF2B5EF4-FFF2-40B4-BE49-F238E27FC236}">
                    <a16:creationId xmlns:a16="http://schemas.microsoft.com/office/drawing/2014/main" id="{CAD9263C-E57F-D433-D6A4-FEDBD93F5EE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406640" y="960120"/>
              <a:ext cx="4480560" cy="4480560"/>
            </p:xfrm>
            <a:graphic>
              <a:graphicData uri="http://schemas.microsoft.com/office/drawing/2017/model3d">
                <am3d:model3d r:embed="rIdM3d9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63818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31099" d="1000000"/>
                    <am3d:preTrans dx="0" dy="1813409" dz="-4089385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16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hest">
                <a:extLst>
                  <a:ext uri="{FF2B5EF4-FFF2-40B4-BE49-F238E27FC236}">
                    <a16:creationId xmlns:a16="http://schemas.microsoft.com/office/drawing/2014/main" id="{CAD9263C-E57F-D433-D6A4-FEDBD93F5E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06640" y="960120"/>
                <a:ext cx="4480560" cy="44805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3_9_0"/>
          <p:cNvSpPr/>
          <p:nvPr/>
        </p:nvSpPr>
        <p:spPr>
          <a:xfrm>
            <a:off x="7863840" y="5127041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03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Сундук открывается: ключ, бумаги, луидоры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Банкир, финансист, спекулянт</a:t>
            </a:r>
            <a:endParaRPr lang="en-US" sz="3200" dirty="0"/>
          </a:p>
        </p:txBody>
      </p:sp>
      <p:sp>
        <p:nvSpPr>
          <p:cNvPr id="18" name="fx3_1_1"/>
          <p:cNvSpPr/>
          <p:nvPr/>
        </p:nvSpPr>
        <p:spPr>
          <a:xfrm>
            <a:off x="685800" y="1965960"/>
            <a:ext cx="3227832" cy="1408176"/>
          </a:xfrm>
          <a:prstGeom prst="roundRect">
            <a:avLst>
              <a:gd name="adj" fmla="val 5195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19" name="fx3_1_2"/>
          <p:cNvSpPr/>
          <p:nvPr/>
        </p:nvSpPr>
        <p:spPr>
          <a:xfrm>
            <a:off x="886968" y="209397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200" dirty="0"/>
          </a:p>
        </p:txBody>
      </p:sp>
      <p:sp>
        <p:nvSpPr>
          <p:cNvPr id="20" name="fx3_1_3"/>
          <p:cNvSpPr/>
          <p:nvPr/>
        </p:nvSpPr>
        <p:spPr>
          <a:xfrm>
            <a:off x="1417320" y="21488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Агент казначейства · 1711</a:t>
            </a:r>
            <a:endParaRPr lang="en-US" sz="1300" dirty="0"/>
          </a:p>
        </p:txBody>
      </p:sp>
      <p:sp>
        <p:nvSpPr>
          <p:cNvPr id="21" name="fx3_1_4"/>
          <p:cNvSpPr/>
          <p:nvPr/>
        </p:nvSpPr>
        <p:spPr>
          <a:xfrm>
            <a:off x="886968" y="2569464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Испании организует выплаты британским пленным. Покровитель — казначей Джеймс Бриджес.</a:t>
            </a:r>
            <a:endParaRPr lang="en-US" sz="1100" dirty="0"/>
          </a:p>
        </p:txBody>
      </p:sp>
      <p:sp>
        <p:nvSpPr>
          <p:cNvPr id="22" name="fx3_2_5"/>
          <p:cNvSpPr/>
          <p:nvPr/>
        </p:nvSpPr>
        <p:spPr>
          <a:xfrm>
            <a:off x="4050792" y="1965960"/>
            <a:ext cx="3227832" cy="1408176"/>
          </a:xfrm>
          <a:prstGeom prst="roundRect">
            <a:avLst>
              <a:gd name="adj" fmla="val 5195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3" name="fx3_2_6"/>
          <p:cNvSpPr/>
          <p:nvPr/>
        </p:nvSpPr>
        <p:spPr>
          <a:xfrm>
            <a:off x="4251960" y="209397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200" dirty="0"/>
          </a:p>
        </p:txBody>
      </p:sp>
      <p:sp>
        <p:nvSpPr>
          <p:cNvPr id="24" name="fx3_2_7"/>
          <p:cNvSpPr/>
          <p:nvPr/>
        </p:nvSpPr>
        <p:spPr>
          <a:xfrm>
            <a:off x="4782312" y="21488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Парижский банкир · 1714–1716</a:t>
            </a:r>
            <a:endParaRPr lang="en-US" sz="1300" dirty="0"/>
          </a:p>
        </p:txBody>
      </p:sp>
      <p:sp>
        <p:nvSpPr>
          <p:cNvPr id="25" name="fx3_2_8"/>
          <p:cNvSpPr/>
          <p:nvPr/>
        </p:nvSpPr>
        <p:spPr>
          <a:xfrm>
            <a:off x="4251960" y="2569464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Начинает в банке кузена, а в 1716-м выкупает его и становится хозяином.</a:t>
            </a:r>
            <a:endParaRPr lang="en-US" sz="1100" dirty="0"/>
          </a:p>
        </p:txBody>
      </p:sp>
      <p:sp>
        <p:nvSpPr>
          <p:cNvPr id="26" name="fx3_3_9"/>
          <p:cNvSpPr/>
          <p:nvPr/>
        </p:nvSpPr>
        <p:spPr>
          <a:xfrm>
            <a:off x="685800" y="3502152"/>
            <a:ext cx="3227832" cy="1408176"/>
          </a:xfrm>
          <a:prstGeom prst="roundRect">
            <a:avLst>
              <a:gd name="adj" fmla="val 5195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27" name="fx3_3_10"/>
          <p:cNvSpPr/>
          <p:nvPr/>
        </p:nvSpPr>
        <p:spPr>
          <a:xfrm>
            <a:off x="886968" y="3630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200" dirty="0"/>
          </a:p>
        </p:txBody>
      </p:sp>
      <p:sp>
        <p:nvSpPr>
          <p:cNvPr id="28" name="fx3_3_11"/>
          <p:cNvSpPr/>
          <p:nvPr/>
        </p:nvSpPr>
        <p:spPr>
          <a:xfrm>
            <a:off x="1417320" y="36850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Банкир изгнанников</a:t>
            </a:r>
            <a:endParaRPr lang="en-US" sz="1300" dirty="0"/>
          </a:p>
        </p:txBody>
      </p:sp>
      <p:sp>
        <p:nvSpPr>
          <p:cNvPr id="29" name="fx3_3_12"/>
          <p:cNvSpPr/>
          <p:nvPr/>
        </p:nvSpPr>
        <p:spPr>
          <a:xfrm>
            <a:off x="886968" y="4105656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Двор Стюартов, ирландские эмигранты, поэт Поуп, политик Болингброк.</a:t>
            </a:r>
            <a:endParaRPr lang="en-US" sz="1100" dirty="0"/>
          </a:p>
        </p:txBody>
      </p:sp>
      <p:sp>
        <p:nvSpPr>
          <p:cNvPr id="30" name="fx3_4_13"/>
          <p:cNvSpPr/>
          <p:nvPr/>
        </p:nvSpPr>
        <p:spPr>
          <a:xfrm>
            <a:off x="4050792" y="3502152"/>
            <a:ext cx="3227832" cy="1408176"/>
          </a:xfrm>
          <a:prstGeom prst="roundRect">
            <a:avLst>
              <a:gd name="adj" fmla="val 5195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E3B663">
                <a:alpha val="28000"/>
              </a:srgbClr>
            </a:solidFill>
            <a:prstDash val="solid"/>
          </a:ln>
        </p:spPr>
      </p:sp>
      <p:sp>
        <p:nvSpPr>
          <p:cNvPr id="31" name="fx3_4_14"/>
          <p:cNvSpPr/>
          <p:nvPr/>
        </p:nvSpPr>
        <p:spPr>
          <a:xfrm>
            <a:off x="4251960" y="36301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2200" dirty="0"/>
          </a:p>
        </p:txBody>
      </p:sp>
      <p:sp>
        <p:nvSpPr>
          <p:cNvPr id="32" name="fx3_4_15"/>
          <p:cNvSpPr/>
          <p:nvPr/>
        </p:nvSpPr>
        <p:spPr>
          <a:xfrm>
            <a:off x="4782312" y="3685032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Спекулянт · 1719–1720</a:t>
            </a:r>
            <a:endParaRPr lang="en-US" sz="1300" dirty="0"/>
          </a:p>
        </p:txBody>
      </p:sp>
      <p:sp>
        <p:nvSpPr>
          <p:cNvPr id="33" name="fx3_4_16"/>
          <p:cNvSpPr/>
          <p:nvPr/>
        </p:nvSpPr>
        <p:spPr>
          <a:xfrm>
            <a:off x="4251960" y="4105656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Состояние на пузыре Миссисипи. Деньги — в банках Лондона, Амстердама, Вены и Кадиса.</a:t>
            </a:r>
            <a:endParaRPr lang="en-US" sz="1100" dirty="0"/>
          </a:p>
        </p:txBody>
      </p:sp>
      <p:sp>
        <p:nvSpPr>
          <p:cNvPr id="34" name="fx3_8_17"/>
          <p:cNvSpPr/>
          <p:nvPr/>
        </p:nvSpPr>
        <p:spPr>
          <a:xfrm>
            <a:off x="685800" y="5257800"/>
            <a:ext cx="6592824" cy="932688"/>
          </a:xfrm>
          <a:prstGeom prst="roundRect">
            <a:avLst>
              <a:gd name="adj" fmla="val 7843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5" name="fx3_8_18"/>
          <p:cNvSpPr/>
          <p:nvPr/>
        </p:nvSpPr>
        <p:spPr>
          <a:xfrm>
            <a:off x="685800" y="5404104"/>
            <a:ext cx="50292" cy="64008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6" name="fx3_8_19"/>
          <p:cNvSpPr/>
          <p:nvPr/>
        </p:nvSpPr>
        <p:spPr>
          <a:xfrm>
            <a:off x="941832" y="512064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7" name="fx3_8_20"/>
          <p:cNvSpPr/>
          <p:nvPr/>
        </p:nvSpPr>
        <p:spPr>
          <a:xfrm>
            <a:off x="941832" y="5120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8" name="fx3_8_21"/>
          <p:cNvSpPr/>
          <p:nvPr/>
        </p:nvSpPr>
        <p:spPr>
          <a:xfrm>
            <a:off x="960120" y="5440680"/>
            <a:ext cx="61356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Уезжая из Парижа, он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запер все бумаги в сундук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и оставил его на хранение английским монахам-бенедиктинцам — переждать «финансовую бурю».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harp">
                <a:extLst>
                  <a:ext uri="{FF2B5EF4-FFF2-40B4-BE49-F238E27FC236}">
                    <a16:creationId xmlns:a16="http://schemas.microsoft.com/office/drawing/2014/main" id="{79D0796F-7FCC-E305-7BD7-4FF0DCFBA2A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37760" y="1234440"/>
              <a:ext cx="4389120" cy="4389120"/>
            </p:xfrm>
            <a:graphic>
              <a:graphicData uri="http://schemas.microsoft.com/office/drawing/2017/model3d">
                <am3d:model3d r:embed="rIdM3d10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0690181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49480" d="1000000"/>
                    <am3d:preTrans dx="-156106" dy="-462164" dz="-168783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36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harp">
                <a:extLst>
                  <a:ext uri="{FF2B5EF4-FFF2-40B4-BE49-F238E27FC236}">
                    <a16:creationId xmlns:a16="http://schemas.microsoft.com/office/drawing/2014/main" id="{79D0796F-7FCC-E305-7BD7-4FF0DCFBA2A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37760" y="1234440"/>
                <a:ext cx="4389120" cy="43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0" name="!!m-bubble">
                <a:extLst>
                  <a:ext uri="{FF2B5EF4-FFF2-40B4-BE49-F238E27FC236}">
                    <a16:creationId xmlns:a16="http://schemas.microsoft.com/office/drawing/2014/main" id="{8F021D52-6592-3551-84DF-383271B5E22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297680" cy="4297680"/>
            </p:xfrm>
            <a:graphic>
              <a:graphicData uri="http://schemas.microsoft.com/office/drawing/2017/model3d">
                <am3d:model3d r:embed="rIdM3d11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46925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6292" d="1000000"/>
                    <am3d:preTrans dx="963413" dy="2600320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336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0" name="!!m-bubble">
                <a:extLst>
                  <a:ext uri="{FF2B5EF4-FFF2-40B4-BE49-F238E27FC236}">
                    <a16:creationId xmlns:a16="http://schemas.microsoft.com/office/drawing/2014/main" id="{8F021D52-6592-3551-84DF-383271B5E2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34440"/>
                <a:ext cx="4297680" cy="429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6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4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3606698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A0CD095D-703B-44BD-CB3A-97BF8DFA782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018178" y="98755"/>
              <a:ext cx="548640" cy="548640"/>
            </p:xfrm>
            <a:graphic>
              <a:graphicData uri="http://schemas.microsoft.com/office/drawing/2017/model3d">
                <am3d:model3d r:embed="rIdM3d12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262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A0CD095D-703B-44BD-CB3A-97BF8DFA78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18178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— ПУЗЫРЬ И ДУЭЛЬ С ДЖОНОМ ЛО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822" y="-98298"/>
            <a:ext cx="6231636" cy="623163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672730" y="997610"/>
            <a:ext cx="4039819" cy="4039819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14032" y="438912"/>
            <a:ext cx="5157216" cy="515721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8452" y="4016731"/>
            <a:ext cx="3008376" cy="75209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bubble">
                <a:extLst>
                  <a:ext uri="{FF2B5EF4-FFF2-40B4-BE49-F238E27FC236}">
                    <a16:creationId xmlns:a16="http://schemas.microsoft.com/office/drawing/2014/main" id="{8A9964D3-0B40-7B56-2AF7-BDE73D0824A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43800" y="868680"/>
              <a:ext cx="4297680" cy="4297680"/>
            </p:xfrm>
            <a:graphic>
              <a:graphicData uri="http://schemas.microsoft.com/office/drawing/2017/model3d">
                <am3d:model3d r:embed="rIdM3d13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46925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6292" d="1000000"/>
                    <am3d:preTrans dx="963413" dy="2600320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14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bubble">
                <a:extLst>
                  <a:ext uri="{FF2B5EF4-FFF2-40B4-BE49-F238E27FC236}">
                    <a16:creationId xmlns:a16="http://schemas.microsoft.com/office/drawing/2014/main" id="{8A9964D3-0B40-7B56-2AF7-BDE73D0824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43800" y="868680"/>
                <a:ext cx="4297680" cy="42976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4_9_0"/>
          <p:cNvSpPr/>
          <p:nvPr/>
        </p:nvSpPr>
        <p:spPr>
          <a:xfrm>
            <a:off x="7955280" y="486552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04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Пузырь раздувается, лопается — и растёт снова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Пузырь Миссисипи: как он разбогател</a:t>
            </a:r>
            <a:endParaRPr lang="en-US" sz="3200" dirty="0"/>
          </a:p>
        </p:txBody>
      </p:sp>
      <p:sp>
        <p:nvSpPr>
          <p:cNvPr id="18" name="fx4_1_1"/>
          <p:cNvSpPr/>
          <p:nvPr/>
        </p:nvSpPr>
        <p:spPr>
          <a:xfrm>
            <a:off x="685800" y="21762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1800" dirty="0"/>
          </a:p>
        </p:txBody>
      </p:sp>
      <p:sp>
        <p:nvSpPr>
          <p:cNvPr id="19" name="fx4_1_2"/>
          <p:cNvSpPr/>
          <p:nvPr/>
        </p:nvSpPr>
        <p:spPr>
          <a:xfrm>
            <a:off x="1280160" y="221284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Джона Ло · 1716</a:t>
            </a:r>
            <a:endParaRPr lang="en-US" sz="1400" dirty="0"/>
          </a:p>
        </p:txBody>
      </p:sp>
      <p:sp>
        <p:nvSpPr>
          <p:cNvPr id="20" name="fx4_1_3"/>
          <p:cNvSpPr/>
          <p:nvPr/>
        </p:nvSpPr>
        <p:spPr>
          <a:xfrm>
            <a:off x="1280160" y="2487168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Шотландец убеждает регента: бумажные деньги спасут Францию от долгов.</a:t>
            </a:r>
            <a:endParaRPr lang="en-US" sz="1150" dirty="0"/>
          </a:p>
        </p:txBody>
      </p:sp>
      <p:sp>
        <p:nvSpPr>
          <p:cNvPr id="21" name="fx4_2_4"/>
          <p:cNvSpPr/>
          <p:nvPr/>
        </p:nvSpPr>
        <p:spPr>
          <a:xfrm>
            <a:off x="685800" y="288950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1800" dirty="0"/>
          </a:p>
        </p:txBody>
      </p:sp>
      <p:sp>
        <p:nvSpPr>
          <p:cNvPr id="22" name="fx4_2_5"/>
          <p:cNvSpPr/>
          <p:nvPr/>
        </p:nvSpPr>
        <p:spPr>
          <a:xfrm>
            <a:off x="1280160" y="2926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Миссисипская компания · 1717–1719</a:t>
            </a:r>
            <a:endParaRPr lang="en-US" sz="1400" dirty="0"/>
          </a:p>
        </p:txBody>
      </p:sp>
      <p:sp>
        <p:nvSpPr>
          <p:cNvPr id="23" name="fx4_2_6"/>
          <p:cNvSpPr/>
          <p:nvPr/>
        </p:nvSpPr>
        <p:spPr>
          <a:xfrm>
            <a:off x="1280160" y="320040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Монополия на Луизиану; акции дорожают примерно в 20 раз.</a:t>
            </a:r>
            <a:endParaRPr lang="en-US" sz="1150" dirty="0"/>
          </a:p>
        </p:txBody>
      </p:sp>
      <p:sp>
        <p:nvSpPr>
          <p:cNvPr id="24" name="fx4_3_7"/>
          <p:cNvSpPr/>
          <p:nvPr/>
        </p:nvSpPr>
        <p:spPr>
          <a:xfrm>
            <a:off x="68580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1800" dirty="0"/>
          </a:p>
        </p:txBody>
      </p:sp>
      <p:sp>
        <p:nvSpPr>
          <p:cNvPr id="25" name="fx4_3_8"/>
          <p:cNvSpPr/>
          <p:nvPr/>
        </p:nvSpPr>
        <p:spPr>
          <a:xfrm>
            <a:off x="1280160" y="363931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Ход Кантильона</a:t>
            </a:r>
            <a:endParaRPr lang="en-US" sz="1400" dirty="0"/>
          </a:p>
        </p:txBody>
      </p:sp>
      <p:sp>
        <p:nvSpPr>
          <p:cNvPr id="26" name="fx4_3_9"/>
          <p:cNvSpPr/>
          <p:nvPr/>
        </p:nvSpPr>
        <p:spPr>
          <a:xfrm>
            <a:off x="1280160" y="3913632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 систему обречённой: покупает рано, продаёт дорого, кредитует под залог.</a:t>
            </a:r>
            <a:endParaRPr lang="en-US" sz="1150" dirty="0"/>
          </a:p>
        </p:txBody>
      </p:sp>
      <p:sp>
        <p:nvSpPr>
          <p:cNvPr id="27" name="fx4_4_10"/>
          <p:cNvSpPr/>
          <p:nvPr/>
        </p:nvSpPr>
        <p:spPr>
          <a:xfrm>
            <a:off x="685800" y="431596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1800" dirty="0"/>
          </a:p>
        </p:txBody>
      </p:sp>
      <p:sp>
        <p:nvSpPr>
          <p:cNvPr id="28" name="fx4_4_11"/>
          <p:cNvSpPr/>
          <p:nvPr/>
        </p:nvSpPr>
        <p:spPr>
          <a:xfrm>
            <a:off x="1280160" y="435254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Крах · 1720</a:t>
            </a:r>
            <a:endParaRPr lang="en-US" sz="1400" dirty="0"/>
          </a:p>
        </p:txBody>
      </p:sp>
      <p:sp>
        <p:nvSpPr>
          <p:cNvPr id="29" name="fx4_4_12"/>
          <p:cNvSpPr/>
          <p:nvPr/>
        </p:nvSpPr>
        <p:spPr>
          <a:xfrm>
            <a:off x="1280160" y="4626864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Пузырь лопается — а у него ≈ 20 млн ливров (порядка €60 млн сегодня).</a:t>
            </a:r>
            <a:endParaRPr lang="en-US" sz="1150" dirty="0"/>
          </a:p>
        </p:txBody>
      </p:sp>
      <p:sp>
        <p:nvSpPr>
          <p:cNvPr id="30" name="fx4_8_13"/>
          <p:cNvSpPr/>
          <p:nvPr/>
        </p:nvSpPr>
        <p:spPr>
          <a:xfrm>
            <a:off x="685800" y="5138928"/>
            <a:ext cx="6400800" cy="1060704"/>
          </a:xfrm>
          <a:prstGeom prst="roundRect">
            <a:avLst>
              <a:gd name="adj" fmla="val 6897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4_8_14"/>
          <p:cNvSpPr/>
          <p:nvPr/>
        </p:nvSpPr>
        <p:spPr>
          <a:xfrm>
            <a:off x="685800" y="5285232"/>
            <a:ext cx="50292" cy="768096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4_8_15"/>
          <p:cNvSpPr/>
          <p:nvPr/>
        </p:nvSpPr>
        <p:spPr>
          <a:xfrm>
            <a:off x="941832" y="5001768"/>
            <a:ext cx="2089404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4_8_16"/>
          <p:cNvSpPr/>
          <p:nvPr/>
        </p:nvSpPr>
        <p:spPr>
          <a:xfrm>
            <a:off x="941832" y="5001768"/>
            <a:ext cx="20894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ДУЭЛЬ С ДЖОНОМ ЛО</a:t>
            </a:r>
            <a:endParaRPr lang="en-US" sz="850" dirty="0"/>
          </a:p>
        </p:txBody>
      </p:sp>
      <p:sp>
        <p:nvSpPr>
          <p:cNvPr id="34" name="fx4_8_17"/>
          <p:cNvSpPr/>
          <p:nvPr/>
        </p:nvSpPr>
        <p:spPr>
          <a:xfrm>
            <a:off x="960120" y="5321808"/>
            <a:ext cx="5943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Ло: «Я могу сегодня же отправить вас в Бастилию». Кантильон: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«Хорошо. Я не уеду — и помогу вашей системе»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Нажился на ней — и всё равно уехал.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5" name="!!m-chest">
                <a:extLst>
                  <a:ext uri="{FF2B5EF4-FFF2-40B4-BE49-F238E27FC236}">
                    <a16:creationId xmlns:a16="http://schemas.microsoft.com/office/drawing/2014/main" id="{2B4801D0-587A-65D8-F7F2-C417DD2DF55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029200" y="1325880"/>
              <a:ext cx="4480560" cy="4480560"/>
            </p:xfrm>
            <a:graphic>
              <a:graphicData uri="http://schemas.microsoft.com/office/drawing/2017/model3d">
                <am3d:model3d r:embed="rIdM3d14">
                  <am3d:spPr>
                    <a:xfrm>
                      <a:off x="0" y="0"/>
                      <a:ext cx="4480560" cy="4480560"/>
                    </a:xfrm>
                    <a:prstGeom prst="rect">
                      <a:avLst/>
                    </a:prstGeom>
                  </am3d:spPr>
                  <am3d:camera>
                    <am3d:pos x="0" y="0" z="6638180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31099" d="1000000"/>
                    <am3d:preTrans dx="0" dy="1813409" dz="-4089385"/>
                    <am3d:scale>
                      <am3d:sx n="1000000" d="1000000"/>
                      <am3d:sy n="1000000" d="1000000"/>
                      <am3d:sz n="1000000" d="1000000"/>
                    </am3d:scale>
                    <am3d:rot ax="960000" ay="-64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48056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5" name="!!m-chest">
                <a:extLst>
                  <a:ext uri="{FF2B5EF4-FFF2-40B4-BE49-F238E27FC236}">
                    <a16:creationId xmlns:a16="http://schemas.microsoft.com/office/drawing/2014/main" id="{2B4801D0-587A-65D8-F7F2-C417DD2DF55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029200" y="1325880"/>
                <a:ext cx="4480560" cy="448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quill">
                <a:extLst>
                  <a:ext uri="{FF2B5EF4-FFF2-40B4-BE49-F238E27FC236}">
                    <a16:creationId xmlns:a16="http://schemas.microsoft.com/office/drawing/2014/main" id="{35A9CE62-41EA-E234-0D1F-F8B274FCCA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25880"/>
              <a:ext cx="4572000" cy="4572000"/>
            </p:xfrm>
            <a:graphic>
              <a:graphicData uri="http://schemas.microsoft.com/office/drawing/2017/model3d">
                <am3d:model3d r:embed="rIdM3d15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33276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03235" d="1000000"/>
                    <am3d:preTrans dx="-1721519" dy="-4179158" dz="-1113924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336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quill">
                <a:extLst>
                  <a:ext uri="{FF2B5EF4-FFF2-40B4-BE49-F238E27FC236}">
                    <a16:creationId xmlns:a16="http://schemas.microsoft.com/office/drawing/2014/main" id="{35A9CE62-41EA-E234-0D1F-F8B274FCCA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25880"/>
                <a:ext cx="4572000" cy="457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6" dur="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5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4808931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85BAE302-4A0A-9AF0-301C-95BD8D2D970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220411" y="98755"/>
              <a:ext cx="548640" cy="548640"/>
            </p:xfrm>
            <a:graphic>
              <a:graphicData uri="http://schemas.microsoft.com/office/drawing/2017/model3d">
                <am3d:model3d r:embed="rIdM3d16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350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85BAE302-4A0A-9AF0-301C-95BD8D2D97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220411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— ГЛАВНЫЙ ТРУД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0" y="-68580"/>
            <a:ext cx="6629400" cy="6629400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269480" y="1097280"/>
            <a:ext cx="4297680" cy="4297680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6675120" y="502920"/>
            <a:ext cx="5486400" cy="5486400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4080510"/>
            <a:ext cx="3566160" cy="89154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quill">
                <a:extLst>
                  <a:ext uri="{FF2B5EF4-FFF2-40B4-BE49-F238E27FC236}">
                    <a16:creationId xmlns:a16="http://schemas.microsoft.com/office/drawing/2014/main" id="{448E5C89-CA73-88A8-03D1-701617BE67A2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132320" y="960120"/>
              <a:ext cx="4572000" cy="4572000"/>
            </p:xfrm>
            <a:graphic>
              <a:graphicData uri="http://schemas.microsoft.com/office/drawing/2017/model3d">
                <am3d:model3d r:embed="rIdM3d17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33276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03235" d="1000000"/>
                    <am3d:preTrans dx="-1721519" dy="-4179158" dz="-1113924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-14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quill">
                <a:extLst>
                  <a:ext uri="{FF2B5EF4-FFF2-40B4-BE49-F238E27FC236}">
                    <a16:creationId xmlns:a16="http://schemas.microsoft.com/office/drawing/2014/main" id="{448E5C89-CA73-88A8-03D1-701617BE67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32320" y="960120"/>
                <a:ext cx="4572000" cy="4572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5_9_0"/>
          <p:cNvSpPr/>
          <p:nvPr/>
        </p:nvSpPr>
        <p:spPr>
          <a:xfrm>
            <a:off x="7772400" y="5212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05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Страницы «Essai» листаются сами, перо макает чернила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Книга, опередившая Адама Смита</a:t>
            </a:r>
            <a:endParaRPr lang="en-US" sz="3600" dirty="0"/>
          </a:p>
        </p:txBody>
      </p:sp>
      <p:sp>
        <p:nvSpPr>
          <p:cNvPr id="18" name="fx5_1_1"/>
          <p:cNvSpPr/>
          <p:nvPr/>
        </p:nvSpPr>
        <p:spPr>
          <a:xfrm>
            <a:off x="685800" y="22219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≈1730</a:t>
            </a:r>
            <a:endParaRPr lang="en-US" sz="2100" dirty="0"/>
          </a:p>
        </p:txBody>
      </p:sp>
      <p:sp>
        <p:nvSpPr>
          <p:cNvPr id="19" name="fx5_1_2"/>
          <p:cNvSpPr/>
          <p:nvPr/>
        </p:nvSpPr>
        <p:spPr>
          <a:xfrm>
            <a:off x="1965960" y="224028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Написан «Essai sur la nature du commerce»</a:t>
            </a:r>
            <a:endParaRPr lang="en-US" sz="1450" dirty="0"/>
          </a:p>
        </p:txBody>
      </p:sp>
      <p:sp>
        <p:nvSpPr>
          <p:cNvPr id="20" name="fx5_1_3"/>
          <p:cNvSpPr/>
          <p:nvPr/>
        </p:nvSpPr>
        <p:spPr>
          <a:xfrm>
            <a:off x="1965960" y="25786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трактат об экономике целиком: цены, деньги, процент, торговля.</a:t>
            </a:r>
            <a:endParaRPr lang="en-US" sz="1100" dirty="0"/>
          </a:p>
        </p:txBody>
      </p:sp>
      <p:sp>
        <p:nvSpPr>
          <p:cNvPr id="21" name="fx5_2_4"/>
          <p:cNvSpPr/>
          <p:nvPr/>
        </p:nvSpPr>
        <p:spPr>
          <a:xfrm>
            <a:off x="685800" y="2898648"/>
            <a:ext cx="603504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fx5_2_5"/>
          <p:cNvSpPr/>
          <p:nvPr/>
        </p:nvSpPr>
        <p:spPr>
          <a:xfrm>
            <a:off x="685800" y="2990088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1755</a:t>
            </a:r>
            <a:endParaRPr lang="en-US" sz="2100" dirty="0"/>
          </a:p>
        </p:txBody>
      </p:sp>
      <p:sp>
        <p:nvSpPr>
          <p:cNvPr id="23" name="fx5_2_6"/>
          <p:cNvSpPr/>
          <p:nvPr/>
        </p:nvSpPr>
        <p:spPr>
          <a:xfrm>
            <a:off x="1965960" y="30083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Издан через 21 год после смерти автора</a:t>
            </a:r>
            <a:endParaRPr lang="en-US" sz="1450" dirty="0"/>
          </a:p>
        </p:txBody>
      </p:sp>
      <p:sp>
        <p:nvSpPr>
          <p:cNvPr id="24" name="fx5_2_7"/>
          <p:cNvSpPr/>
          <p:nvPr/>
        </p:nvSpPr>
        <p:spPr>
          <a:xfrm>
            <a:off x="1965960" y="33467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Анонимно, с фальшивым адресом «Лондон» и пометкой «перевод с английского».</a:t>
            </a:r>
            <a:endParaRPr lang="en-US" sz="1100" dirty="0"/>
          </a:p>
        </p:txBody>
      </p:sp>
      <p:sp>
        <p:nvSpPr>
          <p:cNvPr id="25" name="fx5_3_8"/>
          <p:cNvSpPr/>
          <p:nvPr/>
        </p:nvSpPr>
        <p:spPr>
          <a:xfrm>
            <a:off x="685800" y="3666744"/>
            <a:ext cx="603504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fx5_3_9"/>
          <p:cNvSpPr/>
          <p:nvPr/>
        </p:nvSpPr>
        <p:spPr>
          <a:xfrm>
            <a:off x="685800" y="37581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1776</a:t>
            </a:r>
            <a:endParaRPr lang="en-US" sz="2100" dirty="0"/>
          </a:p>
        </p:txBody>
      </p:sp>
      <p:sp>
        <p:nvSpPr>
          <p:cNvPr id="27" name="fx5_3_10"/>
          <p:cNvSpPr/>
          <p:nvPr/>
        </p:nvSpPr>
        <p:spPr>
          <a:xfrm>
            <a:off x="1965960" y="377647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Адам Смит ссылается на Кантильона</a:t>
            </a:r>
            <a:endParaRPr lang="en-US" sz="1450" dirty="0"/>
          </a:p>
        </p:txBody>
      </p:sp>
      <p:sp>
        <p:nvSpPr>
          <p:cNvPr id="28" name="fx5_3_11"/>
          <p:cNvSpPr/>
          <p:nvPr/>
        </p:nvSpPr>
        <p:spPr>
          <a:xfrm>
            <a:off x="1965960" y="4114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из немногих авторов, которых цитирует «Богатство народов».</a:t>
            </a:r>
            <a:endParaRPr lang="en-US" sz="1100" dirty="0"/>
          </a:p>
        </p:txBody>
      </p:sp>
      <p:sp>
        <p:nvSpPr>
          <p:cNvPr id="29" name="fx5_4_12"/>
          <p:cNvSpPr/>
          <p:nvPr/>
        </p:nvSpPr>
        <p:spPr>
          <a:xfrm>
            <a:off x="685800" y="4434840"/>
            <a:ext cx="6035040" cy="91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fx5_4_13"/>
          <p:cNvSpPr/>
          <p:nvPr/>
        </p:nvSpPr>
        <p:spPr>
          <a:xfrm>
            <a:off x="685800" y="45262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1881</a:t>
            </a:r>
            <a:endParaRPr lang="en-US" sz="2100" dirty="0"/>
          </a:p>
        </p:txBody>
      </p:sp>
      <p:sp>
        <p:nvSpPr>
          <p:cNvPr id="31" name="fx5_4_14"/>
          <p:cNvSpPr/>
          <p:nvPr/>
        </p:nvSpPr>
        <p:spPr>
          <a:xfrm>
            <a:off x="1965960" y="45445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Джевонс открывает книгу заново</a:t>
            </a:r>
            <a:endParaRPr lang="en-US" sz="1450" dirty="0"/>
          </a:p>
        </p:txBody>
      </p:sp>
      <p:sp>
        <p:nvSpPr>
          <p:cNvPr id="32" name="fx5_4_15"/>
          <p:cNvSpPr/>
          <p:nvPr/>
        </p:nvSpPr>
        <p:spPr>
          <a:xfrm>
            <a:off x="1965960" y="488289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называет её «колыбелью политической экономии».</a:t>
            </a:r>
            <a:endParaRPr lang="en-US" sz="1100" dirty="0"/>
          </a:p>
        </p:txBody>
      </p:sp>
      <p:sp>
        <p:nvSpPr>
          <p:cNvPr id="33" name="fx5_8_16"/>
          <p:cNvSpPr/>
          <p:nvPr/>
        </p:nvSpPr>
        <p:spPr>
          <a:xfrm>
            <a:off x="685800" y="5394960"/>
            <a:ext cx="6126480" cy="804672"/>
          </a:xfrm>
          <a:prstGeom prst="roundRect">
            <a:avLst>
              <a:gd name="adj" fmla="val 9091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fx5_8_17"/>
          <p:cNvSpPr/>
          <p:nvPr/>
        </p:nvSpPr>
        <p:spPr>
          <a:xfrm>
            <a:off x="685800" y="5541264"/>
            <a:ext cx="50292" cy="51206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5" name="fx5_8_18"/>
          <p:cNvSpPr/>
          <p:nvPr/>
        </p:nvSpPr>
        <p:spPr>
          <a:xfrm>
            <a:off x="941832" y="52578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6" name="fx5_8_19"/>
          <p:cNvSpPr/>
          <p:nvPr/>
        </p:nvSpPr>
        <p:spPr>
          <a:xfrm>
            <a:off x="941832" y="52578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37" name="fx5_8_20"/>
          <p:cNvSpPr/>
          <p:nvPr/>
        </p:nvSpPr>
        <p:spPr>
          <a:xfrm>
            <a:off x="960120" y="557784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Шумпетер назвал «Essai»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«первым систематическим проникновением в область экономики»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А статистическое приложение к книге потеряно.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8" name="!!m-bubble">
                <a:extLst>
                  <a:ext uri="{FF2B5EF4-FFF2-40B4-BE49-F238E27FC236}">
                    <a16:creationId xmlns:a16="http://schemas.microsoft.com/office/drawing/2014/main" id="{C232C7A9-634E-5759-5026-DA05C7526AB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846320" y="1234440"/>
              <a:ext cx="4297680" cy="4297680"/>
            </p:xfrm>
            <a:graphic>
              <a:graphicData uri="http://schemas.microsoft.com/office/drawing/2017/model3d">
                <am3d:model3d r:embed="rIdM3d18">
                  <am3d:spPr>
                    <a:xfrm>
                      <a:off x="0" y="0"/>
                      <a:ext cx="4297680" cy="4297680"/>
                    </a:xfrm>
                    <a:prstGeom prst="rect">
                      <a:avLst/>
                    </a:prstGeom>
                  </am3d:spPr>
                  <am3d:camera>
                    <am3d:pos x="0" y="0" z="7469258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96292" d="1000000"/>
                    <am3d:preTrans dx="963413" dy="2600320" dz="2"/>
                    <am3d:scale>
                      <am3d:sx n="1000000" d="1000000"/>
                      <am3d:sy n="1000000" d="1000000"/>
                      <am3d:sz n="1000000" d="1000000"/>
                    </am3d:scale>
                    <am3d:rot ax="840000" ay="-6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5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97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8" name="!!m-bubble">
                <a:extLst>
                  <a:ext uri="{FF2B5EF4-FFF2-40B4-BE49-F238E27FC236}">
                    <a16:creationId xmlns:a16="http://schemas.microsoft.com/office/drawing/2014/main" id="{C232C7A9-634E-5759-5026-DA05C7526AB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846320" y="1234440"/>
                <a:ext cx="4297680" cy="42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9" name="!!m-scales">
                <a:extLst>
                  <a:ext uri="{FF2B5EF4-FFF2-40B4-BE49-F238E27FC236}">
                    <a16:creationId xmlns:a16="http://schemas.microsoft.com/office/drawing/2014/main" id="{843D5FDE-7289-A972-03C1-09B7EA313A8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234440"/>
              <a:ext cx="4389120" cy="4389120"/>
            </p:xfrm>
            <a:graphic>
              <a:graphicData uri="http://schemas.microsoft.com/office/drawing/2017/model3d">
                <am3d:model3d r:embed="rIdM3d19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28986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0" dy="-208928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372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9" name="!!m-scales">
                <a:extLst>
                  <a:ext uri="{FF2B5EF4-FFF2-40B4-BE49-F238E27FC236}">
                    <a16:creationId xmlns:a16="http://schemas.microsoft.com/office/drawing/2014/main" id="{843D5FDE-7289-A972-03C1-09B7EA313A8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234440"/>
                <a:ext cx="4389120" cy="4389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1" dur="6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6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6011164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2211B53C-6482-5629-C2C3-EC7D7354B01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22644" y="98755"/>
              <a:ext cx="548640" cy="548640"/>
            </p:xfrm>
            <a:graphic>
              <a:graphicData uri="http://schemas.microsoft.com/office/drawing/2017/model3d">
                <am3d:model3d r:embed="rIdM3d20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4380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2211B53C-6482-5629-C2C3-EC7D7354B0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22644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ГЛАВНАЯ МЫСЛЬ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-118872"/>
            <a:ext cx="6364224" cy="63642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66914" y="1000354"/>
            <a:ext cx="4125773" cy="4125773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96328" y="429768"/>
            <a:ext cx="5266944" cy="5266944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314139"/>
            <a:ext cx="2633472" cy="658368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scales">
                <a:extLst>
                  <a:ext uri="{FF2B5EF4-FFF2-40B4-BE49-F238E27FC236}">
                    <a16:creationId xmlns:a16="http://schemas.microsoft.com/office/drawing/2014/main" id="{57C91A80-7655-447E-9FCA-02EC72A572F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35240" y="868680"/>
              <a:ext cx="4389120" cy="4389120"/>
            </p:xfrm>
            <a:graphic>
              <a:graphicData uri="http://schemas.microsoft.com/office/drawing/2017/model3d">
                <am3d:model3d r:embed="rIdM3d21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28986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0" dy="-208928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108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scales">
                <a:extLst>
                  <a:ext uri="{FF2B5EF4-FFF2-40B4-BE49-F238E27FC236}">
                    <a16:creationId xmlns:a16="http://schemas.microsoft.com/office/drawing/2014/main" id="{57C91A80-7655-447E-9FCA-02EC72A572F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35240" y="868680"/>
                <a:ext cx="4389120" cy="43891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6_9_0"/>
          <p:cNvSpPr/>
          <p:nvPr/>
        </p:nvSpPr>
        <p:spPr>
          <a:xfrm>
            <a:off x="8183880" y="495056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06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Весы сами ищут равновесие — как рынок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Экономика — система, а не казна</a:t>
            </a:r>
            <a:endParaRPr lang="en-US" sz="3100" dirty="0"/>
          </a:p>
        </p:txBody>
      </p:sp>
      <p:sp>
        <p:nvSpPr>
          <p:cNvPr id="18" name="fx6_1_1"/>
          <p:cNvSpPr/>
          <p:nvPr/>
        </p:nvSpPr>
        <p:spPr>
          <a:xfrm>
            <a:off x="685800" y="1737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Рынки, цены и деньги регулируют хозяйство сами. Всё общество — три группы:</a:t>
            </a:r>
            <a:endParaRPr lang="en-US" sz="1300" dirty="0"/>
          </a:p>
        </p:txBody>
      </p:sp>
      <p:sp>
        <p:nvSpPr>
          <p:cNvPr id="19" name="fx6_2_2"/>
          <p:cNvSpPr/>
          <p:nvPr/>
        </p:nvSpPr>
        <p:spPr>
          <a:xfrm>
            <a:off x="685800" y="2240280"/>
            <a:ext cx="2148840" cy="2514600"/>
          </a:xfrm>
          <a:prstGeom prst="roundRect">
            <a:avLst>
              <a:gd name="adj" fmla="val 3404"/>
            </a:avLst>
          </a:prstGeom>
          <a:solidFill>
            <a:srgbClr val="22121A">
              <a:alpha val="88000"/>
            </a:srgbClr>
          </a:solidFill>
          <a:ln w="9525">
            <a:solidFill>
              <a:srgbClr val="9A8C86">
                <a:alpha val="30000"/>
              </a:srgbClr>
            </a:solidFill>
            <a:prstDash val="solid"/>
          </a:ln>
        </p:spPr>
      </p:sp>
      <p:sp>
        <p:nvSpPr>
          <p:cNvPr id="20" name="fx6_2_3"/>
          <p:cNvSpPr/>
          <p:nvPr/>
        </p:nvSpPr>
        <p:spPr>
          <a:xfrm>
            <a:off x="868680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ЗЕМЛЕВЛАДЕЛЬЦЫ</a:t>
            </a:r>
            <a:endParaRPr lang="en-US" sz="950" dirty="0"/>
          </a:p>
        </p:txBody>
      </p:sp>
      <p:sp>
        <p:nvSpPr>
          <p:cNvPr id="21" name="fx6_2_4"/>
          <p:cNvSpPr/>
          <p:nvPr/>
        </p:nvSpPr>
        <p:spPr>
          <a:xfrm>
            <a:off x="868680" y="2697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Независимы</a:t>
            </a:r>
            <a:endParaRPr lang="en-US" sz="1800" dirty="0"/>
          </a:p>
        </p:txBody>
      </p:sp>
      <p:sp>
        <p:nvSpPr>
          <p:cNvPr id="22" name="fx6_2_5"/>
          <p:cNvSpPr/>
          <p:nvPr/>
        </p:nvSpPr>
        <p:spPr>
          <a:xfrm>
            <a:off x="86868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расходы задают спрос всей экономики.</a:t>
            </a:r>
            <a:endParaRPr lang="en-US" sz="1150" dirty="0"/>
          </a:p>
        </p:txBody>
      </p:sp>
      <p:sp>
        <p:nvSpPr>
          <p:cNvPr id="23" name="fx6_3_6"/>
          <p:cNvSpPr/>
          <p:nvPr/>
        </p:nvSpPr>
        <p:spPr>
          <a:xfrm>
            <a:off x="2971800" y="2240280"/>
            <a:ext cx="2148840" cy="2514600"/>
          </a:xfrm>
          <a:prstGeom prst="roundRect">
            <a:avLst>
              <a:gd name="adj" fmla="val 3404"/>
            </a:avLst>
          </a:prstGeom>
          <a:solidFill>
            <a:srgbClr val="22121A">
              <a:alpha val="88000"/>
            </a:srgbClr>
          </a:solidFill>
          <a:ln w="9525">
            <a:solidFill>
              <a:srgbClr val="9A8C86">
                <a:alpha val="30000"/>
              </a:srgbClr>
            </a:solidFill>
            <a:prstDash val="solid"/>
          </a:ln>
        </p:spPr>
      </p:sp>
      <p:sp>
        <p:nvSpPr>
          <p:cNvPr id="24" name="fx6_3_7"/>
          <p:cNvSpPr/>
          <p:nvPr/>
        </p:nvSpPr>
        <p:spPr>
          <a:xfrm>
            <a:off x="3154680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НАЁМНЫЕ</a:t>
            </a:r>
            <a:endParaRPr lang="en-US" sz="950" dirty="0"/>
          </a:p>
        </p:txBody>
      </p:sp>
      <p:sp>
        <p:nvSpPr>
          <p:cNvPr id="25" name="fx6_3_8"/>
          <p:cNvSpPr/>
          <p:nvPr/>
        </p:nvSpPr>
        <p:spPr>
          <a:xfrm>
            <a:off x="3154680" y="2697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Фиксированный доход</a:t>
            </a:r>
            <a:endParaRPr lang="en-US" sz="1800" dirty="0"/>
          </a:p>
        </p:txBody>
      </p:sp>
      <p:sp>
        <p:nvSpPr>
          <p:cNvPr id="26" name="fx6_3_9"/>
          <p:cNvSpPr/>
          <p:nvPr/>
        </p:nvSpPr>
        <p:spPr>
          <a:xfrm>
            <a:off x="315468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 на жалованье, придворный с пенсией, слуга с зарплатой.</a:t>
            </a:r>
            <a:endParaRPr lang="en-US" sz="1150" dirty="0"/>
          </a:p>
        </p:txBody>
      </p:sp>
      <p:sp>
        <p:nvSpPr>
          <p:cNvPr id="27" name="fx6_4_10"/>
          <p:cNvSpPr/>
          <p:nvPr/>
        </p:nvSpPr>
        <p:spPr>
          <a:xfrm>
            <a:off x="5257800" y="2240280"/>
            <a:ext cx="2148840" cy="2514600"/>
          </a:xfrm>
          <a:prstGeom prst="roundRect">
            <a:avLst>
              <a:gd name="adj" fmla="val 3404"/>
            </a:avLst>
          </a:prstGeom>
          <a:solidFill>
            <a:srgbClr val="2E1E10"/>
          </a:solidFill>
          <a:ln w="9525">
            <a:solidFill>
              <a:srgbClr val="E3B663">
                <a:alpha val="70000"/>
              </a:srgbClr>
            </a:solidFill>
            <a:prstDash val="solid"/>
          </a:ln>
        </p:spPr>
      </p:sp>
      <p:sp>
        <p:nvSpPr>
          <p:cNvPr id="28" name="fx6_4_11"/>
          <p:cNvSpPr/>
          <p:nvPr/>
        </p:nvSpPr>
        <p:spPr>
          <a:xfrm>
            <a:off x="5440680" y="242316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ПРЕДПРИНИМАТЕЛИ</a:t>
            </a:r>
            <a:endParaRPr lang="en-US" sz="950" dirty="0"/>
          </a:p>
        </p:txBody>
      </p:sp>
      <p:sp>
        <p:nvSpPr>
          <p:cNvPr id="29" name="fx6_4_12"/>
          <p:cNvSpPr/>
          <p:nvPr/>
        </p:nvSpPr>
        <p:spPr>
          <a:xfrm>
            <a:off x="5440680" y="2697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8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Неизвестный доход</a:t>
            </a:r>
            <a:endParaRPr lang="en-US" sz="1800" dirty="0"/>
          </a:p>
        </p:txBody>
      </p:sp>
      <p:sp>
        <p:nvSpPr>
          <p:cNvPr id="30" name="fx6_4_13"/>
          <p:cNvSpPr/>
          <p:nvPr/>
        </p:nvSpPr>
        <p:spPr>
          <a:xfrm>
            <a:off x="5440680" y="3429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Покупают по известной цене, продают по неизвестной.</a:t>
            </a:r>
            <a:endParaRPr lang="en-US" sz="1150" dirty="0"/>
          </a:p>
        </p:txBody>
      </p:sp>
      <p:sp>
        <p:nvSpPr>
          <p:cNvPr id="31" name="fx6_8_14"/>
          <p:cNvSpPr/>
          <p:nvPr/>
        </p:nvSpPr>
        <p:spPr>
          <a:xfrm>
            <a:off x="685800" y="5166360"/>
            <a:ext cx="6720840" cy="1005840"/>
          </a:xfrm>
          <a:prstGeom prst="roundRect">
            <a:avLst>
              <a:gd name="adj" fmla="val 7273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2" name="fx6_8_15"/>
          <p:cNvSpPr/>
          <p:nvPr/>
        </p:nvSpPr>
        <p:spPr>
          <a:xfrm>
            <a:off x="685800" y="5312664"/>
            <a:ext cx="50292" cy="71323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3" name="fx6_8_16"/>
          <p:cNvSpPr/>
          <p:nvPr/>
        </p:nvSpPr>
        <p:spPr>
          <a:xfrm>
            <a:off x="941832" y="5029200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4" name="fx6_8_17"/>
          <p:cNvSpPr/>
          <p:nvPr/>
        </p:nvSpPr>
        <p:spPr>
          <a:xfrm>
            <a:off x="941832" y="50292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ПАРАДОКС</a:t>
            </a:r>
            <a:endParaRPr lang="en-US" sz="850" dirty="0"/>
          </a:p>
        </p:txBody>
      </p:sp>
      <p:sp>
        <p:nvSpPr>
          <p:cNvPr id="35" name="fx6_8_18"/>
          <p:cNvSpPr/>
          <p:nvPr/>
        </p:nvSpPr>
        <p:spPr>
          <a:xfrm>
            <a:off x="960120" y="534924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Парадокс Кантильона: </a:t>
            </a:r>
            <a:pPr algn="l"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генерал на жалованье — наёмный работник, а трубочист и водонос — предприниматели</a:t>
            </a:r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Важно лишь, известен ли доход заранее.</a:t>
            </a:r>
            <a:endParaRPr lang="en-US" sz="13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6" name="!!m-quill">
                <a:extLst>
                  <a:ext uri="{FF2B5EF4-FFF2-40B4-BE49-F238E27FC236}">
                    <a16:creationId xmlns:a16="http://schemas.microsoft.com/office/drawing/2014/main" id="{36E757F2-D9E9-048E-C531-266308D04B3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5120640" y="1325880"/>
              <a:ext cx="4572000" cy="4572000"/>
            </p:xfrm>
            <a:graphic>
              <a:graphicData uri="http://schemas.microsoft.com/office/drawing/2017/model3d">
                <am3d:model3d r:embed="rIdM3d22">
                  <am3d:spPr>
                    <a:xfrm>
                      <a:off x="0" y="0"/>
                      <a:ext cx="4572000" cy="4572000"/>
                    </a:xfrm>
                    <a:prstGeom prst="rect">
                      <a:avLst/>
                    </a:prstGeom>
                  </am3d:spPr>
                  <am3d:camera>
                    <am3d:pos x="0" y="0" z="633276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03235" d="1000000"/>
                    <am3d:preTrans dx="-1721519" dy="-4179158" dz="-1113924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-6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6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57200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6" name="!!m-quill">
                <a:extLst>
                  <a:ext uri="{FF2B5EF4-FFF2-40B4-BE49-F238E27FC236}">
                    <a16:creationId xmlns:a16="http://schemas.microsoft.com/office/drawing/2014/main" id="{36E757F2-D9E9-048E-C531-266308D04B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120640" y="1325880"/>
                <a:ext cx="4572000" cy="45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dice">
                <a:extLst>
                  <a:ext uri="{FF2B5EF4-FFF2-40B4-BE49-F238E27FC236}">
                    <a16:creationId xmlns:a16="http://schemas.microsoft.com/office/drawing/2014/main" id="{FEA6B388-144B-1C7E-7F4F-3A1B09F0124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463040"/>
              <a:ext cx="3840480" cy="3840480"/>
            </p:xfrm>
            <a:graphic>
              <a:graphicData uri="http://schemas.microsoft.com/office/drawing/2017/model3d">
                <am3d:model3d r:embed="rIdM3d23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585999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69231" d="1000000"/>
                    <am3d:preTrans dx="0" dy="83229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336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dice">
                <a:extLst>
                  <a:ext uri="{FF2B5EF4-FFF2-40B4-BE49-F238E27FC236}">
                    <a16:creationId xmlns:a16="http://schemas.microsoft.com/office/drawing/2014/main" id="{FEA6B388-144B-1C7E-7F4F-3A1B09F0124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463040"/>
                <a:ext cx="3840480" cy="384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7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7213397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475BC4AB-5B80-D192-9BBB-7708C1D3B09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624877" y="98755"/>
              <a:ext cx="548640" cy="548640"/>
            </p:xfrm>
            <a:graphic>
              <a:graphicData uri="http://schemas.microsoft.com/office/drawing/2017/model3d">
                <am3d:model3d r:embed="rIdM3d24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5256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475BC4AB-5B80-D192-9BBB-7708C1D3B0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24877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— ПРЕДПРИНИМАТЕЛЬ ПО КАНТИЛЬОНУ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32" y="233172"/>
            <a:ext cx="5568696" cy="556869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979054" y="1212494"/>
            <a:ext cx="3610051" cy="3610051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479792" y="713232"/>
            <a:ext cx="4608576" cy="460857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3680003"/>
            <a:ext cx="2688336" cy="672084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dice">
                <a:extLst>
                  <a:ext uri="{FF2B5EF4-FFF2-40B4-BE49-F238E27FC236}">
                    <a16:creationId xmlns:a16="http://schemas.microsoft.com/office/drawing/2014/main" id="{737D27E5-7290-67F9-1CF7-F8EFED38711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863840" y="1097280"/>
              <a:ext cx="3840480" cy="3840480"/>
            </p:xfrm>
            <a:graphic>
              <a:graphicData uri="http://schemas.microsoft.com/office/drawing/2017/model3d">
                <am3d:model3d r:embed="rIdM3d25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585999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69231" d="1000000"/>
                    <am3d:preTrans dx="0" dy="83229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144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dice">
                <a:extLst>
                  <a:ext uri="{FF2B5EF4-FFF2-40B4-BE49-F238E27FC236}">
                    <a16:creationId xmlns:a16="http://schemas.microsoft.com/office/drawing/2014/main" id="{737D27E5-7290-67F9-1CF7-F8EFED38711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63840" y="1097280"/>
                <a:ext cx="3840480" cy="38404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7_9_0"/>
          <p:cNvSpPr/>
          <p:nvPr/>
        </p:nvSpPr>
        <p:spPr>
          <a:xfrm>
            <a:off x="8138160" y="466892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07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Кости катятся, ставка крутится волчком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1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Купить по известной цене, продать — по неизвестной</a:t>
            </a:r>
            <a:endParaRPr lang="en-US" sz="3100" dirty="0"/>
          </a:p>
        </p:txBody>
      </p:sp>
      <p:sp>
        <p:nvSpPr>
          <p:cNvPr id="18" name="fx7_1_1"/>
          <p:cNvSpPr/>
          <p:nvPr/>
        </p:nvSpPr>
        <p:spPr>
          <a:xfrm>
            <a:off x="685800" y="2176272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22121A">
              <a:alpha val="90000"/>
            </a:srgbClr>
          </a:solidFill>
          <a:ln w="9525">
            <a:solidFill>
              <a:srgbClr val="E3B663">
                <a:alpha val="35000"/>
              </a:srgbClr>
            </a:solidFill>
            <a:prstDash val="solid"/>
          </a:ln>
        </p:spPr>
      </p:sp>
      <p:sp>
        <p:nvSpPr>
          <p:cNvPr id="19" name="fx7_1_2"/>
          <p:cNvSpPr/>
          <p:nvPr/>
        </p:nvSpPr>
        <p:spPr>
          <a:xfrm>
            <a:off x="868680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СЕГОДНЯ</a:t>
            </a:r>
            <a:endParaRPr lang="en-US" sz="950" dirty="0"/>
          </a:p>
        </p:txBody>
      </p:sp>
      <p:sp>
        <p:nvSpPr>
          <p:cNvPr id="20" name="fx7_1_3"/>
          <p:cNvSpPr/>
          <p:nvPr/>
        </p:nvSpPr>
        <p:spPr>
          <a:xfrm>
            <a:off x="86868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Известная цена</a:t>
            </a:r>
            <a:endParaRPr lang="en-US" sz="1350" dirty="0"/>
          </a:p>
        </p:txBody>
      </p:sp>
      <p:sp>
        <p:nvSpPr>
          <p:cNvPr id="21" name="fx7_1_4"/>
          <p:cNvSpPr/>
          <p:nvPr/>
        </p:nvSpPr>
        <p:spPr>
          <a:xfrm>
            <a:off x="868680" y="2944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платит за сырьё, товар, труд</a:t>
            </a:r>
            <a:endParaRPr lang="en-US" sz="1050" dirty="0"/>
          </a:p>
        </p:txBody>
      </p:sp>
      <p:sp>
        <p:nvSpPr>
          <p:cNvPr id="22" name="fx7_1_5"/>
          <p:cNvSpPr/>
          <p:nvPr/>
        </p:nvSpPr>
        <p:spPr>
          <a:xfrm>
            <a:off x="2743200" y="25237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fx7_2_6"/>
          <p:cNvSpPr/>
          <p:nvPr/>
        </p:nvSpPr>
        <p:spPr>
          <a:xfrm>
            <a:off x="3017520" y="2176272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22121A">
              <a:alpha val="90000"/>
            </a:srgbClr>
          </a:solidFill>
          <a:ln w="9525">
            <a:solidFill>
              <a:srgbClr val="E8866A">
                <a:alpha val="65000"/>
              </a:srgbClr>
            </a:solidFill>
            <a:prstDash val="solid"/>
          </a:ln>
        </p:spPr>
      </p:sp>
      <p:sp>
        <p:nvSpPr>
          <p:cNvPr id="24" name="fx7_2_7"/>
          <p:cNvSpPr/>
          <p:nvPr/>
        </p:nvSpPr>
        <p:spPr>
          <a:xfrm>
            <a:off x="3200400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8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НИМИ</a:t>
            </a:r>
            <a:endParaRPr lang="en-US" sz="950" dirty="0"/>
          </a:p>
        </p:txBody>
      </p:sp>
      <p:sp>
        <p:nvSpPr>
          <p:cNvPr id="25" name="fx7_2_8"/>
          <p:cNvSpPr/>
          <p:nvPr/>
        </p:nvSpPr>
        <p:spPr>
          <a:xfrm>
            <a:off x="320040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Неопределённость</a:t>
            </a:r>
            <a:endParaRPr lang="en-US" sz="1350" dirty="0"/>
          </a:p>
        </p:txBody>
      </p:sp>
      <p:sp>
        <p:nvSpPr>
          <p:cNvPr id="26" name="fx7_2_9"/>
          <p:cNvSpPr/>
          <p:nvPr/>
        </p:nvSpPr>
        <p:spPr>
          <a:xfrm>
            <a:off x="3200400" y="2944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спрос, клиенты, конкуренты</a:t>
            </a:r>
            <a:endParaRPr lang="en-US" sz="1050" dirty="0"/>
          </a:p>
        </p:txBody>
      </p:sp>
      <p:sp>
        <p:nvSpPr>
          <p:cNvPr id="27" name="fx7_2_10"/>
          <p:cNvSpPr/>
          <p:nvPr/>
        </p:nvSpPr>
        <p:spPr>
          <a:xfrm>
            <a:off x="5074920" y="25237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fx7_3_11"/>
          <p:cNvSpPr/>
          <p:nvPr/>
        </p:nvSpPr>
        <p:spPr>
          <a:xfrm>
            <a:off x="5349240" y="2176272"/>
            <a:ext cx="2057400" cy="1188720"/>
          </a:xfrm>
          <a:prstGeom prst="roundRect">
            <a:avLst>
              <a:gd name="adj" fmla="val 6154"/>
            </a:avLst>
          </a:prstGeom>
          <a:solidFill>
            <a:srgbClr val="22121A">
              <a:alpha val="90000"/>
            </a:srgbClr>
          </a:solidFill>
          <a:ln w="9525">
            <a:solidFill>
              <a:srgbClr val="E3B663">
                <a:alpha val="35000"/>
              </a:srgbClr>
            </a:solidFill>
            <a:prstDash val="solid"/>
          </a:ln>
        </p:spPr>
      </p:sp>
      <p:sp>
        <p:nvSpPr>
          <p:cNvPr id="29" name="fx7_3_12"/>
          <p:cNvSpPr/>
          <p:nvPr/>
        </p:nvSpPr>
        <p:spPr>
          <a:xfrm>
            <a:off x="5532120" y="230428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</a:t>
            </a:r>
            <a:endParaRPr lang="en-US" sz="950" dirty="0"/>
          </a:p>
        </p:txBody>
      </p:sp>
      <p:sp>
        <p:nvSpPr>
          <p:cNvPr id="30" name="fx7_3_13"/>
          <p:cNvSpPr/>
          <p:nvPr/>
        </p:nvSpPr>
        <p:spPr>
          <a:xfrm>
            <a:off x="553212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Неизвестная цена</a:t>
            </a:r>
            <a:endParaRPr lang="en-US" sz="1350" dirty="0"/>
          </a:p>
        </p:txBody>
      </p:sp>
      <p:sp>
        <p:nvSpPr>
          <p:cNvPr id="31" name="fx7_3_14"/>
          <p:cNvSpPr/>
          <p:nvPr/>
        </p:nvSpPr>
        <p:spPr>
          <a:xfrm>
            <a:off x="5532120" y="2944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прибыль — или банкротство</a:t>
            </a:r>
            <a:endParaRPr lang="en-US" sz="1050" dirty="0"/>
          </a:p>
        </p:txBody>
      </p:sp>
      <p:sp>
        <p:nvSpPr>
          <p:cNvPr id="32" name="fx7_4_15"/>
          <p:cNvSpPr/>
          <p:nvPr/>
        </p:nvSpPr>
        <p:spPr>
          <a:xfrm>
            <a:off x="685800" y="3584448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ЖИВЁТ «В НЕОПРЕДЕЛЁННОСТИ» — ПРИМЕРЫ ИЗ КНИГИ</a:t>
            </a:r>
            <a:endParaRPr lang="en-US" sz="950" dirty="0"/>
          </a:p>
        </p:txBody>
      </p:sp>
      <p:sp>
        <p:nvSpPr>
          <p:cNvPr id="33" name="fx7_4_16"/>
          <p:cNvSpPr/>
          <p:nvPr/>
        </p:nvSpPr>
        <p:spPr>
          <a:xfrm>
            <a:off x="685800" y="38587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34" name="fx7_4_17"/>
          <p:cNvSpPr/>
          <p:nvPr/>
        </p:nvSpPr>
        <p:spPr>
          <a:xfrm>
            <a:off x="685800" y="38587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фермер</a:t>
            </a:r>
            <a:endParaRPr lang="en-US" sz="1100" dirty="0"/>
          </a:p>
        </p:txBody>
      </p:sp>
      <p:sp>
        <p:nvSpPr>
          <p:cNvPr id="35" name="fx7_4_18"/>
          <p:cNvSpPr/>
          <p:nvPr/>
        </p:nvSpPr>
        <p:spPr>
          <a:xfrm>
            <a:off x="1792224" y="38587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36" name="fx7_4_19"/>
          <p:cNvSpPr/>
          <p:nvPr/>
        </p:nvSpPr>
        <p:spPr>
          <a:xfrm>
            <a:off x="1792224" y="38587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оптовик</a:t>
            </a:r>
            <a:endParaRPr lang="en-US" sz="1100" dirty="0"/>
          </a:p>
        </p:txBody>
      </p:sp>
      <p:sp>
        <p:nvSpPr>
          <p:cNvPr id="37" name="fx7_4_20"/>
          <p:cNvSpPr/>
          <p:nvPr/>
        </p:nvSpPr>
        <p:spPr>
          <a:xfrm>
            <a:off x="2898648" y="38587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38" name="fx7_4_21"/>
          <p:cNvSpPr/>
          <p:nvPr/>
        </p:nvSpPr>
        <p:spPr>
          <a:xfrm>
            <a:off x="2898648" y="38587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пекарь</a:t>
            </a:r>
            <a:endParaRPr lang="en-US" sz="1100" dirty="0"/>
          </a:p>
        </p:txBody>
      </p:sp>
      <p:sp>
        <p:nvSpPr>
          <p:cNvPr id="39" name="fx7_4_22"/>
          <p:cNvSpPr/>
          <p:nvPr/>
        </p:nvSpPr>
        <p:spPr>
          <a:xfrm>
            <a:off x="4005072" y="38587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40" name="fx7_4_23"/>
          <p:cNvSpPr/>
          <p:nvPr/>
        </p:nvSpPr>
        <p:spPr>
          <a:xfrm>
            <a:off x="4005072" y="38587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мясник</a:t>
            </a:r>
            <a:endParaRPr lang="en-US" sz="1100" dirty="0"/>
          </a:p>
        </p:txBody>
      </p:sp>
      <p:sp>
        <p:nvSpPr>
          <p:cNvPr id="41" name="fx7_4_24"/>
          <p:cNvSpPr/>
          <p:nvPr/>
        </p:nvSpPr>
        <p:spPr>
          <a:xfrm>
            <a:off x="5111496" y="38587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42" name="fx7_4_25"/>
          <p:cNvSpPr/>
          <p:nvPr/>
        </p:nvSpPr>
        <p:spPr>
          <a:xfrm>
            <a:off x="5111496" y="38587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трактирщик</a:t>
            </a:r>
            <a:endParaRPr lang="en-US" sz="1100" dirty="0"/>
          </a:p>
        </p:txBody>
      </p:sp>
      <p:sp>
        <p:nvSpPr>
          <p:cNvPr id="43" name="fx7_4_26"/>
          <p:cNvSpPr/>
          <p:nvPr/>
        </p:nvSpPr>
        <p:spPr>
          <a:xfrm>
            <a:off x="6217920" y="38587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44" name="fx7_4_27"/>
          <p:cNvSpPr/>
          <p:nvPr/>
        </p:nvSpPr>
        <p:spPr>
          <a:xfrm>
            <a:off x="6217920" y="38587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купец</a:t>
            </a:r>
            <a:endParaRPr lang="en-US" sz="1100" dirty="0"/>
          </a:p>
        </p:txBody>
      </p:sp>
      <p:sp>
        <p:nvSpPr>
          <p:cNvPr id="45" name="fx7_5_28"/>
          <p:cNvSpPr/>
          <p:nvPr/>
        </p:nvSpPr>
        <p:spPr>
          <a:xfrm>
            <a:off x="685800" y="43159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46" name="fx7_5_29"/>
          <p:cNvSpPr/>
          <p:nvPr/>
        </p:nvSpPr>
        <p:spPr>
          <a:xfrm>
            <a:off x="685800" y="43159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трубочист</a:t>
            </a:r>
            <a:endParaRPr lang="en-US" sz="1100" dirty="0"/>
          </a:p>
        </p:txBody>
      </p:sp>
      <p:sp>
        <p:nvSpPr>
          <p:cNvPr id="47" name="fx7_5_30"/>
          <p:cNvSpPr/>
          <p:nvPr/>
        </p:nvSpPr>
        <p:spPr>
          <a:xfrm>
            <a:off x="1792224" y="43159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48" name="fx7_5_31"/>
          <p:cNvSpPr/>
          <p:nvPr/>
        </p:nvSpPr>
        <p:spPr>
          <a:xfrm>
            <a:off x="1792224" y="43159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водонос</a:t>
            </a:r>
            <a:endParaRPr lang="en-US" sz="1100" dirty="0"/>
          </a:p>
        </p:txBody>
      </p:sp>
      <p:sp>
        <p:nvSpPr>
          <p:cNvPr id="49" name="fx7_5_32"/>
          <p:cNvSpPr/>
          <p:nvPr/>
        </p:nvSpPr>
        <p:spPr>
          <a:xfrm>
            <a:off x="2898648" y="43159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50" name="fx7_5_33"/>
          <p:cNvSpPr/>
          <p:nvPr/>
        </p:nvSpPr>
        <p:spPr>
          <a:xfrm>
            <a:off x="2898648" y="43159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швея</a:t>
            </a:r>
            <a:endParaRPr lang="en-US" sz="1100" dirty="0"/>
          </a:p>
        </p:txBody>
      </p:sp>
      <p:sp>
        <p:nvSpPr>
          <p:cNvPr id="51" name="fx7_5_34"/>
          <p:cNvSpPr/>
          <p:nvPr/>
        </p:nvSpPr>
        <p:spPr>
          <a:xfrm>
            <a:off x="4005072" y="43159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52" name="fx7_5_35"/>
          <p:cNvSpPr/>
          <p:nvPr/>
        </p:nvSpPr>
        <p:spPr>
          <a:xfrm>
            <a:off x="4005072" y="43159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художник</a:t>
            </a:r>
            <a:endParaRPr lang="en-US" sz="1100" dirty="0"/>
          </a:p>
        </p:txBody>
      </p:sp>
      <p:sp>
        <p:nvSpPr>
          <p:cNvPr id="53" name="fx7_5_36"/>
          <p:cNvSpPr/>
          <p:nvPr/>
        </p:nvSpPr>
        <p:spPr>
          <a:xfrm>
            <a:off x="5111496" y="43159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54" name="fx7_5_37"/>
          <p:cNvSpPr/>
          <p:nvPr/>
        </p:nvSpPr>
        <p:spPr>
          <a:xfrm>
            <a:off x="5111496" y="43159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врач</a:t>
            </a:r>
            <a:endParaRPr lang="en-US" sz="1100" dirty="0"/>
          </a:p>
        </p:txBody>
      </p:sp>
      <p:sp>
        <p:nvSpPr>
          <p:cNvPr id="55" name="fx7_5_38"/>
          <p:cNvSpPr/>
          <p:nvPr/>
        </p:nvSpPr>
        <p:spPr>
          <a:xfrm>
            <a:off x="6217920" y="4315968"/>
            <a:ext cx="1033272" cy="347472"/>
          </a:xfrm>
          <a:prstGeom prst="roundRect">
            <a:avLst>
              <a:gd name="adj" fmla="val 50000"/>
            </a:avLst>
          </a:prstGeom>
          <a:solidFill>
            <a:srgbClr val="22121A">
              <a:alpha val="85000"/>
            </a:srgbClr>
          </a:solidFill>
          <a:ln w="9525">
            <a:solidFill>
              <a:srgbClr val="9A8C86">
                <a:alpha val="45000"/>
              </a:srgbClr>
            </a:solidFill>
            <a:prstDash val="solid"/>
          </a:ln>
        </p:spPr>
      </p:sp>
      <p:sp>
        <p:nvSpPr>
          <p:cNvPr id="56" name="fx7_5_39"/>
          <p:cNvSpPr/>
          <p:nvPr/>
        </p:nvSpPr>
        <p:spPr>
          <a:xfrm>
            <a:off x="6217920" y="4315968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адвокат</a:t>
            </a:r>
            <a:endParaRPr lang="en-US" sz="1100" dirty="0"/>
          </a:p>
        </p:txBody>
      </p:sp>
      <p:sp>
        <p:nvSpPr>
          <p:cNvPr id="57" name="fx7_8_40"/>
          <p:cNvSpPr/>
          <p:nvPr/>
        </p:nvSpPr>
        <p:spPr>
          <a:xfrm>
            <a:off x="685800" y="5166360"/>
            <a:ext cx="6675120" cy="1024128"/>
          </a:xfrm>
          <a:prstGeom prst="roundRect">
            <a:avLst>
              <a:gd name="adj" fmla="val 7143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58" name="fx7_8_41"/>
          <p:cNvSpPr/>
          <p:nvPr/>
        </p:nvSpPr>
        <p:spPr>
          <a:xfrm>
            <a:off x="685800" y="5312664"/>
            <a:ext cx="50292" cy="73152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59" name="fx7_8_42"/>
          <p:cNvSpPr/>
          <p:nvPr/>
        </p:nvSpPr>
        <p:spPr>
          <a:xfrm>
            <a:off x="941832" y="5029200"/>
            <a:ext cx="2761488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60" name="fx7_8_43"/>
          <p:cNvSpPr/>
          <p:nvPr/>
        </p:nvSpPr>
        <p:spPr>
          <a:xfrm>
            <a:off x="941832" y="502920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ЦИТАТА, КОТОРАЯ УДИВЛЯЕТ</a:t>
            </a:r>
            <a:endParaRPr lang="en-US" sz="850" dirty="0"/>
          </a:p>
        </p:txBody>
      </p:sp>
      <p:sp>
        <p:nvSpPr>
          <p:cNvPr id="61" name="fx7_8_44"/>
          <p:cNvSpPr/>
          <p:nvPr/>
        </p:nvSpPr>
        <p:spPr>
          <a:xfrm>
            <a:off x="960120" y="5349240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«…даже нищие и грабители — предприниматели этого класса».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«Essai», ч. I, гл. XIII</a:t>
            </a:r>
            <a:endParaRPr lang="en-US" sz="16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2" name="!!m-scales">
                <a:extLst>
                  <a:ext uri="{FF2B5EF4-FFF2-40B4-BE49-F238E27FC236}">
                    <a16:creationId xmlns:a16="http://schemas.microsoft.com/office/drawing/2014/main" id="{FCC18204-CB3E-27B7-DB66-D70CB8DC3C1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937760" y="1234440"/>
              <a:ext cx="4389120" cy="4389120"/>
            </p:xfrm>
            <a:graphic>
              <a:graphicData uri="http://schemas.microsoft.com/office/drawing/2017/model3d">
                <am3d:model3d r:embed="rIdM3d26">
                  <am3d:spPr>
                    <a:xfrm>
                      <a:off x="0" y="0"/>
                      <a:ext cx="4389120" cy="4389120"/>
                    </a:xfrm>
                    <a:prstGeom prst="rect">
                      <a:avLst/>
                    </a:prstGeom>
                  </am3d:spPr>
                  <am3d:camera>
                    <am3d:pos x="0" y="0" z="628986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95238" d="1000000"/>
                    <am3d:preTrans dx="0" dy="-208928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80000" ay="-588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38912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2" name="!!m-scales">
                <a:extLst>
                  <a:ext uri="{FF2B5EF4-FFF2-40B4-BE49-F238E27FC236}">
                    <a16:creationId xmlns:a16="http://schemas.microsoft.com/office/drawing/2014/main" id="{FCC18204-CB3E-27B7-DB66-D70CB8DC3C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937760" y="1234440"/>
                <a:ext cx="4389120" cy="43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3" name="!!m-ripple">
                <a:extLst>
                  <a:ext uri="{FF2B5EF4-FFF2-40B4-BE49-F238E27FC236}">
                    <a16:creationId xmlns:a16="http://schemas.microsoft.com/office/drawing/2014/main" id="{6A2BDD96-182E-F716-668D-37777161602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371600"/>
              <a:ext cx="4206240" cy="4206240"/>
            </p:xfrm>
            <a:graphic>
              <a:graphicData uri="http://schemas.microsoft.com/office/drawing/2017/model3d">
                <am3d:model3d r:embed="rIdM3d27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700415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5294" d="1000000"/>
                    <am3d:preTrans dx="0" dy="-256938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42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3" name="!!m-ripple">
                <a:extLst>
                  <a:ext uri="{FF2B5EF4-FFF2-40B4-BE49-F238E27FC236}">
                    <a16:creationId xmlns:a16="http://schemas.microsoft.com/office/drawing/2014/main" id="{6A2BDD96-182E-F716-668D-37777161602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371600"/>
                <a:ext cx="4206240" cy="4206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700" decel="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7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7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00" decel="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00" decel="100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7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00" decel="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7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700" decel="100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7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700" decel="100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7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7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700" decel="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7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7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700" decel="100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7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7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700" decel="100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7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7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700" decel="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7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700" decel="100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8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8415630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85914BAC-DE10-4720-A199-79F92D00755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827110" y="98755"/>
              <a:ext cx="548640" cy="548640"/>
            </p:xfrm>
            <a:graphic>
              <a:graphicData uri="http://schemas.microsoft.com/office/drawing/2017/model3d">
                <am3d:model3d r:embed="rIdM3d28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6132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85914BAC-DE10-4720-A199-79F92D00755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827110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— ЭФФЕКТ КАНТИЛЬОНА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59436"/>
            <a:ext cx="6099048" cy="6099048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7715707" y="1132027"/>
            <a:ext cx="3953866" cy="3953866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168896" y="585216"/>
            <a:ext cx="5047488" cy="5047488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988" y="3671545"/>
            <a:ext cx="3575304" cy="89382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ripple">
                <a:extLst>
                  <a:ext uri="{FF2B5EF4-FFF2-40B4-BE49-F238E27FC236}">
                    <a16:creationId xmlns:a16="http://schemas.microsoft.com/office/drawing/2014/main" id="{B441220A-5BDB-34E3-EF90-EF9D88F7A71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9520" y="1005840"/>
              <a:ext cx="4206240" cy="4206240"/>
            </p:xfrm>
            <a:graphic>
              <a:graphicData uri="http://schemas.microsoft.com/office/drawing/2017/model3d">
                <am3d:model3d r:embed="rIdM3d29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700415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5294" d="1000000"/>
                    <am3d:preTrans dx="0" dy="-256938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-6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ripple">
                <a:extLst>
                  <a:ext uri="{FF2B5EF4-FFF2-40B4-BE49-F238E27FC236}">
                    <a16:creationId xmlns:a16="http://schemas.microsoft.com/office/drawing/2014/main" id="{B441220A-5BDB-34E3-EF90-EF9D88F7A71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9520" y="1005840"/>
                <a:ext cx="4206240" cy="42062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8_9_0"/>
          <p:cNvSpPr/>
          <p:nvPr/>
        </p:nvSpPr>
        <p:spPr>
          <a:xfrm>
            <a:off x="8046720" y="4917643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08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Монета падает в воду — и расходятся круги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Кто первым получает новые деньги — выигрывает</a:t>
            </a:r>
            <a:endParaRPr lang="en-US" sz="3200" dirty="0"/>
          </a:p>
        </p:txBody>
      </p:sp>
      <p:sp>
        <p:nvSpPr>
          <p:cNvPr id="18" name="fx8_1_1"/>
          <p:cNvSpPr/>
          <p:nvPr/>
        </p:nvSpPr>
        <p:spPr>
          <a:xfrm>
            <a:off x="685800" y="2240280"/>
            <a:ext cx="1588770" cy="1600200"/>
          </a:xfrm>
          <a:prstGeom prst="roundRect">
            <a:avLst>
              <a:gd name="adj" fmla="val 4604"/>
            </a:avLst>
          </a:prstGeom>
          <a:solidFill>
            <a:srgbClr val="22121A">
              <a:alpha val="95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9" name="fx8_1_2"/>
          <p:cNvSpPr/>
          <p:nvPr/>
        </p:nvSpPr>
        <p:spPr>
          <a:xfrm>
            <a:off x="1279017" y="2404872"/>
            <a:ext cx="402336" cy="402336"/>
          </a:xfrm>
          <a:prstGeom prst="ellipse">
            <a:avLst/>
          </a:prstGeom>
          <a:solidFill>
            <a:srgbClr val="0D0709"/>
          </a:solidFill>
          <a:ln w="15875">
            <a:solidFill>
              <a:srgbClr val="E3B663"/>
            </a:solidFill>
            <a:prstDash val="solid"/>
          </a:ln>
        </p:spPr>
      </p:sp>
      <p:sp>
        <p:nvSpPr>
          <p:cNvPr id="20" name="fx8_1_3"/>
          <p:cNvSpPr/>
          <p:nvPr/>
        </p:nvSpPr>
        <p:spPr>
          <a:xfrm>
            <a:off x="1279017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fx8_1_4"/>
          <p:cNvSpPr/>
          <p:nvPr/>
        </p:nvSpPr>
        <p:spPr>
          <a:xfrm>
            <a:off x="795528" y="2898648"/>
            <a:ext cx="1369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Новые деньги</a:t>
            </a:r>
            <a:endParaRPr lang="en-US" sz="1250" dirty="0"/>
          </a:p>
        </p:txBody>
      </p:sp>
      <p:sp>
        <p:nvSpPr>
          <p:cNvPr id="22" name="fx8_1_5"/>
          <p:cNvSpPr/>
          <p:nvPr/>
        </p:nvSpPr>
        <p:spPr>
          <a:xfrm>
            <a:off x="795528" y="3172968"/>
            <a:ext cx="1369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рудник, печатный станок, кредит</a:t>
            </a:r>
            <a:endParaRPr lang="en-US" sz="1000" dirty="0"/>
          </a:p>
        </p:txBody>
      </p:sp>
      <p:sp>
        <p:nvSpPr>
          <p:cNvPr id="23" name="fx8_2_6"/>
          <p:cNvSpPr/>
          <p:nvPr/>
        </p:nvSpPr>
        <p:spPr>
          <a:xfrm>
            <a:off x="2411730" y="2240280"/>
            <a:ext cx="1588770" cy="1600200"/>
          </a:xfrm>
          <a:prstGeom prst="roundRect">
            <a:avLst>
              <a:gd name="adj" fmla="val 4604"/>
            </a:avLst>
          </a:prstGeom>
          <a:solidFill>
            <a:srgbClr val="22121A">
              <a:alpha val="95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4" name="fx8_2_7"/>
          <p:cNvSpPr/>
          <p:nvPr/>
        </p:nvSpPr>
        <p:spPr>
          <a:xfrm>
            <a:off x="3004947" y="2404872"/>
            <a:ext cx="402336" cy="402336"/>
          </a:xfrm>
          <a:prstGeom prst="ellipse">
            <a:avLst/>
          </a:prstGeom>
          <a:solidFill>
            <a:srgbClr val="0D0709"/>
          </a:solidFill>
          <a:ln w="15875">
            <a:solidFill>
              <a:srgbClr val="E3B663"/>
            </a:solidFill>
            <a:prstDash val="solid"/>
          </a:ln>
        </p:spPr>
      </p:sp>
      <p:sp>
        <p:nvSpPr>
          <p:cNvPr id="25" name="fx8_2_8"/>
          <p:cNvSpPr/>
          <p:nvPr/>
        </p:nvSpPr>
        <p:spPr>
          <a:xfrm>
            <a:off x="3004947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fx8_2_9"/>
          <p:cNvSpPr/>
          <p:nvPr/>
        </p:nvSpPr>
        <p:spPr>
          <a:xfrm>
            <a:off x="2521458" y="2898648"/>
            <a:ext cx="1369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</a:t>
            </a:r>
            <a:endParaRPr lang="en-US" sz="1250" dirty="0"/>
          </a:p>
        </p:txBody>
      </p:sp>
      <p:sp>
        <p:nvSpPr>
          <p:cNvPr id="27" name="fx8_2_10"/>
          <p:cNvSpPr/>
          <p:nvPr/>
        </p:nvSpPr>
        <p:spPr>
          <a:xfrm>
            <a:off x="2521458" y="3172968"/>
            <a:ext cx="1369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получатели тратят по старым ценам — выигрывают</a:t>
            </a:r>
            <a:endParaRPr lang="en-US" sz="1000" dirty="0"/>
          </a:p>
        </p:txBody>
      </p:sp>
      <p:sp>
        <p:nvSpPr>
          <p:cNvPr id="28" name="fx8_3_11"/>
          <p:cNvSpPr/>
          <p:nvPr/>
        </p:nvSpPr>
        <p:spPr>
          <a:xfrm>
            <a:off x="4137660" y="2240280"/>
            <a:ext cx="1588770" cy="1600200"/>
          </a:xfrm>
          <a:prstGeom prst="roundRect">
            <a:avLst>
              <a:gd name="adj" fmla="val 4604"/>
            </a:avLst>
          </a:prstGeom>
          <a:solidFill>
            <a:srgbClr val="22121A">
              <a:alpha val="95000"/>
            </a:srgbClr>
          </a:solidFill>
          <a:ln w="9525">
            <a:solidFill>
              <a:srgbClr val="E3B663">
                <a:alpha val="3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9" name="fx8_3_12"/>
          <p:cNvSpPr/>
          <p:nvPr/>
        </p:nvSpPr>
        <p:spPr>
          <a:xfrm>
            <a:off x="4730877" y="2404872"/>
            <a:ext cx="402336" cy="402336"/>
          </a:xfrm>
          <a:prstGeom prst="ellipse">
            <a:avLst/>
          </a:prstGeom>
          <a:solidFill>
            <a:srgbClr val="0D0709"/>
          </a:solidFill>
          <a:ln w="15875">
            <a:solidFill>
              <a:srgbClr val="E3B663"/>
            </a:solidFill>
            <a:prstDash val="solid"/>
          </a:ln>
        </p:spPr>
      </p:sp>
      <p:sp>
        <p:nvSpPr>
          <p:cNvPr id="30" name="fx8_3_13"/>
          <p:cNvSpPr/>
          <p:nvPr/>
        </p:nvSpPr>
        <p:spPr>
          <a:xfrm>
            <a:off x="4730877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31" name="fx8_3_14"/>
          <p:cNvSpPr/>
          <p:nvPr/>
        </p:nvSpPr>
        <p:spPr>
          <a:xfrm>
            <a:off x="4247388" y="2898648"/>
            <a:ext cx="1369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 цен</a:t>
            </a:r>
            <a:endParaRPr lang="en-US" sz="1250" dirty="0"/>
          </a:p>
        </p:txBody>
      </p:sp>
      <p:sp>
        <p:nvSpPr>
          <p:cNvPr id="32" name="fx8_3_15"/>
          <p:cNvSpPr/>
          <p:nvPr/>
        </p:nvSpPr>
        <p:spPr>
          <a:xfrm>
            <a:off x="4247388" y="3172968"/>
            <a:ext cx="1369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дорожает то, что покупают именно они</a:t>
            </a:r>
            <a:endParaRPr lang="en-US" sz="1000" dirty="0"/>
          </a:p>
        </p:txBody>
      </p:sp>
      <p:sp>
        <p:nvSpPr>
          <p:cNvPr id="33" name="fx8_4_16"/>
          <p:cNvSpPr/>
          <p:nvPr/>
        </p:nvSpPr>
        <p:spPr>
          <a:xfrm>
            <a:off x="5863590" y="2240280"/>
            <a:ext cx="1588770" cy="1600200"/>
          </a:xfrm>
          <a:prstGeom prst="roundRect">
            <a:avLst>
              <a:gd name="adj" fmla="val 4604"/>
            </a:avLst>
          </a:prstGeom>
          <a:solidFill>
            <a:srgbClr val="2A1210">
              <a:alpha val="95000"/>
            </a:srgbClr>
          </a:solidFill>
          <a:ln w="9525">
            <a:solidFill>
              <a:srgbClr val="E8866A">
                <a:alpha val="60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4" name="fx8_4_17"/>
          <p:cNvSpPr/>
          <p:nvPr/>
        </p:nvSpPr>
        <p:spPr>
          <a:xfrm>
            <a:off x="6456807" y="2404872"/>
            <a:ext cx="402336" cy="402336"/>
          </a:xfrm>
          <a:prstGeom prst="ellipse">
            <a:avLst/>
          </a:prstGeom>
          <a:solidFill>
            <a:srgbClr val="0D0709"/>
          </a:solidFill>
          <a:ln w="15875">
            <a:solidFill>
              <a:srgbClr val="E8866A"/>
            </a:solidFill>
            <a:prstDash val="solid"/>
          </a:ln>
        </p:spPr>
      </p:sp>
      <p:sp>
        <p:nvSpPr>
          <p:cNvPr id="35" name="fx8_4_18"/>
          <p:cNvSpPr/>
          <p:nvPr/>
        </p:nvSpPr>
        <p:spPr>
          <a:xfrm>
            <a:off x="6456807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886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fx8_4_19"/>
          <p:cNvSpPr/>
          <p:nvPr/>
        </p:nvSpPr>
        <p:spPr>
          <a:xfrm>
            <a:off x="5973318" y="2898648"/>
            <a:ext cx="1369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Последние</a:t>
            </a:r>
            <a:endParaRPr lang="en-US" sz="1250" dirty="0"/>
          </a:p>
        </p:txBody>
      </p:sp>
      <p:sp>
        <p:nvSpPr>
          <p:cNvPr id="37" name="fx8_4_20"/>
          <p:cNvSpPr/>
          <p:nvPr/>
        </p:nvSpPr>
        <p:spPr>
          <a:xfrm>
            <a:off x="5973318" y="3172968"/>
            <a:ext cx="13693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получают деньги после роста цен — проигрывают</a:t>
            </a:r>
            <a:endParaRPr lang="en-US" sz="1000" dirty="0"/>
          </a:p>
        </p:txBody>
      </p:sp>
      <p:sp>
        <p:nvSpPr>
          <p:cNvPr id="38" name="fx8_5_21"/>
          <p:cNvSpPr/>
          <p:nvPr/>
        </p:nvSpPr>
        <p:spPr>
          <a:xfrm>
            <a:off x="685800" y="4005072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из «Essai»: </a:t>
            </a:r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новое серебро → шахтёры едят больше мяса и пьют вино → фермеры переводят землю под скот и виноградники.</a:t>
            </a:r>
            <a:endParaRPr lang="en-US" sz="1200" dirty="0"/>
          </a:p>
        </p:txBody>
      </p:sp>
      <p:sp>
        <p:nvSpPr>
          <p:cNvPr id="39" name="fx8_8_22"/>
          <p:cNvSpPr/>
          <p:nvPr/>
        </p:nvSpPr>
        <p:spPr>
          <a:xfrm>
            <a:off x="685800" y="5166360"/>
            <a:ext cx="6766560" cy="1005840"/>
          </a:xfrm>
          <a:prstGeom prst="roundRect">
            <a:avLst>
              <a:gd name="adj" fmla="val 7273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0" name="fx8_8_23"/>
          <p:cNvSpPr/>
          <p:nvPr/>
        </p:nvSpPr>
        <p:spPr>
          <a:xfrm>
            <a:off x="685800" y="5312664"/>
            <a:ext cx="50292" cy="71323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1" name="fx8_8_24"/>
          <p:cNvSpPr/>
          <p:nvPr/>
        </p:nvSpPr>
        <p:spPr>
          <a:xfrm>
            <a:off x="941832" y="502920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42" name="fx8_8_25"/>
          <p:cNvSpPr/>
          <p:nvPr/>
        </p:nvSpPr>
        <p:spPr>
          <a:xfrm>
            <a:off x="941832" y="502920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43" name="fx8_8_26"/>
          <p:cNvSpPr/>
          <p:nvPr/>
        </p:nvSpPr>
        <p:spPr>
          <a:xfrm>
            <a:off x="960120" y="53492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Термин жив и сегодня: «эффектом Кантильона» объясняют, почему от печатания денег центробанками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раньше всех выигрывают банки и владельцы активов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4" name="!!m-dice">
                <a:extLst>
                  <a:ext uri="{FF2B5EF4-FFF2-40B4-BE49-F238E27FC236}">
                    <a16:creationId xmlns:a16="http://schemas.microsoft.com/office/drawing/2014/main" id="{89EBE3EF-EA7C-7FE0-7BD4-A922511B2EC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389120" y="1463040"/>
              <a:ext cx="3840480" cy="3840480"/>
            </p:xfrm>
            <a:graphic>
              <a:graphicData uri="http://schemas.microsoft.com/office/drawing/2017/model3d">
                <am3d:model3d r:embed="rIdM3d30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5859994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69231" d="1000000"/>
                    <am3d:preTrans dx="0" dy="832292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80000" ay="-624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4" name="!!m-dice">
                <a:extLst>
                  <a:ext uri="{FF2B5EF4-FFF2-40B4-BE49-F238E27FC236}">
                    <a16:creationId xmlns:a16="http://schemas.microsoft.com/office/drawing/2014/main" id="{89EBE3EF-EA7C-7FE0-7BD4-A922511B2EC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389120" y="1463040"/>
                <a:ext cx="3840480" cy="38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5" name="!!m-compass">
                <a:extLst>
                  <a:ext uri="{FF2B5EF4-FFF2-40B4-BE49-F238E27FC236}">
                    <a16:creationId xmlns:a16="http://schemas.microsoft.com/office/drawing/2014/main" id="{9A8642CB-A1B2-23D8-ABE7-FBC8D75979B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502920"/>
              <a:ext cx="2697480" cy="2697480"/>
            </p:xfrm>
            <a:graphic>
              <a:graphicData uri="http://schemas.microsoft.com/office/drawing/2017/model3d">
                <am3d:model3d r:embed="rIdM3d31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692371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3215" d="1000000"/>
                    <am3d:preTrans dx="0" dy="-3113734" dz="149890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5" name="!!m-compass">
                <a:extLst>
                  <a:ext uri="{FF2B5EF4-FFF2-40B4-BE49-F238E27FC236}">
                    <a16:creationId xmlns:a16="http://schemas.microsoft.com/office/drawing/2014/main" id="{9A8642CB-A1B2-23D8-ABE7-FBC8D75979B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502920"/>
                <a:ext cx="2697480" cy="269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9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9617862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7B1FC48D-2562-AAC4-6EEF-A6442D96278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029342" y="98755"/>
              <a:ext cx="548640" cy="548640"/>
            </p:xfrm>
            <a:graphic>
              <a:graphicData uri="http://schemas.microsoft.com/office/drawing/2017/model3d">
                <am3d:model3d r:embed="rIdM3d32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7008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7B1FC48D-2562-AAC4-6EEF-A6442D96278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029342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— ВКЛАД В ПРЕДПРИНИМАТЕЛЬСТВО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8" y="-267462"/>
            <a:ext cx="3506724" cy="3506724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996324" y="218084"/>
            <a:ext cx="2535631" cy="2535631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8645652" y="-132588"/>
            <a:ext cx="3236976" cy="323697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2254682"/>
            <a:ext cx="1618488" cy="404622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ompass">
                <a:extLst>
                  <a:ext uri="{FF2B5EF4-FFF2-40B4-BE49-F238E27FC236}">
                    <a16:creationId xmlns:a16="http://schemas.microsoft.com/office/drawing/2014/main" id="{114DEBA6-924C-1A92-657C-58E472061E5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915400" y="137160"/>
              <a:ext cx="2697480" cy="2697480"/>
            </p:xfrm>
            <a:graphic>
              <a:graphicData uri="http://schemas.microsoft.com/office/drawing/2017/model3d">
                <am3d:model3d r:embed="rIdM3d33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692371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3215" d="1000000"/>
                    <am3d:preTrans dx="0" dy="-3113734" dz="149890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ompass">
                <a:extLst>
                  <a:ext uri="{FF2B5EF4-FFF2-40B4-BE49-F238E27FC236}">
                    <a16:creationId xmlns:a16="http://schemas.microsoft.com/office/drawing/2014/main" id="{114DEBA6-924C-1A92-657C-58E472061E5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15400" y="137160"/>
                <a:ext cx="2697480" cy="26974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9_9_0"/>
          <p:cNvSpPr/>
          <p:nvPr/>
        </p:nvSpPr>
        <p:spPr>
          <a:xfrm>
            <a:off x="6400800" y="914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09</a:t>
            </a:r>
            <a:endParaRPr lang="en-US" sz="900" dirty="0"/>
          </a:p>
          <a:p>
            <a:pPr algn="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Толчок — и стрелка снова находит север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 него началась теория предпринимателя</a:t>
            </a:r>
            <a:endParaRPr lang="en-US" sz="3300" dirty="0"/>
          </a:p>
        </p:txBody>
      </p:sp>
      <p:sp>
        <p:nvSpPr>
          <p:cNvPr id="18" name="fx9_1_1"/>
          <p:cNvSpPr/>
          <p:nvPr/>
        </p:nvSpPr>
        <p:spPr>
          <a:xfrm>
            <a:off x="685800" y="217627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fx9_1_2"/>
          <p:cNvSpPr/>
          <p:nvPr/>
        </p:nvSpPr>
        <p:spPr>
          <a:xfrm>
            <a:off x="1280160" y="22128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Ввёл само понятие</a:t>
            </a:r>
            <a:endParaRPr lang="en-US" sz="1400" dirty="0"/>
          </a:p>
        </p:txBody>
      </p:sp>
      <p:sp>
        <p:nvSpPr>
          <p:cNvPr id="20" name="fx9_1_3"/>
          <p:cNvSpPr/>
          <p:nvPr/>
        </p:nvSpPr>
        <p:spPr>
          <a:xfrm>
            <a:off x="1280160" y="24871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— центральная фигура экономики.</a:t>
            </a:r>
            <a:endParaRPr lang="en-US" sz="1150" dirty="0"/>
          </a:p>
        </p:txBody>
      </p:sp>
      <p:sp>
        <p:nvSpPr>
          <p:cNvPr id="21" name="fx9_2_4"/>
          <p:cNvSpPr/>
          <p:nvPr/>
        </p:nvSpPr>
        <p:spPr>
          <a:xfrm>
            <a:off x="685800" y="281635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22" name="fx9_2_5"/>
          <p:cNvSpPr/>
          <p:nvPr/>
        </p:nvSpPr>
        <p:spPr>
          <a:xfrm>
            <a:off x="1280160" y="28529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— нести неопределённость</a:t>
            </a:r>
            <a:endParaRPr lang="en-US" sz="1400" dirty="0"/>
          </a:p>
        </p:txBody>
      </p:sp>
      <p:sp>
        <p:nvSpPr>
          <p:cNvPr id="23" name="fx9_2_6"/>
          <p:cNvSpPr/>
          <p:nvPr/>
        </p:nvSpPr>
        <p:spPr>
          <a:xfrm>
            <a:off x="1280160" y="3127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капитал и не профессия, а доход «по неизвестной цене».</a:t>
            </a:r>
            <a:endParaRPr lang="en-US" sz="1150" dirty="0"/>
          </a:p>
        </p:txBody>
      </p:sp>
      <p:sp>
        <p:nvSpPr>
          <p:cNvPr id="24" name="fx9_3_7"/>
          <p:cNvSpPr/>
          <p:nvPr/>
        </p:nvSpPr>
        <p:spPr>
          <a:xfrm>
            <a:off x="685800" y="3456432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fx9_3_8"/>
          <p:cNvSpPr/>
          <p:nvPr/>
        </p:nvSpPr>
        <p:spPr>
          <a:xfrm>
            <a:off x="1280160" y="34930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Предприниматель координирует рынок</a:t>
            </a:r>
            <a:endParaRPr lang="en-US" sz="1400" dirty="0"/>
          </a:p>
        </p:txBody>
      </p:sp>
      <p:sp>
        <p:nvSpPr>
          <p:cNvPr id="26" name="fx9_3_9"/>
          <p:cNvSpPr/>
          <p:nvPr/>
        </p:nvSpPr>
        <p:spPr>
          <a:xfrm>
            <a:off x="1280160" y="3767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Подстраивает предложение под спрос и связывает рынки.</a:t>
            </a:r>
            <a:endParaRPr lang="en-US" sz="1150" dirty="0"/>
          </a:p>
        </p:txBody>
      </p:sp>
      <p:sp>
        <p:nvSpPr>
          <p:cNvPr id="27" name="fx9_4_10"/>
          <p:cNvSpPr/>
          <p:nvPr/>
        </p:nvSpPr>
        <p:spPr>
          <a:xfrm>
            <a:off x="685800" y="4224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ЭСТАФЕТА ИДЕЙ</a:t>
            </a:r>
            <a:endParaRPr lang="en-US" sz="950" dirty="0"/>
          </a:p>
        </p:txBody>
      </p:sp>
      <p:sp>
        <p:nvSpPr>
          <p:cNvPr id="28" name="fx9_4_11"/>
          <p:cNvSpPr/>
          <p:nvPr/>
        </p:nvSpPr>
        <p:spPr>
          <a:xfrm>
            <a:off x="1767810" y="4645152"/>
            <a:ext cx="8656076" cy="91"/>
          </a:xfrm>
          <a:prstGeom prst="line">
            <a:avLst/>
          </a:prstGeom>
          <a:noFill/>
          <a:ln w="19050">
            <a:solidFill>
              <a:srgbClr val="E3B663">
                <a:alpha val="60000"/>
              </a:srgbClr>
            </a:solidFill>
            <a:prstDash val="solid"/>
          </a:ln>
        </p:spPr>
      </p:sp>
      <p:sp>
        <p:nvSpPr>
          <p:cNvPr id="29" name="fx9_4_12"/>
          <p:cNvSpPr/>
          <p:nvPr/>
        </p:nvSpPr>
        <p:spPr>
          <a:xfrm>
            <a:off x="1667226" y="4544568"/>
            <a:ext cx="201168" cy="201168"/>
          </a:xfrm>
          <a:prstGeom prst="ellipse">
            <a:avLst/>
          </a:prstGeom>
          <a:solidFill>
            <a:srgbClr val="E3B663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30" name="fx9_4_13"/>
          <p:cNvSpPr/>
          <p:nvPr/>
        </p:nvSpPr>
        <p:spPr>
          <a:xfrm>
            <a:off x="685800" y="4800600"/>
            <a:ext cx="216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Кантильон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≈1730</a:t>
            </a:r>
            <a:endParaRPr lang="en-US" sz="1300" dirty="0"/>
          </a:p>
        </p:txBody>
      </p:sp>
      <p:sp>
        <p:nvSpPr>
          <p:cNvPr id="31" name="fx9_4_14"/>
          <p:cNvSpPr/>
          <p:nvPr/>
        </p:nvSpPr>
        <p:spPr>
          <a:xfrm>
            <a:off x="777240" y="507492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несёт риск</a:t>
            </a:r>
            <a:endParaRPr lang="en-US" sz="1050" dirty="0"/>
          </a:p>
        </p:txBody>
      </p:sp>
      <p:sp>
        <p:nvSpPr>
          <p:cNvPr id="32" name="fx9_4_15"/>
          <p:cNvSpPr/>
          <p:nvPr/>
        </p:nvSpPr>
        <p:spPr>
          <a:xfrm>
            <a:off x="3831245" y="4544568"/>
            <a:ext cx="201168" cy="201168"/>
          </a:xfrm>
          <a:prstGeom prst="ellipse">
            <a:avLst/>
          </a:prstGeom>
          <a:solidFill>
            <a:srgbClr val="0D0709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33" name="fx9_4_16"/>
          <p:cNvSpPr/>
          <p:nvPr/>
        </p:nvSpPr>
        <p:spPr>
          <a:xfrm>
            <a:off x="2849819" y="4800600"/>
            <a:ext cx="216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Сэй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1803</a:t>
            </a:r>
            <a:endParaRPr lang="en-US" sz="1300" dirty="0"/>
          </a:p>
        </p:txBody>
      </p:sp>
      <p:sp>
        <p:nvSpPr>
          <p:cNvPr id="34" name="fx9_4_17"/>
          <p:cNvSpPr/>
          <p:nvPr/>
        </p:nvSpPr>
        <p:spPr>
          <a:xfrm>
            <a:off x="2941259" y="507492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организатор производства</a:t>
            </a:r>
            <a:endParaRPr lang="en-US" sz="1050" dirty="0"/>
          </a:p>
        </p:txBody>
      </p:sp>
      <p:sp>
        <p:nvSpPr>
          <p:cNvPr id="35" name="fx9_5_18"/>
          <p:cNvSpPr/>
          <p:nvPr/>
        </p:nvSpPr>
        <p:spPr>
          <a:xfrm>
            <a:off x="5995264" y="4544568"/>
            <a:ext cx="201168" cy="201168"/>
          </a:xfrm>
          <a:prstGeom prst="ellipse">
            <a:avLst/>
          </a:prstGeom>
          <a:solidFill>
            <a:srgbClr val="0D0709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36" name="fx9_5_19"/>
          <p:cNvSpPr/>
          <p:nvPr/>
        </p:nvSpPr>
        <p:spPr>
          <a:xfrm>
            <a:off x="5013838" y="4800600"/>
            <a:ext cx="216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Шумпетер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1911</a:t>
            </a:r>
            <a:endParaRPr lang="en-US" sz="1300" dirty="0"/>
          </a:p>
        </p:txBody>
      </p:sp>
      <p:sp>
        <p:nvSpPr>
          <p:cNvPr id="37" name="fx9_5_20"/>
          <p:cNvSpPr/>
          <p:nvPr/>
        </p:nvSpPr>
        <p:spPr>
          <a:xfrm>
            <a:off x="5105278" y="507492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новатор, новые комбинации</a:t>
            </a:r>
            <a:endParaRPr lang="en-US" sz="1050" dirty="0"/>
          </a:p>
        </p:txBody>
      </p:sp>
      <p:sp>
        <p:nvSpPr>
          <p:cNvPr id="38" name="fx9_5_21"/>
          <p:cNvSpPr/>
          <p:nvPr/>
        </p:nvSpPr>
        <p:spPr>
          <a:xfrm>
            <a:off x="8159283" y="4544568"/>
            <a:ext cx="201168" cy="201168"/>
          </a:xfrm>
          <a:prstGeom prst="ellipse">
            <a:avLst/>
          </a:prstGeom>
          <a:solidFill>
            <a:srgbClr val="0D0709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39" name="fx9_5_22"/>
          <p:cNvSpPr/>
          <p:nvPr/>
        </p:nvSpPr>
        <p:spPr>
          <a:xfrm>
            <a:off x="7177857" y="4800600"/>
            <a:ext cx="216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1921</a:t>
            </a:r>
            <a:endParaRPr lang="en-US" sz="1300" dirty="0"/>
          </a:p>
        </p:txBody>
      </p:sp>
      <p:sp>
        <p:nvSpPr>
          <p:cNvPr id="40" name="fx9_5_23"/>
          <p:cNvSpPr/>
          <p:nvPr/>
        </p:nvSpPr>
        <p:spPr>
          <a:xfrm>
            <a:off x="7269297" y="507492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неопределённость и прибыль</a:t>
            </a:r>
            <a:endParaRPr lang="en-US" sz="1050" dirty="0"/>
          </a:p>
        </p:txBody>
      </p:sp>
      <p:sp>
        <p:nvSpPr>
          <p:cNvPr id="41" name="fx9_6_24"/>
          <p:cNvSpPr/>
          <p:nvPr/>
        </p:nvSpPr>
        <p:spPr>
          <a:xfrm>
            <a:off x="10323302" y="4544568"/>
            <a:ext cx="201168" cy="201168"/>
          </a:xfrm>
          <a:prstGeom prst="ellipse">
            <a:avLst/>
          </a:prstGeom>
          <a:solidFill>
            <a:srgbClr val="0D0709"/>
          </a:solidFill>
          <a:ln w="25400">
            <a:solidFill>
              <a:srgbClr val="E3B663"/>
            </a:solidFill>
            <a:prstDash val="solid"/>
          </a:ln>
        </p:spPr>
      </p:sp>
      <p:sp>
        <p:nvSpPr>
          <p:cNvPr id="42" name="fx9_6_25"/>
          <p:cNvSpPr/>
          <p:nvPr/>
        </p:nvSpPr>
        <p:spPr>
          <a:xfrm>
            <a:off x="9341876" y="4800600"/>
            <a:ext cx="21640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Кирцнер  </a:t>
            </a:r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</a:t>
            </a:r>
            <a:endParaRPr lang="en-US" sz="1300" dirty="0"/>
          </a:p>
        </p:txBody>
      </p:sp>
      <p:sp>
        <p:nvSpPr>
          <p:cNvPr id="43" name="fx9_6_26"/>
          <p:cNvSpPr/>
          <p:nvPr/>
        </p:nvSpPr>
        <p:spPr>
          <a:xfrm>
            <a:off x="9433316" y="5074920"/>
            <a:ext cx="19811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бдительность к возможностям</a:t>
            </a:r>
            <a:endParaRPr lang="en-US" sz="1050" dirty="0"/>
          </a:p>
        </p:txBody>
      </p:sp>
      <p:sp>
        <p:nvSpPr>
          <p:cNvPr id="44" name="fx9_7_27"/>
          <p:cNvSpPr/>
          <p:nvPr/>
        </p:nvSpPr>
        <p:spPr>
          <a:xfrm>
            <a:off x="685800" y="5559552"/>
            <a:ext cx="6583680" cy="658368"/>
          </a:xfrm>
          <a:prstGeom prst="roundRect">
            <a:avLst>
              <a:gd name="adj" fmla="val 11111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5" name="fx9_7_28"/>
          <p:cNvSpPr/>
          <p:nvPr/>
        </p:nvSpPr>
        <p:spPr>
          <a:xfrm>
            <a:off x="685800" y="5705856"/>
            <a:ext cx="50292" cy="365760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46" name="fx9_7_29"/>
          <p:cNvSpPr/>
          <p:nvPr/>
        </p:nvSpPr>
        <p:spPr>
          <a:xfrm>
            <a:off x="941832" y="5422392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47" name="fx9_7_30"/>
          <p:cNvSpPr/>
          <p:nvPr/>
        </p:nvSpPr>
        <p:spPr>
          <a:xfrm>
            <a:off x="941832" y="54223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САМОЕ ИНТЕРЕСНОЕ</a:t>
            </a:r>
            <a:endParaRPr lang="en-US" sz="850" dirty="0"/>
          </a:p>
        </p:txBody>
      </p:sp>
      <p:sp>
        <p:nvSpPr>
          <p:cNvPr id="48" name="fx9_7_31"/>
          <p:cNvSpPr/>
          <p:nvPr/>
        </p:nvSpPr>
        <p:spPr>
          <a:xfrm>
            <a:off x="960120" y="57424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Мюррей Ротбард назвал его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«отцом-основателем современной экономики»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раньше Адама Смита.</a:t>
            </a:r>
            <a:endParaRPr lang="en-US" sz="12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9" name="!!m-ripple">
                <a:extLst>
                  <a:ext uri="{FF2B5EF4-FFF2-40B4-BE49-F238E27FC236}">
                    <a16:creationId xmlns:a16="http://schemas.microsoft.com/office/drawing/2014/main" id="{8E1577F7-6250-4B61-41CB-97E88EA82C9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4754880" y="1371600"/>
              <a:ext cx="4206240" cy="4206240"/>
            </p:xfrm>
            <a:graphic>
              <a:graphicData uri="http://schemas.microsoft.com/office/drawing/2017/model3d">
                <am3d:model3d r:embed="rIdM3d34">
                  <am3d:spPr>
                    <a:xfrm>
                      <a:off x="0" y="0"/>
                      <a:ext cx="4206240" cy="4206240"/>
                    </a:xfrm>
                    <a:prstGeom prst="rect">
                      <a:avLst/>
                    </a:prstGeom>
                  </am3d:spPr>
                  <am3d:camera>
                    <am3d:pos x="0" y="0" z="700415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735294" d="1000000"/>
                    <am3d:preTrans dx="0" dy="-2569383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560000" ay="-54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42062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9" name="!!m-ripple">
                <a:extLst>
                  <a:ext uri="{FF2B5EF4-FFF2-40B4-BE49-F238E27FC236}">
                    <a16:creationId xmlns:a16="http://schemas.microsoft.com/office/drawing/2014/main" id="{8E1577F7-6250-4B61-41CB-97E88EA82C9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754880" y="1371600"/>
                <a:ext cx="4206240" cy="42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0" name="!!m-candle">
                <a:extLst>
                  <a:ext uri="{FF2B5EF4-FFF2-40B4-BE49-F238E27FC236}">
                    <a16:creationId xmlns:a16="http://schemas.microsoft.com/office/drawing/2014/main" id="{7F3114FA-DBEC-3BF8-3911-53F96C08D7B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740335" y="1051560"/>
              <a:ext cx="3840480" cy="3840480"/>
            </p:xfrm>
            <a:graphic>
              <a:graphicData uri="http://schemas.microsoft.com/office/drawing/2017/model3d">
                <am3d:model3d r:embed="rIdM3d35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643573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9716" d="1000000"/>
                    <am3d:preTrans dx="-2363889" dy="-234510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3600000" az="0"/>
                    <am3d:postTrans dx="0" dy="0" dz="0"/>
                  </am3d:trans>
                  <am3d:raster rName="Office3DRenderer" rVer="16.0.8326">
                    <am3d:blip r:embed="rId7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0" name="!!m-candle">
                <a:extLst>
                  <a:ext uri="{FF2B5EF4-FFF2-40B4-BE49-F238E27FC236}">
                    <a16:creationId xmlns:a16="http://schemas.microsoft.com/office/drawing/2014/main" id="{7F3114FA-DBEC-3BF8-3911-53F96C08D7B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740335" y="1051560"/>
                <a:ext cx="3840480" cy="3840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00" decel="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7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00" decel="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00" decel="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00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00" decel="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00" decel="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700" decel="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6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m3d="http://schemas.microsoft.com/office/drawing/2017/model3d" mc:Ignorable="am3d">
  <p:cSld name="Slide 10">
    <p:bg>
      <p:bgPr>
        <a:solidFill>
          <a:srgbClr val="0E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home/user/MyWorkAiBrain/presentations/cantillon/assets/stage-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rack"/>
          <p:cNvSpPr/>
          <p:nvPr/>
        </p:nvSpPr>
        <p:spPr>
          <a:xfrm>
            <a:off x="685800" y="402336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6000"/>
              </a:srgbClr>
            </a:solidFill>
            <a:prstDash val="solid"/>
          </a:ln>
        </p:spPr>
      </p:sp>
      <p:sp>
        <p:nvSpPr>
          <p:cNvPr id="4" name="!!progress"/>
          <p:cNvSpPr/>
          <p:nvPr/>
        </p:nvSpPr>
        <p:spPr>
          <a:xfrm>
            <a:off x="685800" y="391363"/>
            <a:ext cx="10820095" cy="21946"/>
          </a:xfrm>
          <a:prstGeom prst="rect">
            <a:avLst/>
          </a:prstGeom>
          <a:solidFill>
            <a:srgbClr val="E3B663"/>
          </a:solidFill>
          <a:ln/>
        </p:spPr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!!coin">
                <a:extLst>
                  <a:ext uri="{FF2B5EF4-FFF2-40B4-BE49-F238E27FC236}">
                    <a16:creationId xmlns:a16="http://schemas.microsoft.com/office/drawing/2014/main" id="{C3CF7894-BBB3-3850-CE8B-EADC98FC2A7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1231575" y="98755"/>
              <a:ext cx="548640" cy="548640"/>
            </p:xfrm>
            <a:graphic>
              <a:graphicData uri="http://schemas.microsoft.com/office/drawing/2017/model3d">
                <am3d:model3d r:embed="rIdM3d36">
                  <am3d:spPr>
                    <a:xfrm>
                      <a:off x="0" y="0"/>
                      <a:ext cx="548640" cy="548640"/>
                    </a:xfrm>
                    <a:prstGeom prst="rect">
                      <a:avLst/>
                    </a:prstGeom>
                  </am3d:spPr>
                  <am3d:camera>
                    <am3d:pos x="0" y="0" z="6662303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00000" d="1000000"/>
                    <am3d:preTrans dx="0" dy="0" dz="-162000"/>
                    <am3d:scale>
                      <am3d:sx n="1000000" d="1000000"/>
                      <am3d:sy n="1000000" d="1000000"/>
                      <am3d:sz n="1000000" d="1000000"/>
                    </am3d:scale>
                    <am3d:rot ax="0" ay="-720000" az="-78840000"/>
                    <am3d:postTrans dx="0" dy="0" dz="0"/>
                  </am3d:trans>
                  <am3d:raster rName="Office3DRenderer" rVer="16.0.8326">
                    <am3d:blip r:embed="rId2"/>
                  </am3d:raster>
                  <am3d:objViewport viewportSz="54864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!!coin">
                <a:extLst>
                  <a:ext uri="{FF2B5EF4-FFF2-40B4-BE49-F238E27FC236}">
                    <a16:creationId xmlns:a16="http://schemas.microsoft.com/office/drawing/2014/main" id="{C3CF7894-BBB3-3850-CE8B-EADC98FC2A7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231575" y="98755"/>
                <a:ext cx="548640" cy="54864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!!kickerbar"/>
          <p:cNvSpPr/>
          <p:nvPr/>
        </p:nvSpPr>
        <p:spPr>
          <a:xfrm>
            <a:off x="685800" y="713232"/>
            <a:ext cx="310896" cy="32004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7" name="!!kicker"/>
          <p:cNvSpPr/>
          <p:nvPr/>
        </p:nvSpPr>
        <p:spPr>
          <a:xfrm>
            <a:off x="1124712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spc="30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— ЗАГАДКА И ИТОГ</a:t>
            </a:r>
            <a:endParaRPr lang="en-US" sz="1100" dirty="0"/>
          </a:p>
        </p:txBody>
      </p:sp>
      <p:sp>
        <p:nvSpPr>
          <p:cNvPr id="8" name="!!footline"/>
          <p:cNvSpPr/>
          <p:nvPr/>
        </p:nvSpPr>
        <p:spPr>
          <a:xfrm>
            <a:off x="685800" y="6400800"/>
            <a:ext cx="10820095" cy="91"/>
          </a:xfrm>
          <a:prstGeom prst="line">
            <a:avLst/>
          </a:prstGeom>
          <a:noFill/>
          <a:ln w="9525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9" name="!!footer"/>
          <p:cNvSpPr/>
          <p:nvPr/>
        </p:nvSpPr>
        <p:spPr>
          <a:xfrm>
            <a:off x="685800" y="6492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РИЧАРД КАНТИЛЬОН  ·  1680-е – 1734</a:t>
            </a:r>
            <a:endParaRPr lang="en-US" sz="900" dirty="0"/>
          </a:p>
        </p:txBody>
      </p:sp>
      <p:sp>
        <p:nvSpPr>
          <p:cNvPr id="10" name="!!pagenum"/>
          <p:cNvSpPr/>
          <p:nvPr/>
        </p:nvSpPr>
        <p:spPr>
          <a:xfrm>
            <a:off x="10134295" y="6492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pic>
        <p:nvPicPr>
          <p:cNvPr id="11" name="!!glow" descr="/home/user/MyWorkAiBrain/presentations/cantillon/assets/g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6892" y="-178308"/>
            <a:ext cx="5568696" cy="5568696"/>
          </a:xfrm>
          <a:prstGeom prst="rect">
            <a:avLst/>
          </a:prstGeom>
        </p:spPr>
      </p:pic>
      <p:sp>
        <p:nvSpPr>
          <p:cNvPr id="12" name="!!ring1"/>
          <p:cNvSpPr/>
          <p:nvPr/>
        </p:nvSpPr>
        <p:spPr>
          <a:xfrm>
            <a:off x="8116214" y="801014"/>
            <a:ext cx="3610051" cy="3610051"/>
          </a:xfrm>
          <a:prstGeom prst="ellipse">
            <a:avLst/>
          </a:prstGeom>
          <a:ln w="9525">
            <a:solidFill>
              <a:srgbClr val="E3B663">
                <a:alpha val="18000"/>
              </a:srgbClr>
            </a:solidFill>
            <a:prstDash val="solid"/>
          </a:ln>
        </p:spPr>
      </p:sp>
      <p:sp>
        <p:nvSpPr>
          <p:cNvPr id="13" name="!!ring2"/>
          <p:cNvSpPr/>
          <p:nvPr/>
        </p:nvSpPr>
        <p:spPr>
          <a:xfrm>
            <a:off x="7616952" y="301752"/>
            <a:ext cx="4608576" cy="4608576"/>
          </a:xfrm>
          <a:prstGeom prst="ellipse">
            <a:avLst/>
          </a:prstGeom>
          <a:ln w="9525">
            <a:solidFill>
              <a:srgbClr val="E3B663">
                <a:alpha val="12000"/>
              </a:srgbClr>
            </a:solidFill>
            <a:prstDash val="dash"/>
          </a:ln>
        </p:spPr>
      </p:sp>
      <p:pic>
        <p:nvPicPr>
          <p:cNvPr id="14" name="!!shadow" descr="/home/user/MyWorkAiBrain/presentations/cantillon/assets/shad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5108" y="3724580"/>
            <a:ext cx="2112264" cy="528066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!!m-candle">
                <a:extLst>
                  <a:ext uri="{FF2B5EF4-FFF2-40B4-BE49-F238E27FC236}">
                    <a16:creationId xmlns:a16="http://schemas.microsoft.com/office/drawing/2014/main" id="{1481B3E8-96FB-3F99-6D17-E40DAD2E192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001000" y="685800"/>
              <a:ext cx="3840480" cy="3840480"/>
            </p:xfrm>
            <a:graphic>
              <a:graphicData uri="http://schemas.microsoft.com/office/drawing/2017/model3d">
                <am3d:model3d r:embed="rIdM3d37">
                  <am3d:spPr>
                    <a:xfrm>
                      <a:off x="0" y="0"/>
                      <a:ext cx="3840480" cy="3840480"/>
                    </a:xfrm>
                    <a:prstGeom prst="rect">
                      <a:avLst/>
                    </a:prstGeom>
                  </am3d:spPr>
                  <am3d:camera>
                    <am3d:pos x="0" y="0" z="64357360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9716" d="1000000"/>
                    <am3d:preTrans dx="-2363889" dy="-234510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000" ay="-1200000" az="0"/>
                    <am3d:postTrans dx="0" dy="0" dz="0"/>
                  </am3d:trans>
                  <am3d:raster rName="Office3DRenderer" rVer="16.0.8326">
                    <am3d:blip r:embed="rId5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3840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!!m-candle">
                <a:extLst>
                  <a:ext uri="{FF2B5EF4-FFF2-40B4-BE49-F238E27FC236}">
                    <a16:creationId xmlns:a16="http://schemas.microsoft.com/office/drawing/2014/main" id="{1481B3E8-96FB-3F99-6D17-E40DAD2E192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01000" y="685800"/>
                <a:ext cx="3840480" cy="384048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fx10_9_0"/>
          <p:cNvSpPr/>
          <p:nvPr/>
        </p:nvSpPr>
        <p:spPr>
          <a:xfrm>
            <a:off x="8275320" y="4343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spc="250" kern="0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ЭКСПОНАТ 10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Свеча мерцает, мотылёк летит на свет · 14 мая 1734</a:t>
            </a:r>
            <a:endParaRPr lang="en-US" sz="900" dirty="0"/>
          </a:p>
        </p:txBody>
      </p:sp>
      <p:sp>
        <p:nvSpPr>
          <p:cNvPr id="17" name="!!title"/>
          <p:cNvSpPr/>
          <p:nvPr/>
        </p:nvSpPr>
        <p:spPr>
          <a:xfrm>
            <a:off x="685800" y="98755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Убит — или сбежал?</a:t>
            </a:r>
            <a:endParaRPr lang="en-US" sz="3600" dirty="0"/>
          </a:p>
        </p:txBody>
      </p:sp>
      <p:sp>
        <p:nvSpPr>
          <p:cNvPr id="18" name="fx10_1_1"/>
          <p:cNvSpPr/>
          <p:nvPr/>
        </p:nvSpPr>
        <p:spPr>
          <a:xfrm>
            <a:off x="685800" y="17922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03:00</a:t>
            </a:r>
            <a:endParaRPr lang="en-US" sz="1800" dirty="0"/>
          </a:p>
        </p:txBody>
      </p:sp>
      <p:sp>
        <p:nvSpPr>
          <p:cNvPr id="19" name="fx10_1_2"/>
          <p:cNvSpPr/>
          <p:nvPr/>
        </p:nvSpPr>
        <p:spPr>
          <a:xfrm>
            <a:off x="1737360" y="1828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Пожар на Албемарл-стрит</a:t>
            </a:r>
            <a:endParaRPr lang="en-US" sz="1350" dirty="0"/>
          </a:p>
        </p:txBody>
      </p:sp>
      <p:sp>
        <p:nvSpPr>
          <p:cNvPr id="20" name="fx10_1_3"/>
          <p:cNvSpPr/>
          <p:nvPr/>
        </p:nvSpPr>
        <p:spPr>
          <a:xfrm>
            <a:off x="1737360" y="210312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Около 3 часов ночи сгорели его дом и два соседних; в постели — тело.</a:t>
            </a:r>
            <a:endParaRPr lang="en-US" sz="1100" dirty="0"/>
          </a:p>
        </p:txBody>
      </p:sp>
      <p:sp>
        <p:nvSpPr>
          <p:cNvPr id="21" name="fx10_2_4"/>
          <p:cNvSpPr/>
          <p:nvPr/>
        </p:nvSpPr>
        <p:spPr>
          <a:xfrm>
            <a:off x="685800" y="24505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3B6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Улики</a:t>
            </a:r>
            <a:endParaRPr lang="en-US" sz="1800" dirty="0"/>
          </a:p>
        </p:txBody>
      </p:sp>
      <p:sp>
        <p:nvSpPr>
          <p:cNvPr id="22" name="fx10_2_5"/>
          <p:cNvSpPr/>
          <p:nvPr/>
        </p:nvSpPr>
        <p:spPr>
          <a:xfrm>
            <a:off x="1737360" y="24871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5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Улики</a:t>
            </a:r>
            <a:endParaRPr lang="en-US" sz="1350" dirty="0"/>
          </a:p>
        </p:txBody>
      </p:sp>
      <p:sp>
        <p:nvSpPr>
          <p:cNvPr id="23" name="fx10_2_6"/>
          <p:cNvSpPr/>
          <p:nvPr/>
        </p:nvSpPr>
        <p:spPr>
          <a:xfrm>
            <a:off x="17373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Ценностей на £200 000. Уволенный повар бежал за море под чужим именем.</a:t>
            </a:r>
            <a:endParaRPr lang="en-US" sz="1100" dirty="0"/>
          </a:p>
        </p:txBody>
      </p:sp>
      <p:sp>
        <p:nvSpPr>
          <p:cNvPr id="24" name="fx10_3_7"/>
          <p:cNvSpPr/>
          <p:nvPr/>
        </p:nvSpPr>
        <p:spPr>
          <a:xfrm>
            <a:off x="685800" y="32918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2121A">
              <a:alpha val="90000"/>
            </a:srgbClr>
          </a:solidFill>
          <a:ln w="9525">
            <a:solidFill>
              <a:srgbClr val="9A8C86">
                <a:alpha val="35000"/>
              </a:srgbClr>
            </a:solidFill>
            <a:prstDash val="solid"/>
          </a:ln>
        </p:spPr>
      </p:sp>
      <p:sp>
        <p:nvSpPr>
          <p:cNvPr id="25" name="fx10_3_8"/>
          <p:cNvSpPr/>
          <p:nvPr/>
        </p:nvSpPr>
        <p:spPr>
          <a:xfrm>
            <a:off x="886968" y="34198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1 · УБИЙСТВО</a:t>
            </a:r>
            <a:endParaRPr lang="en-US" sz="950" dirty="0"/>
          </a:p>
        </p:txBody>
      </p:sp>
      <p:sp>
        <p:nvSpPr>
          <p:cNvPr id="26" name="fx10_3_9"/>
          <p:cNvSpPr/>
          <p:nvPr/>
        </p:nvSpPr>
        <p:spPr>
          <a:xfrm>
            <a:off x="886968" y="3657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Повар ограбил и убил хозяина, а пожаром скрыл следы.</a:t>
            </a:r>
            <a:endParaRPr lang="en-US" sz="1300" dirty="0"/>
          </a:p>
        </p:txBody>
      </p:sp>
      <p:sp>
        <p:nvSpPr>
          <p:cNvPr id="27" name="fx10_4_10"/>
          <p:cNvSpPr/>
          <p:nvPr/>
        </p:nvSpPr>
        <p:spPr>
          <a:xfrm>
            <a:off x="4160520" y="329184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2121A">
              <a:alpha val="90000"/>
            </a:srgbClr>
          </a:solidFill>
          <a:ln w="9525">
            <a:solidFill>
              <a:srgbClr val="E8866A">
                <a:alpha val="65000"/>
              </a:srgbClr>
            </a:solidFill>
            <a:prstDash val="solid"/>
          </a:ln>
        </p:spPr>
      </p:sp>
      <p:sp>
        <p:nvSpPr>
          <p:cNvPr id="28" name="fx10_4_11"/>
          <p:cNvSpPr/>
          <p:nvPr/>
        </p:nvSpPr>
        <p:spPr>
          <a:xfrm>
            <a:off x="4361688" y="341985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spc="200" kern="0" dirty="0">
                <a:solidFill>
                  <a:srgbClr val="E88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ВЕРСИЯ 2 · ПОБЕГ</a:t>
            </a:r>
            <a:endParaRPr lang="en-US" sz="950" dirty="0"/>
          </a:p>
        </p:txBody>
      </p:sp>
      <p:sp>
        <p:nvSpPr>
          <p:cNvPr id="29" name="fx10_4_12"/>
          <p:cNvSpPr/>
          <p:nvPr/>
        </p:nvSpPr>
        <p:spPr>
          <a:xfrm>
            <a:off x="4361688" y="36576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 инсценировал смерть и уплыл в Суринам (А. Мёрфи).</a:t>
            </a:r>
            <a:endParaRPr lang="en-US" sz="1300" dirty="0"/>
          </a:p>
        </p:txBody>
      </p:sp>
      <p:sp>
        <p:nvSpPr>
          <p:cNvPr id="30" name="fx10_5_13"/>
          <p:cNvSpPr/>
          <p:nvPr/>
        </p:nvSpPr>
        <p:spPr>
          <a:xfrm>
            <a:off x="685800" y="4553712"/>
            <a:ext cx="6766560" cy="868680"/>
          </a:xfrm>
          <a:prstGeom prst="roundRect">
            <a:avLst>
              <a:gd name="adj" fmla="val 8421"/>
            </a:avLst>
          </a:prstGeom>
          <a:solidFill>
            <a:srgbClr val="22170B">
              <a:alpha val="92000"/>
            </a:srgbClr>
          </a:solidFill>
          <a:ln w="12700">
            <a:solidFill>
              <a:srgbClr val="E3B663">
                <a:alpha val="55000"/>
              </a:srgbClr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1" name="fx10_5_14"/>
          <p:cNvSpPr/>
          <p:nvPr/>
        </p:nvSpPr>
        <p:spPr>
          <a:xfrm>
            <a:off x="685800" y="4700016"/>
            <a:ext cx="50292" cy="576072"/>
          </a:xfrm>
          <a:prstGeom prst="rect">
            <a:avLst/>
          </a:prstGeom>
          <a:solidFill>
            <a:srgbClr val="E3B663"/>
          </a:solidFill>
          <a:ln/>
        </p:spPr>
      </p:sp>
      <p:sp>
        <p:nvSpPr>
          <p:cNvPr id="32" name="fx10_5_15"/>
          <p:cNvSpPr/>
          <p:nvPr/>
        </p:nvSpPr>
        <p:spPr>
          <a:xfrm>
            <a:off x="941832" y="4416552"/>
            <a:ext cx="1897380" cy="274320"/>
          </a:xfrm>
          <a:prstGeom prst="roundRect">
            <a:avLst>
              <a:gd name="adj" fmla="val 50000"/>
            </a:avLst>
          </a:prstGeom>
          <a:solidFill>
            <a:srgbClr val="E3B663"/>
          </a:solidFill>
          <a:ln/>
        </p:spPr>
      </p:sp>
      <p:sp>
        <p:nvSpPr>
          <p:cNvPr id="33" name="fx10_5_16"/>
          <p:cNvSpPr/>
          <p:nvPr/>
        </p:nvSpPr>
        <p:spPr>
          <a:xfrm>
            <a:off x="941832" y="4416552"/>
            <a:ext cx="18973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150" kern="0" dirty="0">
                <a:solidFill>
                  <a:srgbClr val="0D07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 ГЛАВНАЯ ЗАГАДКА</a:t>
            </a:r>
            <a:endParaRPr lang="en-US" sz="850" dirty="0"/>
          </a:p>
        </p:txBody>
      </p:sp>
      <p:sp>
        <p:nvSpPr>
          <p:cNvPr id="34" name="fx10_5_17"/>
          <p:cNvSpPr/>
          <p:nvPr/>
        </p:nvSpPr>
        <p:spPr>
          <a:xfrm>
            <a:off x="960120" y="473659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 Суринаме «шевалье де Лувиньи» имел при себе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новое завещание Кантильона от 11 апреля 1734 года</a:t>
            </a:r>
            <a:pPr algn="l"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за месяц до пожара.</a:t>
            </a:r>
            <a:endParaRPr lang="en-US" sz="1250" dirty="0"/>
          </a:p>
        </p:txBody>
      </p:sp>
      <p:sp>
        <p:nvSpPr>
          <p:cNvPr id="35" name="fx10_6_18"/>
          <p:cNvSpPr/>
          <p:nvPr/>
        </p:nvSpPr>
        <p:spPr>
          <a:xfrm>
            <a:off x="7498080" y="4800600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2600" i="1" dirty="0">
                <a:solidFill>
                  <a:srgbClr val="F3DD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600" dirty="0"/>
          </a:p>
        </p:txBody>
      </p:sp>
      <p:sp>
        <p:nvSpPr>
          <p:cNvPr id="36" name="fx10_7_19"/>
          <p:cNvSpPr/>
          <p:nvPr/>
        </p:nvSpPr>
        <p:spPr>
          <a:xfrm>
            <a:off x="685800" y="5577840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E3B6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</a:t>
            </a:r>
            <a:pPr algn="l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BBA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E. Murphy, Richard Cantillon: Entrepreneur and Economist (1986) · Dictionary of Irish Biography · H. Higgs (1931) · W. S. Jevons (1881) · F. A. Hayek (1931) · M. Rothbard · M. Thornton (2018) · Mises Institute · Irish Independent (2013) · «Essai sur la nature du commerce en général» (1755). Все 3D-экспонаты и их анимации смоделированы в Blender для этой презентации.</a:t>
            </a:r>
            <a:endParaRPr lang="en-US" sz="85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7" name="!!m-compass">
                <a:extLst>
                  <a:ext uri="{FF2B5EF4-FFF2-40B4-BE49-F238E27FC236}">
                    <a16:creationId xmlns:a16="http://schemas.microsoft.com/office/drawing/2014/main" id="{99C6A833-5B83-D87D-32D7-2182AF130B0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246120" y="502920"/>
              <a:ext cx="2697480" cy="2697480"/>
            </p:xfrm>
            <a:graphic>
              <a:graphicData uri="http://schemas.microsoft.com/office/drawing/2017/model3d">
                <am3d:model3d r:embed="rIdM3d38">
                  <am3d:spPr>
                    <a:xfrm>
                      <a:off x="0" y="0"/>
                      <a:ext cx="2697480" cy="2697480"/>
                    </a:xfrm>
                    <a:prstGeom prst="rect">
                      <a:avLst/>
                    </a:prstGeom>
                  </am3d:spPr>
                  <am3d:camera>
                    <am3d:pos x="0" y="0" z="6923713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3215" d="1000000"/>
                    <am3d:preTrans dx="0" dy="-3113734" dz="1498900"/>
                    <am3d:scale>
                      <am3d:sx n="1000000" d="1000000"/>
                      <am3d:sy n="1000000" d="1000000"/>
                      <am3d:sz n="1000000" d="1000000"/>
                    </am3d:scale>
                    <am3d:rot ax="360000" ay="-6000000" az="0"/>
                    <am3d:postTrans dx="0" dy="0" dz="0"/>
                  </am3d:trans>
                  <am3d:raster rName="Office3DRenderer" rVer="16.0.8326">
                    <am3d:blip r:embed="rId6"/>
                  </am3d:raster>
                  <am3d:extLst>
                    <a:ext uri="{9A65AA19-BECB-4387-8358-8AD5134E1D82}">
                      <a3danim:embedAnim xmlns:a3danim="http://schemas.microsoft.com/office/drawing/2018/animation/model3d" animId="0">
                        <a3danim:animPr length="4000" count="indefinite"/>
                      </a3danim:embedAnim>
                    </a:ext>
                    <a:ext uri="{E9DE012E-A134-456F-84FE-255F9AAD75C6}">
                      <a3danim:posterFrame xmlns:a3danim="http://schemas.microsoft.com/office/drawing/2018/animation/model3d" animId="0"/>
                    </a:ext>
                  </am3d:extLst>
                  <am3d:objViewport viewportSz="26974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7" name="!!m-compass">
                <a:extLst>
                  <a:ext uri="{FF2B5EF4-FFF2-40B4-BE49-F238E27FC236}">
                    <a16:creationId xmlns:a16="http://schemas.microsoft.com/office/drawing/2014/main" id="{99C6A833-5B83-D87D-32D7-2182AF130B0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3246120" y="502920"/>
                <a:ext cx="2697480" cy="269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41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67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7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7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700" decel="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00" decel="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00" decel="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00" decel="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0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171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7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197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7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0" presetClass="emph" presetSubtype="1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6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embedded1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Ричард Кантильон — 3D-презентация</dc:title>
  <dc:subject>Биография, главная мысль и вклад в теорию предпринимательства</dc:subject>
  <dc:creator>omgGame</dc:creator>
  <cp:lastModifiedBy>omgGame</cp:lastModifiedBy>
  <cp:revision>1</cp:revision>
  <dcterms:created xsi:type="dcterms:W3CDTF">2026-10-07T00:35:49Z</dcterms:created>
  <dcterms:modified xsi:type="dcterms:W3CDTF">2026-10-07T00:35:49Z</dcterms:modified>
</cp:coreProperties>
</file>