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Импульсивные траты знакомы почти каждому, но объяснять их одной фразой «не хватает силы воли» слишком просто. На выбор одновременно влияют личные привычки, настроение и то, как устроена покупка: уведомление, ограниченный срок, сохранённая карта или рассрочка. В проекте мы разбираем эти механизмы и планируем проверить их на студенческой выборке 18–25 лет. Это исследовательский план, а не отчёт о готовых результатах. Справа — телефон с витриной и мигающим уведомлением: маленький сигнал, который делает покупку заметной прямо сейчас.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тема особенно заметна в цифровой среде? Путь от рекламы до платежа теперь часто укладывается в несколько действий. Лента подбрасывает предложение, кнопка ведёт в карточку товара, а сохранённый способ оплаты убирает часть паузы. Если предлагается рассрочка, человек видит отдельные платежи, и общая сумма может оказаться менее заметной — именно влияние способа оплаты изучал Дилеп Соман. Мы не используем в новой версии неподтверждённые цифры рынка BNPL из исходного черновика: без ссылки на первичный отчёт они создают ложную точность. Наш вопрос уже: какие факторы связаны с незапланированными тратами студентов?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исследованиях импульсивную покупку обычно описывают как незапланированное решение, сопровождаемое сильным желанием купить здесь и сейчас. Это не синоним любой онлайн-покупки и не медицинский диагноз. Важно различать черту — насколько человеку вообще свойственно действовать импульсивно — и состояние в конкретный момент: он увидел скидку, устал или получил уведомление. Исследовательская модель проста: внешний или внутренний сигнал вызывает порыв, затем следует решение, а после него — удовлетворение, сожаление или нейтральная оценка. Модель помогает задавать вопросы, но не сводит поведение к «дофамину» или слабой воле.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сигнала могут ускорять решение: FOMO — страх упустить что-то важное; социальное сравнение — желание не отстать от окружения; зачёркнутая цена — якорь, относительно которого новая стоимость кажется выгоднее; простая оплата — меньшая заметность самого расхода. Настроение — не пятый рекламный триггер, а контекст, который может усилить или ослабить порыв. Ни один сигнал не управляет каждым человеком автоматически. Мы рассматриваем их как факторы для анкеты и гипотезы, а не как доказанные причины поведения конкретного студента.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Рассрочка и «оплата частями» полезны, если человеку нужен удобный график, однако формат предъявления суммы меняет то, на что он обращает внимание. В условном примере двенадцать тысяч рублей превращаются в четыре платежа по три тысячи. Арифметически итог тот же, но отдельная часть может казаться психологически легче полной суммы. Исследования способа оплаты показывают, что момент и заметность платежа могут влиять на расходование; это не означает, что любой BNPL обязательно приводит к перерасходу. Практический вывод нейтральный: перед согласием сложить платежи, проверить даты, комиссии и последствия просрочки.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проекта — изучить, какие психологические факторы связаны с незапланированными расходами и покупками в рассрочку у студентов, а затем сделать короткую памятку. Целевая группа — студенты вузов от восемнадцати до двадцати пяти лет: не потому, что все они импульсивны, а потому что именно на этой группе проект собирается провести опрос. Три гипотезы не описывают уже доказанный результат. Первая связывает FOMO и импульсивность с более частыми незапланированными покупками. Вторая проверяет связь социального сравнения со статусными тратами. Третья проверяет, будет ли финансовая грамотность связана с меньшим риском, но не предполагает полной защиты.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Планируем анонимный добровольный онлайн-опрос не менее пятидесяти студентов от восемнадцати до двадцати пяти лет. Вопросы будут касаться частоты незапланированных покупок за последний месяц, FOMO и социального сравнения, опыта оплаты частями, бюджетирования и самооценки финансовых знаний. Сначала опишем выборку и распределения ответов, затем проверим ранговые связи между порядковыми показателями. Это поперечный опрос с самоотчётом: он не показывает, что именно вызвало покупку, и выборка из одного круга не представляет всех студентов. Этапы работы: обзор литературы, анкета, анализ, памятка.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 опрос не проведён, памятка — практическое предложение, а не результат эксперимента. Первый шаг — поставить паузу: несрочную вещь добавить в список и вернуться к ней завтра. Второй — проверить три вещи: была ли покупка в плане, какова полная стоимость и не ломает ли платёж бюджет месяца. Для рассрочки отдельно записать все даты. Третий — изменить среду: отключить рекламные уведомления, убрать сохранённую карту или заранее определить сумму на спонтанные покупки. Цель не в тотальном запрете и не в стыде, а в том, чтобы у решения появилась дополнительная минута.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вывод проекта — импульсивную покупку полезно рассматривать не как моральный изъян, а как встречу человека и ситуации. На решение могут влиять привычка, эмоции, социальные сигналы и то, как показана оплата. Поэтому одной лекции о бюджете может быть недостаточно: рядом с знаниями нужны простые инструменты, возвращающие паузу. Но мы пока не знаем, какие факторы окажутся сильнее именно в нашей группе, и не можем обещать, что памятка изменит поведение. Для этого сначала нужен опрос, затем — желательно отдельная проверка самой памятки.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с источниками. Полные библиографические данные и карта утверждений по слайдам сохранены в exports/impulse-buying-3d-sources.md.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Relationship Id="rIdM3d1" Type="http://schemas.microsoft.com/office/2017/06/relationships/model3d" Target="../media/model3d1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2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Relationship Id="rIdM3d2" Type="http://schemas.microsoft.com/office/2017/06/relationships/model3d" Target="../media/model3d2.glb"/><Relationship Id="rIdM3d3" Type="http://schemas.microsoft.com/office/2017/06/relationships/model3d" Target="../media/model3d3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3-4.png"/><Relationship Id="rId5" Type="http://schemas.openxmlformats.org/officeDocument/2006/relationships/image" Target="../media/image-10-5.png"/><Relationship Id="rId6" Type="http://schemas.openxmlformats.org/officeDocument/2006/relationships/image" Target="../media/image-10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Relationship Id="rIdM3d4" Type="http://schemas.microsoft.com/office/2017/06/relationships/model3d" Target="../media/model3d4.glb"/><Relationship Id="rIdM3d5" Type="http://schemas.microsoft.com/office/2017/06/relationships/model3d" Target="../media/model3d5.glb"/><Relationship Id="rIdM3d6" Type="http://schemas.microsoft.com/office/2017/06/relationships/model3d" Target="../media/model3d6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4-4.png"/><Relationship Id="rId5" Type="http://schemas.openxmlformats.org/officeDocument/2006/relationships/image" Target="../media/image-10-5.png"/><Relationship Id="rId6" Type="http://schemas.openxmlformats.org/officeDocument/2006/relationships/image" Target="../media/image-10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Relationship Id="rIdM3d7" Type="http://schemas.microsoft.com/office/2017/06/relationships/model3d" Target="../media/model3d7.glb"/><Relationship Id="rIdM3d8" Type="http://schemas.microsoft.com/office/2017/06/relationships/model3d" Target="../media/model3d8.glb"/><Relationship Id="rIdM3d9" Type="http://schemas.microsoft.com/office/2017/06/relationships/model3d" Target="../media/model3d9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5-4.png"/><Relationship Id="rId5" Type="http://schemas.openxmlformats.org/officeDocument/2006/relationships/image" Target="../media/image-10-5.png"/><Relationship Id="rId6" Type="http://schemas.openxmlformats.org/officeDocument/2006/relationships/image" Target="../media/image-10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Relationship Id="rIdM3d10" Type="http://schemas.microsoft.com/office/2017/06/relationships/model3d" Target="../media/model3d10.glb"/><Relationship Id="rIdM3d11" Type="http://schemas.microsoft.com/office/2017/06/relationships/model3d" Target="../media/model3d11.glb"/><Relationship Id="rIdM3d12" Type="http://schemas.microsoft.com/office/2017/06/relationships/model3d" Target="../media/model3d12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6-4.png"/><Relationship Id="rId5" Type="http://schemas.openxmlformats.org/officeDocument/2006/relationships/image" Target="../media/image-10-5.png"/><Relationship Id="rId6" Type="http://schemas.openxmlformats.org/officeDocument/2006/relationships/image" Target="../media/image-10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Relationship Id="rIdM3d13" Type="http://schemas.microsoft.com/office/2017/06/relationships/model3d" Target="../media/model3d13.glb"/><Relationship Id="rIdM3d14" Type="http://schemas.microsoft.com/office/2017/06/relationships/model3d" Target="../media/model3d14.glb"/><Relationship Id="rIdM3d15" Type="http://schemas.microsoft.com/office/2017/06/relationships/model3d" Target="../media/model3d15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7-4.png"/><Relationship Id="rId5" Type="http://schemas.openxmlformats.org/officeDocument/2006/relationships/image" Target="../media/image-10-5.png"/><Relationship Id="rId6" Type="http://schemas.openxmlformats.org/officeDocument/2006/relationships/image" Target="../media/image-10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Relationship Id="rIdM3d16" Type="http://schemas.microsoft.com/office/2017/06/relationships/model3d" Target="../media/model3d16.glb"/><Relationship Id="rIdM3d17" Type="http://schemas.microsoft.com/office/2017/06/relationships/model3d" Target="../media/model3d17.glb"/><Relationship Id="rIdM3d18" Type="http://schemas.microsoft.com/office/2017/06/relationships/model3d" Target="../media/model3d18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8-4.png"/><Relationship Id="rId5" Type="http://schemas.openxmlformats.org/officeDocument/2006/relationships/image" Target="../media/image-10-5.png"/><Relationship Id="rId6" Type="http://schemas.openxmlformats.org/officeDocument/2006/relationships/image" Target="../media/image-10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Relationship Id="rIdM3d19" Type="http://schemas.microsoft.com/office/2017/06/relationships/model3d" Target="../media/model3d19.glb"/><Relationship Id="rIdM3d20" Type="http://schemas.microsoft.com/office/2017/06/relationships/model3d" Target="../media/model3d20.glb"/><Relationship Id="rIdM3d21" Type="http://schemas.microsoft.com/office/2017/06/relationships/model3d" Target="../media/model3d21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9-4.png"/><Relationship Id="rId5" Type="http://schemas.openxmlformats.org/officeDocument/2006/relationships/image" Target="../media/image-10-5.png"/><Relationship Id="rId6" Type="http://schemas.openxmlformats.org/officeDocument/2006/relationships/image" Target="../media/image-10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Relationship Id="rIdM3d22" Type="http://schemas.microsoft.com/office/2017/06/relationships/model3d" Target="../media/model3d22.glb"/><Relationship Id="rIdM3d23" Type="http://schemas.microsoft.com/office/2017/06/relationships/model3d" Target="../media/model3d23.glb"/><Relationship Id="rIdM3d24" Type="http://schemas.microsoft.com/office/2017/06/relationships/model3d" Target="../media/model3d24.glb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Relationship Id="rIdM3d25" Type="http://schemas.microsoft.com/office/2017/06/relationships/model3d" Target="../media/model3d25.glb"/><Relationship Id="rIdM3d26" Type="http://schemas.microsoft.com/office/2017/06/relationships/model3d" Target="../media/model3d26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1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rogress-track"/>
          <p:cNvSpPr/>
          <p:nvPr/>
        </p:nvSpPr>
        <p:spPr>
          <a:xfrm>
            <a:off x="694944" y="356616"/>
            <a:ext cx="10808208" cy="91"/>
          </a:xfrm>
          <a:prstGeom prst="line">
            <a:avLst/>
          </a:prstGeom>
          <a:noFill/>
          <a:ln w="1016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4" name="!!progress-dot"/>
          <p:cNvSpPr/>
          <p:nvPr/>
        </p:nvSpPr>
        <p:spPr>
          <a:xfrm>
            <a:off x="640080" y="301752"/>
            <a:ext cx="109728" cy="109728"/>
          </a:xfrm>
          <a:prstGeom prst="ellipse">
            <a:avLst/>
          </a:prstGeom>
          <a:solidFill>
            <a:srgbClr val="F47D70"/>
          </a:solidFill>
          <a:ln w="10160">
            <a:solidFill>
              <a:srgbClr val="F3F2EC">
                <a:alpha val="88000"/>
              </a:srgbClr>
            </a:solidFill>
            <a:prstDash val="solid"/>
          </a:ln>
        </p:spPr>
      </p:sp>
      <p:sp>
        <p:nvSpPr>
          <p:cNvPr id="5" name="kicker-1"/>
          <p:cNvSpPr/>
          <p:nvPr/>
        </p:nvSpPr>
        <p:spPr>
          <a:xfrm>
            <a:off x="694944" y="5669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30" kern="0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ИМПУЛЬСИВНЫХ ТРАТ  ·  ИССЛЕДОВАТЕЛЬСКИЙ ПРОЕКТ</a:t>
            </a:r>
            <a:endParaRPr lang="en-US" sz="950" dirty="0"/>
          </a:p>
        </p:txBody>
      </p:sp>
      <p:sp>
        <p:nvSpPr>
          <p:cNvPr id="6" name="!!footer-line"/>
          <p:cNvSpPr/>
          <p:nvPr/>
        </p:nvSpPr>
        <p:spPr>
          <a:xfrm>
            <a:off x="694944" y="6382512"/>
            <a:ext cx="10808208" cy="91"/>
          </a:xfrm>
          <a:prstGeom prst="line">
            <a:avLst/>
          </a:prstGeom>
          <a:noFill/>
          <a:ln w="889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!!footer-label"/>
          <p:cNvSpPr/>
          <p:nvPr/>
        </p:nvSpPr>
        <p:spPr>
          <a:xfrm>
            <a:off x="694944" y="64739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35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ПОТРЕБИТЕЛЬСКОГО ВЫБОРА  ·  ИССЛЕДОВАТЕЛЬСКИЙ ПРОЕКТ</a:t>
            </a:r>
            <a:endParaRPr lang="en-US" sz="850" dirty="0"/>
          </a:p>
        </p:txBody>
      </p:sp>
      <p:sp>
        <p:nvSpPr>
          <p:cNvPr id="8" name="!!page-number"/>
          <p:cNvSpPr/>
          <p:nvPr/>
        </p:nvSpPr>
        <p:spPr>
          <a:xfrm>
            <a:off x="10543032" y="64648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16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10</a:t>
            </a:r>
            <a:endParaRPr lang="en-US" sz="900" dirty="0"/>
          </a:p>
        </p:txBody>
      </p:sp>
      <p:pic>
        <p:nvPicPr>
          <p:cNvPr id="9" name="glow-1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352" y="-240944"/>
            <a:ext cx="6946697" cy="6946697"/>
          </a:xfrm>
          <a:prstGeom prst="rect">
            <a:avLst/>
          </a:prstGeom>
        </p:spPr>
      </p:pic>
      <p:sp>
        <p:nvSpPr>
          <p:cNvPr id="10" name="ring-in-1"/>
          <p:cNvSpPr/>
          <p:nvPr/>
        </p:nvSpPr>
        <p:spPr>
          <a:xfrm>
            <a:off x="6632600" y="835304"/>
            <a:ext cx="4794199" cy="4794199"/>
          </a:xfrm>
          <a:prstGeom prst="ellipse">
            <a:avLst/>
          </a:prstGeom>
          <a:ln w="8890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11" name="ring-out-1"/>
          <p:cNvSpPr/>
          <p:nvPr/>
        </p:nvSpPr>
        <p:spPr>
          <a:xfrm>
            <a:off x="6045556" y="248260"/>
            <a:ext cx="5968289" cy="5968289"/>
          </a:xfrm>
          <a:prstGeom prst="ellipse">
            <a:avLst/>
          </a:prstGeom>
          <a:ln w="8890">
            <a:solidFill>
              <a:srgbClr val="E5B66A">
                <a:alpha val="9000"/>
              </a:srgbClr>
            </a:solidFill>
            <a:prstDash val="dash"/>
          </a:ln>
        </p:spPr>
      </p:sp>
      <p:pic>
        <p:nvPicPr>
          <p:cNvPr id="12" name="shadow-1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566" y="4210812"/>
            <a:ext cx="3522269" cy="88056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!!m-phone">
                <a:extLst>
                  <a:ext uri="{FF2B5EF4-FFF2-40B4-BE49-F238E27FC236}">
                    <a16:creationId xmlns:a16="http://schemas.microsoft.com/office/drawing/2014/main" id="{9F5C74CA-5434-DB32-C71A-08A9263C09A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83680" y="786384"/>
              <a:ext cx="4892040" cy="4892040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4892040" cy="4892040"/>
                    </a:xfrm>
                    <a:prstGeom prst="rect">
                      <a:avLst/>
                    </a:prstGeom>
                  </am3d:spPr>
                  <am3d:camera>
                    <am3d:pos x="0" y="0" z="5440414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0" dy="0" dz="-1422222"/>
                    <am3d:scale>
                      <am3d:sx n="1000000" d="1000000"/>
                      <am3d:sy n="1000000" d="1000000"/>
                      <am3d:sz n="1000000" d="1000000"/>
                    </am3d:scale>
                    <am3d:rot ax="660000" ay="-1440000" az="-18000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8920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!!m-phone">
                <a:extLst>
                  <a:ext uri="{FF2B5EF4-FFF2-40B4-BE49-F238E27FC236}">
                    <a16:creationId xmlns:a16="http://schemas.microsoft.com/office/drawing/2014/main" id="{9F5C74CA-5434-DB32-C71A-08A9263C09A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83680" y="786384"/>
                <a:ext cx="4892040" cy="489204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Text 8"/>
          <p:cNvSpPr/>
          <p:nvPr/>
        </p:nvSpPr>
        <p:spPr>
          <a:xfrm>
            <a:off x="7360920" y="57241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55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ОБЪЁМНЫЙ ЭКСПОНАТ  01</a:t>
            </a:r>
            <a:endParaRPr lang="en-US" sz="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Уведомление превращает витрину в срочное решение</a:t>
            </a:r>
            <a:endParaRPr lang="en-US" sz="900" dirty="0"/>
          </a:p>
        </p:txBody>
      </p:sp>
      <p:sp>
        <p:nvSpPr>
          <p:cNvPr id="15" name="!!cover-line-1"/>
          <p:cNvSpPr/>
          <p:nvPr/>
        </p:nvSpPr>
        <p:spPr>
          <a:xfrm>
            <a:off x="694944" y="1307592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dirty="0">
                <a:solidFill>
                  <a:srgbClr val="E9E5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мы</a:t>
            </a:r>
            <a:endParaRPr lang="en-US" sz="4800" dirty="0"/>
          </a:p>
        </p:txBody>
      </p:sp>
      <p:sp>
        <p:nvSpPr>
          <p:cNvPr id="16" name="!!cover-line-2"/>
          <p:cNvSpPr/>
          <p:nvPr/>
        </p:nvSpPr>
        <p:spPr>
          <a:xfrm>
            <a:off x="694944" y="193852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покупаем</a:t>
            </a:r>
            <a:endParaRPr lang="en-US" sz="5700" dirty="0"/>
          </a:p>
        </p:txBody>
      </p:sp>
      <p:sp>
        <p:nvSpPr>
          <p:cNvPr id="17" name="!!cover-line-3"/>
          <p:cNvSpPr/>
          <p:nvPr/>
        </p:nvSpPr>
        <p:spPr>
          <a:xfrm>
            <a:off x="694944" y="2734056"/>
            <a:ext cx="63093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ненужное?</a:t>
            </a:r>
            <a:endParaRPr lang="en-US" sz="5700" dirty="0"/>
          </a:p>
        </p:txBody>
      </p:sp>
      <p:sp>
        <p:nvSpPr>
          <p:cNvPr id="18" name="fx1_1_0"/>
          <p:cNvSpPr/>
          <p:nvPr/>
        </p:nvSpPr>
        <p:spPr>
          <a:xfrm>
            <a:off x="694944" y="3785616"/>
            <a:ext cx="822960" cy="41148"/>
          </a:xfrm>
          <a:prstGeom prst="rect">
            <a:avLst/>
          </a:prstGeom>
          <a:solidFill>
            <a:srgbClr val="F47D70"/>
          </a:solidFill>
          <a:ln/>
        </p:spPr>
      </p:sp>
      <p:sp>
        <p:nvSpPr>
          <p:cNvPr id="19" name="fx1_1_1"/>
          <p:cNvSpPr/>
          <p:nvPr/>
        </p:nvSpPr>
        <p:spPr>
          <a:xfrm>
            <a:off x="694944" y="3968496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i="1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Импульсивные траты: ловушки выбора</a:t>
            </a:r>
            <a:endParaRPr lang="en-US" sz="1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800" i="1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 простой план защиты бюджета</a:t>
            </a:r>
            <a:endParaRPr lang="en-US" sz="1800" dirty="0"/>
          </a:p>
        </p:txBody>
      </p:sp>
      <p:sp>
        <p:nvSpPr>
          <p:cNvPr id="20" name="fx1_2_2"/>
          <p:cNvSpPr/>
          <p:nvPr/>
        </p:nvSpPr>
        <p:spPr>
          <a:xfrm>
            <a:off x="694944" y="482803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7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ИССЛЕДОВАНИЯ  ·  СТУДЕНТЫ 18–25 ЛЕТ</a:t>
            </a:r>
            <a:endParaRPr lang="en-US" sz="1050" dirty="0"/>
          </a:p>
        </p:txBody>
      </p:sp>
      <p:sp>
        <p:nvSpPr>
          <p:cNvPr id="21" name="fx1_3_3"/>
          <p:cNvSpPr/>
          <p:nvPr/>
        </p:nvSpPr>
        <p:spPr>
          <a:xfrm>
            <a:off x="694944" y="5330952"/>
            <a:ext cx="5257800" cy="704088"/>
          </a:xfrm>
          <a:prstGeom prst="roundRect">
            <a:avLst>
              <a:gd name="adj" fmla="val 10390"/>
            </a:avLst>
          </a:prstGeom>
          <a:solidFill>
            <a:srgbClr val="142233">
              <a:alpha val="97000"/>
            </a:srgbClr>
          </a:solidFill>
          <a:ln w="11430">
            <a:solidFill>
              <a:srgbClr val="E5B66A">
                <a:alpha val="54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2" name="fx1_3_4"/>
          <p:cNvSpPr/>
          <p:nvPr/>
        </p:nvSpPr>
        <p:spPr>
          <a:xfrm>
            <a:off x="694944" y="5449824"/>
            <a:ext cx="50292" cy="466344"/>
          </a:xfrm>
          <a:prstGeom prst="rect">
            <a:avLst/>
          </a:prstGeom>
          <a:solidFill>
            <a:srgbClr val="E5B66A"/>
          </a:solidFill>
          <a:ln/>
        </p:spPr>
      </p:sp>
      <p:sp>
        <p:nvSpPr>
          <p:cNvPr id="23" name="fx1_3_5"/>
          <p:cNvSpPr/>
          <p:nvPr/>
        </p:nvSpPr>
        <p:spPr>
          <a:xfrm>
            <a:off x="905256" y="5221224"/>
            <a:ext cx="1399032" cy="228600"/>
          </a:xfrm>
          <a:prstGeom prst="roundRect">
            <a:avLst>
              <a:gd name="adj" fmla="val 48000"/>
            </a:avLst>
          </a:prstGeom>
          <a:solidFill>
            <a:srgbClr val="E5B66A"/>
          </a:solidFill>
          <a:ln/>
        </p:spPr>
      </p:sp>
      <p:sp>
        <p:nvSpPr>
          <p:cNvPr id="24" name="fx1_3_6"/>
          <p:cNvSpPr/>
          <p:nvPr/>
        </p:nvSpPr>
        <p:spPr>
          <a:xfrm>
            <a:off x="914400" y="5221224"/>
            <a:ext cx="1399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spc="110" kern="0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ГЛАВНЫЙ ТЕЗИС</a:t>
            </a:r>
            <a:endParaRPr lang="en-US" sz="780" dirty="0"/>
          </a:p>
        </p:txBody>
      </p:sp>
      <p:sp>
        <p:nvSpPr>
          <p:cNvPr id="25" name="fx1_3_7"/>
          <p:cNvSpPr/>
          <p:nvPr/>
        </p:nvSpPr>
        <p:spPr>
          <a:xfrm>
            <a:off x="941832" y="5422392"/>
            <a:ext cx="48188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3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Покупка — не только характер. На неё влияют человек, сигнал и момент.</a:t>
            </a:r>
            <a:endParaRPr lang="en-US" sz="123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6" dur="4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2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rogress-track"/>
          <p:cNvSpPr/>
          <p:nvPr/>
        </p:nvSpPr>
        <p:spPr>
          <a:xfrm>
            <a:off x="694944" y="356616"/>
            <a:ext cx="10808208" cy="91"/>
          </a:xfrm>
          <a:prstGeom prst="line">
            <a:avLst/>
          </a:prstGeom>
          <a:noFill/>
          <a:ln w="1016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4" name="!!progress-fill"/>
          <p:cNvSpPr/>
          <p:nvPr/>
        </p:nvSpPr>
        <p:spPr>
          <a:xfrm>
            <a:off x="694944" y="342900"/>
            <a:ext cx="1200912" cy="27432"/>
          </a:xfrm>
          <a:prstGeom prst="rect">
            <a:avLst/>
          </a:prstGeom>
          <a:solidFill>
            <a:srgbClr val="59D7CC"/>
          </a:solidFill>
          <a:ln/>
        </p:spPr>
      </p:sp>
      <p:sp>
        <p:nvSpPr>
          <p:cNvPr id="5" name="!!progress-dot"/>
          <p:cNvSpPr/>
          <p:nvPr/>
        </p:nvSpPr>
        <p:spPr>
          <a:xfrm>
            <a:off x="1840992" y="301752"/>
            <a:ext cx="109728" cy="109728"/>
          </a:xfrm>
          <a:prstGeom prst="ellipse">
            <a:avLst/>
          </a:prstGeom>
          <a:solidFill>
            <a:srgbClr val="F47D70"/>
          </a:solidFill>
          <a:ln w="10160">
            <a:solidFill>
              <a:srgbClr val="F3F2EC">
                <a:alpha val="88000"/>
              </a:srgbClr>
            </a:solidFill>
            <a:prstDash val="solid"/>
          </a:ln>
        </p:spPr>
      </p:sp>
      <p:sp>
        <p:nvSpPr>
          <p:cNvPr id="6" name="kicker-2"/>
          <p:cNvSpPr/>
          <p:nvPr/>
        </p:nvSpPr>
        <p:spPr>
          <a:xfrm>
            <a:off x="694944" y="5669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30" kern="0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ПОЧЕМУ ЭТО ВАЖНО</a:t>
            </a:r>
            <a:endParaRPr lang="en-US" sz="950" dirty="0"/>
          </a:p>
        </p:txBody>
      </p:sp>
      <p:sp>
        <p:nvSpPr>
          <p:cNvPr id="7" name="!!footer-line"/>
          <p:cNvSpPr/>
          <p:nvPr/>
        </p:nvSpPr>
        <p:spPr>
          <a:xfrm>
            <a:off x="694944" y="6382512"/>
            <a:ext cx="10808208" cy="91"/>
          </a:xfrm>
          <a:prstGeom prst="line">
            <a:avLst/>
          </a:prstGeom>
          <a:noFill/>
          <a:ln w="889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-label"/>
          <p:cNvSpPr/>
          <p:nvPr/>
        </p:nvSpPr>
        <p:spPr>
          <a:xfrm>
            <a:off x="694944" y="64739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35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ПОТРЕБИТЕЛЬСКОГО ВЫБОРА  ·  ИССЛЕДОВАТЕЛЬСКИЙ ПРОЕКТ</a:t>
            </a:r>
            <a:endParaRPr lang="en-US" sz="850" dirty="0"/>
          </a:p>
        </p:txBody>
      </p:sp>
      <p:sp>
        <p:nvSpPr>
          <p:cNvPr id="9" name="!!page-number"/>
          <p:cNvSpPr/>
          <p:nvPr/>
        </p:nvSpPr>
        <p:spPr>
          <a:xfrm>
            <a:off x="10543032" y="64648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16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900" dirty="0"/>
          </a:p>
        </p:txBody>
      </p:sp>
      <p:pic>
        <p:nvPicPr>
          <p:cNvPr id="10" name="glow-2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285" y="334213"/>
            <a:ext cx="5778094" cy="5778094"/>
          </a:xfrm>
          <a:prstGeom prst="rect">
            <a:avLst/>
          </a:prstGeom>
        </p:spPr>
      </p:pic>
      <p:sp>
        <p:nvSpPr>
          <p:cNvPr id="11" name="ring-in-2"/>
          <p:cNvSpPr/>
          <p:nvPr/>
        </p:nvSpPr>
        <p:spPr>
          <a:xfrm>
            <a:off x="7520483" y="1229411"/>
            <a:ext cx="3987698" cy="3987698"/>
          </a:xfrm>
          <a:prstGeom prst="ellipse">
            <a:avLst/>
          </a:prstGeom>
          <a:ln w="8890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12" name="ring-out-2"/>
          <p:cNvSpPr/>
          <p:nvPr/>
        </p:nvSpPr>
        <p:spPr>
          <a:xfrm>
            <a:off x="7032193" y="741121"/>
            <a:ext cx="4964278" cy="4964278"/>
          </a:xfrm>
          <a:prstGeom prst="ellipse">
            <a:avLst/>
          </a:prstGeom>
          <a:ln w="8890">
            <a:solidFill>
              <a:srgbClr val="E5B66A">
                <a:alpha val="9000"/>
              </a:srgbClr>
            </a:solidFill>
            <a:prstDash val="dash"/>
          </a:ln>
        </p:spPr>
      </p:sp>
      <p:pic>
        <p:nvPicPr>
          <p:cNvPr id="13" name="shadow-2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9463" y="4240530"/>
            <a:ext cx="2929738" cy="73243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phone">
                <a:extLst>
                  <a:ext uri="{FF2B5EF4-FFF2-40B4-BE49-F238E27FC236}">
                    <a16:creationId xmlns:a16="http://schemas.microsoft.com/office/drawing/2014/main" id="{AFFD56D2-9CAB-213C-C171-052A332A9EB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79792" y="1188720"/>
              <a:ext cx="4069080" cy="406908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5440414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0" dy="0" dz="-1422222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2040000" az="12000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phone">
                <a:extLst>
                  <a:ext uri="{FF2B5EF4-FFF2-40B4-BE49-F238E27FC236}">
                    <a16:creationId xmlns:a16="http://schemas.microsoft.com/office/drawing/2014/main" id="{AFFD56D2-9CAB-213C-C171-052A332A9EB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79792" y="1188720"/>
                <a:ext cx="4069080" cy="406908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 9"/>
          <p:cNvSpPr/>
          <p:nvPr/>
        </p:nvSpPr>
        <p:spPr>
          <a:xfrm>
            <a:off x="7594092" y="53309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spc="155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ОБЪЁМНЫЙ ЭКСПОНАТ  02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экран — несколько шагов до оплаты</a:t>
            </a:r>
            <a:endParaRPr lang="en-US" sz="900" dirty="0"/>
          </a:p>
        </p:txBody>
      </p:sp>
      <p:sp>
        <p:nvSpPr>
          <p:cNvPr id="16" name="!!title"/>
          <p:cNvSpPr/>
          <p:nvPr/>
        </p:nvSpPr>
        <p:spPr>
          <a:xfrm>
            <a:off x="694944" y="960120"/>
            <a:ext cx="6537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30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«увидел» до «оплатил» — всё меньше пауз</a:t>
            </a:r>
            <a:endParaRPr lang="en-US" sz="3000" dirty="0"/>
          </a:p>
        </p:txBody>
      </p:sp>
      <p:sp>
        <p:nvSpPr>
          <p:cNvPr id="17" name="Text 11"/>
          <p:cNvSpPr/>
          <p:nvPr/>
        </p:nvSpPr>
        <p:spPr>
          <a:xfrm>
            <a:off x="694944" y="19933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4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интерфейсе покупки складываются три быстрых шага:</a:t>
            </a:r>
            <a:endParaRPr lang="en-US" sz="1340" dirty="0"/>
          </a:p>
        </p:txBody>
      </p:sp>
      <p:sp>
        <p:nvSpPr>
          <p:cNvPr id="18" name="fx2_1_0"/>
          <p:cNvSpPr/>
          <p:nvPr/>
        </p:nvSpPr>
        <p:spPr>
          <a:xfrm>
            <a:off x="694944" y="2514600"/>
            <a:ext cx="420624" cy="420624"/>
          </a:xfrm>
          <a:prstGeom prst="ellipse">
            <a:avLst/>
          </a:prstGeom>
          <a:solidFill>
            <a:srgbClr val="59D7CC">
              <a:alpha val="93000"/>
            </a:srgbClr>
          </a:solidFill>
          <a:ln/>
        </p:spPr>
      </p:sp>
      <p:sp>
        <p:nvSpPr>
          <p:cNvPr id="19" name="fx2_1_1"/>
          <p:cNvSpPr/>
          <p:nvPr/>
        </p:nvSpPr>
        <p:spPr>
          <a:xfrm>
            <a:off x="694944" y="256032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0" name="fx2_1_2"/>
          <p:cNvSpPr/>
          <p:nvPr/>
        </p:nvSpPr>
        <p:spPr>
          <a:xfrm>
            <a:off x="1271016" y="2505456"/>
            <a:ext cx="1325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Сигнал</a:t>
            </a:r>
            <a:endParaRPr lang="en-US" sz="1600" dirty="0"/>
          </a:p>
        </p:txBody>
      </p:sp>
      <p:sp>
        <p:nvSpPr>
          <p:cNvPr id="21" name="fx2_1_3"/>
          <p:cNvSpPr/>
          <p:nvPr/>
        </p:nvSpPr>
        <p:spPr>
          <a:xfrm>
            <a:off x="2569464" y="25328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4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реклама, push-уведомление, тренд</a:t>
            </a:r>
            <a:endParaRPr lang="en-US" sz="1240" dirty="0"/>
          </a:p>
        </p:txBody>
      </p:sp>
      <p:sp>
        <p:nvSpPr>
          <p:cNvPr id="22" name="fx2_1_4"/>
          <p:cNvSpPr/>
          <p:nvPr/>
        </p:nvSpPr>
        <p:spPr>
          <a:xfrm>
            <a:off x="905256" y="2944368"/>
            <a:ext cx="91" cy="320040"/>
          </a:xfrm>
          <a:prstGeom prst="line">
            <a:avLst/>
          </a:prstGeom>
          <a:noFill/>
          <a:ln w="12700">
            <a:solidFill>
              <a:srgbClr val="59D7CC">
                <a:alpha val="35000"/>
              </a:srgbClr>
            </a:solidFill>
            <a:prstDash val="solid"/>
          </a:ln>
        </p:spPr>
      </p:sp>
      <p:sp>
        <p:nvSpPr>
          <p:cNvPr id="23" name="fx2_2_5"/>
          <p:cNvSpPr/>
          <p:nvPr/>
        </p:nvSpPr>
        <p:spPr>
          <a:xfrm>
            <a:off x="694944" y="3319272"/>
            <a:ext cx="420624" cy="420624"/>
          </a:xfrm>
          <a:prstGeom prst="ellipse">
            <a:avLst/>
          </a:prstGeom>
          <a:solidFill>
            <a:srgbClr val="59D7CC">
              <a:alpha val="93000"/>
            </a:srgbClr>
          </a:solidFill>
          <a:ln/>
        </p:spPr>
      </p:sp>
      <p:sp>
        <p:nvSpPr>
          <p:cNvPr id="24" name="fx2_2_6"/>
          <p:cNvSpPr/>
          <p:nvPr/>
        </p:nvSpPr>
        <p:spPr>
          <a:xfrm>
            <a:off x="694944" y="33649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fx2_2_7"/>
          <p:cNvSpPr/>
          <p:nvPr/>
        </p:nvSpPr>
        <p:spPr>
          <a:xfrm>
            <a:off x="1271016" y="3310128"/>
            <a:ext cx="1325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Решение</a:t>
            </a:r>
            <a:endParaRPr lang="en-US" sz="1600" dirty="0"/>
          </a:p>
        </p:txBody>
      </p:sp>
      <p:sp>
        <p:nvSpPr>
          <p:cNvPr id="26" name="fx2_2_8"/>
          <p:cNvSpPr/>
          <p:nvPr/>
        </p:nvSpPr>
        <p:spPr>
          <a:xfrm>
            <a:off x="2569464" y="33375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4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товара, таймер, «осталось мало»</a:t>
            </a:r>
            <a:endParaRPr lang="en-US" sz="1240" dirty="0"/>
          </a:p>
        </p:txBody>
      </p:sp>
      <p:sp>
        <p:nvSpPr>
          <p:cNvPr id="27" name="fx2_2_9"/>
          <p:cNvSpPr/>
          <p:nvPr/>
        </p:nvSpPr>
        <p:spPr>
          <a:xfrm>
            <a:off x="905256" y="3749040"/>
            <a:ext cx="91" cy="320040"/>
          </a:xfrm>
          <a:prstGeom prst="line">
            <a:avLst/>
          </a:prstGeom>
          <a:noFill/>
          <a:ln w="12700">
            <a:solidFill>
              <a:srgbClr val="59D7CC">
                <a:alpha val="35000"/>
              </a:srgbClr>
            </a:solidFill>
            <a:prstDash val="solid"/>
          </a:ln>
        </p:spPr>
      </p:sp>
      <p:sp>
        <p:nvSpPr>
          <p:cNvPr id="28" name="fx2_3_10"/>
          <p:cNvSpPr/>
          <p:nvPr/>
        </p:nvSpPr>
        <p:spPr>
          <a:xfrm>
            <a:off x="694944" y="4123944"/>
            <a:ext cx="420624" cy="420624"/>
          </a:xfrm>
          <a:prstGeom prst="ellipse">
            <a:avLst/>
          </a:prstGeom>
          <a:solidFill>
            <a:srgbClr val="59D7CC">
              <a:alpha val="93000"/>
            </a:srgbClr>
          </a:solidFill>
          <a:ln/>
        </p:spPr>
      </p:sp>
      <p:sp>
        <p:nvSpPr>
          <p:cNvPr id="29" name="fx2_3_11"/>
          <p:cNvSpPr/>
          <p:nvPr/>
        </p:nvSpPr>
        <p:spPr>
          <a:xfrm>
            <a:off x="694944" y="4169664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0" name="fx2_3_12"/>
          <p:cNvSpPr/>
          <p:nvPr/>
        </p:nvSpPr>
        <p:spPr>
          <a:xfrm>
            <a:off x="1271016" y="4114800"/>
            <a:ext cx="1325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Оплата</a:t>
            </a:r>
            <a:endParaRPr lang="en-US" sz="1600" dirty="0"/>
          </a:p>
        </p:txBody>
      </p:sp>
      <p:sp>
        <p:nvSpPr>
          <p:cNvPr id="31" name="fx2_3_13"/>
          <p:cNvSpPr/>
          <p:nvPr/>
        </p:nvSpPr>
        <p:spPr>
          <a:xfrm>
            <a:off x="2569464" y="41422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4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сохранённая карта или разбивка платежа</a:t>
            </a:r>
            <a:endParaRPr lang="en-US" sz="1240" dirty="0"/>
          </a:p>
        </p:txBody>
      </p:sp>
      <p:sp>
        <p:nvSpPr>
          <p:cNvPr id="32" name="fx2_8_14"/>
          <p:cNvSpPr/>
          <p:nvPr/>
        </p:nvSpPr>
        <p:spPr>
          <a:xfrm>
            <a:off x="694944" y="5193792"/>
            <a:ext cx="6355080" cy="758952"/>
          </a:xfrm>
          <a:prstGeom prst="roundRect">
            <a:avLst>
              <a:gd name="adj" fmla="val 9639"/>
            </a:avLst>
          </a:prstGeom>
          <a:solidFill>
            <a:srgbClr val="142233">
              <a:alpha val="97000"/>
            </a:srgbClr>
          </a:solidFill>
          <a:ln w="11430">
            <a:solidFill>
              <a:srgbClr val="E5B66A">
                <a:alpha val="54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3" name="fx2_8_15"/>
          <p:cNvSpPr/>
          <p:nvPr/>
        </p:nvSpPr>
        <p:spPr>
          <a:xfrm>
            <a:off x="694944" y="5312664"/>
            <a:ext cx="50292" cy="521208"/>
          </a:xfrm>
          <a:prstGeom prst="rect">
            <a:avLst/>
          </a:prstGeom>
          <a:solidFill>
            <a:srgbClr val="E5B66A"/>
          </a:solidFill>
          <a:ln/>
        </p:spPr>
      </p:sp>
      <p:sp>
        <p:nvSpPr>
          <p:cNvPr id="34" name="fx2_8_16"/>
          <p:cNvSpPr/>
          <p:nvPr/>
        </p:nvSpPr>
        <p:spPr>
          <a:xfrm>
            <a:off x="905256" y="5084064"/>
            <a:ext cx="1481328" cy="228600"/>
          </a:xfrm>
          <a:prstGeom prst="roundRect">
            <a:avLst>
              <a:gd name="adj" fmla="val 48000"/>
            </a:avLst>
          </a:prstGeom>
          <a:solidFill>
            <a:srgbClr val="E5B66A"/>
          </a:solidFill>
          <a:ln/>
        </p:spPr>
      </p:sp>
      <p:sp>
        <p:nvSpPr>
          <p:cNvPr id="35" name="fx2_8_17"/>
          <p:cNvSpPr/>
          <p:nvPr/>
        </p:nvSpPr>
        <p:spPr>
          <a:xfrm>
            <a:off x="914400" y="5084064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spc="110" kern="0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ВОПРОС ПРОЕКТА</a:t>
            </a:r>
            <a:endParaRPr lang="en-US" sz="780" dirty="0"/>
          </a:p>
        </p:txBody>
      </p:sp>
      <p:sp>
        <p:nvSpPr>
          <p:cNvPr id="36" name="fx2_8_18"/>
          <p:cNvSpPr/>
          <p:nvPr/>
        </p:nvSpPr>
        <p:spPr>
          <a:xfrm>
            <a:off x="941832" y="5285232"/>
            <a:ext cx="59161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9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Удобство снижает трение. Это не доказывает, что каждый покупатель потратит больше — это повод проверить механизм.</a:t>
            </a:r>
            <a:endParaRPr lang="en-US" sz="1190" dirty="0"/>
          </a:p>
        </p:txBody>
      </p:sp>
      <p:sp>
        <p:nvSpPr>
          <p:cNvPr id="37" name="Text 31"/>
          <p:cNvSpPr/>
          <p:nvPr/>
        </p:nvSpPr>
        <p:spPr>
          <a:xfrm>
            <a:off x="694944" y="6108192"/>
            <a:ext cx="6583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spc="2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ОПОРА: [6] Soman, 2001</a:t>
            </a:r>
            <a:endParaRPr lang="en-US" sz="83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brain">
                <a:extLst>
                  <a:ext uri="{FF2B5EF4-FFF2-40B4-BE49-F238E27FC236}">
                    <a16:creationId xmlns:a16="http://schemas.microsoft.com/office/drawing/2014/main" id="{284C910E-01F4-2558-E325-5CB13A8F370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490472"/>
              <a:ext cx="4078224" cy="4078224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4078224" cy="4078224"/>
                    </a:xfrm>
                    <a:prstGeom prst="rect">
                      <a:avLst/>
                    </a:prstGeom>
                  </am3d:spPr>
                  <am3d:camera>
                    <am3d:pos x="0" y="0" z="7660726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104606" d="1000000"/>
                    <am3d:preTrans dx="0" dy="-18000000" dz="-2385949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3000000" az="-24000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7822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brain">
                <a:extLst>
                  <a:ext uri="{FF2B5EF4-FFF2-40B4-BE49-F238E27FC236}">
                    <a16:creationId xmlns:a16="http://schemas.microsoft.com/office/drawing/2014/main" id="{284C910E-01F4-2558-E325-5CB13A8F370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694615" y="1490472"/>
                <a:ext cx="4078224" cy="4078224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3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rogress-track"/>
          <p:cNvSpPr/>
          <p:nvPr/>
        </p:nvSpPr>
        <p:spPr>
          <a:xfrm>
            <a:off x="694944" y="356616"/>
            <a:ext cx="10808208" cy="91"/>
          </a:xfrm>
          <a:prstGeom prst="line">
            <a:avLst/>
          </a:prstGeom>
          <a:noFill/>
          <a:ln w="1016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4" name="!!progress-fill"/>
          <p:cNvSpPr/>
          <p:nvPr/>
        </p:nvSpPr>
        <p:spPr>
          <a:xfrm>
            <a:off x="694944" y="342900"/>
            <a:ext cx="2401824" cy="27432"/>
          </a:xfrm>
          <a:prstGeom prst="rect">
            <a:avLst/>
          </a:prstGeom>
          <a:solidFill>
            <a:srgbClr val="59D7CC"/>
          </a:solidFill>
          <a:ln/>
        </p:spPr>
      </p:sp>
      <p:sp>
        <p:nvSpPr>
          <p:cNvPr id="5" name="!!progress-dot"/>
          <p:cNvSpPr/>
          <p:nvPr/>
        </p:nvSpPr>
        <p:spPr>
          <a:xfrm>
            <a:off x="3041904" y="301752"/>
            <a:ext cx="109728" cy="109728"/>
          </a:xfrm>
          <a:prstGeom prst="ellipse">
            <a:avLst/>
          </a:prstGeom>
          <a:solidFill>
            <a:srgbClr val="F47D70"/>
          </a:solidFill>
          <a:ln w="10160">
            <a:solidFill>
              <a:srgbClr val="F3F2EC">
                <a:alpha val="88000"/>
              </a:srgbClr>
            </a:solidFill>
            <a:prstDash val="solid"/>
          </a:ln>
        </p:spPr>
      </p:sp>
      <p:sp>
        <p:nvSpPr>
          <p:cNvPr id="6" name="kicker-3"/>
          <p:cNvSpPr/>
          <p:nvPr/>
        </p:nvSpPr>
        <p:spPr>
          <a:xfrm>
            <a:off x="694944" y="5669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30" kern="0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ЧТО ИМЕННО НАЗЫВАЕМ ИМПУЛЬСИВНОЙ ПОКУПКОЙ</a:t>
            </a:r>
            <a:endParaRPr lang="en-US" sz="950" dirty="0"/>
          </a:p>
        </p:txBody>
      </p:sp>
      <p:sp>
        <p:nvSpPr>
          <p:cNvPr id="7" name="!!footer-line"/>
          <p:cNvSpPr/>
          <p:nvPr/>
        </p:nvSpPr>
        <p:spPr>
          <a:xfrm>
            <a:off x="694944" y="6382512"/>
            <a:ext cx="10808208" cy="91"/>
          </a:xfrm>
          <a:prstGeom prst="line">
            <a:avLst/>
          </a:prstGeom>
          <a:noFill/>
          <a:ln w="889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-label"/>
          <p:cNvSpPr/>
          <p:nvPr/>
        </p:nvSpPr>
        <p:spPr>
          <a:xfrm>
            <a:off x="694944" y="64739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35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ПОТРЕБИТЕЛЬСКОГО ВЫБОРА  ·  ИССЛЕДОВАТЕЛЬСКИЙ ПРОЕКТ</a:t>
            </a:r>
            <a:endParaRPr lang="en-US" sz="850" dirty="0"/>
          </a:p>
        </p:txBody>
      </p:sp>
      <p:sp>
        <p:nvSpPr>
          <p:cNvPr id="9" name="!!page-number"/>
          <p:cNvSpPr/>
          <p:nvPr/>
        </p:nvSpPr>
        <p:spPr>
          <a:xfrm>
            <a:off x="10543032" y="64648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16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900" dirty="0"/>
          </a:p>
        </p:txBody>
      </p:sp>
      <p:pic>
        <p:nvPicPr>
          <p:cNvPr id="10" name="glow-3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9941" y="314005"/>
            <a:ext cx="5791078" cy="5791078"/>
          </a:xfrm>
          <a:prstGeom prst="rect">
            <a:avLst/>
          </a:prstGeom>
        </p:spPr>
      </p:pic>
      <p:sp>
        <p:nvSpPr>
          <p:cNvPr id="11" name="ring-in-3"/>
          <p:cNvSpPr/>
          <p:nvPr/>
        </p:nvSpPr>
        <p:spPr>
          <a:xfrm>
            <a:off x="7557150" y="1211214"/>
            <a:ext cx="3996660" cy="3996660"/>
          </a:xfrm>
          <a:prstGeom prst="ellipse">
            <a:avLst/>
          </a:prstGeom>
          <a:ln w="8890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12" name="ring-out-3"/>
          <p:cNvSpPr/>
          <p:nvPr/>
        </p:nvSpPr>
        <p:spPr>
          <a:xfrm>
            <a:off x="7067763" y="721827"/>
            <a:ext cx="4975433" cy="4975433"/>
          </a:xfrm>
          <a:prstGeom prst="ellipse">
            <a:avLst/>
          </a:prstGeom>
          <a:ln w="8890">
            <a:solidFill>
              <a:srgbClr val="E5B66A">
                <a:alpha val="9000"/>
              </a:srgbClr>
            </a:solidFill>
            <a:prstDash val="dash"/>
          </a:ln>
        </p:spPr>
      </p:sp>
      <p:pic>
        <p:nvPicPr>
          <p:cNvPr id="13" name="shadow-3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319" y="4229100"/>
            <a:ext cx="2936321" cy="73408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brain">
                <a:extLst>
                  <a:ext uri="{FF2B5EF4-FFF2-40B4-BE49-F238E27FC236}">
                    <a16:creationId xmlns:a16="http://schemas.microsoft.com/office/drawing/2014/main" id="{58B72E02-4CC0-58A3-BD3F-946A6494603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16368" y="1170432"/>
              <a:ext cx="4078224" cy="4078224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4078224" cy="4078224"/>
                    </a:xfrm>
                    <a:prstGeom prst="rect">
                      <a:avLst/>
                    </a:prstGeom>
                  </am3d:spPr>
                  <am3d:camera>
                    <am3d:pos x="0" y="0" z="7660726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104606" d="1000000"/>
                    <am3d:preTrans dx="0" dy="-18000000" dz="-2385949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1680000" az="-24000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7822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brain">
                <a:extLst>
                  <a:ext uri="{FF2B5EF4-FFF2-40B4-BE49-F238E27FC236}">
                    <a16:creationId xmlns:a16="http://schemas.microsoft.com/office/drawing/2014/main" id="{58B72E02-4CC0-58A3-BD3F-946A649460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16368" y="1170432"/>
                <a:ext cx="4078224" cy="4078224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 9"/>
          <p:cNvSpPr/>
          <p:nvPr/>
        </p:nvSpPr>
        <p:spPr>
          <a:xfrm>
            <a:off x="7543800" y="532180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spc="155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ОБЪЁМНЫЙ ЭКСПОНАТ  03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 встречается с текущим состоянием человека</a:t>
            </a:r>
            <a:endParaRPr lang="en-US" sz="900" dirty="0"/>
          </a:p>
        </p:txBody>
      </p:sp>
      <p:sp>
        <p:nvSpPr>
          <p:cNvPr id="16" name="!!title"/>
          <p:cNvSpPr/>
          <p:nvPr/>
        </p:nvSpPr>
        <p:spPr>
          <a:xfrm>
            <a:off x="694944" y="960120"/>
            <a:ext cx="6537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32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Импульс — порыв, а не диагноз</a:t>
            </a:r>
            <a:endParaRPr lang="en-US" sz="3200" dirty="0"/>
          </a:p>
        </p:txBody>
      </p:sp>
      <p:sp>
        <p:nvSpPr>
          <p:cNvPr id="17" name="Text 11"/>
          <p:cNvSpPr/>
          <p:nvPr/>
        </p:nvSpPr>
        <p:spPr>
          <a:xfrm>
            <a:off x="694944" y="1938528"/>
            <a:ext cx="6263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Рабочее определение проекта: незапланированное решение купить, сопровождаемое сильным желанием сделать это немедленно.</a:t>
            </a:r>
            <a:endParaRPr lang="en-US" sz="1700" dirty="0"/>
          </a:p>
        </p:txBody>
      </p:sp>
      <p:sp>
        <p:nvSpPr>
          <p:cNvPr id="18" name="fx3_1_0"/>
          <p:cNvSpPr/>
          <p:nvPr/>
        </p:nvSpPr>
        <p:spPr>
          <a:xfrm>
            <a:off x="694944" y="3154680"/>
            <a:ext cx="1225296" cy="566928"/>
          </a:xfrm>
          <a:prstGeom prst="roundRect">
            <a:avLst>
              <a:gd name="adj" fmla="val 12903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46000"/>
              </a:srgbClr>
            </a:solidFill>
            <a:prstDash val="solid"/>
          </a:ln>
        </p:spPr>
      </p:sp>
      <p:sp>
        <p:nvSpPr>
          <p:cNvPr id="19" name="fx3_1_1"/>
          <p:cNvSpPr/>
          <p:nvPr/>
        </p:nvSpPr>
        <p:spPr>
          <a:xfrm>
            <a:off x="740664" y="3319272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</a:t>
            </a:r>
            <a:endParaRPr lang="en-US" sz="880" dirty="0"/>
          </a:p>
        </p:txBody>
      </p:sp>
      <p:sp>
        <p:nvSpPr>
          <p:cNvPr id="20" name="fx3_1_2"/>
          <p:cNvSpPr/>
          <p:nvPr/>
        </p:nvSpPr>
        <p:spPr>
          <a:xfrm>
            <a:off x="1929384" y="324612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5B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fx3_2_3"/>
          <p:cNvSpPr/>
          <p:nvPr/>
        </p:nvSpPr>
        <p:spPr>
          <a:xfrm>
            <a:off x="2121408" y="3154680"/>
            <a:ext cx="1225296" cy="566928"/>
          </a:xfrm>
          <a:prstGeom prst="roundRect">
            <a:avLst>
              <a:gd name="adj" fmla="val 12903"/>
            </a:avLst>
          </a:prstGeom>
          <a:solidFill>
            <a:srgbClr val="231C24">
              <a:alpha val="92000"/>
            </a:srgbClr>
          </a:solidFill>
          <a:ln w="9525">
            <a:solidFill>
              <a:srgbClr val="F47D70">
                <a:alpha val="46000"/>
              </a:srgbClr>
            </a:solidFill>
            <a:prstDash val="solid"/>
          </a:ln>
        </p:spPr>
      </p:sp>
      <p:sp>
        <p:nvSpPr>
          <p:cNvPr id="22" name="fx3_2_4"/>
          <p:cNvSpPr/>
          <p:nvPr/>
        </p:nvSpPr>
        <p:spPr>
          <a:xfrm>
            <a:off x="2167128" y="3319272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F47D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ПОТЯГ</a:t>
            </a:r>
            <a:endParaRPr lang="en-US" sz="880" dirty="0"/>
          </a:p>
        </p:txBody>
      </p:sp>
      <p:sp>
        <p:nvSpPr>
          <p:cNvPr id="23" name="fx3_2_5"/>
          <p:cNvSpPr/>
          <p:nvPr/>
        </p:nvSpPr>
        <p:spPr>
          <a:xfrm>
            <a:off x="3355848" y="324612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5B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fx3_3_6"/>
          <p:cNvSpPr/>
          <p:nvPr/>
        </p:nvSpPr>
        <p:spPr>
          <a:xfrm>
            <a:off x="3547872" y="315468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46000"/>
              </a:srgbClr>
            </a:solidFill>
            <a:prstDash val="solid"/>
          </a:ln>
        </p:spPr>
      </p:sp>
      <p:sp>
        <p:nvSpPr>
          <p:cNvPr id="25" name="fx3_3_7"/>
          <p:cNvSpPr/>
          <p:nvPr/>
        </p:nvSpPr>
        <p:spPr>
          <a:xfrm>
            <a:off x="3593592" y="331927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КЛИК</a:t>
            </a:r>
            <a:endParaRPr lang="en-US" sz="880" dirty="0"/>
          </a:p>
        </p:txBody>
      </p:sp>
      <p:sp>
        <p:nvSpPr>
          <p:cNvPr id="26" name="fx3_3_8"/>
          <p:cNvSpPr/>
          <p:nvPr/>
        </p:nvSpPr>
        <p:spPr>
          <a:xfrm>
            <a:off x="4654296" y="324612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5B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fx3_4_9"/>
          <p:cNvSpPr/>
          <p:nvPr/>
        </p:nvSpPr>
        <p:spPr>
          <a:xfrm>
            <a:off x="4846320" y="315468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46000"/>
              </a:srgbClr>
            </a:solidFill>
            <a:prstDash val="solid"/>
          </a:ln>
        </p:spPr>
      </p:sp>
      <p:sp>
        <p:nvSpPr>
          <p:cNvPr id="28" name="fx3_4_10"/>
          <p:cNvSpPr/>
          <p:nvPr/>
        </p:nvSpPr>
        <p:spPr>
          <a:xfrm>
            <a:off x="4892040" y="33192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ПОСЛЕ</a:t>
            </a:r>
            <a:endParaRPr lang="en-US" sz="880" dirty="0"/>
          </a:p>
        </p:txBody>
      </p:sp>
      <p:sp>
        <p:nvSpPr>
          <p:cNvPr id="29" name="fx3_5_11"/>
          <p:cNvSpPr/>
          <p:nvPr/>
        </p:nvSpPr>
        <p:spPr>
          <a:xfrm>
            <a:off x="694944" y="4041648"/>
            <a:ext cx="2999232" cy="795528"/>
          </a:xfrm>
          <a:prstGeom prst="roundRect">
            <a:avLst>
              <a:gd name="adj" fmla="val 9195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22000"/>
              </a:srgbClr>
            </a:solidFill>
            <a:prstDash val="solid"/>
          </a:ln>
        </p:spPr>
      </p:sp>
      <p:sp>
        <p:nvSpPr>
          <p:cNvPr id="30" name="fx3_5_12"/>
          <p:cNvSpPr/>
          <p:nvPr/>
        </p:nvSpPr>
        <p:spPr>
          <a:xfrm>
            <a:off x="877824" y="4178808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150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en-US" sz="880" dirty="0"/>
          </a:p>
        </p:txBody>
      </p:sp>
      <p:sp>
        <p:nvSpPr>
          <p:cNvPr id="31" name="fx3_5_13"/>
          <p:cNvSpPr/>
          <p:nvPr/>
        </p:nvSpPr>
        <p:spPr>
          <a:xfrm>
            <a:off x="877824" y="4425696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порыв в конкретный момент</a:t>
            </a:r>
            <a:endParaRPr lang="en-US" sz="1120" dirty="0"/>
          </a:p>
        </p:txBody>
      </p:sp>
      <p:sp>
        <p:nvSpPr>
          <p:cNvPr id="32" name="fx3_6_14"/>
          <p:cNvSpPr/>
          <p:nvPr/>
        </p:nvSpPr>
        <p:spPr>
          <a:xfrm>
            <a:off x="3877056" y="4041648"/>
            <a:ext cx="3182112" cy="795528"/>
          </a:xfrm>
          <a:prstGeom prst="roundRect">
            <a:avLst>
              <a:gd name="adj" fmla="val 9195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E5B66A">
                <a:alpha val="22000"/>
              </a:srgbClr>
            </a:solidFill>
            <a:prstDash val="solid"/>
          </a:ln>
        </p:spPr>
      </p:sp>
      <p:sp>
        <p:nvSpPr>
          <p:cNvPr id="33" name="fx3_6_15"/>
          <p:cNvSpPr/>
          <p:nvPr/>
        </p:nvSpPr>
        <p:spPr>
          <a:xfrm>
            <a:off x="4059936" y="4178808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150" kern="0" dirty="0">
                <a:solidFill>
                  <a:srgbClr val="E5B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СКЛОННОСТЬ</a:t>
            </a:r>
            <a:endParaRPr lang="en-US" sz="880" dirty="0"/>
          </a:p>
        </p:txBody>
      </p:sp>
      <p:sp>
        <p:nvSpPr>
          <p:cNvPr id="34" name="fx3_6_16"/>
          <p:cNvSpPr/>
          <p:nvPr/>
        </p:nvSpPr>
        <p:spPr>
          <a:xfrm>
            <a:off x="4059936" y="442569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часто человек поддаётся порыву</a:t>
            </a:r>
            <a:endParaRPr lang="en-US" sz="1080" dirty="0"/>
          </a:p>
        </p:txBody>
      </p:sp>
      <p:sp>
        <p:nvSpPr>
          <p:cNvPr id="35" name="fx3_8_17"/>
          <p:cNvSpPr/>
          <p:nvPr/>
        </p:nvSpPr>
        <p:spPr>
          <a:xfrm>
            <a:off x="694944" y="5239512"/>
            <a:ext cx="6364224" cy="722376"/>
          </a:xfrm>
          <a:prstGeom prst="roundRect">
            <a:avLst>
              <a:gd name="adj" fmla="val 10127"/>
            </a:avLst>
          </a:prstGeom>
          <a:solidFill>
            <a:srgbClr val="142233">
              <a:alpha val="97000"/>
            </a:srgbClr>
          </a:solidFill>
          <a:ln w="11430">
            <a:solidFill>
              <a:srgbClr val="E5B66A">
                <a:alpha val="54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6" name="fx3_8_18"/>
          <p:cNvSpPr/>
          <p:nvPr/>
        </p:nvSpPr>
        <p:spPr>
          <a:xfrm>
            <a:off x="694944" y="5358384"/>
            <a:ext cx="50292" cy="484632"/>
          </a:xfrm>
          <a:prstGeom prst="rect">
            <a:avLst/>
          </a:prstGeom>
          <a:solidFill>
            <a:srgbClr val="E5B66A"/>
          </a:solidFill>
          <a:ln/>
        </p:spPr>
      </p:sp>
      <p:sp>
        <p:nvSpPr>
          <p:cNvPr id="37" name="fx3_8_19"/>
          <p:cNvSpPr/>
          <p:nvPr/>
        </p:nvSpPr>
        <p:spPr>
          <a:xfrm>
            <a:off x="905256" y="5129784"/>
            <a:ext cx="1563624" cy="228600"/>
          </a:xfrm>
          <a:prstGeom prst="roundRect">
            <a:avLst>
              <a:gd name="adj" fmla="val 48000"/>
            </a:avLst>
          </a:prstGeom>
          <a:solidFill>
            <a:srgbClr val="E5B66A"/>
          </a:solidFill>
          <a:ln/>
        </p:spPr>
      </p:sp>
      <p:sp>
        <p:nvSpPr>
          <p:cNvPr id="38" name="fx3_8_20"/>
          <p:cNvSpPr/>
          <p:nvPr/>
        </p:nvSpPr>
        <p:spPr>
          <a:xfrm>
            <a:off x="914400" y="5129784"/>
            <a:ext cx="1563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spc="110" kern="0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ВАЖНО РАЗЛИЧАТЬ</a:t>
            </a:r>
            <a:endParaRPr lang="en-US" sz="780" dirty="0"/>
          </a:p>
        </p:txBody>
      </p:sp>
      <p:sp>
        <p:nvSpPr>
          <p:cNvPr id="39" name="fx3_8_21"/>
          <p:cNvSpPr/>
          <p:nvPr/>
        </p:nvSpPr>
        <p:spPr>
          <a:xfrm>
            <a:off x="941832" y="5330952"/>
            <a:ext cx="592531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2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Незапланированная покупка ≠ «слабый характер». Контекст и самоконтроль тоже важны.</a:t>
            </a:r>
            <a:endParaRPr lang="en-US" sz="1220" dirty="0"/>
          </a:p>
        </p:txBody>
      </p:sp>
      <p:sp>
        <p:nvSpPr>
          <p:cNvPr id="40" name="Text 34"/>
          <p:cNvSpPr/>
          <p:nvPr/>
        </p:nvSpPr>
        <p:spPr>
          <a:xfrm>
            <a:off x="694944" y="6108192"/>
            <a:ext cx="6583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spc="2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ОПОРА: [1–3] Rook, 1987; Beatty &amp; Ferrell, 1998; Verplanken &amp; Herabadi, 2001</a:t>
            </a:r>
            <a:endParaRPr lang="en-US" sz="83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!!m-phone">
                <a:extLst>
                  <a:ext uri="{FF2B5EF4-FFF2-40B4-BE49-F238E27FC236}">
                    <a16:creationId xmlns:a16="http://schemas.microsoft.com/office/drawing/2014/main" id="{38533A8B-8AD8-EF1E-E0A9-A37EF61A48A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572000" y="1508760"/>
              <a:ext cx="4069080" cy="4069080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5440414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0" dy="0" dz="-1422222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6720000" az="12000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!!m-phone">
                <a:extLst>
                  <a:ext uri="{FF2B5EF4-FFF2-40B4-BE49-F238E27FC236}">
                    <a16:creationId xmlns:a16="http://schemas.microsoft.com/office/drawing/2014/main" id="{38533A8B-8AD8-EF1E-E0A9-A37EF61A48A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4572000" y="1508760"/>
                <a:ext cx="4069080" cy="406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2" name="!!m-phone">
                <a:extLst>
                  <a:ext uri="{FF2B5EF4-FFF2-40B4-BE49-F238E27FC236}">
                    <a16:creationId xmlns:a16="http://schemas.microsoft.com/office/drawing/2014/main" id="{9BB1938C-0DD2-865B-2C8E-502744FD6EB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508760"/>
              <a:ext cx="4069080" cy="4069080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5440414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0" dy="0" dz="-1422222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6600000" az="-24000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2" name="!!m-phone">
                <a:extLst>
                  <a:ext uri="{FF2B5EF4-FFF2-40B4-BE49-F238E27FC236}">
                    <a16:creationId xmlns:a16="http://schemas.microsoft.com/office/drawing/2014/main" id="{9BB1938C-0DD2-865B-2C8E-502744FD6EB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694615" y="1508760"/>
                <a:ext cx="4069080" cy="4069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6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4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rogress-track"/>
          <p:cNvSpPr/>
          <p:nvPr/>
        </p:nvSpPr>
        <p:spPr>
          <a:xfrm>
            <a:off x="694944" y="356616"/>
            <a:ext cx="10808208" cy="91"/>
          </a:xfrm>
          <a:prstGeom prst="line">
            <a:avLst/>
          </a:prstGeom>
          <a:noFill/>
          <a:ln w="1016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4" name="!!progress-fill"/>
          <p:cNvSpPr/>
          <p:nvPr/>
        </p:nvSpPr>
        <p:spPr>
          <a:xfrm>
            <a:off x="694944" y="342900"/>
            <a:ext cx="3602736" cy="27432"/>
          </a:xfrm>
          <a:prstGeom prst="rect">
            <a:avLst/>
          </a:prstGeom>
          <a:solidFill>
            <a:srgbClr val="59D7CC"/>
          </a:solidFill>
          <a:ln/>
        </p:spPr>
      </p:sp>
      <p:sp>
        <p:nvSpPr>
          <p:cNvPr id="5" name="!!progress-dot"/>
          <p:cNvSpPr/>
          <p:nvPr/>
        </p:nvSpPr>
        <p:spPr>
          <a:xfrm>
            <a:off x="4242816" y="301752"/>
            <a:ext cx="109728" cy="109728"/>
          </a:xfrm>
          <a:prstGeom prst="ellipse">
            <a:avLst/>
          </a:prstGeom>
          <a:solidFill>
            <a:srgbClr val="F47D70"/>
          </a:solidFill>
          <a:ln w="10160">
            <a:solidFill>
              <a:srgbClr val="F3F2EC">
                <a:alpha val="88000"/>
              </a:srgbClr>
            </a:solidFill>
            <a:prstDash val="solid"/>
          </a:ln>
        </p:spPr>
      </p:sp>
      <p:sp>
        <p:nvSpPr>
          <p:cNvPr id="6" name="kicker-4"/>
          <p:cNvSpPr/>
          <p:nvPr/>
        </p:nvSpPr>
        <p:spPr>
          <a:xfrm>
            <a:off x="694944" y="5669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30" kern="0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СИГНАЛЫ И КОГНИТИВНЫЕ ЛОВУШКИ</a:t>
            </a:r>
            <a:endParaRPr lang="en-US" sz="950" dirty="0"/>
          </a:p>
        </p:txBody>
      </p:sp>
      <p:sp>
        <p:nvSpPr>
          <p:cNvPr id="7" name="!!footer-line"/>
          <p:cNvSpPr/>
          <p:nvPr/>
        </p:nvSpPr>
        <p:spPr>
          <a:xfrm>
            <a:off x="694944" y="6382512"/>
            <a:ext cx="10808208" cy="91"/>
          </a:xfrm>
          <a:prstGeom prst="line">
            <a:avLst/>
          </a:prstGeom>
          <a:noFill/>
          <a:ln w="889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-label"/>
          <p:cNvSpPr/>
          <p:nvPr/>
        </p:nvSpPr>
        <p:spPr>
          <a:xfrm>
            <a:off x="694944" y="64739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35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ПОТРЕБИТЕЛЬСКОГО ВЫБОРА  ·  ИССЛЕДОВАТЕЛЬСКИЙ ПРОЕКТ</a:t>
            </a:r>
            <a:endParaRPr lang="en-US" sz="850" dirty="0"/>
          </a:p>
        </p:txBody>
      </p:sp>
      <p:sp>
        <p:nvSpPr>
          <p:cNvPr id="9" name="!!page-number"/>
          <p:cNvSpPr/>
          <p:nvPr/>
        </p:nvSpPr>
        <p:spPr>
          <a:xfrm>
            <a:off x="10543032" y="64648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16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900" dirty="0"/>
          </a:p>
        </p:txBody>
      </p:sp>
      <p:pic>
        <p:nvPicPr>
          <p:cNvPr id="10" name="glow-4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285" y="334213"/>
            <a:ext cx="5778094" cy="5778094"/>
          </a:xfrm>
          <a:prstGeom prst="rect">
            <a:avLst/>
          </a:prstGeom>
        </p:spPr>
      </p:pic>
      <p:sp>
        <p:nvSpPr>
          <p:cNvPr id="11" name="ring-in-4"/>
          <p:cNvSpPr/>
          <p:nvPr/>
        </p:nvSpPr>
        <p:spPr>
          <a:xfrm>
            <a:off x="7520483" y="1229411"/>
            <a:ext cx="3987698" cy="3987698"/>
          </a:xfrm>
          <a:prstGeom prst="ellipse">
            <a:avLst/>
          </a:prstGeom>
          <a:ln w="8890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12" name="ring-out-4"/>
          <p:cNvSpPr/>
          <p:nvPr/>
        </p:nvSpPr>
        <p:spPr>
          <a:xfrm>
            <a:off x="7032193" y="741121"/>
            <a:ext cx="4964278" cy="4964278"/>
          </a:xfrm>
          <a:prstGeom prst="ellipse">
            <a:avLst/>
          </a:prstGeom>
          <a:ln w="8890">
            <a:solidFill>
              <a:srgbClr val="E5B66A">
                <a:alpha val="9000"/>
              </a:srgbClr>
            </a:solidFill>
            <a:prstDash val="dash"/>
          </a:ln>
        </p:spPr>
      </p:sp>
      <p:pic>
        <p:nvPicPr>
          <p:cNvPr id="13" name="shadow-4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9463" y="4240530"/>
            <a:ext cx="2929738" cy="73243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phone">
                <a:extLst>
                  <a:ext uri="{FF2B5EF4-FFF2-40B4-BE49-F238E27FC236}">
                    <a16:creationId xmlns:a16="http://schemas.microsoft.com/office/drawing/2014/main" id="{DA89FF1B-960A-722A-7E71-742242F4F9C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79792" y="1188720"/>
              <a:ext cx="4069080" cy="4069080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5440414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0" dy="0" dz="-1422222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1920000" az="-24000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phone">
                <a:extLst>
                  <a:ext uri="{FF2B5EF4-FFF2-40B4-BE49-F238E27FC236}">
                    <a16:creationId xmlns:a16="http://schemas.microsoft.com/office/drawing/2014/main" id="{DA89FF1B-960A-722A-7E71-742242F4F9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79792" y="1188720"/>
                <a:ext cx="4069080" cy="406908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 9"/>
          <p:cNvSpPr/>
          <p:nvPr/>
        </p:nvSpPr>
        <p:spPr>
          <a:xfrm>
            <a:off x="7479792" y="533095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spc="155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ОБЪЁМНЫЙ ЭКСПОНАТ  04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Срочный сигнал заметен — но не решает за нас</a:t>
            </a:r>
            <a:endParaRPr lang="en-US" sz="900" dirty="0"/>
          </a:p>
        </p:txBody>
      </p:sp>
      <p:sp>
        <p:nvSpPr>
          <p:cNvPr id="16" name="!!title"/>
          <p:cNvSpPr/>
          <p:nvPr/>
        </p:nvSpPr>
        <p:spPr>
          <a:xfrm>
            <a:off x="694944" y="960120"/>
            <a:ext cx="6492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295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Четыре триггера ускоряют «купить сейчас»</a:t>
            </a:r>
            <a:endParaRPr lang="en-US" sz="2950" dirty="0"/>
          </a:p>
        </p:txBody>
      </p:sp>
      <p:sp>
        <p:nvSpPr>
          <p:cNvPr id="17" name="fx4_1_0"/>
          <p:cNvSpPr/>
          <p:nvPr/>
        </p:nvSpPr>
        <p:spPr>
          <a:xfrm>
            <a:off x="694944" y="2084832"/>
            <a:ext cx="3054096" cy="1124712"/>
          </a:xfrm>
          <a:prstGeom prst="roundRect">
            <a:avLst>
              <a:gd name="adj" fmla="val 6504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F47D70">
                <a:alpha val="30000"/>
              </a:srgbClr>
            </a:solidFill>
            <a:prstDash val="solid"/>
          </a:ln>
        </p:spPr>
      </p:sp>
      <p:sp>
        <p:nvSpPr>
          <p:cNvPr id="18" name="fx4_1_1"/>
          <p:cNvSpPr/>
          <p:nvPr/>
        </p:nvSpPr>
        <p:spPr>
          <a:xfrm>
            <a:off x="877824" y="2231136"/>
            <a:ext cx="2651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150" kern="0" dirty="0">
                <a:solidFill>
                  <a:srgbClr val="F47D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СРОЧНОСТЬ</a:t>
            </a:r>
            <a:endParaRPr lang="en-US" sz="880" dirty="0"/>
          </a:p>
        </p:txBody>
      </p:sp>
      <p:sp>
        <p:nvSpPr>
          <p:cNvPr id="19" name="fx4_1_2"/>
          <p:cNvSpPr/>
          <p:nvPr/>
        </p:nvSpPr>
        <p:spPr>
          <a:xfrm>
            <a:off x="877824" y="247802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FOMO</a:t>
            </a:r>
            <a:endParaRPr lang="en-US" sz="1500" dirty="0"/>
          </a:p>
        </p:txBody>
      </p:sp>
      <p:sp>
        <p:nvSpPr>
          <p:cNvPr id="20" name="fx4_1_3"/>
          <p:cNvSpPr/>
          <p:nvPr/>
        </p:nvSpPr>
        <p:spPr>
          <a:xfrm>
            <a:off x="877824" y="2807208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«Только сегодня» / «осталось 2»</a:t>
            </a:r>
            <a:endParaRPr lang="en-US" sz="1070" dirty="0"/>
          </a:p>
        </p:txBody>
      </p:sp>
      <p:sp>
        <p:nvSpPr>
          <p:cNvPr id="21" name="fx4_2_4"/>
          <p:cNvSpPr/>
          <p:nvPr/>
        </p:nvSpPr>
        <p:spPr>
          <a:xfrm>
            <a:off x="3922776" y="2084832"/>
            <a:ext cx="3054096" cy="1124712"/>
          </a:xfrm>
          <a:prstGeom prst="roundRect">
            <a:avLst>
              <a:gd name="adj" fmla="val 6504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30000"/>
              </a:srgbClr>
            </a:solidFill>
            <a:prstDash val="solid"/>
          </a:ln>
        </p:spPr>
      </p:sp>
      <p:sp>
        <p:nvSpPr>
          <p:cNvPr id="22" name="fx4_2_5"/>
          <p:cNvSpPr/>
          <p:nvPr/>
        </p:nvSpPr>
        <p:spPr>
          <a:xfrm>
            <a:off x="4105656" y="2231136"/>
            <a:ext cx="2651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150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880" dirty="0"/>
          </a:p>
        </p:txBody>
      </p:sp>
      <p:sp>
        <p:nvSpPr>
          <p:cNvPr id="23" name="fx4_2_6"/>
          <p:cNvSpPr/>
          <p:nvPr/>
        </p:nvSpPr>
        <p:spPr>
          <a:xfrm>
            <a:off x="4105656" y="247802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Социальное сравнение</a:t>
            </a:r>
            <a:endParaRPr lang="en-US" sz="1500" dirty="0"/>
          </a:p>
        </p:txBody>
      </p:sp>
      <p:sp>
        <p:nvSpPr>
          <p:cNvPr id="24" name="fx4_2_7"/>
          <p:cNvSpPr/>
          <p:nvPr/>
        </p:nvSpPr>
        <p:spPr>
          <a:xfrm>
            <a:off x="4105656" y="2807208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Блогер, тренд, чужая покупка</a:t>
            </a:r>
            <a:endParaRPr lang="en-US" sz="1070" dirty="0"/>
          </a:p>
        </p:txBody>
      </p:sp>
      <p:sp>
        <p:nvSpPr>
          <p:cNvPr id="25" name="fx4_3_8"/>
          <p:cNvSpPr/>
          <p:nvPr/>
        </p:nvSpPr>
        <p:spPr>
          <a:xfrm>
            <a:off x="694944" y="3410712"/>
            <a:ext cx="3054096" cy="1124712"/>
          </a:xfrm>
          <a:prstGeom prst="roundRect">
            <a:avLst>
              <a:gd name="adj" fmla="val 6504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30000"/>
              </a:srgbClr>
            </a:solidFill>
            <a:prstDash val="solid"/>
          </a:ln>
        </p:spPr>
      </p:sp>
      <p:sp>
        <p:nvSpPr>
          <p:cNvPr id="26" name="fx4_3_9"/>
          <p:cNvSpPr/>
          <p:nvPr/>
        </p:nvSpPr>
        <p:spPr>
          <a:xfrm>
            <a:off x="877824" y="3557016"/>
            <a:ext cx="2651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150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</a:t>
            </a:r>
            <a:endParaRPr lang="en-US" sz="880" dirty="0"/>
          </a:p>
        </p:txBody>
      </p:sp>
      <p:sp>
        <p:nvSpPr>
          <p:cNvPr id="27" name="fx4_3_10"/>
          <p:cNvSpPr/>
          <p:nvPr/>
        </p:nvSpPr>
        <p:spPr>
          <a:xfrm>
            <a:off x="877824" y="380390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Якорь скидки</a:t>
            </a:r>
            <a:endParaRPr lang="en-US" sz="1500" dirty="0"/>
          </a:p>
        </p:txBody>
      </p:sp>
      <p:sp>
        <p:nvSpPr>
          <p:cNvPr id="28" name="fx4_3_11"/>
          <p:cNvSpPr/>
          <p:nvPr/>
        </p:nvSpPr>
        <p:spPr>
          <a:xfrm>
            <a:off x="877824" y="4133088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Сначала старая цена, потом новая</a:t>
            </a:r>
            <a:endParaRPr lang="en-US" sz="1070" dirty="0"/>
          </a:p>
        </p:txBody>
      </p:sp>
      <p:sp>
        <p:nvSpPr>
          <p:cNvPr id="29" name="fx4_4_12"/>
          <p:cNvSpPr/>
          <p:nvPr/>
        </p:nvSpPr>
        <p:spPr>
          <a:xfrm>
            <a:off x="3922776" y="3410712"/>
            <a:ext cx="3054096" cy="1124712"/>
          </a:xfrm>
          <a:prstGeom prst="roundRect">
            <a:avLst>
              <a:gd name="adj" fmla="val 6504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30000"/>
              </a:srgbClr>
            </a:solidFill>
            <a:prstDash val="solid"/>
          </a:ln>
        </p:spPr>
      </p:sp>
      <p:sp>
        <p:nvSpPr>
          <p:cNvPr id="30" name="fx4_4_13"/>
          <p:cNvSpPr/>
          <p:nvPr/>
        </p:nvSpPr>
        <p:spPr>
          <a:xfrm>
            <a:off x="4105656" y="3557016"/>
            <a:ext cx="2651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150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ПЛАТЁЖ</a:t>
            </a:r>
            <a:endParaRPr lang="en-US" sz="880" dirty="0"/>
          </a:p>
        </p:txBody>
      </p:sp>
      <p:sp>
        <p:nvSpPr>
          <p:cNvPr id="31" name="fx4_4_14"/>
          <p:cNvSpPr/>
          <p:nvPr/>
        </p:nvSpPr>
        <p:spPr>
          <a:xfrm>
            <a:off x="4105656" y="380390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Лёгкая оплата</a:t>
            </a:r>
            <a:endParaRPr lang="en-US" sz="1500" dirty="0"/>
          </a:p>
        </p:txBody>
      </p:sp>
      <p:sp>
        <p:nvSpPr>
          <p:cNvPr id="32" name="fx4_4_15"/>
          <p:cNvSpPr/>
          <p:nvPr/>
        </p:nvSpPr>
        <p:spPr>
          <a:xfrm>
            <a:off x="4105656" y="4133088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сохранена; сумма разбита</a:t>
            </a:r>
            <a:endParaRPr lang="en-US" sz="1070" dirty="0"/>
          </a:p>
        </p:txBody>
      </p:sp>
      <p:sp>
        <p:nvSpPr>
          <p:cNvPr id="33" name="fx4_8_16"/>
          <p:cNvSpPr/>
          <p:nvPr/>
        </p:nvSpPr>
        <p:spPr>
          <a:xfrm>
            <a:off x="694944" y="4956048"/>
            <a:ext cx="6309360" cy="822960"/>
          </a:xfrm>
          <a:prstGeom prst="roundRect">
            <a:avLst>
              <a:gd name="adj" fmla="val 8889"/>
            </a:avLst>
          </a:prstGeom>
          <a:solidFill>
            <a:srgbClr val="142233">
              <a:alpha val="97000"/>
            </a:srgbClr>
          </a:solidFill>
          <a:ln w="11430">
            <a:solidFill>
              <a:srgbClr val="E5B66A">
                <a:alpha val="54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fx4_8_17"/>
          <p:cNvSpPr/>
          <p:nvPr/>
        </p:nvSpPr>
        <p:spPr>
          <a:xfrm>
            <a:off x="694944" y="5074920"/>
            <a:ext cx="50292" cy="585216"/>
          </a:xfrm>
          <a:prstGeom prst="rect">
            <a:avLst/>
          </a:prstGeom>
          <a:solidFill>
            <a:srgbClr val="E5B66A"/>
          </a:solidFill>
          <a:ln/>
        </p:spPr>
      </p:sp>
      <p:sp>
        <p:nvSpPr>
          <p:cNvPr id="35" name="fx4_8_18"/>
          <p:cNvSpPr/>
          <p:nvPr/>
        </p:nvSpPr>
        <p:spPr>
          <a:xfrm>
            <a:off x="905256" y="4846320"/>
            <a:ext cx="1481328" cy="228600"/>
          </a:xfrm>
          <a:prstGeom prst="roundRect">
            <a:avLst>
              <a:gd name="adj" fmla="val 48000"/>
            </a:avLst>
          </a:prstGeom>
          <a:solidFill>
            <a:srgbClr val="E5B66A"/>
          </a:solidFill>
          <a:ln/>
        </p:spPr>
      </p:sp>
      <p:sp>
        <p:nvSpPr>
          <p:cNvPr id="36" name="fx4_8_19"/>
          <p:cNvSpPr/>
          <p:nvPr/>
        </p:nvSpPr>
        <p:spPr>
          <a:xfrm>
            <a:off x="914400" y="484632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spc="110" kern="0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НЕ ДЕТЕРМИНИЗМ</a:t>
            </a:r>
            <a:endParaRPr lang="en-US" sz="780" dirty="0"/>
          </a:p>
        </p:txBody>
      </p:sp>
      <p:sp>
        <p:nvSpPr>
          <p:cNvPr id="37" name="fx4_8_20"/>
          <p:cNvSpPr/>
          <p:nvPr/>
        </p:nvSpPr>
        <p:spPr>
          <a:xfrm>
            <a:off x="941832" y="5047488"/>
            <a:ext cx="58704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9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Триггер — не приговор: эффект зависит от человека, ситуации и того, насколько заметна полная цена.</a:t>
            </a:r>
            <a:endParaRPr lang="en-US" sz="1190" dirty="0"/>
          </a:p>
        </p:txBody>
      </p:sp>
      <p:sp>
        <p:nvSpPr>
          <p:cNvPr id="38" name="Text 32"/>
          <p:cNvSpPr/>
          <p:nvPr/>
        </p:nvSpPr>
        <p:spPr>
          <a:xfrm>
            <a:off x="694944" y="6108192"/>
            <a:ext cx="6583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spc="2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ОПОРА: [4–7] Rook &amp; Fisher, 1995; Przybylski et al., 2013; Tversky &amp; Kahneman, 1974; Soman, 2001</a:t>
            </a:r>
            <a:endParaRPr lang="en-US" sz="83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brain">
                <a:extLst>
                  <a:ext uri="{FF2B5EF4-FFF2-40B4-BE49-F238E27FC236}">
                    <a16:creationId xmlns:a16="http://schemas.microsoft.com/office/drawing/2014/main" id="{04306F21-E01A-747E-9864-D01F41531F6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581144" y="1490472"/>
              <a:ext cx="4078224" cy="4078224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4078224" cy="4078224"/>
                    </a:xfrm>
                    <a:prstGeom prst="rect">
                      <a:avLst/>
                    </a:prstGeom>
                  </am3d:spPr>
                  <am3d:camera>
                    <am3d:pos x="0" y="0" z="7660726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104606" d="1000000"/>
                    <am3d:preTrans dx="0" dy="-18000000" dz="-2385949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6360000" az="-24000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7822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brain">
                <a:extLst>
                  <a:ext uri="{FF2B5EF4-FFF2-40B4-BE49-F238E27FC236}">
                    <a16:creationId xmlns:a16="http://schemas.microsoft.com/office/drawing/2014/main" id="{04306F21-E01A-747E-9864-D01F41531F6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4581144" y="1490472"/>
                <a:ext cx="4078224" cy="40782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paylater">
                <a:extLst>
                  <a:ext uri="{FF2B5EF4-FFF2-40B4-BE49-F238E27FC236}">
                    <a16:creationId xmlns:a16="http://schemas.microsoft.com/office/drawing/2014/main" id="{831A198F-F017-B672-BB79-FE79302D26C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545336"/>
              <a:ext cx="4160520" cy="4160520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4160520" cy="4160520"/>
                    </a:xfrm>
                    <a:prstGeom prst="rect">
                      <a:avLst/>
                    </a:prstGeom>
                  </am3d:spPr>
                  <am3d:camera>
                    <am3d:pos x="0" y="0" z="5456787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5385" d="1000000"/>
                    <am3d:preTrans dx="-2492307" dy="775385" dz="-1190769"/>
                    <am3d:scale>
                      <am3d:sx n="1000000" d="1000000"/>
                      <am3d:sy n="1000000" d="1000000"/>
                      <am3d:sz n="1000000" d="1000000"/>
                    </am3d:scale>
                    <am3d:rot ax="780000" ay="2880000" az="-12000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1605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paylater">
                <a:extLst>
                  <a:ext uri="{FF2B5EF4-FFF2-40B4-BE49-F238E27FC236}">
                    <a16:creationId xmlns:a16="http://schemas.microsoft.com/office/drawing/2014/main" id="{831A198F-F017-B672-BB79-FE79302D26C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694615" y="1545336"/>
                <a:ext cx="4160520" cy="4160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5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rogress-track"/>
          <p:cNvSpPr/>
          <p:nvPr/>
        </p:nvSpPr>
        <p:spPr>
          <a:xfrm>
            <a:off x="694944" y="356616"/>
            <a:ext cx="10808208" cy="91"/>
          </a:xfrm>
          <a:prstGeom prst="line">
            <a:avLst/>
          </a:prstGeom>
          <a:noFill/>
          <a:ln w="1016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4" name="!!progress-fill"/>
          <p:cNvSpPr/>
          <p:nvPr/>
        </p:nvSpPr>
        <p:spPr>
          <a:xfrm>
            <a:off x="694944" y="342900"/>
            <a:ext cx="4803648" cy="27432"/>
          </a:xfrm>
          <a:prstGeom prst="rect">
            <a:avLst/>
          </a:prstGeom>
          <a:solidFill>
            <a:srgbClr val="59D7CC"/>
          </a:solidFill>
          <a:ln/>
        </p:spPr>
      </p:sp>
      <p:sp>
        <p:nvSpPr>
          <p:cNvPr id="5" name="!!progress-dot"/>
          <p:cNvSpPr/>
          <p:nvPr/>
        </p:nvSpPr>
        <p:spPr>
          <a:xfrm>
            <a:off x="5443728" y="301752"/>
            <a:ext cx="109728" cy="109728"/>
          </a:xfrm>
          <a:prstGeom prst="ellipse">
            <a:avLst/>
          </a:prstGeom>
          <a:solidFill>
            <a:srgbClr val="F47D70"/>
          </a:solidFill>
          <a:ln w="10160">
            <a:solidFill>
              <a:srgbClr val="F3F2EC">
                <a:alpha val="88000"/>
              </a:srgbClr>
            </a:solidFill>
            <a:prstDash val="solid"/>
          </a:ln>
        </p:spPr>
      </p:sp>
      <p:sp>
        <p:nvSpPr>
          <p:cNvPr id="6" name="kicker-5"/>
          <p:cNvSpPr/>
          <p:nvPr/>
        </p:nvSpPr>
        <p:spPr>
          <a:xfrm>
            <a:off x="694944" y="5669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30" kern="0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РАССРОЧКА И ОЩУЩЕНИЕ ЦЕНЫ</a:t>
            </a:r>
            <a:endParaRPr lang="en-US" sz="950" dirty="0"/>
          </a:p>
        </p:txBody>
      </p:sp>
      <p:sp>
        <p:nvSpPr>
          <p:cNvPr id="7" name="!!footer-line"/>
          <p:cNvSpPr/>
          <p:nvPr/>
        </p:nvSpPr>
        <p:spPr>
          <a:xfrm>
            <a:off x="694944" y="6382512"/>
            <a:ext cx="10808208" cy="91"/>
          </a:xfrm>
          <a:prstGeom prst="line">
            <a:avLst/>
          </a:prstGeom>
          <a:noFill/>
          <a:ln w="889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-label"/>
          <p:cNvSpPr/>
          <p:nvPr/>
        </p:nvSpPr>
        <p:spPr>
          <a:xfrm>
            <a:off x="694944" y="64739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35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ПОТРЕБИТЕЛЬСКОГО ВЫБОРА  ·  ИССЛЕДОВАТЕЛЬСКИЙ ПРОЕКТ</a:t>
            </a:r>
            <a:endParaRPr lang="en-US" sz="850" dirty="0"/>
          </a:p>
        </p:txBody>
      </p:sp>
      <p:sp>
        <p:nvSpPr>
          <p:cNvPr id="9" name="!!page-number"/>
          <p:cNvSpPr/>
          <p:nvPr/>
        </p:nvSpPr>
        <p:spPr>
          <a:xfrm>
            <a:off x="10543032" y="64648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16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900" dirty="0"/>
          </a:p>
        </p:txBody>
      </p:sp>
      <p:pic>
        <p:nvPicPr>
          <p:cNvPr id="10" name="glow-5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643" y="351587"/>
            <a:ext cx="5907938" cy="5907938"/>
          </a:xfrm>
          <a:prstGeom prst="rect">
            <a:avLst/>
          </a:prstGeom>
        </p:spPr>
      </p:pic>
      <p:sp>
        <p:nvSpPr>
          <p:cNvPr id="11" name="ring-in-5"/>
          <p:cNvSpPr/>
          <p:nvPr/>
        </p:nvSpPr>
        <p:spPr>
          <a:xfrm>
            <a:off x="7429957" y="1266901"/>
            <a:ext cx="4077310" cy="4077310"/>
          </a:xfrm>
          <a:prstGeom prst="ellipse">
            <a:avLst/>
          </a:prstGeom>
          <a:ln w="8890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12" name="ring-out-5"/>
          <p:cNvSpPr/>
          <p:nvPr/>
        </p:nvSpPr>
        <p:spPr>
          <a:xfrm>
            <a:off x="6930695" y="767639"/>
            <a:ext cx="5075834" cy="5075834"/>
          </a:xfrm>
          <a:prstGeom prst="ellipse">
            <a:avLst/>
          </a:prstGeom>
          <a:ln w="8890">
            <a:solidFill>
              <a:srgbClr val="E5B66A">
                <a:alpha val="9000"/>
              </a:srgbClr>
            </a:solidFill>
            <a:prstDash val="dash"/>
          </a:ln>
        </p:spPr>
      </p:sp>
      <p:pic>
        <p:nvPicPr>
          <p:cNvPr id="13" name="shadow-5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0825" y="4345686"/>
            <a:ext cx="2995574" cy="74889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paylater">
                <a:extLst>
                  <a:ext uri="{FF2B5EF4-FFF2-40B4-BE49-F238E27FC236}">
                    <a16:creationId xmlns:a16="http://schemas.microsoft.com/office/drawing/2014/main" id="{E2C1B722-7180-3D80-1000-4D9498251D1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388352" y="1225296"/>
              <a:ext cx="4160520" cy="4160520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4160520" cy="4160520"/>
                    </a:xfrm>
                    <a:prstGeom prst="rect">
                      <a:avLst/>
                    </a:prstGeom>
                  </am3d:spPr>
                  <am3d:camera>
                    <am3d:pos x="0" y="0" z="5456787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5385" d="1000000"/>
                    <am3d:preTrans dx="-2492307" dy="775385" dz="-1190769"/>
                    <am3d:scale>
                      <am3d:sx n="1000000" d="1000000"/>
                      <am3d:sy n="1000000" d="1000000"/>
                      <am3d:sz n="1000000" d="1000000"/>
                    </am3d:scale>
                    <am3d:rot ax="780000" ay="-1800000" az="-12000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1605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paylater">
                <a:extLst>
                  <a:ext uri="{FF2B5EF4-FFF2-40B4-BE49-F238E27FC236}">
                    <a16:creationId xmlns:a16="http://schemas.microsoft.com/office/drawing/2014/main" id="{E2C1B722-7180-3D80-1000-4D9498251D1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388352" y="1225296"/>
                <a:ext cx="4160520" cy="416052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 9"/>
          <p:cNvSpPr/>
          <p:nvPr/>
        </p:nvSpPr>
        <p:spPr>
          <a:xfrm>
            <a:off x="7411212" y="545896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spc="155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ОБЪЁМНЫЙ ЭКСПОНАТ  05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покупка — несколько отдельных платежей</a:t>
            </a:r>
            <a:endParaRPr lang="en-US" sz="900" dirty="0"/>
          </a:p>
        </p:txBody>
      </p:sp>
      <p:sp>
        <p:nvSpPr>
          <p:cNvPr id="16" name="!!title"/>
          <p:cNvSpPr/>
          <p:nvPr/>
        </p:nvSpPr>
        <p:spPr>
          <a:xfrm>
            <a:off x="694944" y="960120"/>
            <a:ext cx="6537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295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Рассрочка меняет ощущение цены — не сумму</a:t>
            </a:r>
            <a:endParaRPr lang="en-US" sz="2950" dirty="0"/>
          </a:p>
        </p:txBody>
      </p:sp>
      <p:sp>
        <p:nvSpPr>
          <p:cNvPr id="17" name="fx5_1_0"/>
          <p:cNvSpPr/>
          <p:nvPr/>
        </p:nvSpPr>
        <p:spPr>
          <a:xfrm>
            <a:off x="694944" y="2112264"/>
            <a:ext cx="6309360" cy="1060704"/>
          </a:xfrm>
          <a:prstGeom prst="roundRect">
            <a:avLst>
              <a:gd name="adj" fmla="val 6897"/>
            </a:avLst>
          </a:prstGeom>
          <a:solidFill>
            <a:srgbClr val="102127">
              <a:alpha val="92000"/>
            </a:srgbClr>
          </a:solidFill>
          <a:ln w="9525">
            <a:solidFill>
              <a:srgbClr val="59D7CC">
                <a:alpha val="55000"/>
              </a:srgbClr>
            </a:solidFill>
            <a:prstDash val="solid"/>
          </a:ln>
        </p:spPr>
      </p:sp>
      <p:sp>
        <p:nvSpPr>
          <p:cNvPr id="18" name="fx5_1_1"/>
          <p:cNvSpPr/>
          <p:nvPr/>
        </p:nvSpPr>
        <p:spPr>
          <a:xfrm>
            <a:off x="950976" y="2295144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12 000 ₽</a:t>
            </a:r>
            <a:endParaRPr lang="en-US" sz="2600" dirty="0"/>
          </a:p>
        </p:txBody>
      </p:sp>
      <p:sp>
        <p:nvSpPr>
          <p:cNvPr id="19" name="fx5_1_2"/>
          <p:cNvSpPr/>
          <p:nvPr/>
        </p:nvSpPr>
        <p:spPr>
          <a:xfrm>
            <a:off x="3218688" y="2295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E5B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20" name="fx5_1_3"/>
          <p:cNvSpPr/>
          <p:nvPr/>
        </p:nvSpPr>
        <p:spPr>
          <a:xfrm>
            <a:off x="3913632" y="229514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× 3 000 ₽</a:t>
            </a:r>
            <a:endParaRPr lang="en-US" sz="2500" dirty="0"/>
          </a:p>
        </p:txBody>
      </p:sp>
      <p:sp>
        <p:nvSpPr>
          <p:cNvPr id="21" name="fx5_1_4"/>
          <p:cNvSpPr/>
          <p:nvPr/>
        </p:nvSpPr>
        <p:spPr>
          <a:xfrm>
            <a:off x="950976" y="2834640"/>
            <a:ext cx="5742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Условная арифметика: без комиссий, переплат и индивидуальных условий сервиса.</a:t>
            </a:r>
            <a:endParaRPr lang="en-US" sz="880" dirty="0"/>
          </a:p>
        </p:txBody>
      </p:sp>
      <p:sp>
        <p:nvSpPr>
          <p:cNvPr id="22" name="fx5_2_5"/>
          <p:cNvSpPr/>
          <p:nvPr/>
        </p:nvSpPr>
        <p:spPr>
          <a:xfrm>
            <a:off x="713232" y="3474720"/>
            <a:ext cx="164592" cy="164592"/>
          </a:xfrm>
          <a:prstGeom prst="ellipse">
            <a:avLst/>
          </a:prstGeom>
          <a:solidFill>
            <a:srgbClr val="F47D70"/>
          </a:solidFill>
          <a:ln/>
        </p:spPr>
      </p:sp>
      <p:sp>
        <p:nvSpPr>
          <p:cNvPr id="23" name="fx5_2_6"/>
          <p:cNvSpPr/>
          <p:nvPr/>
        </p:nvSpPr>
        <p:spPr>
          <a:xfrm>
            <a:off x="1005840" y="3456432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7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Сложи полную сумму</a:t>
            </a:r>
            <a:endParaRPr lang="en-US" sz="1170" dirty="0"/>
          </a:p>
        </p:txBody>
      </p:sp>
      <p:sp>
        <p:nvSpPr>
          <p:cNvPr id="24" name="fx5_2_7"/>
          <p:cNvSpPr/>
          <p:nvPr/>
        </p:nvSpPr>
        <p:spPr>
          <a:xfrm>
            <a:off x="2660904" y="34564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9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заплачу за всё, а не за первый платёж?</a:t>
            </a:r>
            <a:endParaRPr lang="en-US" sz="1090" dirty="0"/>
          </a:p>
        </p:txBody>
      </p:sp>
      <p:sp>
        <p:nvSpPr>
          <p:cNvPr id="25" name="fx5_3_8"/>
          <p:cNvSpPr/>
          <p:nvPr/>
        </p:nvSpPr>
        <p:spPr>
          <a:xfrm>
            <a:off x="713232" y="3986784"/>
            <a:ext cx="164592" cy="164592"/>
          </a:xfrm>
          <a:prstGeom prst="ellipse">
            <a:avLst/>
          </a:prstGeom>
          <a:solidFill>
            <a:srgbClr val="E5B66A"/>
          </a:solidFill>
          <a:ln/>
        </p:spPr>
      </p:sp>
      <p:sp>
        <p:nvSpPr>
          <p:cNvPr id="26" name="fx5_3_9"/>
          <p:cNvSpPr/>
          <p:nvPr/>
        </p:nvSpPr>
        <p:spPr>
          <a:xfrm>
            <a:off x="1005840" y="3968496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7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 календарь</a:t>
            </a:r>
            <a:endParaRPr lang="en-US" sz="1170" dirty="0"/>
          </a:p>
        </p:txBody>
      </p:sp>
      <p:sp>
        <p:nvSpPr>
          <p:cNvPr id="27" name="fx5_3_10"/>
          <p:cNvSpPr/>
          <p:nvPr/>
        </p:nvSpPr>
        <p:spPr>
          <a:xfrm>
            <a:off x="2660904" y="396849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9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Совпадают ли даты с уже обязательными расходами?</a:t>
            </a:r>
            <a:endParaRPr lang="en-US" sz="1090" dirty="0"/>
          </a:p>
        </p:txBody>
      </p:sp>
      <p:sp>
        <p:nvSpPr>
          <p:cNvPr id="28" name="fx5_4_11"/>
          <p:cNvSpPr/>
          <p:nvPr/>
        </p:nvSpPr>
        <p:spPr>
          <a:xfrm>
            <a:off x="713232" y="4498848"/>
            <a:ext cx="164592" cy="164592"/>
          </a:xfrm>
          <a:prstGeom prst="ellipse">
            <a:avLst/>
          </a:prstGeom>
          <a:solidFill>
            <a:srgbClr val="E5B66A"/>
          </a:solidFill>
          <a:ln/>
        </p:spPr>
      </p:sp>
      <p:sp>
        <p:nvSpPr>
          <p:cNvPr id="29" name="fx5_4_12"/>
          <p:cNvSpPr/>
          <p:nvPr/>
        </p:nvSpPr>
        <p:spPr>
          <a:xfrm>
            <a:off x="1005840" y="4480560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7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Прочитай условия</a:t>
            </a:r>
            <a:endParaRPr lang="en-US" sz="1170" dirty="0"/>
          </a:p>
        </p:txBody>
      </p:sp>
      <p:sp>
        <p:nvSpPr>
          <p:cNvPr id="30" name="fx5_4_13"/>
          <p:cNvSpPr/>
          <p:nvPr/>
        </p:nvSpPr>
        <p:spPr>
          <a:xfrm>
            <a:off x="2660904" y="4480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9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Комиссия, просрочка, возврат товара, досрочная оплата.</a:t>
            </a:r>
            <a:endParaRPr lang="en-US" sz="1090" dirty="0"/>
          </a:p>
        </p:txBody>
      </p:sp>
      <p:sp>
        <p:nvSpPr>
          <p:cNvPr id="31" name="fx5_8_14"/>
          <p:cNvSpPr/>
          <p:nvPr/>
        </p:nvSpPr>
        <p:spPr>
          <a:xfrm>
            <a:off x="694944" y="5175504"/>
            <a:ext cx="6327648" cy="758952"/>
          </a:xfrm>
          <a:prstGeom prst="roundRect">
            <a:avLst>
              <a:gd name="adj" fmla="val 9639"/>
            </a:avLst>
          </a:prstGeom>
          <a:solidFill>
            <a:srgbClr val="142233">
              <a:alpha val="97000"/>
            </a:srgbClr>
          </a:solidFill>
          <a:ln w="11430">
            <a:solidFill>
              <a:srgbClr val="E5B66A">
                <a:alpha val="54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5_8_15"/>
          <p:cNvSpPr/>
          <p:nvPr/>
        </p:nvSpPr>
        <p:spPr>
          <a:xfrm>
            <a:off x="694944" y="5294376"/>
            <a:ext cx="50292" cy="521208"/>
          </a:xfrm>
          <a:prstGeom prst="rect">
            <a:avLst/>
          </a:prstGeom>
          <a:solidFill>
            <a:srgbClr val="E5B66A"/>
          </a:solidFill>
          <a:ln/>
        </p:spPr>
      </p:sp>
      <p:sp>
        <p:nvSpPr>
          <p:cNvPr id="33" name="fx5_8_16"/>
          <p:cNvSpPr/>
          <p:nvPr/>
        </p:nvSpPr>
        <p:spPr>
          <a:xfrm>
            <a:off x="905256" y="5065776"/>
            <a:ext cx="2304288" cy="228600"/>
          </a:xfrm>
          <a:prstGeom prst="roundRect">
            <a:avLst>
              <a:gd name="adj" fmla="val 48000"/>
            </a:avLst>
          </a:prstGeom>
          <a:solidFill>
            <a:srgbClr val="E5B66A"/>
          </a:solidFill>
          <a:ln/>
        </p:spPr>
      </p:sp>
      <p:sp>
        <p:nvSpPr>
          <p:cNvPr id="34" name="fx5_8_17"/>
          <p:cNvSpPr/>
          <p:nvPr/>
        </p:nvSpPr>
        <p:spPr>
          <a:xfrm>
            <a:off x="914400" y="5065776"/>
            <a:ext cx="2304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spc="110" kern="0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ПРОВЕРКА ПЕРЕД СОГЛАСИЕМ</a:t>
            </a:r>
            <a:endParaRPr lang="en-US" sz="780" dirty="0"/>
          </a:p>
        </p:txBody>
      </p:sp>
      <p:sp>
        <p:nvSpPr>
          <p:cNvPr id="35" name="fx5_8_18"/>
          <p:cNvSpPr/>
          <p:nvPr/>
        </p:nvSpPr>
        <p:spPr>
          <a:xfrm>
            <a:off x="941832" y="5266944"/>
            <a:ext cx="588873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2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Рассрочка — инструмент, а не бесплатные деньги: сравнивай полную стоимость и даты.</a:t>
            </a:r>
            <a:endParaRPr lang="en-US" sz="1220" dirty="0"/>
          </a:p>
        </p:txBody>
      </p:sp>
      <p:sp>
        <p:nvSpPr>
          <p:cNvPr id="36" name="Text 30"/>
          <p:cNvSpPr/>
          <p:nvPr/>
        </p:nvSpPr>
        <p:spPr>
          <a:xfrm>
            <a:off x="694944" y="6108192"/>
            <a:ext cx="6583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spc="2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ОПОРА: [6, 8] Soman, 2001; Thaler, 1999</a:t>
            </a:r>
            <a:endParaRPr lang="en-US" sz="83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phone">
                <a:extLst>
                  <a:ext uri="{FF2B5EF4-FFF2-40B4-BE49-F238E27FC236}">
                    <a16:creationId xmlns:a16="http://schemas.microsoft.com/office/drawing/2014/main" id="{F91BC6B1-803D-231E-075D-91263E9BD84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572000" y="1508760"/>
              <a:ext cx="4069080" cy="4069080"/>
            </p:xfrm>
            <a:graphic>
              <a:graphicData uri="http://schemas.microsoft.com/office/drawing/2017/model3d">
                <am3d:model3d r:embed="rIdM3d11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5440414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7284" d="1000000"/>
                    <am3d:preTrans dx="0" dy="0" dz="-1422222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2760000" az="-24000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phone">
                <a:extLst>
                  <a:ext uri="{FF2B5EF4-FFF2-40B4-BE49-F238E27FC236}">
                    <a16:creationId xmlns:a16="http://schemas.microsoft.com/office/drawing/2014/main" id="{F91BC6B1-803D-231E-075D-91263E9BD84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4572000" y="1508760"/>
                <a:ext cx="4069080" cy="406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scales">
                <a:extLst>
                  <a:ext uri="{FF2B5EF4-FFF2-40B4-BE49-F238E27FC236}">
                    <a16:creationId xmlns:a16="http://schemas.microsoft.com/office/drawing/2014/main" id="{F077EACA-642E-045C-7442-BDA01C5159E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508760"/>
              <a:ext cx="4069080" cy="4069080"/>
            </p:xfrm>
            <a:graphic>
              <a:graphicData uri="http://schemas.microsoft.com/office/drawing/2017/model3d">
                <am3d:model3d r:embed="rIdM3d12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20000" ay="34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scales">
                <a:extLst>
                  <a:ext uri="{FF2B5EF4-FFF2-40B4-BE49-F238E27FC236}">
                    <a16:creationId xmlns:a16="http://schemas.microsoft.com/office/drawing/2014/main" id="{F077EACA-642E-045C-7442-BDA01C5159E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694615" y="1508760"/>
                <a:ext cx="4069080" cy="4069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6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rogress-track"/>
          <p:cNvSpPr/>
          <p:nvPr/>
        </p:nvSpPr>
        <p:spPr>
          <a:xfrm>
            <a:off x="694944" y="356616"/>
            <a:ext cx="10808208" cy="91"/>
          </a:xfrm>
          <a:prstGeom prst="line">
            <a:avLst/>
          </a:prstGeom>
          <a:noFill/>
          <a:ln w="1016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4" name="!!progress-fill"/>
          <p:cNvSpPr/>
          <p:nvPr/>
        </p:nvSpPr>
        <p:spPr>
          <a:xfrm>
            <a:off x="694944" y="342900"/>
            <a:ext cx="6004560" cy="27432"/>
          </a:xfrm>
          <a:prstGeom prst="rect">
            <a:avLst/>
          </a:prstGeom>
          <a:solidFill>
            <a:srgbClr val="59D7CC"/>
          </a:solidFill>
          <a:ln/>
        </p:spPr>
      </p:sp>
      <p:sp>
        <p:nvSpPr>
          <p:cNvPr id="5" name="!!progress-dot"/>
          <p:cNvSpPr/>
          <p:nvPr/>
        </p:nvSpPr>
        <p:spPr>
          <a:xfrm>
            <a:off x="6644640" y="301752"/>
            <a:ext cx="109728" cy="109728"/>
          </a:xfrm>
          <a:prstGeom prst="ellipse">
            <a:avLst/>
          </a:prstGeom>
          <a:solidFill>
            <a:srgbClr val="F47D70"/>
          </a:solidFill>
          <a:ln w="10160">
            <a:solidFill>
              <a:srgbClr val="F3F2EC">
                <a:alpha val="88000"/>
              </a:srgbClr>
            </a:solidFill>
            <a:prstDash val="solid"/>
          </a:ln>
        </p:spPr>
      </p:sp>
      <p:sp>
        <p:nvSpPr>
          <p:cNvPr id="6" name="kicker-6"/>
          <p:cNvSpPr/>
          <p:nvPr/>
        </p:nvSpPr>
        <p:spPr>
          <a:xfrm>
            <a:off x="694944" y="5669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30" kern="0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ИССЛЕДОВАТЕЛЬСКАЯ ЦЕЛЬ И ГИПОТЕЗЫ</a:t>
            </a:r>
            <a:endParaRPr lang="en-US" sz="950" dirty="0"/>
          </a:p>
        </p:txBody>
      </p:sp>
      <p:sp>
        <p:nvSpPr>
          <p:cNvPr id="7" name="!!footer-line"/>
          <p:cNvSpPr/>
          <p:nvPr/>
        </p:nvSpPr>
        <p:spPr>
          <a:xfrm>
            <a:off x="694944" y="6382512"/>
            <a:ext cx="10808208" cy="91"/>
          </a:xfrm>
          <a:prstGeom prst="line">
            <a:avLst/>
          </a:prstGeom>
          <a:noFill/>
          <a:ln w="889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-label"/>
          <p:cNvSpPr/>
          <p:nvPr/>
        </p:nvSpPr>
        <p:spPr>
          <a:xfrm>
            <a:off x="694944" y="64739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35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ПОТРЕБИТЕЛЬСКОГО ВЫБОРА  ·  ИССЛЕДОВАТЕЛЬСКИЙ ПРОЕКТ</a:t>
            </a:r>
            <a:endParaRPr lang="en-US" sz="850" dirty="0"/>
          </a:p>
        </p:txBody>
      </p:sp>
      <p:sp>
        <p:nvSpPr>
          <p:cNvPr id="9" name="!!page-number"/>
          <p:cNvSpPr/>
          <p:nvPr/>
        </p:nvSpPr>
        <p:spPr>
          <a:xfrm>
            <a:off x="10543032" y="64648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16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900" dirty="0"/>
          </a:p>
        </p:txBody>
      </p:sp>
      <p:pic>
        <p:nvPicPr>
          <p:cNvPr id="10" name="glow-6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285" y="334213"/>
            <a:ext cx="5778094" cy="5778094"/>
          </a:xfrm>
          <a:prstGeom prst="rect">
            <a:avLst/>
          </a:prstGeom>
        </p:spPr>
      </p:pic>
      <p:sp>
        <p:nvSpPr>
          <p:cNvPr id="11" name="ring-in-6"/>
          <p:cNvSpPr/>
          <p:nvPr/>
        </p:nvSpPr>
        <p:spPr>
          <a:xfrm>
            <a:off x="7520483" y="1229411"/>
            <a:ext cx="3987698" cy="3987698"/>
          </a:xfrm>
          <a:prstGeom prst="ellipse">
            <a:avLst/>
          </a:prstGeom>
          <a:ln w="8890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12" name="ring-out-6"/>
          <p:cNvSpPr/>
          <p:nvPr/>
        </p:nvSpPr>
        <p:spPr>
          <a:xfrm>
            <a:off x="7032193" y="741121"/>
            <a:ext cx="4964278" cy="4964278"/>
          </a:xfrm>
          <a:prstGeom prst="ellipse">
            <a:avLst/>
          </a:prstGeom>
          <a:ln w="8890">
            <a:solidFill>
              <a:srgbClr val="E5B66A">
                <a:alpha val="9000"/>
              </a:srgbClr>
            </a:solidFill>
            <a:prstDash val="dash"/>
          </a:ln>
        </p:spPr>
      </p:sp>
      <p:pic>
        <p:nvPicPr>
          <p:cNvPr id="13" name="shadow-6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9463" y="4240530"/>
            <a:ext cx="2929738" cy="73243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scales">
                <a:extLst>
                  <a:ext uri="{FF2B5EF4-FFF2-40B4-BE49-F238E27FC236}">
                    <a16:creationId xmlns:a16="http://schemas.microsoft.com/office/drawing/2014/main" id="{ED05DC69-28D3-5CCF-97C4-9900CDC67F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79792" y="1188720"/>
              <a:ext cx="4069080" cy="4069080"/>
            </p:xfrm>
            <a:graphic>
              <a:graphicData uri="http://schemas.microsoft.com/office/drawing/2017/model3d">
                <am3d:model3d r:embed="rIdM3d13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20000" ay="-120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scales">
                <a:extLst>
                  <a:ext uri="{FF2B5EF4-FFF2-40B4-BE49-F238E27FC236}">
                    <a16:creationId xmlns:a16="http://schemas.microsoft.com/office/drawing/2014/main" id="{ED05DC69-28D3-5CCF-97C4-9900CDC67F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79792" y="1188720"/>
                <a:ext cx="4069080" cy="406908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 9"/>
          <p:cNvSpPr/>
          <p:nvPr/>
        </p:nvSpPr>
        <p:spPr>
          <a:xfrm>
            <a:off x="7502652" y="53309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spc="155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ОБЪЁМНЫЙ ЭКСПОНАТ  06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Ищем баланс факторов, а не «виноватого»</a:t>
            </a:r>
            <a:endParaRPr lang="en-US" sz="900" dirty="0"/>
          </a:p>
        </p:txBody>
      </p:sp>
      <p:sp>
        <p:nvSpPr>
          <p:cNvPr id="16" name="!!title"/>
          <p:cNvSpPr/>
          <p:nvPr/>
        </p:nvSpPr>
        <p:spPr>
          <a:xfrm>
            <a:off x="694944" y="960120"/>
            <a:ext cx="6510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285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 гипотезы — без ярлыков и обещаний результата</a:t>
            </a:r>
            <a:endParaRPr lang="en-US" sz="2850" dirty="0"/>
          </a:p>
        </p:txBody>
      </p:sp>
      <p:sp>
        <p:nvSpPr>
          <p:cNvPr id="17" name="Text 11"/>
          <p:cNvSpPr/>
          <p:nvPr/>
        </p:nvSpPr>
        <p:spPr>
          <a:xfrm>
            <a:off x="694944" y="2029968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Цель: изучить связи психологических факторов с незапланированными тратами и подготовить памятку.</a:t>
            </a:r>
            <a:endParaRPr lang="en-US" sz="1320" dirty="0"/>
          </a:p>
        </p:txBody>
      </p:sp>
      <p:sp>
        <p:nvSpPr>
          <p:cNvPr id="18" name="Shape 12"/>
          <p:cNvSpPr/>
          <p:nvPr/>
        </p:nvSpPr>
        <p:spPr>
          <a:xfrm>
            <a:off x="694944" y="2587752"/>
            <a:ext cx="6309360" cy="329184"/>
          </a:xfrm>
          <a:prstGeom prst="roundRect">
            <a:avLst>
              <a:gd name="adj" fmla="val 22222"/>
            </a:avLst>
          </a:prstGeom>
          <a:solidFill>
            <a:srgbClr val="12262A"/>
          </a:solidFill>
          <a:ln w="9525">
            <a:solidFill>
              <a:srgbClr val="59D7CC">
                <a:alpha val="3800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59536" y="2670048"/>
            <a:ext cx="5989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spc="80" kern="0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ЦЕЛЕВАЯ ГРУППА  ·  студенты вузов 18–25 лет</a:t>
            </a:r>
            <a:endParaRPr lang="en-US" sz="930" dirty="0"/>
          </a:p>
        </p:txBody>
      </p:sp>
      <p:sp>
        <p:nvSpPr>
          <p:cNvPr id="20" name="fx6_1_0"/>
          <p:cNvSpPr/>
          <p:nvPr/>
        </p:nvSpPr>
        <p:spPr>
          <a:xfrm>
            <a:off x="694944" y="3081528"/>
            <a:ext cx="6309360" cy="621792"/>
          </a:xfrm>
          <a:prstGeom prst="roundRect">
            <a:avLst>
              <a:gd name="adj" fmla="val 11765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30000"/>
              </a:srgbClr>
            </a:solidFill>
            <a:prstDash val="solid"/>
          </a:ln>
        </p:spPr>
      </p:sp>
      <p:sp>
        <p:nvSpPr>
          <p:cNvPr id="21" name="fx6_1_1"/>
          <p:cNvSpPr/>
          <p:nvPr/>
        </p:nvSpPr>
        <p:spPr>
          <a:xfrm>
            <a:off x="859536" y="323697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500" dirty="0"/>
          </a:p>
        </p:txBody>
      </p:sp>
      <p:sp>
        <p:nvSpPr>
          <p:cNvPr id="22" name="fx6_1_2"/>
          <p:cNvSpPr/>
          <p:nvPr/>
        </p:nvSpPr>
        <p:spPr>
          <a:xfrm>
            <a:off x="1444752" y="3191256"/>
            <a:ext cx="5321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FOMO и импульсивность связаны с более частыми незапланированными покупками и использованием рассрочки.</a:t>
            </a:r>
            <a:endParaRPr lang="en-US" sz="1120" dirty="0"/>
          </a:p>
        </p:txBody>
      </p:sp>
      <p:sp>
        <p:nvSpPr>
          <p:cNvPr id="23" name="fx6_2_3"/>
          <p:cNvSpPr/>
          <p:nvPr/>
        </p:nvSpPr>
        <p:spPr>
          <a:xfrm>
            <a:off x="694944" y="3803904"/>
            <a:ext cx="6309360" cy="621792"/>
          </a:xfrm>
          <a:prstGeom prst="roundRect">
            <a:avLst>
              <a:gd name="adj" fmla="val 11765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30000"/>
              </a:srgbClr>
            </a:solidFill>
            <a:prstDash val="solid"/>
          </a:ln>
        </p:spPr>
      </p:sp>
      <p:sp>
        <p:nvSpPr>
          <p:cNvPr id="24" name="fx6_2_4"/>
          <p:cNvSpPr/>
          <p:nvPr/>
        </p:nvSpPr>
        <p:spPr>
          <a:xfrm>
            <a:off x="859536" y="395935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500" dirty="0"/>
          </a:p>
        </p:txBody>
      </p:sp>
      <p:sp>
        <p:nvSpPr>
          <p:cNvPr id="25" name="fx6_2_5"/>
          <p:cNvSpPr/>
          <p:nvPr/>
        </p:nvSpPr>
        <p:spPr>
          <a:xfrm>
            <a:off x="1444752" y="3913632"/>
            <a:ext cx="5321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Социальное сравнение связано с большим числом статусных покупок.</a:t>
            </a:r>
            <a:endParaRPr lang="en-US" sz="1120" dirty="0"/>
          </a:p>
        </p:txBody>
      </p:sp>
      <p:sp>
        <p:nvSpPr>
          <p:cNvPr id="26" name="fx6_3_6"/>
          <p:cNvSpPr/>
          <p:nvPr/>
        </p:nvSpPr>
        <p:spPr>
          <a:xfrm>
            <a:off x="694944" y="4526280"/>
            <a:ext cx="6309360" cy="621792"/>
          </a:xfrm>
          <a:prstGeom prst="roundRect">
            <a:avLst>
              <a:gd name="adj" fmla="val 11765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E5B66A">
                <a:alpha val="30000"/>
              </a:srgbClr>
            </a:solidFill>
            <a:prstDash val="solid"/>
          </a:ln>
        </p:spPr>
      </p:sp>
      <p:sp>
        <p:nvSpPr>
          <p:cNvPr id="27" name="fx6_3_7"/>
          <p:cNvSpPr/>
          <p:nvPr/>
        </p:nvSpPr>
        <p:spPr>
          <a:xfrm>
            <a:off x="859536" y="468172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5B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500" dirty="0"/>
          </a:p>
        </p:txBody>
      </p:sp>
      <p:sp>
        <p:nvSpPr>
          <p:cNvPr id="28" name="fx6_3_8"/>
          <p:cNvSpPr/>
          <p:nvPr/>
        </p:nvSpPr>
        <p:spPr>
          <a:xfrm>
            <a:off x="1444752" y="4636008"/>
            <a:ext cx="5321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2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Финансовая грамотность может быть связана с меньшим риском, но не обязательно устраняет влияние триггеров.</a:t>
            </a:r>
            <a:endParaRPr lang="en-US" sz="1120" dirty="0"/>
          </a:p>
        </p:txBody>
      </p:sp>
      <p:sp>
        <p:nvSpPr>
          <p:cNvPr id="29" name="fx6_5_9"/>
          <p:cNvSpPr/>
          <p:nvPr/>
        </p:nvSpPr>
        <p:spPr>
          <a:xfrm>
            <a:off x="694944" y="5349240"/>
            <a:ext cx="6309360" cy="612648"/>
          </a:xfrm>
          <a:prstGeom prst="roundRect">
            <a:avLst>
              <a:gd name="adj" fmla="val 11940"/>
            </a:avLst>
          </a:prstGeom>
          <a:solidFill>
            <a:srgbClr val="142233">
              <a:alpha val="97000"/>
            </a:srgbClr>
          </a:solidFill>
          <a:ln w="11430">
            <a:solidFill>
              <a:srgbClr val="E5B66A">
                <a:alpha val="54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0" name="fx6_5_10"/>
          <p:cNvSpPr/>
          <p:nvPr/>
        </p:nvSpPr>
        <p:spPr>
          <a:xfrm>
            <a:off x="694944" y="5468112"/>
            <a:ext cx="50292" cy="374904"/>
          </a:xfrm>
          <a:prstGeom prst="rect">
            <a:avLst/>
          </a:prstGeom>
          <a:solidFill>
            <a:srgbClr val="E5B66A"/>
          </a:solidFill>
          <a:ln/>
        </p:spPr>
      </p:sp>
      <p:sp>
        <p:nvSpPr>
          <p:cNvPr id="31" name="fx6_5_11"/>
          <p:cNvSpPr/>
          <p:nvPr/>
        </p:nvSpPr>
        <p:spPr>
          <a:xfrm>
            <a:off x="905256" y="5239512"/>
            <a:ext cx="1399032" cy="228600"/>
          </a:xfrm>
          <a:prstGeom prst="roundRect">
            <a:avLst>
              <a:gd name="adj" fmla="val 48000"/>
            </a:avLst>
          </a:prstGeom>
          <a:solidFill>
            <a:srgbClr val="E5B66A"/>
          </a:solidFill>
          <a:ln/>
        </p:spPr>
      </p:sp>
      <p:sp>
        <p:nvSpPr>
          <p:cNvPr id="32" name="fx6_5_12"/>
          <p:cNvSpPr/>
          <p:nvPr/>
        </p:nvSpPr>
        <p:spPr>
          <a:xfrm>
            <a:off x="914400" y="5239512"/>
            <a:ext cx="1399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spc="110" kern="0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СТАТУС РАБОТЫ</a:t>
            </a:r>
            <a:endParaRPr lang="en-US" sz="780" dirty="0"/>
          </a:p>
        </p:txBody>
      </p:sp>
      <p:sp>
        <p:nvSpPr>
          <p:cNvPr id="33" name="fx6_5_13"/>
          <p:cNvSpPr/>
          <p:nvPr/>
        </p:nvSpPr>
        <p:spPr>
          <a:xfrm>
            <a:off x="941832" y="5440680"/>
            <a:ext cx="587044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Это проверяемые предположения, не результаты проведённого опроса.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694944" y="6108192"/>
            <a:ext cx="6583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spc="2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ОПОРА: [3–5] Verplanken &amp; Herabadi, 2001; Rook &amp; Fisher, 1995; Przybylski et al., 2013</a:t>
            </a:r>
            <a:endParaRPr lang="en-US" sz="83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paylater">
                <a:extLst>
                  <a:ext uri="{FF2B5EF4-FFF2-40B4-BE49-F238E27FC236}">
                    <a16:creationId xmlns:a16="http://schemas.microsoft.com/office/drawing/2014/main" id="{6D58F760-3F1D-ADBF-CEA7-72B689872A1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663440" y="1545336"/>
              <a:ext cx="4160520" cy="4160520"/>
            </p:xfrm>
            <a:graphic>
              <a:graphicData uri="http://schemas.microsoft.com/office/drawing/2017/model3d">
                <am3d:model3d r:embed="rIdM3d14">
                  <am3d:spPr>
                    <a:xfrm>
                      <a:off x="0" y="0"/>
                      <a:ext cx="4160520" cy="4160520"/>
                    </a:xfrm>
                    <a:prstGeom prst="rect">
                      <a:avLst/>
                    </a:prstGeom>
                  </am3d:spPr>
                  <am3d:camera>
                    <am3d:pos x="0" y="0" z="5456787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15385" d="1000000"/>
                    <am3d:preTrans dx="-2492307" dy="775385" dz="-1190769"/>
                    <am3d:scale>
                      <am3d:sx n="1000000" d="1000000"/>
                      <am3d:sy n="1000000" d="1000000"/>
                      <am3d:sz n="1000000" d="1000000"/>
                    </am3d:scale>
                    <am3d:rot ax="780000" ay="-6480000" az="-12000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1605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paylater">
                <a:extLst>
                  <a:ext uri="{FF2B5EF4-FFF2-40B4-BE49-F238E27FC236}">
                    <a16:creationId xmlns:a16="http://schemas.microsoft.com/office/drawing/2014/main" id="{6D58F760-3F1D-ADBF-CEA7-72B689872A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4663440" y="1545336"/>
                <a:ext cx="4160520" cy="416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clipboard">
                <a:extLst>
                  <a:ext uri="{FF2B5EF4-FFF2-40B4-BE49-F238E27FC236}">
                    <a16:creationId xmlns:a16="http://schemas.microsoft.com/office/drawing/2014/main" id="{A24B1FE0-3225-6A3F-DC9C-108D75F1773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490472"/>
              <a:ext cx="4087368" cy="4087368"/>
            </p:xfrm>
            <a:graphic>
              <a:graphicData uri="http://schemas.microsoft.com/office/drawing/2017/model3d">
                <am3d:model3d r:embed="rIdM3d15">
                  <am3d:spPr>
                    <a:xfrm>
                      <a:off x="0" y="0"/>
                      <a:ext cx="4087368" cy="4087368"/>
                    </a:xfrm>
                    <a:prstGeom prst="rect">
                      <a:avLst/>
                    </a:prstGeom>
                  </am3d:spPr>
                  <am3d:camera>
                    <am3d:pos x="0" y="0" z="5764221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5161" d="1000000"/>
                    <am3d:preTrans dx="0" dy="-116129" dz="-1254194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000000" az="6000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8736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clipboard">
                <a:extLst>
                  <a:ext uri="{FF2B5EF4-FFF2-40B4-BE49-F238E27FC236}">
                    <a16:creationId xmlns:a16="http://schemas.microsoft.com/office/drawing/2014/main" id="{A24B1FE0-3225-6A3F-DC9C-108D75F1773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694615" y="1490472"/>
                <a:ext cx="4087368" cy="4087368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6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7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rogress-track"/>
          <p:cNvSpPr/>
          <p:nvPr/>
        </p:nvSpPr>
        <p:spPr>
          <a:xfrm>
            <a:off x="694944" y="356616"/>
            <a:ext cx="10808208" cy="91"/>
          </a:xfrm>
          <a:prstGeom prst="line">
            <a:avLst/>
          </a:prstGeom>
          <a:noFill/>
          <a:ln w="1016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4" name="!!progress-fill"/>
          <p:cNvSpPr/>
          <p:nvPr/>
        </p:nvSpPr>
        <p:spPr>
          <a:xfrm>
            <a:off x="694944" y="342900"/>
            <a:ext cx="7205472" cy="27432"/>
          </a:xfrm>
          <a:prstGeom prst="rect">
            <a:avLst/>
          </a:prstGeom>
          <a:solidFill>
            <a:srgbClr val="59D7CC"/>
          </a:solidFill>
          <a:ln/>
        </p:spPr>
      </p:sp>
      <p:sp>
        <p:nvSpPr>
          <p:cNvPr id="5" name="!!progress-dot"/>
          <p:cNvSpPr/>
          <p:nvPr/>
        </p:nvSpPr>
        <p:spPr>
          <a:xfrm>
            <a:off x="7845552" y="301752"/>
            <a:ext cx="109728" cy="109728"/>
          </a:xfrm>
          <a:prstGeom prst="ellipse">
            <a:avLst/>
          </a:prstGeom>
          <a:solidFill>
            <a:srgbClr val="F47D70"/>
          </a:solidFill>
          <a:ln w="10160">
            <a:solidFill>
              <a:srgbClr val="F3F2EC">
                <a:alpha val="88000"/>
              </a:srgbClr>
            </a:solidFill>
            <a:prstDash val="solid"/>
          </a:ln>
        </p:spPr>
      </p:sp>
      <p:sp>
        <p:nvSpPr>
          <p:cNvPr id="6" name="kicker-7"/>
          <p:cNvSpPr/>
          <p:nvPr/>
        </p:nvSpPr>
        <p:spPr>
          <a:xfrm>
            <a:off x="694944" y="5669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30" kern="0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КАК БУДЕТ УСТРОЕНО ИССЛЕДОВАНИЕ</a:t>
            </a:r>
            <a:endParaRPr lang="en-US" sz="950" dirty="0"/>
          </a:p>
        </p:txBody>
      </p:sp>
      <p:sp>
        <p:nvSpPr>
          <p:cNvPr id="7" name="!!footer-line"/>
          <p:cNvSpPr/>
          <p:nvPr/>
        </p:nvSpPr>
        <p:spPr>
          <a:xfrm>
            <a:off x="694944" y="6382512"/>
            <a:ext cx="10808208" cy="91"/>
          </a:xfrm>
          <a:prstGeom prst="line">
            <a:avLst/>
          </a:prstGeom>
          <a:noFill/>
          <a:ln w="889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-label"/>
          <p:cNvSpPr/>
          <p:nvPr/>
        </p:nvSpPr>
        <p:spPr>
          <a:xfrm>
            <a:off x="694944" y="64739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35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ПОТРЕБИТЕЛЬСКОГО ВЫБОРА  ·  ИССЛЕДОВАТЕЛЬСКИЙ ПРОЕКТ</a:t>
            </a:r>
            <a:endParaRPr lang="en-US" sz="850" dirty="0"/>
          </a:p>
        </p:txBody>
      </p:sp>
      <p:sp>
        <p:nvSpPr>
          <p:cNvPr id="9" name="!!page-number"/>
          <p:cNvSpPr/>
          <p:nvPr/>
        </p:nvSpPr>
        <p:spPr>
          <a:xfrm>
            <a:off x="10543032" y="64648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16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900" dirty="0"/>
          </a:p>
        </p:txBody>
      </p:sp>
      <p:pic>
        <p:nvPicPr>
          <p:cNvPr id="10" name="glow-7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157" y="312085"/>
            <a:ext cx="5804063" cy="5804063"/>
          </a:xfrm>
          <a:prstGeom prst="rect">
            <a:avLst/>
          </a:prstGeom>
        </p:spPr>
      </p:pic>
      <p:sp>
        <p:nvSpPr>
          <p:cNvPr id="11" name="ring-in-7"/>
          <p:cNvSpPr/>
          <p:nvPr/>
        </p:nvSpPr>
        <p:spPr>
          <a:xfrm>
            <a:off x="7502378" y="1211306"/>
            <a:ext cx="4005621" cy="4005621"/>
          </a:xfrm>
          <a:prstGeom prst="ellipse">
            <a:avLst/>
          </a:prstGeom>
          <a:ln w="8890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12" name="ring-out-7"/>
          <p:cNvSpPr/>
          <p:nvPr/>
        </p:nvSpPr>
        <p:spPr>
          <a:xfrm>
            <a:off x="7011894" y="720822"/>
            <a:ext cx="4986589" cy="4986589"/>
          </a:xfrm>
          <a:prstGeom prst="ellipse">
            <a:avLst/>
          </a:prstGeom>
          <a:ln w="8890">
            <a:solidFill>
              <a:srgbClr val="E5B66A">
                <a:alpha val="9000"/>
              </a:srgbClr>
            </a:solidFill>
            <a:prstDash val="dash"/>
          </a:ln>
        </p:spPr>
      </p:sp>
      <p:pic>
        <p:nvPicPr>
          <p:cNvPr id="13" name="shadow-7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736" y="4235958"/>
            <a:ext cx="2942905" cy="73572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clipboard">
                <a:extLst>
                  <a:ext uri="{FF2B5EF4-FFF2-40B4-BE49-F238E27FC236}">
                    <a16:creationId xmlns:a16="http://schemas.microsoft.com/office/drawing/2014/main" id="{3A830997-044F-5B0C-8913-C6CA9842E8E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61504" y="1170432"/>
              <a:ext cx="4087368" cy="4087368"/>
            </p:xfrm>
            <a:graphic>
              <a:graphicData uri="http://schemas.microsoft.com/office/drawing/2017/model3d">
                <am3d:model3d r:embed="rIdM3d16">
                  <am3d:spPr>
                    <a:xfrm>
                      <a:off x="0" y="0"/>
                      <a:ext cx="4087368" cy="4087368"/>
                    </a:xfrm>
                    <a:prstGeom prst="rect">
                      <a:avLst/>
                    </a:prstGeom>
                  </am3d:spPr>
                  <am3d:camera>
                    <am3d:pos x="0" y="0" z="5764221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5161" d="1000000"/>
                    <am3d:preTrans dx="0" dy="-116129" dz="-1254194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680000" az="6000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8736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clipboard">
                <a:extLst>
                  <a:ext uri="{FF2B5EF4-FFF2-40B4-BE49-F238E27FC236}">
                    <a16:creationId xmlns:a16="http://schemas.microsoft.com/office/drawing/2014/main" id="{3A830997-044F-5B0C-8913-C6CA9842E8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61504" y="1170432"/>
                <a:ext cx="4087368" cy="4087368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 9"/>
          <p:cNvSpPr/>
          <p:nvPr/>
        </p:nvSpPr>
        <p:spPr>
          <a:xfrm>
            <a:off x="7539228" y="53309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spc="155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ОБЪЁМНЫЙ ЭКСПОНАТ  07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 → наблюдения → памятка</a:t>
            </a:r>
            <a:endParaRPr lang="en-US" sz="900" dirty="0"/>
          </a:p>
        </p:txBody>
      </p:sp>
      <p:sp>
        <p:nvSpPr>
          <p:cNvPr id="16" name="!!title"/>
          <p:cNvSpPr/>
          <p:nvPr/>
        </p:nvSpPr>
        <p:spPr>
          <a:xfrm>
            <a:off x="694944" y="960120"/>
            <a:ext cx="6537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305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Опрос покажет связи, а не причинность</a:t>
            </a:r>
            <a:endParaRPr lang="en-US" sz="3050" dirty="0"/>
          </a:p>
        </p:txBody>
      </p:sp>
      <p:sp>
        <p:nvSpPr>
          <p:cNvPr id="17" name="Text 11"/>
          <p:cNvSpPr/>
          <p:nvPr/>
        </p:nvSpPr>
        <p:spPr>
          <a:xfrm>
            <a:off x="694944" y="201168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20" b="1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План: онлайн-анкета · добровольно · без имени</a:t>
            </a:r>
            <a:endParaRPr lang="en-US" sz="1220" dirty="0"/>
          </a:p>
        </p:txBody>
      </p:sp>
      <p:sp>
        <p:nvSpPr>
          <p:cNvPr id="18" name="Text 12"/>
          <p:cNvSpPr/>
          <p:nvPr/>
        </p:nvSpPr>
        <p:spPr>
          <a:xfrm>
            <a:off x="694944" y="23500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dirty="0">
                <a:solidFill>
                  <a:srgbClr val="E5B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≥ 50</a:t>
            </a:r>
            <a:endParaRPr lang="en-US" sz="2900" dirty="0"/>
          </a:p>
        </p:txBody>
      </p:sp>
      <p:sp>
        <p:nvSpPr>
          <p:cNvPr id="19" name="Text 13"/>
          <p:cNvSpPr/>
          <p:nvPr/>
        </p:nvSpPr>
        <p:spPr>
          <a:xfrm>
            <a:off x="2569464" y="250545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студентов 18–25 лет</a:t>
            </a:r>
            <a:endParaRPr lang="en-US" sz="1400" dirty="0"/>
          </a:p>
        </p:txBody>
      </p:sp>
      <p:sp>
        <p:nvSpPr>
          <p:cNvPr id="20" name="fx7_1_0"/>
          <p:cNvSpPr/>
          <p:nvPr/>
        </p:nvSpPr>
        <p:spPr>
          <a:xfrm>
            <a:off x="694944" y="2980944"/>
            <a:ext cx="3026664" cy="676656"/>
          </a:xfrm>
          <a:prstGeom prst="roundRect">
            <a:avLst>
              <a:gd name="adj" fmla="val 1081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22000"/>
              </a:srgbClr>
            </a:solidFill>
            <a:prstDash val="solid"/>
          </a:ln>
        </p:spPr>
      </p:sp>
      <p:sp>
        <p:nvSpPr>
          <p:cNvPr id="21" name="fx7_1_1"/>
          <p:cNvSpPr/>
          <p:nvPr/>
        </p:nvSpPr>
        <p:spPr>
          <a:xfrm>
            <a:off x="841248" y="3081528"/>
            <a:ext cx="2706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150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ЧАСТОТА</a:t>
            </a:r>
            <a:endParaRPr lang="en-US" sz="880" dirty="0"/>
          </a:p>
        </p:txBody>
      </p:sp>
      <p:sp>
        <p:nvSpPr>
          <p:cNvPr id="22" name="fx7_1_2"/>
          <p:cNvSpPr/>
          <p:nvPr/>
        </p:nvSpPr>
        <p:spPr>
          <a:xfrm>
            <a:off x="841248" y="3310128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незапланированные покупки за 30 дней</a:t>
            </a:r>
            <a:endParaRPr lang="en-US" sz="980" dirty="0"/>
          </a:p>
        </p:txBody>
      </p:sp>
      <p:sp>
        <p:nvSpPr>
          <p:cNvPr id="23" name="fx7_2_3"/>
          <p:cNvSpPr/>
          <p:nvPr/>
        </p:nvSpPr>
        <p:spPr>
          <a:xfrm>
            <a:off x="3895344" y="2980944"/>
            <a:ext cx="3026664" cy="676656"/>
          </a:xfrm>
          <a:prstGeom prst="roundRect">
            <a:avLst>
              <a:gd name="adj" fmla="val 1081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22000"/>
              </a:srgbClr>
            </a:solidFill>
            <a:prstDash val="solid"/>
          </a:ln>
        </p:spPr>
      </p:sp>
      <p:sp>
        <p:nvSpPr>
          <p:cNvPr id="24" name="fx7_2_4"/>
          <p:cNvSpPr/>
          <p:nvPr/>
        </p:nvSpPr>
        <p:spPr>
          <a:xfrm>
            <a:off x="4041648" y="3081528"/>
            <a:ext cx="2706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150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ТРИГГЕРЫ</a:t>
            </a:r>
            <a:endParaRPr lang="en-US" sz="880" dirty="0"/>
          </a:p>
        </p:txBody>
      </p:sp>
      <p:sp>
        <p:nvSpPr>
          <p:cNvPr id="25" name="fx7_2_5"/>
          <p:cNvSpPr/>
          <p:nvPr/>
        </p:nvSpPr>
        <p:spPr>
          <a:xfrm>
            <a:off x="4041648" y="3310128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FOMO, сравнение, срочные предложения</a:t>
            </a:r>
            <a:endParaRPr lang="en-US" sz="980" dirty="0"/>
          </a:p>
        </p:txBody>
      </p:sp>
      <p:sp>
        <p:nvSpPr>
          <p:cNvPr id="26" name="fx7_3_6"/>
          <p:cNvSpPr/>
          <p:nvPr/>
        </p:nvSpPr>
        <p:spPr>
          <a:xfrm>
            <a:off x="694944" y="3785616"/>
            <a:ext cx="3026664" cy="676656"/>
          </a:xfrm>
          <a:prstGeom prst="roundRect">
            <a:avLst>
              <a:gd name="adj" fmla="val 1081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F47D70">
                <a:alpha val="22000"/>
              </a:srgbClr>
            </a:solidFill>
            <a:prstDash val="solid"/>
          </a:ln>
        </p:spPr>
      </p:sp>
      <p:sp>
        <p:nvSpPr>
          <p:cNvPr id="27" name="fx7_3_7"/>
          <p:cNvSpPr/>
          <p:nvPr/>
        </p:nvSpPr>
        <p:spPr>
          <a:xfrm>
            <a:off x="841248" y="3886200"/>
            <a:ext cx="2706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150" kern="0" dirty="0">
                <a:solidFill>
                  <a:srgbClr val="F47D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</a:t>
            </a:r>
            <a:endParaRPr lang="en-US" sz="880" dirty="0"/>
          </a:p>
        </p:txBody>
      </p:sp>
      <p:sp>
        <p:nvSpPr>
          <p:cNvPr id="28" name="fx7_3_8"/>
          <p:cNvSpPr/>
          <p:nvPr/>
        </p:nvSpPr>
        <p:spPr>
          <a:xfrm>
            <a:off x="841248" y="4114800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использование рассрочки / BNPL</a:t>
            </a:r>
            <a:endParaRPr lang="en-US" sz="980" dirty="0"/>
          </a:p>
        </p:txBody>
      </p:sp>
      <p:sp>
        <p:nvSpPr>
          <p:cNvPr id="29" name="fx7_4_9"/>
          <p:cNvSpPr/>
          <p:nvPr/>
        </p:nvSpPr>
        <p:spPr>
          <a:xfrm>
            <a:off x="3895344" y="3785616"/>
            <a:ext cx="3026664" cy="676656"/>
          </a:xfrm>
          <a:prstGeom prst="roundRect">
            <a:avLst>
              <a:gd name="adj" fmla="val 1081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22000"/>
              </a:srgbClr>
            </a:solidFill>
            <a:prstDash val="solid"/>
          </a:ln>
        </p:spPr>
      </p:sp>
      <p:sp>
        <p:nvSpPr>
          <p:cNvPr id="30" name="fx7_4_10"/>
          <p:cNvSpPr/>
          <p:nvPr/>
        </p:nvSpPr>
        <p:spPr>
          <a:xfrm>
            <a:off x="4041648" y="3886200"/>
            <a:ext cx="2706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spc="150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НАВЫКИ</a:t>
            </a:r>
            <a:endParaRPr lang="en-US" sz="880" dirty="0"/>
          </a:p>
        </p:txBody>
      </p:sp>
      <p:sp>
        <p:nvSpPr>
          <p:cNvPr id="31" name="fx7_4_11"/>
          <p:cNvSpPr/>
          <p:nvPr/>
        </p:nvSpPr>
        <p:spPr>
          <a:xfrm>
            <a:off x="4041648" y="4114800"/>
            <a:ext cx="2706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самооценка знаний + ведение бюджета</a:t>
            </a:r>
            <a:endParaRPr lang="en-US" sz="980" dirty="0"/>
          </a:p>
        </p:txBody>
      </p:sp>
      <p:sp>
        <p:nvSpPr>
          <p:cNvPr id="32" name="Text 26"/>
          <p:cNvSpPr/>
          <p:nvPr/>
        </p:nvSpPr>
        <p:spPr>
          <a:xfrm>
            <a:off x="694944" y="4782312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70" b="1" spc="38" kern="0" dirty="0">
                <a:solidFill>
                  <a:srgbClr val="E5B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ОБЗОР  →  АНКЕТА  →  ОПИСАТЕЛЬНАЯ СТАТИСТИКА + SPEARMAN  →  ПАМЯТКА</a:t>
            </a:r>
            <a:endParaRPr lang="en-US" sz="870" dirty="0"/>
          </a:p>
        </p:txBody>
      </p:sp>
      <p:sp>
        <p:nvSpPr>
          <p:cNvPr id="33" name="fx7_8_12"/>
          <p:cNvSpPr/>
          <p:nvPr/>
        </p:nvSpPr>
        <p:spPr>
          <a:xfrm>
            <a:off x="694944" y="5184648"/>
            <a:ext cx="6309360" cy="758952"/>
          </a:xfrm>
          <a:prstGeom prst="roundRect">
            <a:avLst>
              <a:gd name="adj" fmla="val 9639"/>
            </a:avLst>
          </a:prstGeom>
          <a:solidFill>
            <a:srgbClr val="142233">
              <a:alpha val="97000"/>
            </a:srgbClr>
          </a:solidFill>
          <a:ln w="11430">
            <a:solidFill>
              <a:srgbClr val="E5B66A">
                <a:alpha val="54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fx7_8_13"/>
          <p:cNvSpPr/>
          <p:nvPr/>
        </p:nvSpPr>
        <p:spPr>
          <a:xfrm>
            <a:off x="694944" y="5303520"/>
            <a:ext cx="50292" cy="521208"/>
          </a:xfrm>
          <a:prstGeom prst="rect">
            <a:avLst/>
          </a:prstGeom>
          <a:solidFill>
            <a:srgbClr val="E5B66A"/>
          </a:solidFill>
          <a:ln/>
        </p:spPr>
      </p:sp>
      <p:sp>
        <p:nvSpPr>
          <p:cNvPr id="35" name="fx7_8_14"/>
          <p:cNvSpPr/>
          <p:nvPr/>
        </p:nvSpPr>
        <p:spPr>
          <a:xfrm>
            <a:off x="905256" y="5074920"/>
            <a:ext cx="1892808" cy="228600"/>
          </a:xfrm>
          <a:prstGeom prst="roundRect">
            <a:avLst>
              <a:gd name="adj" fmla="val 48000"/>
            </a:avLst>
          </a:prstGeom>
          <a:solidFill>
            <a:srgbClr val="E5B66A"/>
          </a:solidFill>
          <a:ln/>
        </p:spPr>
      </p:sp>
      <p:sp>
        <p:nvSpPr>
          <p:cNvPr id="36" name="fx7_8_15"/>
          <p:cNvSpPr/>
          <p:nvPr/>
        </p:nvSpPr>
        <p:spPr>
          <a:xfrm>
            <a:off x="914400" y="5074920"/>
            <a:ext cx="1892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spc="110" kern="0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ОГРАНИЧЕНИЕ ДИЗАЙНА</a:t>
            </a:r>
            <a:endParaRPr lang="en-US" sz="780" dirty="0"/>
          </a:p>
        </p:txBody>
      </p:sp>
      <p:sp>
        <p:nvSpPr>
          <p:cNvPr id="37" name="fx7_8_16"/>
          <p:cNvSpPr/>
          <p:nvPr/>
        </p:nvSpPr>
        <p:spPr>
          <a:xfrm>
            <a:off x="941832" y="5276088"/>
            <a:ext cx="58704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4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≥ 50 и самоотчёт дают предварительную картину; выводы нельзя автоматически переносить на всех студентов.</a:t>
            </a:r>
            <a:endParaRPr lang="en-US" sz="1140" dirty="0"/>
          </a:p>
        </p:txBody>
      </p:sp>
      <p:sp>
        <p:nvSpPr>
          <p:cNvPr id="38" name="Text 32"/>
          <p:cNvSpPr/>
          <p:nvPr/>
        </p:nvSpPr>
        <p:spPr>
          <a:xfrm>
            <a:off x="694944" y="6108192"/>
            <a:ext cx="6583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spc="2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ОПОРА: план проекта; метод анализа — ранговая корреляция Спирмена</a:t>
            </a:r>
            <a:endParaRPr lang="en-US" sz="83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scales">
                <a:extLst>
                  <a:ext uri="{FF2B5EF4-FFF2-40B4-BE49-F238E27FC236}">
                    <a16:creationId xmlns:a16="http://schemas.microsoft.com/office/drawing/2014/main" id="{84CC630E-12FD-3527-4115-5AE7A597FCC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572000" y="1508760"/>
              <a:ext cx="4069080" cy="4069080"/>
            </p:xfrm>
            <a:graphic>
              <a:graphicData uri="http://schemas.microsoft.com/office/drawing/2017/model3d">
                <am3d:model3d r:embed="rIdM3d17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20000" ay="-58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scales">
                <a:extLst>
                  <a:ext uri="{FF2B5EF4-FFF2-40B4-BE49-F238E27FC236}">
                    <a16:creationId xmlns:a16="http://schemas.microsoft.com/office/drawing/2014/main" id="{84CC630E-12FD-3527-4115-5AE7A597FCC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4572000" y="1508760"/>
                <a:ext cx="4069080" cy="406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timer">
                <a:extLst>
                  <a:ext uri="{FF2B5EF4-FFF2-40B4-BE49-F238E27FC236}">
                    <a16:creationId xmlns:a16="http://schemas.microsoft.com/office/drawing/2014/main" id="{2BB1B4B2-C540-4C39-113C-0B252B661C0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490472"/>
              <a:ext cx="4069080" cy="4069080"/>
            </p:xfrm>
            <a:graphic>
              <a:graphicData uri="http://schemas.microsoft.com/office/drawing/2017/model3d">
                <am3d:model3d r:embed="rIdM3d18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5539360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683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2880000" az="6000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timer">
                <a:extLst>
                  <a:ext uri="{FF2B5EF4-FFF2-40B4-BE49-F238E27FC236}">
                    <a16:creationId xmlns:a16="http://schemas.microsoft.com/office/drawing/2014/main" id="{2BB1B4B2-C540-4C39-113C-0B252B661C0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694615" y="1490472"/>
                <a:ext cx="4069080" cy="4069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1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8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rogress-track"/>
          <p:cNvSpPr/>
          <p:nvPr/>
        </p:nvSpPr>
        <p:spPr>
          <a:xfrm>
            <a:off x="694944" y="356616"/>
            <a:ext cx="10808208" cy="91"/>
          </a:xfrm>
          <a:prstGeom prst="line">
            <a:avLst/>
          </a:prstGeom>
          <a:noFill/>
          <a:ln w="1016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4" name="!!progress-fill"/>
          <p:cNvSpPr/>
          <p:nvPr/>
        </p:nvSpPr>
        <p:spPr>
          <a:xfrm>
            <a:off x="694944" y="342900"/>
            <a:ext cx="8406384" cy="27432"/>
          </a:xfrm>
          <a:prstGeom prst="rect">
            <a:avLst/>
          </a:prstGeom>
          <a:solidFill>
            <a:srgbClr val="59D7CC"/>
          </a:solidFill>
          <a:ln/>
        </p:spPr>
      </p:sp>
      <p:sp>
        <p:nvSpPr>
          <p:cNvPr id="5" name="!!progress-dot"/>
          <p:cNvSpPr/>
          <p:nvPr/>
        </p:nvSpPr>
        <p:spPr>
          <a:xfrm>
            <a:off x="9046464" y="301752"/>
            <a:ext cx="109728" cy="109728"/>
          </a:xfrm>
          <a:prstGeom prst="ellipse">
            <a:avLst/>
          </a:prstGeom>
          <a:solidFill>
            <a:srgbClr val="F47D70"/>
          </a:solidFill>
          <a:ln w="10160">
            <a:solidFill>
              <a:srgbClr val="F3F2EC">
                <a:alpha val="88000"/>
              </a:srgbClr>
            </a:solidFill>
            <a:prstDash val="solid"/>
          </a:ln>
        </p:spPr>
      </p:sp>
      <p:sp>
        <p:nvSpPr>
          <p:cNvPr id="6" name="kicker-8"/>
          <p:cNvSpPr/>
          <p:nvPr/>
        </p:nvSpPr>
        <p:spPr>
          <a:xfrm>
            <a:off x="694944" y="5669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30" kern="0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ПРАКТИЧЕСКИЙ РЕЗУЛЬТАТ ПРОЕКТА</a:t>
            </a:r>
            <a:endParaRPr lang="en-US" sz="950" dirty="0"/>
          </a:p>
        </p:txBody>
      </p:sp>
      <p:sp>
        <p:nvSpPr>
          <p:cNvPr id="7" name="!!footer-line"/>
          <p:cNvSpPr/>
          <p:nvPr/>
        </p:nvSpPr>
        <p:spPr>
          <a:xfrm>
            <a:off x="694944" y="6382512"/>
            <a:ext cx="10808208" cy="91"/>
          </a:xfrm>
          <a:prstGeom prst="line">
            <a:avLst/>
          </a:prstGeom>
          <a:noFill/>
          <a:ln w="889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-label"/>
          <p:cNvSpPr/>
          <p:nvPr/>
        </p:nvSpPr>
        <p:spPr>
          <a:xfrm>
            <a:off x="694944" y="64739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35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ПОТРЕБИТЕЛЬСКОГО ВЫБОРА  ·  ИССЛЕДОВАТЕЛЬСКИЙ ПРОЕКТ</a:t>
            </a:r>
            <a:endParaRPr lang="en-US" sz="850" dirty="0"/>
          </a:p>
        </p:txBody>
      </p:sp>
      <p:sp>
        <p:nvSpPr>
          <p:cNvPr id="9" name="!!page-number"/>
          <p:cNvSpPr/>
          <p:nvPr/>
        </p:nvSpPr>
        <p:spPr>
          <a:xfrm>
            <a:off x="10543032" y="64648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16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900" dirty="0"/>
          </a:p>
        </p:txBody>
      </p:sp>
      <p:pic>
        <p:nvPicPr>
          <p:cNvPr id="10" name="glow-8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285" y="315925"/>
            <a:ext cx="5778094" cy="5778094"/>
          </a:xfrm>
          <a:prstGeom prst="rect">
            <a:avLst/>
          </a:prstGeom>
        </p:spPr>
      </p:pic>
      <p:sp>
        <p:nvSpPr>
          <p:cNvPr id="11" name="ring-in-8"/>
          <p:cNvSpPr/>
          <p:nvPr/>
        </p:nvSpPr>
        <p:spPr>
          <a:xfrm>
            <a:off x="7520483" y="1211123"/>
            <a:ext cx="3987698" cy="3987698"/>
          </a:xfrm>
          <a:prstGeom prst="ellipse">
            <a:avLst/>
          </a:prstGeom>
          <a:ln w="8890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12" name="ring-out-8"/>
          <p:cNvSpPr/>
          <p:nvPr/>
        </p:nvSpPr>
        <p:spPr>
          <a:xfrm>
            <a:off x="7032193" y="722833"/>
            <a:ext cx="4964278" cy="4964278"/>
          </a:xfrm>
          <a:prstGeom prst="ellipse">
            <a:avLst/>
          </a:prstGeom>
          <a:ln w="8890">
            <a:solidFill>
              <a:srgbClr val="E5B66A">
                <a:alpha val="9000"/>
              </a:srgbClr>
            </a:solidFill>
            <a:prstDash val="dash"/>
          </a:ln>
        </p:spPr>
      </p:sp>
      <p:pic>
        <p:nvPicPr>
          <p:cNvPr id="13" name="shadow-8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9463" y="4222242"/>
            <a:ext cx="2929738" cy="73243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timer">
                <a:extLst>
                  <a:ext uri="{FF2B5EF4-FFF2-40B4-BE49-F238E27FC236}">
                    <a16:creationId xmlns:a16="http://schemas.microsoft.com/office/drawing/2014/main" id="{5E7F3E19-45DF-01C9-BAC2-BF07AEF79FA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79792" y="1170432"/>
              <a:ext cx="4069080" cy="4069080"/>
            </p:xfrm>
            <a:graphic>
              <a:graphicData uri="http://schemas.microsoft.com/office/drawing/2017/model3d">
                <am3d:model3d r:embed="rIdM3d19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5539360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683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1800000" az="6000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timer">
                <a:extLst>
                  <a:ext uri="{FF2B5EF4-FFF2-40B4-BE49-F238E27FC236}">
                    <a16:creationId xmlns:a16="http://schemas.microsoft.com/office/drawing/2014/main" id="{5E7F3E19-45DF-01C9-BAC2-BF07AEF79FA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79792" y="1170432"/>
                <a:ext cx="4069080" cy="406908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 9"/>
          <p:cNvSpPr/>
          <p:nvPr/>
        </p:nvSpPr>
        <p:spPr>
          <a:xfrm>
            <a:off x="7548372" y="531266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spc="155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ОБЪЁМНЫЙ ЭКСПОНАТ  08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Пауза даёт решению время созреть</a:t>
            </a:r>
            <a:endParaRPr lang="en-US" sz="900" dirty="0"/>
          </a:p>
        </p:txBody>
      </p:sp>
      <p:sp>
        <p:nvSpPr>
          <p:cNvPr id="16" name="!!title"/>
          <p:cNvSpPr/>
          <p:nvPr/>
        </p:nvSpPr>
        <p:spPr>
          <a:xfrm>
            <a:off x="694944" y="960120"/>
            <a:ext cx="6446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31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 шага между желанием и оплатой</a:t>
            </a:r>
            <a:endParaRPr lang="en-US" sz="3100" dirty="0"/>
          </a:p>
        </p:txBody>
      </p:sp>
      <p:sp>
        <p:nvSpPr>
          <p:cNvPr id="17" name="fx8_1_0"/>
          <p:cNvSpPr/>
          <p:nvPr/>
        </p:nvSpPr>
        <p:spPr>
          <a:xfrm>
            <a:off x="694944" y="2048256"/>
            <a:ext cx="438912" cy="438912"/>
          </a:xfrm>
          <a:prstGeom prst="ellipse">
            <a:avLst/>
          </a:prstGeom>
          <a:solidFill>
            <a:srgbClr val="F47D70"/>
          </a:solidFill>
          <a:ln/>
        </p:spPr>
      </p:sp>
      <p:sp>
        <p:nvSpPr>
          <p:cNvPr id="18" name="fx8_1_1"/>
          <p:cNvSpPr/>
          <p:nvPr/>
        </p:nvSpPr>
        <p:spPr>
          <a:xfrm>
            <a:off x="694944" y="214884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fx8_1_2"/>
          <p:cNvSpPr/>
          <p:nvPr/>
        </p:nvSpPr>
        <p:spPr>
          <a:xfrm>
            <a:off x="1325880" y="202082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20" b="1" spc="100" kern="0" dirty="0">
                <a:solidFill>
                  <a:srgbClr val="F47D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ПАУЗА</a:t>
            </a:r>
            <a:endParaRPr lang="en-US" sz="1020" dirty="0"/>
          </a:p>
        </p:txBody>
      </p:sp>
      <p:sp>
        <p:nvSpPr>
          <p:cNvPr id="20" name="fx8_1_3"/>
          <p:cNvSpPr/>
          <p:nvPr/>
        </p:nvSpPr>
        <p:spPr>
          <a:xfrm>
            <a:off x="2523744" y="2011680"/>
            <a:ext cx="43434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Несрочную покупку — в список на 24 часа. Не теряй решение, просто отложи его.</a:t>
            </a:r>
            <a:endParaRPr lang="en-US" sz="1130" dirty="0"/>
          </a:p>
        </p:txBody>
      </p:sp>
      <p:sp>
        <p:nvSpPr>
          <p:cNvPr id="21" name="fx8_1_4"/>
          <p:cNvSpPr/>
          <p:nvPr/>
        </p:nvSpPr>
        <p:spPr>
          <a:xfrm>
            <a:off x="914400" y="2496312"/>
            <a:ext cx="91" cy="393192"/>
          </a:xfrm>
          <a:prstGeom prst="line">
            <a:avLst/>
          </a:prstGeom>
          <a:noFill/>
          <a:ln w="12700">
            <a:solidFill>
              <a:srgbClr val="59D7CC">
                <a:alpha val="30000"/>
              </a:srgbClr>
            </a:solidFill>
            <a:prstDash val="solid"/>
          </a:ln>
        </p:spPr>
      </p:sp>
      <p:sp>
        <p:nvSpPr>
          <p:cNvPr id="22" name="fx8_2_5"/>
          <p:cNvSpPr/>
          <p:nvPr/>
        </p:nvSpPr>
        <p:spPr>
          <a:xfrm>
            <a:off x="694944" y="3054096"/>
            <a:ext cx="438912" cy="438912"/>
          </a:xfrm>
          <a:prstGeom prst="ellipse">
            <a:avLst/>
          </a:prstGeom>
          <a:solidFill>
            <a:srgbClr val="59D7CC"/>
          </a:solidFill>
          <a:ln/>
        </p:spPr>
      </p:sp>
      <p:sp>
        <p:nvSpPr>
          <p:cNvPr id="23" name="fx8_2_6"/>
          <p:cNvSpPr/>
          <p:nvPr/>
        </p:nvSpPr>
        <p:spPr>
          <a:xfrm>
            <a:off x="694944" y="315468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fx8_2_7"/>
          <p:cNvSpPr/>
          <p:nvPr/>
        </p:nvSpPr>
        <p:spPr>
          <a:xfrm>
            <a:off x="1325880" y="302666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20" b="1" spc="100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020" dirty="0"/>
          </a:p>
        </p:txBody>
      </p:sp>
      <p:sp>
        <p:nvSpPr>
          <p:cNvPr id="25" name="fx8_2_8"/>
          <p:cNvSpPr/>
          <p:nvPr/>
        </p:nvSpPr>
        <p:spPr>
          <a:xfrm>
            <a:off x="2523744" y="3017520"/>
            <a:ext cx="43434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Нужна ли вещь? Какова полная цена? Вписывается ли она в бюджет месяца?</a:t>
            </a:r>
            <a:endParaRPr lang="en-US" sz="1130" dirty="0"/>
          </a:p>
        </p:txBody>
      </p:sp>
      <p:sp>
        <p:nvSpPr>
          <p:cNvPr id="26" name="fx8_2_9"/>
          <p:cNvSpPr/>
          <p:nvPr/>
        </p:nvSpPr>
        <p:spPr>
          <a:xfrm>
            <a:off x="914400" y="3502152"/>
            <a:ext cx="91" cy="393192"/>
          </a:xfrm>
          <a:prstGeom prst="line">
            <a:avLst/>
          </a:prstGeom>
          <a:noFill/>
          <a:ln w="12700">
            <a:solidFill>
              <a:srgbClr val="59D7CC">
                <a:alpha val="30000"/>
              </a:srgbClr>
            </a:solidFill>
            <a:prstDash val="solid"/>
          </a:ln>
        </p:spPr>
      </p:sp>
      <p:sp>
        <p:nvSpPr>
          <p:cNvPr id="27" name="fx8_3_10"/>
          <p:cNvSpPr/>
          <p:nvPr/>
        </p:nvSpPr>
        <p:spPr>
          <a:xfrm>
            <a:off x="694944" y="4059936"/>
            <a:ext cx="438912" cy="438912"/>
          </a:xfrm>
          <a:prstGeom prst="ellipse">
            <a:avLst/>
          </a:prstGeom>
          <a:solidFill>
            <a:srgbClr val="59D7CC"/>
          </a:solidFill>
          <a:ln/>
        </p:spPr>
      </p:sp>
      <p:sp>
        <p:nvSpPr>
          <p:cNvPr id="28" name="fx8_3_11"/>
          <p:cNvSpPr/>
          <p:nvPr/>
        </p:nvSpPr>
        <p:spPr>
          <a:xfrm>
            <a:off x="694944" y="416052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fx8_3_12"/>
          <p:cNvSpPr/>
          <p:nvPr/>
        </p:nvSpPr>
        <p:spPr>
          <a:xfrm>
            <a:off x="1325880" y="403250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20" b="1" spc="100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БАРЬЕР</a:t>
            </a:r>
            <a:endParaRPr lang="en-US" sz="1020" dirty="0"/>
          </a:p>
        </p:txBody>
      </p:sp>
      <p:sp>
        <p:nvSpPr>
          <p:cNvPr id="30" name="fx8_3_13"/>
          <p:cNvSpPr/>
          <p:nvPr/>
        </p:nvSpPr>
        <p:spPr>
          <a:xfrm>
            <a:off x="2523744" y="4023360"/>
            <a:ext cx="43434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Отключи промо-push, убери сохранённую карту, задай лимит на покупки «для себя».</a:t>
            </a:r>
            <a:endParaRPr lang="en-US" sz="1130" dirty="0"/>
          </a:p>
        </p:txBody>
      </p:sp>
      <p:sp>
        <p:nvSpPr>
          <p:cNvPr id="31" name="fx8_8_14"/>
          <p:cNvSpPr/>
          <p:nvPr/>
        </p:nvSpPr>
        <p:spPr>
          <a:xfrm>
            <a:off x="694944" y="5175504"/>
            <a:ext cx="6309360" cy="768096"/>
          </a:xfrm>
          <a:prstGeom prst="roundRect">
            <a:avLst>
              <a:gd name="adj" fmla="val 9524"/>
            </a:avLst>
          </a:prstGeom>
          <a:solidFill>
            <a:srgbClr val="142233">
              <a:alpha val="97000"/>
            </a:srgbClr>
          </a:solidFill>
          <a:ln w="11430">
            <a:solidFill>
              <a:srgbClr val="E5B66A">
                <a:alpha val="54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8_8_15"/>
          <p:cNvSpPr/>
          <p:nvPr/>
        </p:nvSpPr>
        <p:spPr>
          <a:xfrm>
            <a:off x="694944" y="5294376"/>
            <a:ext cx="50292" cy="530352"/>
          </a:xfrm>
          <a:prstGeom prst="rect">
            <a:avLst/>
          </a:prstGeom>
          <a:solidFill>
            <a:srgbClr val="E5B66A"/>
          </a:solidFill>
          <a:ln/>
        </p:spPr>
      </p:sp>
      <p:sp>
        <p:nvSpPr>
          <p:cNvPr id="33" name="fx8_8_16"/>
          <p:cNvSpPr/>
          <p:nvPr/>
        </p:nvSpPr>
        <p:spPr>
          <a:xfrm>
            <a:off x="905256" y="5065776"/>
            <a:ext cx="2715768" cy="228600"/>
          </a:xfrm>
          <a:prstGeom prst="roundRect">
            <a:avLst>
              <a:gd name="adj" fmla="val 48000"/>
            </a:avLst>
          </a:prstGeom>
          <a:solidFill>
            <a:srgbClr val="E5B66A"/>
          </a:solidFill>
          <a:ln/>
        </p:spPr>
      </p:sp>
      <p:sp>
        <p:nvSpPr>
          <p:cNvPr id="34" name="fx8_8_17"/>
          <p:cNvSpPr/>
          <p:nvPr/>
        </p:nvSpPr>
        <p:spPr>
          <a:xfrm>
            <a:off x="914400" y="5065776"/>
            <a:ext cx="2715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spc="110" kern="0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ПАМЯТКА · НЕ РЕЗУЛЬТАТ ОПРОСА</a:t>
            </a:r>
            <a:endParaRPr lang="en-US" sz="780" dirty="0"/>
          </a:p>
        </p:txBody>
      </p:sp>
      <p:sp>
        <p:nvSpPr>
          <p:cNvPr id="35" name="fx8_8_18"/>
          <p:cNvSpPr/>
          <p:nvPr/>
        </p:nvSpPr>
        <p:spPr>
          <a:xfrm>
            <a:off x="941832" y="5266944"/>
            <a:ext cx="5870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6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Если выбираешь рассрочку — сначала сложи все платежи и даты. Памятка не заменяет условия договора.</a:t>
            </a:r>
            <a:endParaRPr lang="en-US" sz="1160" dirty="0"/>
          </a:p>
        </p:txBody>
      </p:sp>
      <p:sp>
        <p:nvSpPr>
          <p:cNvPr id="36" name="Text 30"/>
          <p:cNvSpPr/>
          <p:nvPr/>
        </p:nvSpPr>
        <p:spPr>
          <a:xfrm>
            <a:off x="694944" y="6108192"/>
            <a:ext cx="6583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spc="2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ОПОРА: практические барьеры выведены из механизмов [1, 2, 6]; их эффект предстоит проверять</a:t>
            </a:r>
            <a:endParaRPr lang="en-US" sz="83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clipboard">
                <a:extLst>
                  <a:ext uri="{FF2B5EF4-FFF2-40B4-BE49-F238E27FC236}">
                    <a16:creationId xmlns:a16="http://schemas.microsoft.com/office/drawing/2014/main" id="{D9474C10-171C-0437-32B4-A113327BBCC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590288" y="1490472"/>
              <a:ext cx="4087368" cy="4087368"/>
            </p:xfrm>
            <a:graphic>
              <a:graphicData uri="http://schemas.microsoft.com/office/drawing/2017/model3d">
                <am3d:model3d r:embed="rIdM3d20">
                  <am3d:spPr>
                    <a:xfrm>
                      <a:off x="0" y="0"/>
                      <a:ext cx="4087368" cy="4087368"/>
                    </a:xfrm>
                    <a:prstGeom prst="rect">
                      <a:avLst/>
                    </a:prstGeom>
                  </am3d:spPr>
                  <am3d:camera>
                    <am3d:pos x="0" y="0" z="5764221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5161" d="1000000"/>
                    <am3d:preTrans dx="0" dy="-116129" dz="-1254194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6360000" az="6000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8736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clipboard">
                <a:extLst>
                  <a:ext uri="{FF2B5EF4-FFF2-40B4-BE49-F238E27FC236}">
                    <a16:creationId xmlns:a16="http://schemas.microsoft.com/office/drawing/2014/main" id="{D9474C10-171C-0437-32B4-A113327BBCC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4590288" y="1490472"/>
                <a:ext cx="4087368" cy="40873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bag">
                <a:extLst>
                  <a:ext uri="{FF2B5EF4-FFF2-40B4-BE49-F238E27FC236}">
                    <a16:creationId xmlns:a16="http://schemas.microsoft.com/office/drawing/2014/main" id="{106F4C8C-F1E4-17D8-4852-7037AC85BFD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1490472"/>
              <a:ext cx="4069080" cy="4069080"/>
            </p:xfrm>
            <a:graphic>
              <a:graphicData uri="http://schemas.microsoft.com/office/drawing/2017/model3d">
                <am3d:model3d r:embed="rIdM3d21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633605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56625" d="1000000"/>
                    <am3d:preTrans dx="0" dy="-2474055" dz="-1879457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2940000" az="-12000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bag">
                <a:extLst>
                  <a:ext uri="{FF2B5EF4-FFF2-40B4-BE49-F238E27FC236}">
                    <a16:creationId xmlns:a16="http://schemas.microsoft.com/office/drawing/2014/main" id="{106F4C8C-F1E4-17D8-4852-7037AC85BFD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694615" y="1490472"/>
                <a:ext cx="4069080" cy="4069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5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9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rogress-track"/>
          <p:cNvSpPr/>
          <p:nvPr/>
        </p:nvSpPr>
        <p:spPr>
          <a:xfrm>
            <a:off x="694944" y="356616"/>
            <a:ext cx="10808208" cy="91"/>
          </a:xfrm>
          <a:prstGeom prst="line">
            <a:avLst/>
          </a:prstGeom>
          <a:noFill/>
          <a:ln w="1016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4" name="!!progress-fill"/>
          <p:cNvSpPr/>
          <p:nvPr/>
        </p:nvSpPr>
        <p:spPr>
          <a:xfrm>
            <a:off x="694944" y="342900"/>
            <a:ext cx="9607296" cy="27432"/>
          </a:xfrm>
          <a:prstGeom prst="rect">
            <a:avLst/>
          </a:prstGeom>
          <a:solidFill>
            <a:srgbClr val="59D7CC"/>
          </a:solidFill>
          <a:ln/>
        </p:spPr>
      </p:sp>
      <p:sp>
        <p:nvSpPr>
          <p:cNvPr id="5" name="!!progress-dot"/>
          <p:cNvSpPr/>
          <p:nvPr/>
        </p:nvSpPr>
        <p:spPr>
          <a:xfrm>
            <a:off x="10247376" y="301752"/>
            <a:ext cx="109728" cy="109728"/>
          </a:xfrm>
          <a:prstGeom prst="ellipse">
            <a:avLst/>
          </a:prstGeom>
          <a:solidFill>
            <a:srgbClr val="F47D70"/>
          </a:solidFill>
          <a:ln w="10160">
            <a:solidFill>
              <a:srgbClr val="F3F2EC">
                <a:alpha val="88000"/>
              </a:srgbClr>
            </a:solidFill>
            <a:prstDash val="solid"/>
          </a:ln>
        </p:spPr>
      </p:sp>
      <p:sp>
        <p:nvSpPr>
          <p:cNvPr id="6" name="kicker-9"/>
          <p:cNvSpPr/>
          <p:nvPr/>
        </p:nvSpPr>
        <p:spPr>
          <a:xfrm>
            <a:off x="694944" y="5669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30" kern="0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ВЫВОД И КРИТИЧЕСКАЯ ОЦЕНКА</a:t>
            </a:r>
            <a:endParaRPr lang="en-US" sz="950" dirty="0"/>
          </a:p>
        </p:txBody>
      </p:sp>
      <p:sp>
        <p:nvSpPr>
          <p:cNvPr id="7" name="!!footer-line"/>
          <p:cNvSpPr/>
          <p:nvPr/>
        </p:nvSpPr>
        <p:spPr>
          <a:xfrm>
            <a:off x="694944" y="6382512"/>
            <a:ext cx="10808208" cy="91"/>
          </a:xfrm>
          <a:prstGeom prst="line">
            <a:avLst/>
          </a:prstGeom>
          <a:noFill/>
          <a:ln w="889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-label"/>
          <p:cNvSpPr/>
          <p:nvPr/>
        </p:nvSpPr>
        <p:spPr>
          <a:xfrm>
            <a:off x="694944" y="64739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35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ПОТРЕБИТЕЛЬСКОГО ВЫБОРА  ·  ИССЛЕДОВАТЕЛЬСКИЙ ПРОЕКТ</a:t>
            </a:r>
            <a:endParaRPr lang="en-US" sz="850" dirty="0"/>
          </a:p>
        </p:txBody>
      </p:sp>
      <p:sp>
        <p:nvSpPr>
          <p:cNvPr id="9" name="!!page-number"/>
          <p:cNvSpPr/>
          <p:nvPr/>
        </p:nvSpPr>
        <p:spPr>
          <a:xfrm>
            <a:off x="10543032" y="64648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16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900" dirty="0"/>
          </a:p>
        </p:txBody>
      </p:sp>
      <p:pic>
        <p:nvPicPr>
          <p:cNvPr id="10" name="glow-9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285" y="315925"/>
            <a:ext cx="5778094" cy="5778094"/>
          </a:xfrm>
          <a:prstGeom prst="rect">
            <a:avLst/>
          </a:prstGeom>
        </p:spPr>
      </p:pic>
      <p:sp>
        <p:nvSpPr>
          <p:cNvPr id="11" name="ring-in-9"/>
          <p:cNvSpPr/>
          <p:nvPr/>
        </p:nvSpPr>
        <p:spPr>
          <a:xfrm>
            <a:off x="7520483" y="1211123"/>
            <a:ext cx="3987698" cy="3987698"/>
          </a:xfrm>
          <a:prstGeom prst="ellipse">
            <a:avLst/>
          </a:prstGeom>
          <a:ln w="8890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12" name="ring-out-9"/>
          <p:cNvSpPr/>
          <p:nvPr/>
        </p:nvSpPr>
        <p:spPr>
          <a:xfrm>
            <a:off x="7032193" y="722833"/>
            <a:ext cx="4964278" cy="4964278"/>
          </a:xfrm>
          <a:prstGeom prst="ellipse">
            <a:avLst/>
          </a:prstGeom>
          <a:ln w="8890">
            <a:solidFill>
              <a:srgbClr val="E5B66A">
                <a:alpha val="9000"/>
              </a:srgbClr>
            </a:solidFill>
            <a:prstDash val="dash"/>
          </a:ln>
        </p:spPr>
      </p:sp>
      <p:pic>
        <p:nvPicPr>
          <p:cNvPr id="13" name="shadow-9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9463" y="4222242"/>
            <a:ext cx="2929738" cy="73243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bag">
                <a:extLst>
                  <a:ext uri="{FF2B5EF4-FFF2-40B4-BE49-F238E27FC236}">
                    <a16:creationId xmlns:a16="http://schemas.microsoft.com/office/drawing/2014/main" id="{A7121E11-5007-F48E-C8A4-B1EA49101BE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79792" y="1170432"/>
              <a:ext cx="4069080" cy="4069080"/>
            </p:xfrm>
            <a:graphic>
              <a:graphicData uri="http://schemas.microsoft.com/office/drawing/2017/model3d">
                <am3d:model3d r:embed="rIdM3d22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633605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56625" d="1000000"/>
                    <am3d:preTrans dx="0" dy="-2474055" dz="-1879457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740000" az="-12000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bag">
                <a:extLst>
                  <a:ext uri="{FF2B5EF4-FFF2-40B4-BE49-F238E27FC236}">
                    <a16:creationId xmlns:a16="http://schemas.microsoft.com/office/drawing/2014/main" id="{A7121E11-5007-F48E-C8A4-B1EA49101BE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79792" y="1170432"/>
                <a:ext cx="4069080" cy="406908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 9"/>
          <p:cNvSpPr/>
          <p:nvPr/>
        </p:nvSpPr>
        <p:spPr>
          <a:xfrm>
            <a:off x="7525512" y="5312664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spc="155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ОБЪЁМНЫЙ ЭКСПОНАТ  09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Вернуть себе не вещь — а время на выбор</a:t>
            </a:r>
            <a:endParaRPr lang="en-US" sz="900" dirty="0"/>
          </a:p>
        </p:txBody>
      </p:sp>
      <p:sp>
        <p:nvSpPr>
          <p:cNvPr id="16" name="!!title"/>
          <p:cNvSpPr/>
          <p:nvPr/>
        </p:nvSpPr>
        <p:spPr>
          <a:xfrm>
            <a:off x="694944" y="960120"/>
            <a:ext cx="6492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31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Наша цель — вернуть время на выбор</a:t>
            </a:r>
            <a:endParaRPr lang="en-US" sz="3100" dirty="0"/>
          </a:p>
        </p:txBody>
      </p:sp>
      <p:sp>
        <p:nvSpPr>
          <p:cNvPr id="17" name="fx9_1_0"/>
          <p:cNvSpPr/>
          <p:nvPr/>
        </p:nvSpPr>
        <p:spPr>
          <a:xfrm>
            <a:off x="694944" y="1993392"/>
            <a:ext cx="6309360" cy="795528"/>
          </a:xfrm>
          <a:prstGeom prst="roundRect">
            <a:avLst>
              <a:gd name="adj" fmla="val 9195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24000"/>
              </a:srgbClr>
            </a:solidFill>
            <a:prstDash val="solid"/>
          </a:ln>
        </p:spPr>
      </p:sp>
      <p:sp>
        <p:nvSpPr>
          <p:cNvPr id="18" name="fx9_1_1"/>
          <p:cNvSpPr/>
          <p:nvPr/>
        </p:nvSpPr>
        <p:spPr>
          <a:xfrm>
            <a:off x="850392" y="2157984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fx9_1_2"/>
          <p:cNvSpPr/>
          <p:nvPr/>
        </p:nvSpPr>
        <p:spPr>
          <a:xfrm>
            <a:off x="1417320" y="2103120"/>
            <a:ext cx="5349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3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= человек × сигнал × момент</a:t>
            </a:r>
            <a:endParaRPr lang="en-US" sz="1230" dirty="0"/>
          </a:p>
        </p:txBody>
      </p:sp>
      <p:sp>
        <p:nvSpPr>
          <p:cNvPr id="20" name="fx9_1_3"/>
          <p:cNvSpPr/>
          <p:nvPr/>
        </p:nvSpPr>
        <p:spPr>
          <a:xfrm>
            <a:off x="1417320" y="2432304"/>
            <a:ext cx="5321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1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сводим решение к «слабой воле» или одному триггеру.</a:t>
            </a:r>
            <a:endParaRPr lang="en-US" sz="1010" dirty="0"/>
          </a:p>
        </p:txBody>
      </p:sp>
      <p:sp>
        <p:nvSpPr>
          <p:cNvPr id="21" name="fx9_2_4"/>
          <p:cNvSpPr/>
          <p:nvPr/>
        </p:nvSpPr>
        <p:spPr>
          <a:xfrm>
            <a:off x="694944" y="2926080"/>
            <a:ext cx="6309360" cy="795528"/>
          </a:xfrm>
          <a:prstGeom prst="roundRect">
            <a:avLst>
              <a:gd name="adj" fmla="val 9195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24000"/>
              </a:srgbClr>
            </a:solidFill>
            <a:prstDash val="solid"/>
          </a:ln>
        </p:spPr>
      </p:sp>
      <p:sp>
        <p:nvSpPr>
          <p:cNvPr id="22" name="fx9_2_5"/>
          <p:cNvSpPr/>
          <p:nvPr/>
        </p:nvSpPr>
        <p:spPr>
          <a:xfrm>
            <a:off x="850392" y="30906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23" name="fx9_2_6"/>
          <p:cNvSpPr/>
          <p:nvPr/>
        </p:nvSpPr>
        <p:spPr>
          <a:xfrm>
            <a:off x="1417320" y="3035808"/>
            <a:ext cx="5349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3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Знания важны, но их надо применять</a:t>
            </a:r>
            <a:endParaRPr lang="en-US" sz="1230" dirty="0"/>
          </a:p>
        </p:txBody>
      </p:sp>
      <p:sp>
        <p:nvSpPr>
          <p:cNvPr id="24" name="fx9_2_7"/>
          <p:cNvSpPr/>
          <p:nvPr/>
        </p:nvSpPr>
        <p:spPr>
          <a:xfrm>
            <a:off x="1417320" y="3364992"/>
            <a:ext cx="5321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1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План, полный расчёт цены и пауза делают выбор заметнее.</a:t>
            </a:r>
            <a:endParaRPr lang="en-US" sz="1010" dirty="0"/>
          </a:p>
        </p:txBody>
      </p:sp>
      <p:sp>
        <p:nvSpPr>
          <p:cNvPr id="25" name="fx9_3_8"/>
          <p:cNvSpPr/>
          <p:nvPr/>
        </p:nvSpPr>
        <p:spPr>
          <a:xfrm>
            <a:off x="694944" y="3858768"/>
            <a:ext cx="6309360" cy="795528"/>
          </a:xfrm>
          <a:prstGeom prst="roundRect">
            <a:avLst>
              <a:gd name="adj" fmla="val 9195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E5B66A">
                <a:alpha val="24000"/>
              </a:srgbClr>
            </a:solidFill>
            <a:prstDash val="solid"/>
          </a:ln>
        </p:spPr>
      </p:sp>
      <p:sp>
        <p:nvSpPr>
          <p:cNvPr id="26" name="fx9_3_9"/>
          <p:cNvSpPr/>
          <p:nvPr/>
        </p:nvSpPr>
        <p:spPr>
          <a:xfrm>
            <a:off x="850392" y="4023360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5B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7" name="fx9_3_10"/>
          <p:cNvSpPr/>
          <p:nvPr/>
        </p:nvSpPr>
        <p:spPr>
          <a:xfrm>
            <a:off x="1417320" y="3968496"/>
            <a:ext cx="5349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3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Выводы должны выдерживать проверку</a:t>
            </a:r>
            <a:endParaRPr lang="en-US" sz="1230" dirty="0"/>
          </a:p>
        </p:txBody>
      </p:sp>
      <p:sp>
        <p:nvSpPr>
          <p:cNvPr id="28" name="fx9_3_11"/>
          <p:cNvSpPr/>
          <p:nvPr/>
        </p:nvSpPr>
        <p:spPr>
          <a:xfrm>
            <a:off x="1417320" y="4297680"/>
            <a:ext cx="5321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1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Сначала соберём ответы; только потом оценим гипотезы.</a:t>
            </a:r>
            <a:endParaRPr lang="en-US" sz="1010" dirty="0"/>
          </a:p>
        </p:txBody>
      </p:sp>
      <p:sp>
        <p:nvSpPr>
          <p:cNvPr id="29" name="fx9_8_12"/>
          <p:cNvSpPr/>
          <p:nvPr/>
        </p:nvSpPr>
        <p:spPr>
          <a:xfrm>
            <a:off x="694944" y="5175504"/>
            <a:ext cx="6309360" cy="768096"/>
          </a:xfrm>
          <a:prstGeom prst="roundRect">
            <a:avLst>
              <a:gd name="adj" fmla="val 9524"/>
            </a:avLst>
          </a:prstGeom>
          <a:solidFill>
            <a:srgbClr val="142233">
              <a:alpha val="97000"/>
            </a:srgbClr>
          </a:solidFill>
          <a:ln w="11430">
            <a:solidFill>
              <a:srgbClr val="F47D70">
                <a:alpha val="54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0" name="fx9_8_13"/>
          <p:cNvSpPr/>
          <p:nvPr/>
        </p:nvSpPr>
        <p:spPr>
          <a:xfrm>
            <a:off x="694944" y="5294376"/>
            <a:ext cx="50292" cy="530352"/>
          </a:xfrm>
          <a:prstGeom prst="rect">
            <a:avLst/>
          </a:prstGeom>
          <a:solidFill>
            <a:srgbClr val="F47D70"/>
          </a:solidFill>
          <a:ln/>
        </p:spPr>
      </p:sp>
      <p:sp>
        <p:nvSpPr>
          <p:cNvPr id="31" name="fx9_8_14"/>
          <p:cNvSpPr/>
          <p:nvPr/>
        </p:nvSpPr>
        <p:spPr>
          <a:xfrm>
            <a:off x="905256" y="5065776"/>
            <a:ext cx="1892808" cy="228600"/>
          </a:xfrm>
          <a:prstGeom prst="roundRect">
            <a:avLst>
              <a:gd name="adj" fmla="val 48000"/>
            </a:avLst>
          </a:prstGeom>
          <a:solidFill>
            <a:srgbClr val="F47D70"/>
          </a:solidFill>
          <a:ln/>
        </p:spPr>
      </p:sp>
      <p:sp>
        <p:nvSpPr>
          <p:cNvPr id="32" name="fx9_8_15"/>
          <p:cNvSpPr/>
          <p:nvPr/>
        </p:nvSpPr>
        <p:spPr>
          <a:xfrm>
            <a:off x="914400" y="5065776"/>
            <a:ext cx="1892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spc="110" kern="0" dirty="0">
                <a:solidFill>
                  <a:srgbClr val="0812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ЧЕСТНОЕ ОГРАНИЧЕНИЕ</a:t>
            </a:r>
            <a:endParaRPr lang="en-US" sz="780" dirty="0"/>
          </a:p>
        </p:txBody>
      </p:sp>
      <p:sp>
        <p:nvSpPr>
          <p:cNvPr id="33" name="fx9_8_16"/>
          <p:cNvSpPr/>
          <p:nvPr/>
        </p:nvSpPr>
        <p:spPr>
          <a:xfrm>
            <a:off x="941832" y="5266944"/>
            <a:ext cx="5870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7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Опрос ещё впереди. Эти рекомендации — проектный продукт, не доказанный эффект вмешательства.</a:t>
            </a:r>
            <a:endParaRPr lang="en-US" sz="1170" dirty="0"/>
          </a:p>
        </p:txBody>
      </p:sp>
      <p:sp>
        <p:nvSpPr>
          <p:cNvPr id="34" name="Text 28"/>
          <p:cNvSpPr/>
          <p:nvPr/>
        </p:nvSpPr>
        <p:spPr>
          <a:xfrm>
            <a:off x="694944" y="6108192"/>
            <a:ext cx="6583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spc="2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ОПОРА: ограничения: поперечный самоотчёт, небольшая выборка, отсутствие экспериментальной группы</a:t>
            </a:r>
            <a:endParaRPr lang="en-US" sz="83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timer">
                <a:extLst>
                  <a:ext uri="{FF2B5EF4-FFF2-40B4-BE49-F238E27FC236}">
                    <a16:creationId xmlns:a16="http://schemas.microsoft.com/office/drawing/2014/main" id="{9112BCFA-685A-F14E-667F-26A8EEACC0F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572000" y="1490472"/>
              <a:ext cx="4069080" cy="4069080"/>
            </p:xfrm>
            <a:graphic>
              <a:graphicData uri="http://schemas.microsoft.com/office/drawing/2017/model3d">
                <am3d:model3d r:embed="rIdM3d23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5539360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46831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720000" ay="-6480000" az="6000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timer">
                <a:extLst>
                  <a:ext uri="{FF2B5EF4-FFF2-40B4-BE49-F238E27FC236}">
                    <a16:creationId xmlns:a16="http://schemas.microsoft.com/office/drawing/2014/main" id="{9112BCFA-685A-F14E-667F-26A8EEACC0F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4572000" y="1490472"/>
                <a:ext cx="4069080" cy="406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books">
                <a:extLst>
                  <a:ext uri="{FF2B5EF4-FFF2-40B4-BE49-F238E27FC236}">
                    <a16:creationId xmlns:a16="http://schemas.microsoft.com/office/drawing/2014/main" id="{3DE54E89-FDEE-D7E1-D1B1-0CFAFF39F42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694615" y="2240280"/>
              <a:ext cx="2651760" cy="2651760"/>
            </p:xfrm>
            <a:graphic>
              <a:graphicData uri="http://schemas.microsoft.com/office/drawing/2017/model3d">
                <am3d:model3d r:embed="rIdM3d24">
                  <am3d:spPr>
                    <a:xfrm>
                      <a:off x="0" y="0"/>
                      <a:ext cx="2651760" cy="2651760"/>
                    </a:xfrm>
                    <a:prstGeom prst="rect">
                      <a:avLst/>
                    </a:prstGeom>
                  </am3d:spPr>
                  <am3d:camera>
                    <am3d:pos x="0" y="0" z="6675567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2104" d="1000000"/>
                    <am3d:preTrans dx="79514" dy="-9883400" dz="-1727303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3000000" az="120000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6517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books">
                <a:extLst>
                  <a:ext uri="{FF2B5EF4-FFF2-40B4-BE49-F238E27FC236}">
                    <a16:creationId xmlns:a16="http://schemas.microsoft.com/office/drawing/2014/main" id="{3DE54E89-FDEE-D7E1-D1B1-0CFAFF39F42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694615" y="2240280"/>
                <a:ext cx="2651760" cy="2651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1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0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10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rogress-track"/>
          <p:cNvSpPr/>
          <p:nvPr/>
        </p:nvSpPr>
        <p:spPr>
          <a:xfrm>
            <a:off x="694944" y="356616"/>
            <a:ext cx="10808208" cy="91"/>
          </a:xfrm>
          <a:prstGeom prst="line">
            <a:avLst/>
          </a:prstGeom>
          <a:noFill/>
          <a:ln w="1016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4" name="!!progress-fill"/>
          <p:cNvSpPr/>
          <p:nvPr/>
        </p:nvSpPr>
        <p:spPr>
          <a:xfrm>
            <a:off x="694944" y="342900"/>
            <a:ext cx="10808208" cy="27432"/>
          </a:xfrm>
          <a:prstGeom prst="rect">
            <a:avLst/>
          </a:prstGeom>
          <a:solidFill>
            <a:srgbClr val="59D7CC"/>
          </a:solidFill>
          <a:ln/>
        </p:spPr>
      </p:sp>
      <p:sp>
        <p:nvSpPr>
          <p:cNvPr id="5" name="!!progress-dot"/>
          <p:cNvSpPr/>
          <p:nvPr/>
        </p:nvSpPr>
        <p:spPr>
          <a:xfrm>
            <a:off x="11448288" y="301752"/>
            <a:ext cx="109728" cy="109728"/>
          </a:xfrm>
          <a:prstGeom prst="ellipse">
            <a:avLst/>
          </a:prstGeom>
          <a:solidFill>
            <a:srgbClr val="F47D70"/>
          </a:solidFill>
          <a:ln w="10160">
            <a:solidFill>
              <a:srgbClr val="F3F2EC">
                <a:alpha val="88000"/>
              </a:srgbClr>
            </a:solidFill>
            <a:prstDash val="solid"/>
          </a:ln>
        </p:spPr>
      </p:sp>
      <p:sp>
        <p:nvSpPr>
          <p:cNvPr id="6" name="kicker-10"/>
          <p:cNvSpPr/>
          <p:nvPr/>
        </p:nvSpPr>
        <p:spPr>
          <a:xfrm>
            <a:off x="694944" y="566928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30" kern="0" dirty="0">
                <a:solidFill>
                  <a:srgbClr val="B5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·  ИСТОЧНИКИ И ПРОВЕРЯЕМОСТЬ</a:t>
            </a:r>
            <a:endParaRPr lang="en-US" sz="950" dirty="0"/>
          </a:p>
        </p:txBody>
      </p:sp>
      <p:sp>
        <p:nvSpPr>
          <p:cNvPr id="7" name="!!footer-line"/>
          <p:cNvSpPr/>
          <p:nvPr/>
        </p:nvSpPr>
        <p:spPr>
          <a:xfrm>
            <a:off x="694944" y="6382512"/>
            <a:ext cx="10808208" cy="91"/>
          </a:xfrm>
          <a:prstGeom prst="line">
            <a:avLst/>
          </a:prstGeom>
          <a:noFill/>
          <a:ln w="889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-label"/>
          <p:cNvSpPr/>
          <p:nvPr/>
        </p:nvSpPr>
        <p:spPr>
          <a:xfrm>
            <a:off x="694944" y="64739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spc="135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ПОТРЕБИТЕЛЬСКОГО ВЫБОРА  ·  ИССЛЕДОВАТЕЛЬСКИЙ ПРОЕКТ</a:t>
            </a:r>
            <a:endParaRPr lang="en-US" sz="850" dirty="0"/>
          </a:p>
        </p:txBody>
      </p:sp>
      <p:sp>
        <p:nvSpPr>
          <p:cNvPr id="9" name="!!page-number"/>
          <p:cNvSpPr/>
          <p:nvPr/>
        </p:nvSpPr>
        <p:spPr>
          <a:xfrm>
            <a:off x="10543032" y="646480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160" kern="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  <p:sp>
        <p:nvSpPr>
          <p:cNvPr id="10" name="!!title"/>
          <p:cNvSpPr/>
          <p:nvPr/>
        </p:nvSpPr>
        <p:spPr>
          <a:xfrm>
            <a:off x="694944" y="96012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3100" dirty="0">
                <a:solidFill>
                  <a:srgbClr val="F3F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 чём основаны определения и гипотезы</a:t>
            </a:r>
            <a:endParaRPr lang="en-US" sz="3100" dirty="0"/>
          </a:p>
        </p:txBody>
      </p:sp>
      <p:sp>
        <p:nvSpPr>
          <p:cNvPr id="11" name="fx10_1_0"/>
          <p:cNvSpPr/>
          <p:nvPr/>
        </p:nvSpPr>
        <p:spPr>
          <a:xfrm>
            <a:off x="694944" y="1965960"/>
            <a:ext cx="3584448" cy="832104"/>
          </a:xfrm>
          <a:prstGeom prst="roundRect">
            <a:avLst>
              <a:gd name="adj" fmla="val 879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12" name="fx10_1_1"/>
          <p:cNvSpPr/>
          <p:nvPr/>
        </p:nvSpPr>
        <p:spPr>
          <a:xfrm>
            <a:off x="832104" y="20848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fx10_1_2"/>
          <p:cNvSpPr/>
          <p:nvPr/>
        </p:nvSpPr>
        <p:spPr>
          <a:xfrm>
            <a:off x="1170432" y="2075688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Rook, 1987</a:t>
            </a:r>
            <a:endParaRPr lang="en-US" sz="970" dirty="0"/>
          </a:p>
        </p:txBody>
      </p:sp>
      <p:sp>
        <p:nvSpPr>
          <p:cNvPr id="14" name="fx10_1_3"/>
          <p:cNvSpPr/>
          <p:nvPr/>
        </p:nvSpPr>
        <p:spPr>
          <a:xfrm>
            <a:off x="1170432" y="2322576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Buying Impulse. Journal of Consumer Research, 14(2).</a:t>
            </a:r>
            <a:endParaRPr lang="en-US" sz="900" dirty="0"/>
          </a:p>
        </p:txBody>
      </p:sp>
      <p:sp>
        <p:nvSpPr>
          <p:cNvPr id="15" name="fx10_2_4"/>
          <p:cNvSpPr/>
          <p:nvPr/>
        </p:nvSpPr>
        <p:spPr>
          <a:xfrm>
            <a:off x="694944" y="2916936"/>
            <a:ext cx="3584448" cy="832104"/>
          </a:xfrm>
          <a:prstGeom prst="roundRect">
            <a:avLst>
              <a:gd name="adj" fmla="val 879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16" name="fx10_2_5"/>
          <p:cNvSpPr/>
          <p:nvPr/>
        </p:nvSpPr>
        <p:spPr>
          <a:xfrm>
            <a:off x="832104" y="303580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fx10_2_6"/>
          <p:cNvSpPr/>
          <p:nvPr/>
        </p:nvSpPr>
        <p:spPr>
          <a:xfrm>
            <a:off x="1170432" y="3026664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Beatty &amp; Ferrell, 1998</a:t>
            </a:r>
            <a:endParaRPr lang="en-US" sz="970" dirty="0"/>
          </a:p>
        </p:txBody>
      </p:sp>
      <p:sp>
        <p:nvSpPr>
          <p:cNvPr id="18" name="fx10_2_7"/>
          <p:cNvSpPr/>
          <p:nvPr/>
        </p:nvSpPr>
        <p:spPr>
          <a:xfrm>
            <a:off x="1170432" y="3273552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Impulse buying: Modeling its precursors. Journal of Retailing, 74(2).</a:t>
            </a:r>
            <a:endParaRPr lang="en-US" sz="900" dirty="0"/>
          </a:p>
        </p:txBody>
      </p:sp>
      <p:sp>
        <p:nvSpPr>
          <p:cNvPr id="19" name="fx10_3_8"/>
          <p:cNvSpPr/>
          <p:nvPr/>
        </p:nvSpPr>
        <p:spPr>
          <a:xfrm>
            <a:off x="694944" y="3867912"/>
            <a:ext cx="3584448" cy="832104"/>
          </a:xfrm>
          <a:prstGeom prst="roundRect">
            <a:avLst>
              <a:gd name="adj" fmla="val 879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20" name="fx10_3_9"/>
          <p:cNvSpPr/>
          <p:nvPr/>
        </p:nvSpPr>
        <p:spPr>
          <a:xfrm>
            <a:off x="832104" y="398678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fx10_3_10"/>
          <p:cNvSpPr/>
          <p:nvPr/>
        </p:nvSpPr>
        <p:spPr>
          <a:xfrm>
            <a:off x="1170432" y="3977640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Verplanken &amp; Herabadi, 2001</a:t>
            </a:r>
            <a:endParaRPr lang="en-US" sz="970" dirty="0"/>
          </a:p>
        </p:txBody>
      </p:sp>
      <p:sp>
        <p:nvSpPr>
          <p:cNvPr id="22" name="fx10_3_11"/>
          <p:cNvSpPr/>
          <p:nvPr/>
        </p:nvSpPr>
        <p:spPr>
          <a:xfrm>
            <a:off x="1170432" y="4224528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differences in impulse buying tendency. European Journal of Personality, 15(S1).</a:t>
            </a:r>
            <a:endParaRPr lang="en-US" sz="900" dirty="0"/>
          </a:p>
        </p:txBody>
      </p:sp>
      <p:sp>
        <p:nvSpPr>
          <p:cNvPr id="23" name="fx10_4_12"/>
          <p:cNvSpPr/>
          <p:nvPr/>
        </p:nvSpPr>
        <p:spPr>
          <a:xfrm>
            <a:off x="694944" y="4818888"/>
            <a:ext cx="3584448" cy="832104"/>
          </a:xfrm>
          <a:prstGeom prst="roundRect">
            <a:avLst>
              <a:gd name="adj" fmla="val 879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24" name="fx10_4_13"/>
          <p:cNvSpPr/>
          <p:nvPr/>
        </p:nvSpPr>
        <p:spPr>
          <a:xfrm>
            <a:off x="832104" y="49377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fx10_4_14"/>
          <p:cNvSpPr/>
          <p:nvPr/>
        </p:nvSpPr>
        <p:spPr>
          <a:xfrm>
            <a:off x="1170432" y="4928616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Rook &amp; Fisher, 1995</a:t>
            </a:r>
            <a:endParaRPr lang="en-US" sz="970" dirty="0"/>
          </a:p>
        </p:txBody>
      </p:sp>
      <p:sp>
        <p:nvSpPr>
          <p:cNvPr id="26" name="fx10_4_15"/>
          <p:cNvSpPr/>
          <p:nvPr/>
        </p:nvSpPr>
        <p:spPr>
          <a:xfrm>
            <a:off x="1170432" y="5175504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influences on impulsive buying behavior. Journal of Consumer Research, 22(3).</a:t>
            </a:r>
            <a:endParaRPr lang="en-US" sz="900" dirty="0"/>
          </a:p>
        </p:txBody>
      </p:sp>
      <p:sp>
        <p:nvSpPr>
          <p:cNvPr id="27" name="fx10_1_16"/>
          <p:cNvSpPr/>
          <p:nvPr/>
        </p:nvSpPr>
        <p:spPr>
          <a:xfrm>
            <a:off x="4480560" y="1965960"/>
            <a:ext cx="3584448" cy="832104"/>
          </a:xfrm>
          <a:prstGeom prst="roundRect">
            <a:avLst>
              <a:gd name="adj" fmla="val 879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28" name="fx10_1_17"/>
          <p:cNvSpPr/>
          <p:nvPr/>
        </p:nvSpPr>
        <p:spPr>
          <a:xfrm>
            <a:off x="4617720" y="20848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fx10_1_18"/>
          <p:cNvSpPr/>
          <p:nvPr/>
        </p:nvSpPr>
        <p:spPr>
          <a:xfrm>
            <a:off x="4956048" y="2075688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Przybylski et al., 2013</a:t>
            </a:r>
            <a:endParaRPr lang="en-US" sz="970" dirty="0"/>
          </a:p>
        </p:txBody>
      </p:sp>
      <p:sp>
        <p:nvSpPr>
          <p:cNvPr id="30" name="fx10_1_19"/>
          <p:cNvSpPr/>
          <p:nvPr/>
        </p:nvSpPr>
        <p:spPr>
          <a:xfrm>
            <a:off x="4956048" y="2322576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Motivational, emotional, and behavioral correlates of FOMO. Computers in Human Behavior, 29(4).</a:t>
            </a:r>
            <a:endParaRPr lang="en-US" sz="900" dirty="0"/>
          </a:p>
        </p:txBody>
      </p:sp>
      <p:sp>
        <p:nvSpPr>
          <p:cNvPr id="31" name="fx10_2_20"/>
          <p:cNvSpPr/>
          <p:nvPr/>
        </p:nvSpPr>
        <p:spPr>
          <a:xfrm>
            <a:off x="4480560" y="2916936"/>
            <a:ext cx="3584448" cy="832104"/>
          </a:xfrm>
          <a:prstGeom prst="roundRect">
            <a:avLst>
              <a:gd name="adj" fmla="val 879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F47D70">
                <a:alpha val="16000"/>
              </a:srgbClr>
            </a:solidFill>
            <a:prstDash val="solid"/>
          </a:ln>
        </p:spPr>
      </p:sp>
      <p:sp>
        <p:nvSpPr>
          <p:cNvPr id="32" name="fx10_2_21"/>
          <p:cNvSpPr/>
          <p:nvPr/>
        </p:nvSpPr>
        <p:spPr>
          <a:xfrm>
            <a:off x="4617720" y="303580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47D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fx10_2_22"/>
          <p:cNvSpPr/>
          <p:nvPr/>
        </p:nvSpPr>
        <p:spPr>
          <a:xfrm>
            <a:off x="4956048" y="3026664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Soman, 2001</a:t>
            </a:r>
            <a:endParaRPr lang="en-US" sz="970" dirty="0"/>
          </a:p>
        </p:txBody>
      </p:sp>
      <p:sp>
        <p:nvSpPr>
          <p:cNvPr id="34" name="fx10_2_23"/>
          <p:cNvSpPr/>
          <p:nvPr/>
        </p:nvSpPr>
        <p:spPr>
          <a:xfrm>
            <a:off x="4956048" y="3273552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Effects of payment mechanism on spending behavior. Journal of Consumer Research, 27(4).</a:t>
            </a:r>
            <a:endParaRPr lang="en-US" sz="900" dirty="0"/>
          </a:p>
        </p:txBody>
      </p:sp>
      <p:sp>
        <p:nvSpPr>
          <p:cNvPr id="35" name="fx10_3_24"/>
          <p:cNvSpPr/>
          <p:nvPr/>
        </p:nvSpPr>
        <p:spPr>
          <a:xfrm>
            <a:off x="4480560" y="3867912"/>
            <a:ext cx="3584448" cy="832104"/>
          </a:xfrm>
          <a:prstGeom prst="roundRect">
            <a:avLst>
              <a:gd name="adj" fmla="val 879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36" name="fx10_3_25"/>
          <p:cNvSpPr/>
          <p:nvPr/>
        </p:nvSpPr>
        <p:spPr>
          <a:xfrm>
            <a:off x="4617720" y="398678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fx10_3_26"/>
          <p:cNvSpPr/>
          <p:nvPr/>
        </p:nvSpPr>
        <p:spPr>
          <a:xfrm>
            <a:off x="4956048" y="3977640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Tversky &amp; Kahneman, 1974</a:t>
            </a:r>
            <a:endParaRPr lang="en-US" sz="970" dirty="0"/>
          </a:p>
        </p:txBody>
      </p:sp>
      <p:sp>
        <p:nvSpPr>
          <p:cNvPr id="38" name="fx10_3_27"/>
          <p:cNvSpPr/>
          <p:nvPr/>
        </p:nvSpPr>
        <p:spPr>
          <a:xfrm>
            <a:off x="4956048" y="4224528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Judgment under uncertainty: Heuristics and biases. Science, 185(4157).</a:t>
            </a:r>
            <a:endParaRPr lang="en-US" sz="900" dirty="0"/>
          </a:p>
        </p:txBody>
      </p:sp>
      <p:sp>
        <p:nvSpPr>
          <p:cNvPr id="39" name="fx10_4_28"/>
          <p:cNvSpPr/>
          <p:nvPr/>
        </p:nvSpPr>
        <p:spPr>
          <a:xfrm>
            <a:off x="4480560" y="4818888"/>
            <a:ext cx="3584448" cy="832104"/>
          </a:xfrm>
          <a:prstGeom prst="roundRect">
            <a:avLst>
              <a:gd name="adj" fmla="val 8791"/>
            </a:avLst>
          </a:prstGeom>
          <a:solidFill>
            <a:srgbClr val="111B28">
              <a:alpha val="92000"/>
            </a:srgbClr>
          </a:solidFill>
          <a:ln w="9525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40" name="fx10_4_29"/>
          <p:cNvSpPr/>
          <p:nvPr/>
        </p:nvSpPr>
        <p:spPr>
          <a:xfrm>
            <a:off x="4617720" y="493776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9D7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300" dirty="0"/>
          </a:p>
        </p:txBody>
      </p:sp>
      <p:sp>
        <p:nvSpPr>
          <p:cNvPr id="41" name="fx10_4_30"/>
          <p:cNvSpPr/>
          <p:nvPr/>
        </p:nvSpPr>
        <p:spPr>
          <a:xfrm>
            <a:off x="4956048" y="4928616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0" b="1" dirty="0">
                <a:solidFill>
                  <a:srgbClr val="F3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Thaler, 1999</a:t>
            </a:r>
            <a:endParaRPr lang="en-US" sz="970" dirty="0"/>
          </a:p>
        </p:txBody>
      </p:sp>
      <p:sp>
        <p:nvSpPr>
          <p:cNvPr id="42" name="fx10_4_31"/>
          <p:cNvSpPr/>
          <p:nvPr/>
        </p:nvSpPr>
        <p:spPr>
          <a:xfrm>
            <a:off x="4956048" y="5175504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accounting matters. Journal of Behavioral Decision Making, 12(3).</a:t>
            </a:r>
            <a:endParaRPr lang="en-US" sz="900" dirty="0"/>
          </a:p>
        </p:txBody>
      </p:sp>
      <p:pic>
        <p:nvPicPr>
          <p:cNvPr id="43" name="glow-10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8901" y="1602029"/>
            <a:ext cx="3288182" cy="3288182"/>
          </a:xfrm>
          <a:prstGeom prst="rect">
            <a:avLst/>
          </a:prstGeom>
        </p:spPr>
      </p:pic>
      <p:sp>
        <p:nvSpPr>
          <p:cNvPr id="44" name="ring-in-10"/>
          <p:cNvSpPr/>
          <p:nvPr/>
        </p:nvSpPr>
        <p:spPr>
          <a:xfrm>
            <a:off x="8923630" y="1946758"/>
            <a:ext cx="2598725" cy="2598725"/>
          </a:xfrm>
          <a:prstGeom prst="ellipse">
            <a:avLst/>
          </a:prstGeom>
          <a:ln w="8890">
            <a:solidFill>
              <a:srgbClr val="59D7CC">
                <a:alpha val="16000"/>
              </a:srgbClr>
            </a:solidFill>
            <a:prstDash val="solid"/>
          </a:ln>
        </p:spPr>
      </p:sp>
      <p:sp>
        <p:nvSpPr>
          <p:cNvPr id="45" name="ring-out-10"/>
          <p:cNvSpPr/>
          <p:nvPr/>
        </p:nvSpPr>
        <p:spPr>
          <a:xfrm>
            <a:off x="8605418" y="1628546"/>
            <a:ext cx="3235147" cy="3235147"/>
          </a:xfrm>
          <a:prstGeom prst="ellipse">
            <a:avLst/>
          </a:prstGeom>
          <a:ln w="8890">
            <a:solidFill>
              <a:srgbClr val="E5B66A">
                <a:alpha val="9000"/>
              </a:srgbClr>
            </a:solidFill>
            <a:prstDash val="dash"/>
          </a:ln>
        </p:spPr>
      </p:sp>
      <p:pic>
        <p:nvPicPr>
          <p:cNvPr id="46" name="shadow-10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8358" y="3909060"/>
            <a:ext cx="1909267" cy="47731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!!m-books">
                <a:extLst>
                  <a:ext uri="{FF2B5EF4-FFF2-40B4-BE49-F238E27FC236}">
                    <a16:creationId xmlns:a16="http://schemas.microsoft.com/office/drawing/2014/main" id="{88498F00-DB0F-BF98-FD9D-F337BA7195F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897112" y="1920240"/>
              <a:ext cx="2651760" cy="2651760"/>
            </p:xfrm>
            <a:graphic>
              <a:graphicData uri="http://schemas.microsoft.com/office/drawing/2017/model3d">
                <am3d:model3d r:embed="rIdM3d25">
                  <am3d:spPr>
                    <a:xfrm>
                      <a:off x="0" y="0"/>
                      <a:ext cx="2651760" cy="2651760"/>
                    </a:xfrm>
                    <a:prstGeom prst="rect">
                      <a:avLst/>
                    </a:prstGeom>
                  </am3d:spPr>
                  <am3d:camera>
                    <am3d:pos x="0" y="0" z="6675567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2104" d="1000000"/>
                    <am3d:preTrans dx="79514" dy="-9883400" dz="-1727303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-1680000" az="12000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6517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!!m-books">
                <a:extLst>
                  <a:ext uri="{FF2B5EF4-FFF2-40B4-BE49-F238E27FC236}">
                    <a16:creationId xmlns:a16="http://schemas.microsoft.com/office/drawing/2014/main" id="{88498F00-DB0F-BF98-FD9D-F337BA7195F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897112" y="1920240"/>
                <a:ext cx="2651760" cy="2651760"/>
              </a:xfrm>
              <a:prstGeom prst="rect">
                <a:avLst/>
              </a:prstGeom>
            </p:spPr>
          </p:pic>
        </mc:Fallback>
      </mc:AlternateContent>
      <p:sp>
        <p:nvSpPr>
          <p:cNvPr id="48" name="Text 42"/>
          <p:cNvSpPr/>
          <p:nvPr/>
        </p:nvSpPr>
        <p:spPr>
          <a:xfrm>
            <a:off x="8485632" y="470001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spc="155" kern="0" dirty="0">
                <a:solidFill>
                  <a:srgbClr val="59D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ОБЪЁМНЫЙ ЭКСПОНАТ  10</a:t>
            </a:r>
            <a:endParaRPr lang="en-US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Проверяемая база проекта</a:t>
            </a:r>
            <a:endParaRPr lang="en-US" sz="900" dirty="0"/>
          </a:p>
        </p:txBody>
      </p:sp>
      <p:sp>
        <p:nvSpPr>
          <p:cNvPr id="49" name="Text 43"/>
          <p:cNvSpPr/>
          <p:nvPr/>
        </p:nvSpPr>
        <p:spPr>
          <a:xfrm>
            <a:off x="694944" y="5879592"/>
            <a:ext cx="7635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dirty="0">
                <a:solidFill>
                  <a:srgbClr val="A8B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Полные DOI, список фактов по слайдам и редакторские примечания — в файле источников.</a:t>
            </a:r>
            <a:endParaRPr lang="en-US" sz="92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0" name="!!m-bag">
                <a:extLst>
                  <a:ext uri="{FF2B5EF4-FFF2-40B4-BE49-F238E27FC236}">
                    <a16:creationId xmlns:a16="http://schemas.microsoft.com/office/drawing/2014/main" id="{1993642D-B6E3-FD60-6DED-B0C5033F65B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572000" y="1490472"/>
              <a:ext cx="4069080" cy="4069080"/>
            </p:xfrm>
            <a:graphic>
              <a:graphicData uri="http://schemas.microsoft.com/office/drawing/2017/model3d">
                <am3d:model3d r:embed="rIdM3d26">
                  <am3d:spPr>
                    <a:xfrm>
                      <a:off x="0" y="0"/>
                      <a:ext cx="4069080" cy="4069080"/>
                    </a:xfrm>
                    <a:prstGeom prst="rect">
                      <a:avLst/>
                    </a:prstGeom>
                  </am3d:spPr>
                  <am3d:camera>
                    <am3d:pos x="0" y="0" z="633605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56625" d="1000000"/>
                    <am3d:preTrans dx="0" dy="-2474055" dz="-1879457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6420000" az="-12000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069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0" name="!!m-bag">
                <a:extLst>
                  <a:ext uri="{FF2B5EF4-FFF2-40B4-BE49-F238E27FC236}">
                    <a16:creationId xmlns:a16="http://schemas.microsoft.com/office/drawing/2014/main" id="{1993642D-B6E3-FD60-6DED-B0C5033F65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4572000" y="1490472"/>
                <a:ext cx="4069080" cy="4069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27" grpId="0" animBg="1"/>
      <p:bldP spid="28" grpId="0" animBg="1"/>
      <p:bldP spid="29" grpId="0" animBg="1"/>
      <p:bldP spid="30" grpId="0" animBg="1"/>
      <p:bldP spid="15" grpId="0" animBg="1"/>
      <p:bldP spid="16" grpId="0" animBg="1"/>
      <p:bldP spid="17" grpId="0" animBg="1"/>
      <p:bldP spid="18" grpId="0" animBg="1"/>
      <p:bldP spid="31" grpId="0" animBg="1"/>
      <p:bldP spid="32" grpId="0" animBg="1"/>
      <p:bldP spid="33" grpId="0" animBg="1"/>
      <p:bldP spid="34" grpId="0" animBg="1"/>
      <p:bldP spid="19" grpId="0" animBg="1"/>
      <p:bldP spid="20" grpId="0" animBg="1"/>
      <p:bldP spid="21" grpId="0" animBg="1"/>
      <p:bldP spid="22" grpId="0" animBg="1"/>
      <p:bldP spid="35" grpId="0" animBg="1"/>
      <p:bldP spid="36" grpId="0" animBg="1"/>
      <p:bldP spid="37" grpId="0" animBg="1"/>
      <p:bldP spid="38" grpId="0" animBg="1"/>
      <p:bldP spid="23" grpId="0" animBg="1"/>
      <p:bldP spid="24" grpId="0" animBg="1"/>
      <p:bldP spid="25" grpId="0" animBg="1"/>
      <p:bldP spid="26" grpId="0" animBg="1"/>
      <p:bldP spid="39" grpId="0" animBg="1"/>
      <p:bldP spid="40" grpId="0" animBg="1"/>
      <p:bldP spid="41" grpId="0" animBg="1"/>
      <p:bldP spid="4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Почему мы покупаем ненужное? — 3D-презентация</dc:title>
  <dc:subject>Психология импульсивных трат; план исследования среди студентов</dc:subject>
  <dc:creator>MyWorkAiBrain</dc:creator>
  <cp:lastModifiedBy>MyWorkAiBrain</cp:lastModifiedBy>
  <cp:revision>1</cp:revision>
  <dcterms:created xsi:type="dcterms:W3CDTF">2026-10-11T19:37:36Z</dcterms:created>
  <dcterms:modified xsi:type="dcterms:W3CDTF">2026-10-11T19:37:36Z</dcterms:modified>
</cp:coreProperties>
</file>