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главный герой — каштан. В исходной презентации он уже был рядом с мемами о покупках; теперь это сквозной персонаж, который каждый раз собирается «только посмотреть». Сам проект — о психологии импульсивных трат у студентов 18–25 лет. Это план исследования, а не результаты уже проведённого опроса. Мемы помогают узнать ситуации, но не служат доказательствами.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ленте путь от сигнала до оплаты может состоять из нескольких простых действий: человек замечает предложение, чувствует желание купить и оплачивает. Push-уведомление, сохранённая карта и рассрочка могут сократить паузу. Это описание возможного механизма, а не утверждение, что интерфейс заставляет каждого тратить больше. В исходном мем-коллаже была шутка про покупки при остатке 106 рублей; она иллюстрирует знакомое переживание, но не измеряет поведение.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Рабочее определение: импульсивная покупка — незапланированное решение купить, сопровождаемое сильным желанием сделать это немедленно. Это не диагноз и не характеристика «плохого человека». Нужно различать ситуативный порыв и более устойчивую склонность к импульсивным покупкам. Мемы про дофамин и серотонин — часть разговорного юмора; они не заменяют научное объяснение и не используются как измерения.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анкете можно проверить четыре группы сигналов: FOMO и ограниченные предложения; социальное сравнение; якорение на зачёркнутой цене; удобство оплаты. Они не действуют одинаково на всех, поэтому в презентации это не «кнопки управления человеком», а возможные факторы. Оригинальная картинка с двумя банками — смешная метафора того, как деньги мысленно раскладываются по разным категориям; она не является исследовательским результатом.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Рассрочка дробит отображение платежа, но не обязательно уменьшает итоговую стоимость. Пример 12 000 рублей = четыре раза по 3 000 рублей — только условная арифметика, не тариф конкретного сервиса. Перед согласием важно сложить платежи, проверить комиссии, даты, просрочку и правила возврата. Картинка «С вас списано 100 рублей» — мем из исходника, а не доказательство частоты списаний или долгов.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изучить связи психологических факторов с незапланированными тратами и разработать памятку. Целевая группа проекта — студенты вузов 18–25 лет. H1 предполагает связь FOMO и импульсивности с более частыми незапланированными покупками и использованием рассрочки; H2 — связь социального сравнения со статусными покупками; H3 — возможную связь финансовой грамотности с меньшим риском, без обещания полной защиты. Каштан здесь только маскот, он не участник выборки. Все гипотезы ещё нужно проверять.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Предлагается добровольная анонимная онлайн-анкета для не менее чем 50 студентов 18–25 лет. Вопросы касаются частоты незапланированных покупок за 30 дней, FOMO и социального сравнения, использования BNPL и бюджетных навыков. Сначала рассчитываются описательные показатели, затем — ранговая корреляция Спирмена для порядковых ответов. Это план: результаты ещё не собраны. Небольшая выборка самоотчётов не позволяет автоматически обобщать выводы на всех студентов или доказывать причинность.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Памятка — практическая идея проекта, а не доказанный эффект. Перед несрочной покупкой можно выдержать паузу, проверить полную сумму и спросить себя, была ли вещь в плане. Для рассрочки нужно сверить все даты и условия; рекламные уведомления можно отключить, а карту не сохранять. Цель не в стыде или тотальном запрете, а в том, чтобы вернуть себе время на выбор. Оригинальный мем про «инвестицию в серотонин» здесь только шутливая иллюстрация, не медицинский тезис.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Импульсивная покупка — не моральный дефект и не автоматический результат одного рекламного приёма. На неё могут быть связаны и личные привычки, и ситуация, и то, как показана цена. Но у проекта есть ограничения: поперечный опрос не показывает причинность; самоотчёты могут быть неточными; небольшая выборка студентов не представляет всех людей. Мем делает ситуацию узнаваемой, но только собранные данные могут ответить на исследовательский 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— научные работы о порыве к покупке, индивидуальной склонности, социальных нормах, FOMO, оплате и эвристиках. Полные библиографические данные и карта тезисов по слайдам приведены в exports/impulse-buying-3d-sources.md. Каштан и мемы — визуальная рамка, не источник фактов и не участники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3" Type="http://schemas.microsoft.com/office/2017/06/relationships/model3d" Target="../media/model3d3.glb"/><Relationship Id="rIdM3d4" Type="http://schemas.microsoft.com/office/2017/06/relationships/model3d" Target="../media/model3d4.glb"/><Relationship Id="rIdM3d5" Type="http://schemas.microsoft.com/office/2017/06/relationships/model3d" Target="../media/model3d5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3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M3d6" Type="http://schemas.microsoft.com/office/2017/06/relationships/model3d" Target="../media/model3d6.glb"/><Relationship Id="rIdM3d7" Type="http://schemas.microsoft.com/office/2017/06/relationships/model3d" Target="../media/model3d7.glb"/><Relationship Id="rIdM3d8" Type="http://schemas.microsoft.com/office/2017/06/relationships/model3d" Target="../media/model3d8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6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M3d15" Type="http://schemas.microsoft.com/office/2017/06/relationships/model3d" Target="../media/model3d15.glb"/><Relationship Id="rIdM3d16" Type="http://schemas.microsoft.com/office/2017/06/relationships/model3d" Target="../media/model3d16.glb"/><Relationship Id="rIdM3d17" Type="http://schemas.microsoft.com/office/2017/06/relationships/model3d" Target="../media/model3d17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7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Relationship Id="rIdM3d18" Type="http://schemas.microsoft.com/office/2017/06/relationships/model3d" Target="../media/model3d18.glb"/><Relationship Id="rIdM3d19" Type="http://schemas.microsoft.com/office/2017/06/relationships/model3d" Target="../media/model3d19.glb"/><Relationship Id="rIdM3d20" Type="http://schemas.microsoft.com/office/2017/06/relationships/model3d" Target="../media/model3d20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9-4.png"/><Relationship Id="rId5" Type="http://schemas.openxmlformats.org/officeDocument/2006/relationships/image" Target="../media/image-1-6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0-4.png"/><Relationship Id="rId5" Type="http://schemas.openxmlformats.org/officeDocument/2006/relationships/image" Target="../media/image-1-2.jpe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Relationship Id="rIdM3d27" Type="http://schemas.microsoft.com/office/2017/06/relationships/model3d" Target="../media/model3d27.glb"/><Relationship Id="rIdM3d28" Type="http://schemas.microsoft.com/office/2017/06/relationships/model3d" Target="../media/model3d28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1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МЕМНЫЙ ИССЛЕДОВАТЕЛЬСКИЙ ПЛАН · ИМПУЛЬСИВНЫЕ ТРАТЫ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1080821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736092" y="1065276"/>
            <a:ext cx="2578608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944" y="1014984"/>
            <a:ext cx="2578608" cy="310896"/>
          </a:xfrm>
          <a:prstGeom prst="roundRect">
            <a:avLst>
              <a:gd name="adj" fmla="val 7353"/>
            </a:avLst>
          </a:prstGeom>
          <a:solidFill>
            <a:srgbClr val="2E70B7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1028700"/>
            <a:ext cx="245059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Я: ЗА ОДНИМ КАШТАНОМ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94944" y="2843784"/>
            <a:ext cx="4389120" cy="45720"/>
          </a:xfrm>
          <a:custGeom>
            <a:avLst/>
            <a:gdLst/>
            <a:ahLst/>
            <a:cxnLst/>
            <a:rect l="l" t="t" r="r" b="b"/>
            <a:pathLst>
              <a:path w="4389120" h="45720">
                <a:moveTo>
                  <a:pt x="0" y="9144"/>
                </a:moveTo>
                <a:lnTo>
                  <a:pt x="1228954" y="45720"/>
                </a:lnTo>
                <a:lnTo>
                  <a:pt x="2721254" y="0"/>
                </a:lnTo>
                <a:lnTo>
                  <a:pt x="438912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1444752"/>
            <a:ext cx="6172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4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Я ТОЛЬКО</a:t>
            </a:r>
            <a:endParaRPr lang="en-US" sz="44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44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ПОСМОТРЮ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694944" y="30723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Психология импульсивных трат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4944" y="3502152"/>
            <a:ext cx="6217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Мемный исследовательский план · студенты 18–25 лет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868680" y="4105656"/>
            <a:ext cx="3200400" cy="1993392"/>
          </a:xfrm>
          <a:prstGeom prst="roundRect">
            <a:avLst>
              <a:gd name="adj" fmla="val 2064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" y="4041648"/>
            <a:ext cx="3200400" cy="1993392"/>
          </a:xfrm>
          <a:prstGeom prst="roundRect">
            <a:avLst>
              <a:gd name="adj" fmla="val 2064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82396" y="4119372"/>
            <a:ext cx="3044952" cy="1459200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26" name="original-meme-chestnut" descr="/home/user/MyWorkAiBrain/presentations/impulse/assets/memes/chestnut-phot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02" y="4119372"/>
            <a:ext cx="2183341" cy="1459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82396" y="5578572"/>
            <a:ext cx="3044952" cy="378744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28" name="Text 24"/>
          <p:cNvSpPr/>
          <p:nvPr/>
        </p:nvSpPr>
        <p:spPr>
          <a:xfrm>
            <a:off x="937260" y="5601432"/>
            <a:ext cx="2935224" cy="34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КАШТАН: «Я ТОЛЬКО ПОСМОТРЕТЬ»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4343400" y="4306824"/>
            <a:ext cx="3063240" cy="1371600"/>
          </a:xfrm>
          <a:prstGeom prst="roundRect">
            <a:avLst>
              <a:gd name="adj" fmla="val 3000"/>
            </a:avLst>
          </a:prstGeom>
          <a:solidFill>
            <a:srgbClr val="2E70B7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79392" y="4242816"/>
            <a:ext cx="3063240" cy="1371600"/>
          </a:xfrm>
          <a:prstGeom prst="roundRect">
            <a:avLst>
              <a:gd name="adj" fmla="val 300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457700" y="4174236"/>
            <a:ext cx="1234440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416552" y="4123944"/>
            <a:ext cx="1234440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480560" y="4137660"/>
            <a:ext cx="110642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СТАТУС: ПЛАН</a:t>
            </a:r>
            <a:endParaRPr lang="en-US" sz="720" dirty="0"/>
          </a:p>
        </p:txBody>
      </p:sp>
      <p:sp>
        <p:nvSpPr>
          <p:cNvPr id="34" name="Text 30"/>
          <p:cNvSpPr/>
          <p:nvPr/>
        </p:nvSpPr>
        <p:spPr>
          <a:xfrm>
            <a:off x="4462272" y="4434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1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Проверяем, что связано с незапланированными покупками. Гипотезы — не готовые результаты.</a:t>
            </a:r>
            <a:endParaRPr lang="en-US" sz="1110" dirty="0"/>
          </a:p>
        </p:txBody>
      </p:sp>
      <p:pic>
        <p:nvPicPr>
          <p:cNvPr id="35" name="burst-1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852678"/>
            <a:ext cx="4320540" cy="432054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7840980" y="1330452"/>
            <a:ext cx="3511296" cy="3511296"/>
          </a:xfrm>
          <a:prstGeom prst="roundRect">
            <a:avLst>
              <a:gd name="adj" fmla="val 1172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776972" y="1266444"/>
            <a:ext cx="3511296" cy="3511296"/>
          </a:xfrm>
          <a:prstGeom prst="roundRect">
            <a:avLst>
              <a:gd name="adj" fmla="val 1172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8" name="paper-shadow-1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3973068"/>
            <a:ext cx="2468880" cy="6172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hestnut">
                <a:extLst>
                  <a:ext uri="{FF2B5EF4-FFF2-40B4-BE49-F238E27FC236}">
                    <a16:creationId xmlns:a16="http://schemas.microsoft.com/office/drawing/2014/main" id="{96BC53E7-D860-65D4-CE59-01775F01A0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18120" y="1298448"/>
              <a:ext cx="3429000" cy="342900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3429000" cy="3429000"/>
                    </a:xfrm>
                    <a:prstGeom prst="rect">
                      <a:avLst/>
                    </a:prstGeom>
                  </am3d:spPr>
                  <am3d:camera>
                    <am3d:pos x="0" y="0" z="710509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349" d="1000000"/>
                    <am3d:preTrans dx="-11471" dy="-1712105" dz="-80306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2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429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hestnut">
                <a:extLst>
                  <a:ext uri="{FF2B5EF4-FFF2-40B4-BE49-F238E27FC236}">
                    <a16:creationId xmlns:a16="http://schemas.microsoft.com/office/drawing/2014/main" id="{96BC53E7-D860-65D4-CE59-01775F01A0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8120" y="1298448"/>
                <a:ext cx="3429000" cy="34290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Shape 33"/>
          <p:cNvSpPr/>
          <p:nvPr/>
        </p:nvSpPr>
        <p:spPr>
          <a:xfrm>
            <a:off x="7502652" y="5033772"/>
            <a:ext cx="397764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461504" y="4983480"/>
            <a:ext cx="397764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525512" y="4997196"/>
            <a:ext cx="3849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— МАСКОТ. НЕ УЧАСТНИК ВЫБОРКИ.</a:t>
            </a:r>
            <a:endParaRPr lang="en-US" sz="770" dirty="0"/>
          </a:p>
        </p:txBody>
      </p:sp>
      <p:sp>
        <p:nvSpPr>
          <p:cNvPr id="43" name="Text 36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проектная рамка; теоретическая основа [1–3]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phone">
                <a:extLst>
                  <a:ext uri="{FF2B5EF4-FFF2-40B4-BE49-F238E27FC236}">
                    <a16:creationId xmlns:a16="http://schemas.microsoft.com/office/drawing/2014/main" id="{E23ED0B6-D7BA-8A4B-5343-C0D96CBEA3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581912"/>
              <a:ext cx="3154680" cy="315468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2880000" az="12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phone">
                <a:extLst>
                  <a:ext uri="{FF2B5EF4-FFF2-40B4-BE49-F238E27FC236}">
                    <a16:creationId xmlns:a16="http://schemas.microsoft.com/office/drawing/2014/main" id="{E23ED0B6-D7BA-8A4B-5343-C0D96CBEA3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615" y="1581912"/>
                <a:ext cx="3154680" cy="315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2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· ОТ СИГНАЛА ДО КЛИКА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2161642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400300" cy="45720"/>
          </a:xfrm>
          <a:custGeom>
            <a:avLst/>
            <a:gdLst/>
            <a:ahLst/>
            <a:cxnLst/>
            <a:rect l="l" t="t" r="r" b="b"/>
            <a:pathLst>
              <a:path w="2400300" h="45720">
                <a:moveTo>
                  <a:pt x="0" y="9144"/>
                </a:moveTo>
                <a:lnTo>
                  <a:pt x="672084" y="45720"/>
                </a:lnTo>
                <a:lnTo>
                  <a:pt x="1488186" y="0"/>
                </a:lnTo>
                <a:lnTo>
                  <a:pt x="240030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ТРИ КЛИКА — И КАШТАН УЖЕ В КОРЗИНЕ?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813816" y="2167128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2103120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96112" y="22494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· УВИДЕЛ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96112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· реклама · тренд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2752344" y="24231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026664" y="2167128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62656" y="2103120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108960" y="22494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35" kern="0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· ЗАХОТЕЛ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10896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срочно? красиво? у всех?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4965192" y="24231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239512" y="2167128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75504" y="2103120"/>
            <a:ext cx="1965960" cy="1024128"/>
          </a:xfrm>
          <a:prstGeom prst="roundRect">
            <a:avLst>
              <a:gd name="adj" fmla="val 40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321808" y="22494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· ОПЛАТИЛ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21808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сохранена · BNPL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832104" y="3520440"/>
            <a:ext cx="6446520" cy="658368"/>
          </a:xfrm>
          <a:prstGeom prst="roundRect">
            <a:avLst>
              <a:gd name="adj" fmla="val 6250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8096" y="3456432"/>
            <a:ext cx="6446520" cy="658368"/>
          </a:xfrm>
          <a:prstGeom prst="roundRect">
            <a:avLst>
              <a:gd name="adj" fmla="val 625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46404" y="3387852"/>
            <a:ext cx="2057400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5256" y="3337560"/>
            <a:ext cx="2057400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9264" y="3351276"/>
            <a:ext cx="192938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МЕХАНИЗМ ≠ ДОКАЗАТЕЛЬСТВО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950976" y="3648456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6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трения может означать меньше пауз. Насколько это связано с тратами студентов — проверим опросом.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896112" y="4416552"/>
            <a:ext cx="3401568" cy="1746504"/>
          </a:xfrm>
          <a:prstGeom prst="roundRect">
            <a:avLst>
              <a:gd name="adj" fmla="val 2356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104" y="4352544"/>
            <a:ext cx="3401568" cy="1746504"/>
          </a:xfrm>
          <a:prstGeom prst="roundRect">
            <a:avLst>
              <a:gd name="adj" fmla="val 2356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09828" y="4430268"/>
            <a:ext cx="3246120" cy="1259220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41" name="original-meme-budget106" descr="/home/user/MyWorkAiBrain/presentations/impulse/assets/memes/meme-106-ruble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65" y="4430268"/>
            <a:ext cx="1560246" cy="1259220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909828" y="5689488"/>
            <a:ext cx="3246120" cy="331836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43" name="Text 39"/>
          <p:cNvSpPr/>
          <p:nvPr/>
        </p:nvSpPr>
        <p:spPr>
          <a:xfrm>
            <a:off x="964692" y="5712348"/>
            <a:ext cx="313639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«Я ТОЛЬКО ОТКРЫЛ МАРКЕТПЛЕЙС»</a:t>
            </a:r>
            <a:endParaRPr lang="en-US" sz="740" dirty="0"/>
          </a:p>
        </p:txBody>
      </p:sp>
      <p:pic>
        <p:nvPicPr>
          <p:cNvPr id="44" name="burst-2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740" y="851764"/>
            <a:ext cx="3974897" cy="3974897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7950708" y="1293876"/>
            <a:ext cx="3236976" cy="3236976"/>
          </a:xfrm>
          <a:prstGeom prst="roundRect">
            <a:avLst>
              <a:gd name="adj" fmla="val 1271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886700" y="1229868"/>
            <a:ext cx="3236976" cy="3236976"/>
          </a:xfrm>
          <a:prstGeom prst="roundRect">
            <a:avLst>
              <a:gd name="adj" fmla="val 1271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47" name="paper-shadow-2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503" y="3722522"/>
            <a:ext cx="2271370" cy="56784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!!m-phone">
                <a:extLst>
                  <a:ext uri="{FF2B5EF4-FFF2-40B4-BE49-F238E27FC236}">
                    <a16:creationId xmlns:a16="http://schemas.microsoft.com/office/drawing/2014/main" id="{33EED002-183B-9372-7C91-858169EDA1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927848" y="1261872"/>
              <a:ext cx="3154680" cy="315468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1800000" az="12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!!m-phone">
                <a:extLst>
                  <a:ext uri="{FF2B5EF4-FFF2-40B4-BE49-F238E27FC236}">
                    <a16:creationId xmlns:a16="http://schemas.microsoft.com/office/drawing/2014/main" id="{33EED002-183B-9372-7C91-858169EDA1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7848" y="1261872"/>
                <a:ext cx="3154680" cy="315468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Shape 42"/>
          <p:cNvSpPr/>
          <p:nvPr/>
        </p:nvSpPr>
        <p:spPr>
          <a:xfrm>
            <a:off x="7813548" y="4622292"/>
            <a:ext cx="347472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572000"/>
            <a:ext cx="347472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836408" y="4585716"/>
            <a:ext cx="334670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УВЕДОМЛЕНИЕ: «КАШТАН, ТЫ ЭТО ВИДЕЛ?»</a:t>
            </a:r>
            <a:endParaRPr lang="en-US" sz="770" dirty="0"/>
          </a:p>
        </p:txBody>
      </p:sp>
      <p:sp>
        <p:nvSpPr>
          <p:cNvPr id="52" name="Text 45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[6] Soman, 2001; мем-иллюстрация из исходного файла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3" name="!!m-chestnut">
                <a:extLst>
                  <a:ext uri="{FF2B5EF4-FFF2-40B4-BE49-F238E27FC236}">
                    <a16:creationId xmlns:a16="http://schemas.microsoft.com/office/drawing/2014/main" id="{16E9E8F3-01F1-0B78-82FF-BB31668640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931920" y="1618488"/>
              <a:ext cx="3429000" cy="342900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3429000" cy="3429000"/>
                    </a:xfrm>
                    <a:prstGeom prst="rect">
                      <a:avLst/>
                    </a:prstGeom>
                  </am3d:spPr>
                  <am3d:camera>
                    <am3d:pos x="0" y="0" z="710509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349" d="1000000"/>
                    <am3d:preTrans dx="-11471" dy="-1712105" dz="-80306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9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429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3" name="!!m-chestnut">
                <a:extLst>
                  <a:ext uri="{FF2B5EF4-FFF2-40B4-BE49-F238E27FC236}">
                    <a16:creationId xmlns:a16="http://schemas.microsoft.com/office/drawing/2014/main" id="{16E9E8F3-01F1-0B78-82FF-BB31668640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931920" y="1618488"/>
                <a:ext cx="3429000" cy="34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4" name="!!m-brain">
                <a:extLst>
                  <a:ext uri="{FF2B5EF4-FFF2-40B4-BE49-F238E27FC236}">
                    <a16:creationId xmlns:a16="http://schemas.microsoft.com/office/drawing/2014/main" id="{941752B4-A9BA-2F98-B844-D2BA9040A0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655064"/>
              <a:ext cx="2907792" cy="2907792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2907792" cy="2907792"/>
                    </a:xfrm>
                    <a:prstGeom prst="rect">
                      <a:avLst/>
                    </a:prstGeom>
                  </am3d:spPr>
                  <am3d:camera>
                    <am3d:pos x="0" y="0" z="766072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04606" d="1000000"/>
                    <am3d:preTrans dx="0" dy="-18000000" dz="-2385949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2940000" az="-24000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907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4" name="!!m-brain">
                <a:extLst>
                  <a:ext uri="{FF2B5EF4-FFF2-40B4-BE49-F238E27FC236}">
                    <a16:creationId xmlns:a16="http://schemas.microsoft.com/office/drawing/2014/main" id="{941752B4-A9BA-2F98-B844-D2BA9040A0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4615" y="1655064"/>
                <a:ext cx="2907792" cy="29077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3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· ЧТО СЧИТАЕМ ИМПУЛЬСИВНОЙ ПОКУПКОЙ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3242462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011680" cy="45720"/>
          </a:xfrm>
          <a:custGeom>
            <a:avLst/>
            <a:gdLst/>
            <a:ahLst/>
            <a:cxnLst/>
            <a:rect l="l" t="t" r="r" b="b"/>
            <a:pathLst>
              <a:path w="2011680" h="45720">
                <a:moveTo>
                  <a:pt x="0" y="9144"/>
                </a:moveTo>
                <a:lnTo>
                  <a:pt x="563270" y="45720"/>
                </a:lnTo>
                <a:lnTo>
                  <a:pt x="1247242" y="0"/>
                </a:lnTo>
                <a:lnTo>
                  <a:pt x="201168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ИМПУЛЬС — ПОТЯГ, А НЕ ДИАГНОЗ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832104" y="2029968"/>
            <a:ext cx="6784848" cy="832104"/>
          </a:xfrm>
          <a:prstGeom prst="roundRect">
            <a:avLst>
              <a:gd name="adj" fmla="val 4945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965960"/>
            <a:ext cx="6784848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69264" y="2176272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Незапланированное решение + сильное желание купить «прямо сейчас».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68680" y="3145536"/>
            <a:ext cx="1417320" cy="603504"/>
          </a:xfrm>
          <a:prstGeom prst="roundRect">
            <a:avLst>
              <a:gd name="adj" fmla="val 6818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3081528"/>
            <a:ext cx="1417320" cy="603504"/>
          </a:xfrm>
          <a:prstGeom prst="roundRect">
            <a:avLst>
              <a:gd name="adj" fmla="val 68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77824" y="3264408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СИГНАЛ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235708" y="321868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560320" y="3145536"/>
            <a:ext cx="1417320" cy="603504"/>
          </a:xfrm>
          <a:prstGeom prst="roundRect">
            <a:avLst>
              <a:gd name="adj" fmla="val 6818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081528"/>
            <a:ext cx="1417320" cy="603504"/>
          </a:xfrm>
          <a:prstGeom prst="roundRect">
            <a:avLst>
              <a:gd name="adj" fmla="val 68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569464" y="3264408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ПОТЯГ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927348" y="321868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4251960" y="3145536"/>
            <a:ext cx="1280160" cy="603504"/>
          </a:xfrm>
          <a:prstGeom prst="roundRect">
            <a:avLst>
              <a:gd name="adj" fmla="val 6818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87952" y="3081528"/>
            <a:ext cx="1280160" cy="603504"/>
          </a:xfrm>
          <a:prstGeom prst="roundRect">
            <a:avLst>
              <a:gd name="adj" fmla="val 68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261104" y="3264408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КЛИК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81828" y="321868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806440" y="3145536"/>
            <a:ext cx="1600200" cy="603504"/>
          </a:xfrm>
          <a:prstGeom prst="roundRect">
            <a:avLst>
              <a:gd name="adj" fmla="val 6818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42432" y="3081528"/>
            <a:ext cx="1600200" cy="603504"/>
          </a:xfrm>
          <a:prstGeom prst="roundRect">
            <a:avLst>
              <a:gd name="adj" fmla="val 68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815584" y="3264408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ОЦЕНКА ПОСЛЕ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832104" y="4041648"/>
            <a:ext cx="3246120" cy="832104"/>
          </a:xfrm>
          <a:prstGeom prst="roundRect">
            <a:avLst>
              <a:gd name="adj" fmla="val 4945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8096" y="3977640"/>
            <a:ext cx="3246120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60120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СОСТОЯНИЕ</a:t>
            </a:r>
            <a:endParaRPr lang="en-US" sz="810" dirty="0"/>
          </a:p>
        </p:txBody>
      </p:sp>
      <p:sp>
        <p:nvSpPr>
          <p:cNvPr id="39" name="Text 36"/>
          <p:cNvSpPr/>
          <p:nvPr/>
        </p:nvSpPr>
        <p:spPr>
          <a:xfrm>
            <a:off x="960120" y="43891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«сейчас хочу это купить»</a:t>
            </a:r>
            <a:endParaRPr lang="en-US" sz="1070" dirty="0"/>
          </a:p>
        </p:txBody>
      </p:sp>
      <p:sp>
        <p:nvSpPr>
          <p:cNvPr id="40" name="Shape 37"/>
          <p:cNvSpPr/>
          <p:nvPr/>
        </p:nvSpPr>
        <p:spPr>
          <a:xfrm>
            <a:off x="4288536" y="4041648"/>
            <a:ext cx="3328416" cy="832104"/>
          </a:xfrm>
          <a:prstGeom prst="roundRect">
            <a:avLst>
              <a:gd name="adj" fmla="val 4945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24528" y="3977640"/>
            <a:ext cx="3328416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425696" y="4123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СКЛОННОСТЬ</a:t>
            </a:r>
            <a:endParaRPr lang="en-US" sz="810" dirty="0"/>
          </a:p>
        </p:txBody>
      </p:sp>
      <p:sp>
        <p:nvSpPr>
          <p:cNvPr id="43" name="Text 40"/>
          <p:cNvSpPr/>
          <p:nvPr/>
        </p:nvSpPr>
        <p:spPr>
          <a:xfrm>
            <a:off x="4425696" y="438912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часто порыв повторяется</a:t>
            </a:r>
            <a:endParaRPr lang="en-US" sz="1070" dirty="0"/>
          </a:p>
        </p:txBody>
      </p:sp>
      <p:sp>
        <p:nvSpPr>
          <p:cNvPr id="44" name="Shape 41"/>
          <p:cNvSpPr/>
          <p:nvPr/>
        </p:nvSpPr>
        <p:spPr>
          <a:xfrm>
            <a:off x="973836" y="5234940"/>
            <a:ext cx="4251960" cy="338328"/>
          </a:xfrm>
          <a:prstGeom prst="roundRect">
            <a:avLst>
              <a:gd name="adj" fmla="val 6757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32688" y="5184648"/>
            <a:ext cx="4251960" cy="338328"/>
          </a:xfrm>
          <a:prstGeom prst="roundRect">
            <a:avLst>
              <a:gd name="adj" fmla="val 6757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96696" y="5198364"/>
            <a:ext cx="41239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 ПРО ДОФАМИН ≠ НЕЙРОНАУЧНЫЙ ФАКТ</a:t>
            </a:r>
            <a:endParaRPr lang="en-US" sz="720" dirty="0"/>
          </a:p>
        </p:txBody>
      </p:sp>
      <p:pic>
        <p:nvPicPr>
          <p:cNvPr id="47" name="burst-3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39" y="957011"/>
            <a:ext cx="3663818" cy="3663818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8325612" y="1367028"/>
            <a:ext cx="2990088" cy="2990088"/>
          </a:xfrm>
          <a:prstGeom prst="roundRect">
            <a:avLst>
              <a:gd name="adj" fmla="val 137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61604" y="1303020"/>
            <a:ext cx="2990088" cy="2990088"/>
          </a:xfrm>
          <a:prstGeom prst="roundRect">
            <a:avLst>
              <a:gd name="adj" fmla="val 1376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50" name="paper-shadow-3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843" y="3603102"/>
            <a:ext cx="2093610" cy="52340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!!m-brain">
                <a:extLst>
                  <a:ext uri="{FF2B5EF4-FFF2-40B4-BE49-F238E27FC236}">
                    <a16:creationId xmlns:a16="http://schemas.microsoft.com/office/drawing/2014/main" id="{E2257AFA-963A-E361-1FEE-06869358CD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02752" y="1335024"/>
              <a:ext cx="2907792" cy="2907792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2907792" cy="2907792"/>
                    </a:xfrm>
                    <a:prstGeom prst="rect">
                      <a:avLst/>
                    </a:prstGeom>
                  </am3d:spPr>
                  <am3d:camera>
                    <am3d:pos x="0" y="0" z="766072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04606" d="1000000"/>
                    <am3d:preTrans dx="0" dy="-18000000" dz="-2385949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740000" az="-24000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907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!!m-brain">
                <a:extLst>
                  <a:ext uri="{FF2B5EF4-FFF2-40B4-BE49-F238E27FC236}">
                    <a16:creationId xmlns:a16="http://schemas.microsoft.com/office/drawing/2014/main" id="{E2257AFA-963A-E361-1FEE-06869358CD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2752" y="1335024"/>
                <a:ext cx="2907792" cy="2907792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Shape 46"/>
          <p:cNvSpPr/>
          <p:nvPr/>
        </p:nvSpPr>
        <p:spPr>
          <a:xfrm>
            <a:off x="7840980" y="4539996"/>
            <a:ext cx="384048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799832" y="4489704"/>
            <a:ext cx="384048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863840" y="4503420"/>
            <a:ext cx="371246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КАШТАН: «НЕ СТАВЬ МНЕ ДИАГНОЗ»</a:t>
            </a:r>
            <a:endParaRPr lang="en-US" sz="770" dirty="0"/>
          </a:p>
        </p:txBody>
      </p:sp>
      <p:sp>
        <p:nvSpPr>
          <p:cNvPr id="55" name="Text 49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[1–3] Rook, 1987; Beatty &amp; Ferrell, 1998; Verplanken &amp; Herabadi, 2001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phone">
                <a:extLst>
                  <a:ext uri="{FF2B5EF4-FFF2-40B4-BE49-F238E27FC236}">
                    <a16:creationId xmlns:a16="http://schemas.microsoft.com/office/drawing/2014/main" id="{C84B501B-45D7-1CE4-7DE9-B19C4C70AC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657600" y="1581912"/>
              <a:ext cx="3154680" cy="315468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" ay="-6480000" az="12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phone">
                <a:extLst>
                  <a:ext uri="{FF2B5EF4-FFF2-40B4-BE49-F238E27FC236}">
                    <a16:creationId xmlns:a16="http://schemas.microsoft.com/office/drawing/2014/main" id="{C84B501B-45D7-1CE4-7DE9-B19C4C70AC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657600" y="1581912"/>
                <a:ext cx="3154680" cy="31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!!m-phone">
                <a:extLst>
                  <a:ext uri="{FF2B5EF4-FFF2-40B4-BE49-F238E27FC236}">
                    <a16:creationId xmlns:a16="http://schemas.microsoft.com/office/drawing/2014/main" id="{1B38B6F6-F332-D383-4998-4DC1AA0093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563624"/>
              <a:ext cx="2487168" cy="2487168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2487168" cy="2487168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6540000" az="-18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4871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!!m-phone">
                <a:extLst>
                  <a:ext uri="{FF2B5EF4-FFF2-40B4-BE49-F238E27FC236}">
                    <a16:creationId xmlns:a16="http://schemas.microsoft.com/office/drawing/2014/main" id="{1B38B6F6-F332-D383-4998-4DC1AA0093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615" y="1563624"/>
                <a:ext cx="2487168" cy="248716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4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· ВОЗМОЖНЫЕ ТРИГГЕРЫ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4323283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125980" cy="45720"/>
          </a:xfrm>
          <a:custGeom>
            <a:avLst/>
            <a:gdLst/>
            <a:ahLst/>
            <a:cxnLst/>
            <a:rect l="l" t="t" r="r" b="b"/>
            <a:pathLst>
              <a:path w="2125980" h="45720">
                <a:moveTo>
                  <a:pt x="0" y="9144"/>
                </a:moveTo>
                <a:lnTo>
                  <a:pt x="595274" y="45720"/>
                </a:lnTo>
                <a:lnTo>
                  <a:pt x="1318108" y="0"/>
                </a:lnTo>
                <a:lnTo>
                  <a:pt x="212598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КТО ПОДСОВЫВАЕТ КАШТАНУ «КУПИ»?</a:t>
            </a:r>
            <a:endParaRPr lang="en-US" sz="2570" dirty="0"/>
          </a:p>
        </p:txBody>
      </p:sp>
      <p:sp>
        <p:nvSpPr>
          <p:cNvPr id="18" name="Shape 15"/>
          <p:cNvSpPr/>
          <p:nvPr/>
        </p:nvSpPr>
        <p:spPr>
          <a:xfrm>
            <a:off x="832104" y="2103120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2039112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2688" y="2176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FOMO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932688" y="245059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«Только сегодня!» — мозг спешит, даже если товар подождёт.</a:t>
            </a:r>
            <a:endParaRPr lang="en-US" sz="1070" dirty="0"/>
          </a:p>
        </p:txBody>
      </p:sp>
      <p:sp>
        <p:nvSpPr>
          <p:cNvPr id="22" name="Shape 19"/>
          <p:cNvSpPr/>
          <p:nvPr/>
        </p:nvSpPr>
        <p:spPr>
          <a:xfrm>
            <a:off x="4160520" y="2103120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96512" y="2039112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61104" y="2176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57BFB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СРАВНЕНИЕ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4261104" y="245059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блогера есть — и каштану тоже надо?</a:t>
            </a:r>
            <a:endParaRPr lang="en-US" sz="1070" dirty="0"/>
          </a:p>
        </p:txBody>
      </p:sp>
      <p:sp>
        <p:nvSpPr>
          <p:cNvPr id="26" name="Shape 23"/>
          <p:cNvSpPr/>
          <p:nvPr/>
        </p:nvSpPr>
        <p:spPr>
          <a:xfrm>
            <a:off x="832104" y="3401568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2E70B7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" y="3337560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34747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ЯКОРЬ СКИДКИ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932688" y="37490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цена меняет точку сравнения.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4160520" y="3401568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F39A36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96512" y="3337560"/>
            <a:ext cx="3072384" cy="1097280"/>
          </a:xfrm>
          <a:prstGeom prst="roundRect">
            <a:avLst>
              <a:gd name="adj" fmla="val 375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261104" y="34747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F39A3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ЛЁГКАЯ ОПЛАТА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4261104" y="37490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Сохранённая карта убирает часть паузы.</a:t>
            </a:r>
            <a:endParaRPr lang="en-US" sz="1070" dirty="0"/>
          </a:p>
        </p:txBody>
      </p:sp>
      <p:sp>
        <p:nvSpPr>
          <p:cNvPr id="34" name="Shape 31"/>
          <p:cNvSpPr/>
          <p:nvPr/>
        </p:nvSpPr>
        <p:spPr>
          <a:xfrm>
            <a:off x="841248" y="4910328"/>
            <a:ext cx="6391656" cy="932688"/>
          </a:xfrm>
          <a:prstGeom prst="roundRect">
            <a:avLst>
              <a:gd name="adj" fmla="val 4412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4846320"/>
            <a:ext cx="6391656" cy="932688"/>
          </a:xfrm>
          <a:prstGeom prst="roundRect">
            <a:avLst>
              <a:gd name="adj" fmla="val 4412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55548" y="4777740"/>
            <a:ext cx="1843430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4400" y="4727448"/>
            <a:ext cx="1843430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8408" y="4741164"/>
            <a:ext cx="17154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ПРОВЕРЯЕМ, НЕ ОБВИНЯЕМ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960120" y="5038344"/>
            <a:ext cx="6025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 — не приговор: связь зависит от человека и ситуации. Вопрос анкеты звучит «что связано?», а не «кто виноват?»</a:t>
            </a:r>
            <a:endParaRPr lang="en-US" sz="1050" dirty="0"/>
          </a:p>
        </p:txBody>
      </p:sp>
      <p:pic>
        <p:nvPicPr>
          <p:cNvPr id="40" name="burst-4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268" y="920252"/>
            <a:ext cx="3133832" cy="3133832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8252460" y="1275588"/>
            <a:ext cx="2569464" cy="2569464"/>
          </a:xfrm>
          <a:prstGeom prst="roundRect">
            <a:avLst>
              <a:gd name="adj" fmla="val 1601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188452" y="1211580"/>
            <a:ext cx="2569464" cy="2569464"/>
          </a:xfrm>
          <a:prstGeom prst="roundRect">
            <a:avLst>
              <a:gd name="adj" fmla="val 1601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43" name="paper-shadow-4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804" y="3183575"/>
            <a:ext cx="1790761" cy="44769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phone">
                <a:extLst>
                  <a:ext uri="{FF2B5EF4-FFF2-40B4-BE49-F238E27FC236}">
                    <a16:creationId xmlns:a16="http://schemas.microsoft.com/office/drawing/2014/main" id="{6A8B78E8-6841-4157-7A5B-98FFD252FB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29600" y="1243584"/>
              <a:ext cx="2487168" cy="2487168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2487168" cy="2487168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1860000" az="-18000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4871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phone">
                <a:extLst>
                  <a:ext uri="{FF2B5EF4-FFF2-40B4-BE49-F238E27FC236}">
                    <a16:creationId xmlns:a16="http://schemas.microsoft.com/office/drawing/2014/main" id="{6A8B78E8-6841-4157-7A5B-98FFD252FB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9600" y="1243584"/>
                <a:ext cx="2487168" cy="2487168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Shape 39"/>
          <p:cNvSpPr/>
          <p:nvPr/>
        </p:nvSpPr>
        <p:spPr>
          <a:xfrm>
            <a:off x="7850124" y="3963924"/>
            <a:ext cx="338328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808976" y="3913632"/>
            <a:ext cx="338328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872984" y="3927348"/>
            <a:ext cx="325526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УВИДЕЛ «-30%»</a:t>
            </a:r>
            <a:endParaRPr lang="en-US" sz="770" dirty="0"/>
          </a:p>
        </p:txBody>
      </p:sp>
      <p:sp>
        <p:nvSpPr>
          <p:cNvPr id="48" name="Shape 42"/>
          <p:cNvSpPr/>
          <p:nvPr/>
        </p:nvSpPr>
        <p:spPr>
          <a:xfrm>
            <a:off x="8449056" y="4581144"/>
            <a:ext cx="2157984" cy="1600200"/>
          </a:xfrm>
          <a:prstGeom prst="roundRect">
            <a:avLst>
              <a:gd name="adj" fmla="val 2571"/>
            </a:avLst>
          </a:prstGeom>
          <a:solidFill>
            <a:srgbClr val="2E70B7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385048" y="4517136"/>
            <a:ext cx="2157984" cy="1600200"/>
          </a:xfrm>
          <a:prstGeom prst="roundRect">
            <a:avLst>
              <a:gd name="adj" fmla="val 2571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8462772" y="4594860"/>
            <a:ext cx="2002536" cy="1140714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51" name="original-meme-jars" descr="/home/user/MyWorkAiBrain/presentations/impulse/assets/memes/meme-budget-jars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562" y="4594860"/>
            <a:ext cx="1254956" cy="1140714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8462772" y="5735574"/>
            <a:ext cx="2002536" cy="304038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53" name="Text 46"/>
          <p:cNvSpPr/>
          <p:nvPr/>
        </p:nvSpPr>
        <p:spPr>
          <a:xfrm>
            <a:off x="8517636" y="5758434"/>
            <a:ext cx="189280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В ГОЛОВЕ ДВА БЮДЖЕТА</a:t>
            </a:r>
            <a:endParaRPr lang="en-US" sz="670" dirty="0"/>
          </a:p>
        </p:txBody>
      </p:sp>
      <p:sp>
        <p:nvSpPr>
          <p:cNvPr id="54" name="Text 47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[4–7] Rook &amp; Fisher; Przybylski et al.; Tversky &amp; Kahneman; Soman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5" name="!!m-brain">
                <a:extLst>
                  <a:ext uri="{FF2B5EF4-FFF2-40B4-BE49-F238E27FC236}">
                    <a16:creationId xmlns:a16="http://schemas.microsoft.com/office/drawing/2014/main" id="{6DA4664D-3D87-EAD8-6200-630B459F39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410712" y="1655064"/>
              <a:ext cx="2907792" cy="2907792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2907792" cy="2907792"/>
                    </a:xfrm>
                    <a:prstGeom prst="rect">
                      <a:avLst/>
                    </a:prstGeom>
                  </am3d:spPr>
                  <am3d:camera>
                    <am3d:pos x="0" y="0" z="766072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04606" d="1000000"/>
                    <am3d:preTrans dx="0" dy="-18000000" dz="-2385949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6420000" az="-24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907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5" name="!!m-brain">
                <a:extLst>
                  <a:ext uri="{FF2B5EF4-FFF2-40B4-BE49-F238E27FC236}">
                    <a16:creationId xmlns:a16="http://schemas.microsoft.com/office/drawing/2014/main" id="{6DA4664D-3D87-EAD8-6200-630B459F39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410712" y="1655064"/>
                <a:ext cx="2907792" cy="2907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paylater">
                <a:extLst>
                  <a:ext uri="{FF2B5EF4-FFF2-40B4-BE49-F238E27FC236}">
                    <a16:creationId xmlns:a16="http://schemas.microsoft.com/office/drawing/2014/main" id="{9B1B542E-1A49-8681-E675-47144F19A50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3767328"/>
              <a:ext cx="2148840" cy="214884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2148840" cy="2148840"/>
                    </a:xfrm>
                    <a:prstGeom prst="rect">
                      <a:avLst/>
                    </a:prstGeom>
                  </am3d:spPr>
                  <am3d:camera>
                    <am3d:pos x="0" y="0" z="545678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385" d="1000000"/>
                    <am3d:preTrans dx="-2492307" dy="775385" dz="-1190769"/>
                    <am3d:scale>
                      <am3d:sx n="1000000" d="1000000"/>
                      <am3d:sy n="1000000" d="1000000"/>
                      <am3d:sz n="1000000" d="1000000"/>
                    </am3d:scale>
                    <am3d:rot ax="780000" ay="2880000" az="-12000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48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paylater">
                <a:extLst>
                  <a:ext uri="{FF2B5EF4-FFF2-40B4-BE49-F238E27FC236}">
                    <a16:creationId xmlns:a16="http://schemas.microsoft.com/office/drawing/2014/main" id="{9B1B542E-1A49-8681-E675-47144F19A5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4615" y="3767328"/>
                <a:ext cx="2148840" cy="214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5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· РАССРОЧКА И ЗАМЕТНОСТЬ ЦЕНЫ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5404104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194560" cy="45720"/>
          </a:xfrm>
          <a:custGeom>
            <a:avLst/>
            <a:gdLst/>
            <a:ahLst/>
            <a:cxnLst/>
            <a:rect l="l" t="t" r="r" b="b"/>
            <a:pathLst>
              <a:path w="2194560" h="45720">
                <a:moveTo>
                  <a:pt x="0" y="9144"/>
                </a:moveTo>
                <a:lnTo>
                  <a:pt x="614477" y="45720"/>
                </a:lnTo>
                <a:lnTo>
                  <a:pt x="1360627" y="0"/>
                </a:lnTo>
                <a:lnTo>
                  <a:pt x="219456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6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МАЛЕНЬКИЙ ПЛАТЁЖ. БОЛЬШАЯ СУММА?</a:t>
            </a:r>
            <a:endParaRPr lang="en-US" sz="2620" dirty="0"/>
          </a:p>
        </p:txBody>
      </p:sp>
      <p:sp>
        <p:nvSpPr>
          <p:cNvPr id="18" name="Shape 15"/>
          <p:cNvSpPr/>
          <p:nvPr/>
        </p:nvSpPr>
        <p:spPr>
          <a:xfrm>
            <a:off x="832104" y="2093976"/>
            <a:ext cx="5989320" cy="1024128"/>
          </a:xfrm>
          <a:prstGeom prst="roundRect">
            <a:avLst>
              <a:gd name="adj" fmla="val 4018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2029968"/>
            <a:ext cx="5989320" cy="1024128"/>
          </a:xfrm>
          <a:prstGeom prst="roundRect">
            <a:avLst>
              <a:gd name="adj" fmla="val 40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05840" y="2221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12 000 ₽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06324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=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611880" y="222199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 × 3 000 ₽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01268" y="2811780"/>
            <a:ext cx="3429000" cy="201168"/>
          </a:xfrm>
          <a:prstGeom prst="roundRect">
            <a:avLst>
              <a:gd name="adj" fmla="val 1136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120" y="2761488"/>
            <a:ext cx="3429000" cy="201168"/>
          </a:xfrm>
          <a:prstGeom prst="roundRect">
            <a:avLst>
              <a:gd name="adj" fmla="val 1136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4128" y="2775204"/>
            <a:ext cx="330098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УСЛОВНАЯ АРИФМЕТИКА · НЕ ТАРИФ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82296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Перед оплатой проверь: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841248" y="3776472"/>
            <a:ext cx="182880" cy="182880"/>
          </a:xfrm>
          <a:prstGeom prst="rect">
            <a:avLst/>
          </a:prstGeom>
          <a:solidFill>
            <a:srgbClr val="E6373F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0432" y="374904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Полную сумму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3145536" y="37490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уйдёт за весь срок?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841248" y="4343400"/>
            <a:ext cx="182880" cy="182880"/>
          </a:xfrm>
          <a:prstGeom prst="rect">
            <a:avLst/>
          </a:prstGeom>
          <a:solidFill>
            <a:srgbClr val="FFDD55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0432" y="4315968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Даты и комиссии</a:t>
            </a:r>
            <a:endParaRPr lang="en-US" sz="930" dirty="0"/>
          </a:p>
        </p:txBody>
      </p:sp>
      <p:sp>
        <p:nvSpPr>
          <p:cNvPr id="32" name="Text 29"/>
          <p:cNvSpPr/>
          <p:nvPr/>
        </p:nvSpPr>
        <p:spPr>
          <a:xfrm>
            <a:off x="3145536" y="43159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совпадают ли с бюджетом месяца?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841248" y="4910328"/>
            <a:ext cx="182880" cy="182880"/>
          </a:xfrm>
          <a:prstGeom prst="rect">
            <a:avLst/>
          </a:prstGeom>
          <a:solidFill>
            <a:srgbClr val="FFDD55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70432" y="4882896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Последствия просрочки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3145536" y="488289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написано в условиях сервиса?</a:t>
            </a:r>
            <a:endParaRPr lang="en-US" sz="970" dirty="0"/>
          </a:p>
        </p:txBody>
      </p:sp>
      <p:sp>
        <p:nvSpPr>
          <p:cNvPr id="36" name="Shape 33"/>
          <p:cNvSpPr/>
          <p:nvPr/>
        </p:nvSpPr>
        <p:spPr>
          <a:xfrm>
            <a:off x="7269480" y="1426464"/>
            <a:ext cx="1901952" cy="1965960"/>
          </a:xfrm>
          <a:prstGeom prst="roundRect">
            <a:avLst>
              <a:gd name="adj" fmla="val 2163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05472" y="1362456"/>
            <a:ext cx="1901952" cy="1965960"/>
          </a:xfrm>
          <a:prstGeom prst="roundRect">
            <a:avLst>
              <a:gd name="adj" fmla="val 2163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283196" y="1440180"/>
            <a:ext cx="1746504" cy="1436980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39" name="original-meme-hamster" descr="/home/user/MyWorkAiBrain/presentations/impulse/assets/memes/meme-charge-hamster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958" y="1440180"/>
            <a:ext cx="1436980" cy="143698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283196" y="2877160"/>
            <a:ext cx="1746504" cy="373532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41" name="Text 37"/>
          <p:cNvSpPr/>
          <p:nvPr/>
        </p:nvSpPr>
        <p:spPr>
          <a:xfrm>
            <a:off x="7338060" y="2900020"/>
            <a:ext cx="1636776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 ВАС СПИСАНО 100 РУБ.</a:t>
            </a:r>
            <a:endParaRPr lang="en-US" sz="660" dirty="0"/>
          </a:p>
        </p:txBody>
      </p:sp>
      <p:pic>
        <p:nvPicPr>
          <p:cNvPr id="42" name="burst-5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043" y="3167939"/>
            <a:ext cx="2707538" cy="2707538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8874252" y="3479292"/>
            <a:ext cx="2231136" cy="2231136"/>
          </a:xfrm>
          <a:prstGeom prst="roundRect">
            <a:avLst>
              <a:gd name="adj" fmla="val 1844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810244" y="3415284"/>
            <a:ext cx="2231136" cy="2231136"/>
          </a:xfrm>
          <a:prstGeom prst="roundRect">
            <a:avLst>
              <a:gd name="adj" fmla="val 1844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45" name="paper-shadow-5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230" y="5123383"/>
            <a:ext cx="1547165" cy="38679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!!m-paylater">
                <a:extLst>
                  <a:ext uri="{FF2B5EF4-FFF2-40B4-BE49-F238E27FC236}">
                    <a16:creationId xmlns:a16="http://schemas.microsoft.com/office/drawing/2014/main" id="{3EFC559D-006F-771B-F22B-5ADE1DA07E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51392" y="3447288"/>
              <a:ext cx="2148840" cy="2148840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2148840" cy="2148840"/>
                    </a:xfrm>
                    <a:prstGeom prst="rect">
                      <a:avLst/>
                    </a:prstGeom>
                  </am3d:spPr>
                  <am3d:camera>
                    <am3d:pos x="0" y="0" z="545678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385" d="1000000"/>
                    <am3d:preTrans dx="-2492307" dy="775385" dz="-1190769"/>
                    <am3d:scale>
                      <am3d:sx n="1000000" d="1000000"/>
                      <am3d:sy n="1000000" d="1000000"/>
                      <am3d:sz n="1000000" d="1000000"/>
                    </am3d:scale>
                    <am3d:rot ax="780000" ay="-1800000" az="-12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48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!!m-paylater">
                <a:extLst>
                  <a:ext uri="{FF2B5EF4-FFF2-40B4-BE49-F238E27FC236}">
                    <a16:creationId xmlns:a16="http://schemas.microsoft.com/office/drawing/2014/main" id="{3EFC559D-006F-771B-F22B-5ADE1DA07E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1392" y="3447288"/>
                <a:ext cx="2148840" cy="214884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Shape 40"/>
          <p:cNvSpPr/>
          <p:nvPr/>
        </p:nvSpPr>
        <p:spPr>
          <a:xfrm>
            <a:off x="8563356" y="5719572"/>
            <a:ext cx="292608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522208" y="5669280"/>
            <a:ext cx="292608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8586216" y="5682996"/>
            <a:ext cx="279806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СЛОЖИЛ ПЛАТЕЖИ</a:t>
            </a:r>
            <a:endParaRPr lang="en-US" sz="770" dirty="0"/>
          </a:p>
        </p:txBody>
      </p:sp>
      <p:sp>
        <p:nvSpPr>
          <p:cNvPr id="50" name="Text 43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[6, 8] Soman, 2001; Thaler, 1999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!!m-phone">
                <a:extLst>
                  <a:ext uri="{FF2B5EF4-FFF2-40B4-BE49-F238E27FC236}">
                    <a16:creationId xmlns:a16="http://schemas.microsoft.com/office/drawing/2014/main" id="{E143797E-F9CB-5796-75F0-A4DC21C33B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990088" y="1563624"/>
              <a:ext cx="2487168" cy="2487168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2487168" cy="2487168"/>
                    </a:xfrm>
                    <a:prstGeom prst="rect">
                      <a:avLst/>
                    </a:prstGeom>
                  </am3d:spPr>
                  <am3d:camera>
                    <am3d:pos x="0" y="0" z="544041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7284" d="1000000"/>
                    <am3d:preTrans dx="0" dy="0" dz="-1422222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-2820000" az="-18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4871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!!m-phone">
                <a:extLst>
                  <a:ext uri="{FF2B5EF4-FFF2-40B4-BE49-F238E27FC236}">
                    <a16:creationId xmlns:a16="http://schemas.microsoft.com/office/drawing/2014/main" id="{E143797E-F9CB-5796-75F0-A4DC21C33B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90088" y="1563624"/>
                <a:ext cx="2487168" cy="2487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2" name="!!m-chestnut">
                <a:extLst>
                  <a:ext uri="{FF2B5EF4-FFF2-40B4-BE49-F238E27FC236}">
                    <a16:creationId xmlns:a16="http://schemas.microsoft.com/office/drawing/2014/main" id="{25022D58-50C2-7885-9443-7CAC60ACEF4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673352"/>
              <a:ext cx="2724912" cy="2724912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710509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349" d="1000000"/>
                    <am3d:preTrans dx="-11471" dy="-1712105" dz="-80306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8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2" name="!!m-chestnut">
                <a:extLst>
                  <a:ext uri="{FF2B5EF4-FFF2-40B4-BE49-F238E27FC236}">
                    <a16:creationId xmlns:a16="http://schemas.microsoft.com/office/drawing/2014/main" id="{25022D58-50C2-7885-9443-7CAC60ACEF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4615" y="1673352"/>
                <a:ext cx="2724912" cy="27249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6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· ЦЕЛЬ И ГИПОТЕЗЫ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6484925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263140" cy="45720"/>
          </a:xfrm>
          <a:custGeom>
            <a:avLst/>
            <a:gdLst/>
            <a:ahLst/>
            <a:cxnLst/>
            <a:rect l="l" t="t" r="r" b="b"/>
            <a:pathLst>
              <a:path w="2263140" h="45720">
                <a:moveTo>
                  <a:pt x="0" y="9144"/>
                </a:moveTo>
                <a:lnTo>
                  <a:pt x="633679" y="45720"/>
                </a:lnTo>
                <a:lnTo>
                  <a:pt x="1403147" y="0"/>
                </a:lnTo>
                <a:lnTo>
                  <a:pt x="226314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ПРОВЕРЯЕТ: ЭТО ТОЧНО ФАКТ?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832104" y="2029968"/>
            <a:ext cx="6720840" cy="694944"/>
          </a:xfrm>
          <a:prstGeom prst="roundRect">
            <a:avLst>
              <a:gd name="adj" fmla="val 5921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965960"/>
            <a:ext cx="6720840" cy="694944"/>
          </a:xfrm>
          <a:prstGeom prst="roundRect">
            <a:avLst>
              <a:gd name="adj" fmla="val 5921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46404" y="1897380"/>
            <a:ext cx="1272845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5256" y="1847088"/>
            <a:ext cx="1272845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1860804"/>
            <a:ext cx="11448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ЗАДАЧА ПРОЕКТА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50976" y="2157984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9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найти связи факторов с незапланированными тратами и подготовить памятку.</a:t>
            </a:r>
            <a:endParaRPr lang="en-US" sz="1090" dirty="0"/>
          </a:p>
        </p:txBody>
      </p:sp>
      <p:sp>
        <p:nvSpPr>
          <p:cNvPr id="24" name="Shape 21"/>
          <p:cNvSpPr/>
          <p:nvPr/>
        </p:nvSpPr>
        <p:spPr>
          <a:xfrm>
            <a:off x="864108" y="2866644"/>
            <a:ext cx="324612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2816352"/>
            <a:ext cx="3246120" cy="310896"/>
          </a:xfrm>
          <a:prstGeom prst="roundRect">
            <a:avLst>
              <a:gd name="adj" fmla="val 7353"/>
            </a:avLst>
          </a:prstGeom>
          <a:solidFill>
            <a:srgbClr val="2E70B7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" y="2830068"/>
            <a:ext cx="311810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ЦЕЛЕВАЯ ГРУППА · СТУДЕНТЫ 18–25 ЛЕТ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832104" y="3374136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3310128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41832" y="34747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536192" y="3419856"/>
            <a:ext cx="5724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и импульсивность связаны с более частыми незапланированными покупками / BNPL.</a:t>
            </a:r>
            <a:endParaRPr lang="en-US" sz="1010" dirty="0"/>
          </a:p>
        </p:txBody>
      </p:sp>
      <p:sp>
        <p:nvSpPr>
          <p:cNvPr id="31" name="Shape 28"/>
          <p:cNvSpPr/>
          <p:nvPr/>
        </p:nvSpPr>
        <p:spPr>
          <a:xfrm>
            <a:off x="832104" y="4160520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8096" y="4096512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41832" y="4261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536192" y="4206240"/>
            <a:ext cx="5724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Социальное сравнение связано с большим числом статусных покупок.</a:t>
            </a:r>
            <a:endParaRPr lang="en-US" sz="1010" dirty="0"/>
          </a:p>
        </p:txBody>
      </p:sp>
      <p:sp>
        <p:nvSpPr>
          <p:cNvPr id="35" name="Shape 32"/>
          <p:cNvSpPr/>
          <p:nvPr/>
        </p:nvSpPr>
        <p:spPr>
          <a:xfrm>
            <a:off x="832104" y="4946904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8096" y="4882896"/>
            <a:ext cx="6720840" cy="630936"/>
          </a:xfrm>
          <a:prstGeom prst="roundRect">
            <a:avLst>
              <a:gd name="adj" fmla="val 6522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41832" y="5047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H3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536192" y="4992624"/>
            <a:ext cx="5724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грамотность может быть связана с меньшим риском, но не убирает все триггеры.</a:t>
            </a:r>
            <a:endParaRPr lang="en-US" sz="1010" dirty="0"/>
          </a:p>
        </p:txBody>
      </p:sp>
      <p:sp>
        <p:nvSpPr>
          <p:cNvPr id="39" name="Shape 36"/>
          <p:cNvSpPr/>
          <p:nvPr/>
        </p:nvSpPr>
        <p:spPr>
          <a:xfrm>
            <a:off x="1001268" y="5801868"/>
            <a:ext cx="315468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0120" y="5751576"/>
            <a:ext cx="315468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24128" y="5765292"/>
            <a:ext cx="3026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ПРЕДПОЛОЖЕНИЯ ≠ РЕЗУЛЬТАТЫ</a:t>
            </a:r>
            <a:endParaRPr lang="en-US" sz="750" dirty="0"/>
          </a:p>
        </p:txBody>
      </p:sp>
      <p:pic>
        <p:nvPicPr>
          <p:cNvPr id="42" name="burst-6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17" y="999073"/>
            <a:ext cx="3433389" cy="3433389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8471916" y="1385316"/>
            <a:ext cx="2807208" cy="2807208"/>
          </a:xfrm>
          <a:prstGeom prst="roundRect">
            <a:avLst>
              <a:gd name="adj" fmla="val 146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407908" y="1321308"/>
            <a:ext cx="2807208" cy="2807208"/>
          </a:xfrm>
          <a:prstGeom prst="roundRect">
            <a:avLst>
              <a:gd name="adj" fmla="val 1466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45" name="paper-shadow-6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544" y="3478743"/>
            <a:ext cx="1961937" cy="4904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!!m-chestnut">
                <a:extLst>
                  <a:ext uri="{FF2B5EF4-FFF2-40B4-BE49-F238E27FC236}">
                    <a16:creationId xmlns:a16="http://schemas.microsoft.com/office/drawing/2014/main" id="{4FC485B5-E967-DCE9-E7F4-3FA83329B9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449056" y="1353312"/>
              <a:ext cx="2724912" cy="2724912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710509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349" d="1000000"/>
                    <am3d:preTrans dx="-11471" dy="-1712105" dz="-80306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84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!!m-chestnut">
                <a:extLst>
                  <a:ext uri="{FF2B5EF4-FFF2-40B4-BE49-F238E27FC236}">
                    <a16:creationId xmlns:a16="http://schemas.microsoft.com/office/drawing/2014/main" id="{4FC485B5-E967-DCE9-E7F4-3FA83329B9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9056" y="1353312"/>
                <a:ext cx="2724912" cy="2724912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Shape 41"/>
          <p:cNvSpPr/>
          <p:nvPr/>
        </p:nvSpPr>
        <p:spPr>
          <a:xfrm>
            <a:off x="8124444" y="4256532"/>
            <a:ext cx="3493008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083296" y="4206240"/>
            <a:ext cx="3493008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147304" y="4219956"/>
            <a:ext cx="336499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— МАСКОТ, НЕ РЕСПОНДЕНТ</a:t>
            </a:r>
            <a:endParaRPr lang="en-US" sz="770" dirty="0"/>
          </a:p>
        </p:txBody>
      </p:sp>
      <p:sp>
        <p:nvSpPr>
          <p:cNvPr id="50" name="Text 44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[3–5] Verplanken &amp; Herabadi; Rook &amp; Fisher; Przybylski et al.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!!m-paylater">
                <a:extLst>
                  <a:ext uri="{FF2B5EF4-FFF2-40B4-BE49-F238E27FC236}">
                    <a16:creationId xmlns:a16="http://schemas.microsoft.com/office/drawing/2014/main" id="{CE8E81EF-6081-8330-4884-A61019FFB0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651760" y="3767328"/>
              <a:ext cx="2148840" cy="2148840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2148840" cy="2148840"/>
                    </a:xfrm>
                    <a:prstGeom prst="rect">
                      <a:avLst/>
                    </a:prstGeom>
                  </am3d:spPr>
                  <am3d:camera>
                    <am3d:pos x="0" y="0" z="545678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385" d="1000000"/>
                    <am3d:preTrans dx="-2492307" dy="775385" dz="-1190769"/>
                    <am3d:scale>
                      <am3d:sx n="1000000" d="1000000"/>
                      <am3d:sy n="1000000" d="1000000"/>
                      <am3d:sz n="1000000" d="1000000"/>
                    </am3d:scale>
                    <am3d:rot ax="780000" ay="-6480000" az="-12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48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!!m-paylater">
                <a:extLst>
                  <a:ext uri="{FF2B5EF4-FFF2-40B4-BE49-F238E27FC236}">
                    <a16:creationId xmlns:a16="http://schemas.microsoft.com/office/drawing/2014/main" id="{CE8E81EF-6081-8330-4884-A61019FFB0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651760" y="3767328"/>
                <a:ext cx="2148840" cy="21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2" name="!!m-clipboard">
                <a:extLst>
                  <a:ext uri="{FF2B5EF4-FFF2-40B4-BE49-F238E27FC236}">
                    <a16:creationId xmlns:a16="http://schemas.microsoft.com/office/drawing/2014/main" id="{9DAAAD1D-1E49-4138-855E-7D54D3DC98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700784"/>
              <a:ext cx="2761488" cy="2761488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2761488" cy="2761488"/>
                    </a:xfrm>
                    <a:prstGeom prst="rect">
                      <a:avLst/>
                    </a:prstGeom>
                  </am3d:spPr>
                  <am3d:camera>
                    <am3d:pos x="0" y="0" z="57642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-116129" dz="-1254194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0" az="6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6148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2" name="!!m-clipboard">
                <a:extLst>
                  <a:ext uri="{FF2B5EF4-FFF2-40B4-BE49-F238E27FC236}">
                    <a16:creationId xmlns:a16="http://schemas.microsoft.com/office/drawing/2014/main" id="{9DAAAD1D-1E49-4138-855E-7D54D3DC98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615" y="1700784"/>
                <a:ext cx="2761488" cy="276148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7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· КАК БУДЕТ УСТРОЕН ОПРОС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7565746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468880" cy="45720"/>
          </a:xfrm>
          <a:custGeom>
            <a:avLst/>
            <a:gdLst/>
            <a:ahLst/>
            <a:cxnLst/>
            <a:rect l="l" t="t" r="r" b="b"/>
            <a:pathLst>
              <a:path w="2468880" h="45720">
                <a:moveTo>
                  <a:pt x="0" y="9144"/>
                </a:moveTo>
                <a:lnTo>
                  <a:pt x="691286" y="45720"/>
                </a:lnTo>
                <a:lnTo>
                  <a:pt x="1530706" y="0"/>
                </a:lnTo>
                <a:lnTo>
                  <a:pt x="246888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ОПРОС: КАШТАН НЕ ГАДАЕТ — СПРАШИВАЕТ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845820" y="2043684"/>
            <a:ext cx="1554480" cy="576072"/>
          </a:xfrm>
          <a:prstGeom prst="roundRect">
            <a:avLst>
              <a:gd name="adj" fmla="val 3968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" y="1993392"/>
            <a:ext cx="1554480" cy="576072"/>
          </a:xfrm>
          <a:prstGeom prst="roundRect">
            <a:avLst>
              <a:gd name="adj" fmla="val 3968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2007108"/>
            <a:ext cx="142646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 ≥ 50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560320" y="21579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студентов 18–25 лет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" y="269748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добровольно · онлайн · без имени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2104" y="3200400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8096" y="3136392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14400" y="32461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ЧАСТОТА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914400" y="3493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 вне плана за 30 дней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4197096" y="3200400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33088" y="3136392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279392" y="32461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ТРИГГЕРЫ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4279392" y="3493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· сравнение · срочность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832104" y="4050792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39A36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8096" y="3986784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4400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ОПЛАТА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914400" y="4343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рассрочки / BNPL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4197096" y="4050792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33088" y="3986784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279392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НАВЫКИ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4279392" y="4343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 о деньгах + бюджет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804672" y="5047488"/>
            <a:ext cx="6620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ОБЗОР  →  АНКЕТА  →  ОПИСАТЕЛЬНАЯ СТАТИСТИКА + SPEARMAN  →  ПАМЯТКА</a:t>
            </a:r>
            <a:endParaRPr lang="en-US" sz="810" dirty="0"/>
          </a:p>
        </p:txBody>
      </p:sp>
      <p:sp>
        <p:nvSpPr>
          <p:cNvPr id="40" name="Shape 37"/>
          <p:cNvSpPr/>
          <p:nvPr/>
        </p:nvSpPr>
        <p:spPr>
          <a:xfrm>
            <a:off x="832104" y="5449824"/>
            <a:ext cx="6720840" cy="649224"/>
          </a:xfrm>
          <a:prstGeom prst="roundRect">
            <a:avLst>
              <a:gd name="adj" fmla="val 6338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8096" y="5385816"/>
            <a:ext cx="6720840" cy="649224"/>
          </a:xfrm>
          <a:prstGeom prst="roundRect">
            <a:avLst>
              <a:gd name="adj" fmla="val 633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46404" y="5317236"/>
            <a:ext cx="1234440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05256" y="5266944"/>
            <a:ext cx="1234440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9264" y="5280660"/>
            <a:ext cx="110642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ОГРАНИЧЕНИЕ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950976" y="5577840"/>
            <a:ext cx="6355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Самоотчёт и N ≥ 50 дают предварительную картину; это не портрет всех студентов.</a:t>
            </a:r>
            <a:endParaRPr lang="en-US" sz="1050" dirty="0"/>
          </a:p>
        </p:txBody>
      </p:sp>
      <p:pic>
        <p:nvPicPr>
          <p:cNvPr id="46" name="burst-7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199" y="1021751"/>
            <a:ext cx="3479475" cy="3479475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8417052" y="1412748"/>
            <a:ext cx="2843784" cy="2843784"/>
          </a:xfrm>
          <a:prstGeom prst="roundRect">
            <a:avLst>
              <a:gd name="adj" fmla="val 1447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353044" y="1348740"/>
            <a:ext cx="2843784" cy="2843784"/>
          </a:xfrm>
          <a:prstGeom prst="roundRect">
            <a:avLst>
              <a:gd name="adj" fmla="val 1447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49" name="paper-shadow-7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800" y="3534705"/>
            <a:ext cx="1988271" cy="49706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0" name="!!m-clipboard">
                <a:extLst>
                  <a:ext uri="{FF2B5EF4-FFF2-40B4-BE49-F238E27FC236}">
                    <a16:creationId xmlns:a16="http://schemas.microsoft.com/office/drawing/2014/main" id="{E05A65C9-2A7A-0475-48BF-D779F2550A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94192" y="1380744"/>
              <a:ext cx="2761488" cy="2761488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2761488" cy="2761488"/>
                    </a:xfrm>
                    <a:prstGeom prst="rect">
                      <a:avLst/>
                    </a:prstGeom>
                  </am3d:spPr>
                  <am3d:camera>
                    <am3d:pos x="0" y="0" z="57642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-116129" dz="-1254194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6000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6148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0" name="!!m-clipboard">
                <a:extLst>
                  <a:ext uri="{FF2B5EF4-FFF2-40B4-BE49-F238E27FC236}">
                    <a16:creationId xmlns:a16="http://schemas.microsoft.com/office/drawing/2014/main" id="{E05A65C9-2A7A-0475-48BF-D779F2550A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4192" y="1380744"/>
                <a:ext cx="2761488" cy="2761488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Shape 45"/>
          <p:cNvSpPr/>
          <p:nvPr/>
        </p:nvSpPr>
        <p:spPr>
          <a:xfrm>
            <a:off x="8115300" y="4320540"/>
            <a:ext cx="342900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8074152" y="4270248"/>
            <a:ext cx="342900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138160" y="4283964"/>
            <a:ext cx="330098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ОТМЕЧАЕТ: ЭТО ПЛАН</a:t>
            </a:r>
            <a:endParaRPr lang="en-US" sz="770" dirty="0"/>
          </a:p>
        </p:txBody>
      </p:sp>
      <p:sp>
        <p:nvSpPr>
          <p:cNvPr id="54" name="Text 48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метод проекта; анализ связей — ранговая корреляция Спирмена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5" name="!!m-chestnut">
                <a:extLst>
                  <a:ext uri="{FF2B5EF4-FFF2-40B4-BE49-F238E27FC236}">
                    <a16:creationId xmlns:a16="http://schemas.microsoft.com/office/drawing/2014/main" id="{9915C033-C7B9-63A5-EEC0-1450ABB74E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27832" y="1673352"/>
              <a:ext cx="2724912" cy="2724912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710509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349" d="1000000"/>
                    <am3d:preTrans dx="-11471" dy="-1712105" dz="-80306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55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5" name="!!m-chestnut">
                <a:extLst>
                  <a:ext uri="{FF2B5EF4-FFF2-40B4-BE49-F238E27FC236}">
                    <a16:creationId xmlns:a16="http://schemas.microsoft.com/office/drawing/2014/main" id="{9915C033-C7B9-63A5-EEC0-1450ABB74E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227832" y="1673352"/>
                <a:ext cx="2724912" cy="2724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timer">
                <a:extLst>
                  <a:ext uri="{FF2B5EF4-FFF2-40B4-BE49-F238E27FC236}">
                    <a16:creationId xmlns:a16="http://schemas.microsoft.com/office/drawing/2014/main" id="{C452E88B-9CDF-6D54-BEA0-993B2A1845D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636776"/>
              <a:ext cx="2724912" cy="2724912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55393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683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2880000" az="6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timer">
                <a:extLst>
                  <a:ext uri="{FF2B5EF4-FFF2-40B4-BE49-F238E27FC236}">
                    <a16:creationId xmlns:a16="http://schemas.microsoft.com/office/drawing/2014/main" id="{C452E88B-9CDF-6D54-BEA0-993B2A1845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615" y="1636776"/>
                <a:ext cx="2724912" cy="27249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8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 · ПАМЯТКА ПЕРЕД ОПЛАТОЙ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8646566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057400" cy="45720"/>
          </a:xfrm>
          <a:custGeom>
            <a:avLst/>
            <a:gdLst/>
            <a:ahLst/>
            <a:cxnLst/>
            <a:rect l="l" t="t" r="r" b="b"/>
            <a:pathLst>
              <a:path w="2057400" h="45720">
                <a:moveTo>
                  <a:pt x="0" y="9144"/>
                </a:moveTo>
                <a:lnTo>
                  <a:pt x="576072" y="45720"/>
                </a:lnTo>
                <a:lnTo>
                  <a:pt x="1275588" y="0"/>
                </a:lnTo>
                <a:lnTo>
                  <a:pt x="205740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6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ПАУЗА ПЕРЕД КНОПКОЙ «ОПЛАТИТЬ»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832104" y="2103120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2039112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41832" y="214884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spc="35" kern="0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· ПАУЗА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941832" y="2404872"/>
            <a:ext cx="4315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Отложи несрочную покупку на сутки. Желание не запрещаем — просто проверяем позже.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832104" y="3145536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3081528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41832" y="319125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· ПОЛНАЯ ЦЕНА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941832" y="3447288"/>
            <a:ext cx="4315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Сложи платежи, комиссии и даты. Подходит ли сумма бюджету месяца?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32104" y="4187952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" y="4123944"/>
            <a:ext cx="4736592" cy="832104"/>
          </a:xfrm>
          <a:prstGeom prst="roundRect">
            <a:avLst>
              <a:gd name="adj" fmla="val 4945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41832" y="423367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· БАРЬЕР</a:t>
            </a:r>
            <a:endParaRPr lang="en-US" sz="810" dirty="0"/>
          </a:p>
        </p:txBody>
      </p:sp>
      <p:sp>
        <p:nvSpPr>
          <p:cNvPr id="29" name="Text 26"/>
          <p:cNvSpPr/>
          <p:nvPr/>
        </p:nvSpPr>
        <p:spPr>
          <a:xfrm>
            <a:off x="941832" y="4489704"/>
            <a:ext cx="4315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Отключи промо-push, убери сохранённую карту, задай лимит на спонтанные траты.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5897880" y="3172968"/>
            <a:ext cx="2084832" cy="2660904"/>
          </a:xfrm>
          <a:prstGeom prst="roundRect">
            <a:avLst>
              <a:gd name="adj" fmla="val 1974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33872" y="3108960"/>
            <a:ext cx="2084832" cy="2660904"/>
          </a:xfrm>
          <a:prstGeom prst="roundRect">
            <a:avLst>
              <a:gd name="adj" fmla="val 1974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11596" y="3186684"/>
            <a:ext cx="1929384" cy="2112264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33" name="original-meme-serotonin" descr="/home/user/MyWorkAiBrain/presentations/impulse/assets/memes/meme-serotonin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3555063"/>
            <a:ext cx="1929384" cy="1375506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5911596" y="5298948"/>
            <a:ext cx="1929384" cy="393192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35" name="Text 31"/>
          <p:cNvSpPr/>
          <p:nvPr/>
        </p:nvSpPr>
        <p:spPr>
          <a:xfrm>
            <a:off x="5966460" y="5321808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СМЕШНО — ДА. СОВЕТ — НЕ СОВСЕМ</a:t>
            </a:r>
            <a:endParaRPr lang="en-US" sz="660" dirty="0"/>
          </a:p>
        </p:txBody>
      </p:sp>
      <p:pic>
        <p:nvPicPr>
          <p:cNvPr id="36" name="burst-8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249" y="962497"/>
            <a:ext cx="3433389" cy="3433389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8499348" y="1348740"/>
            <a:ext cx="2807208" cy="2807208"/>
          </a:xfrm>
          <a:prstGeom prst="roundRect">
            <a:avLst>
              <a:gd name="adj" fmla="val 146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435340" y="1284732"/>
            <a:ext cx="2807208" cy="2807208"/>
          </a:xfrm>
          <a:prstGeom prst="roundRect">
            <a:avLst>
              <a:gd name="adj" fmla="val 1466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9" name="paper-shadow-8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976" y="3442167"/>
            <a:ext cx="1961937" cy="4904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timer">
                <a:extLst>
                  <a:ext uri="{FF2B5EF4-FFF2-40B4-BE49-F238E27FC236}">
                    <a16:creationId xmlns:a16="http://schemas.microsoft.com/office/drawing/2014/main" id="{7113C6D9-C687-816D-E897-75BFF11870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476488" y="1316736"/>
              <a:ext cx="2724912" cy="2724912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55393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683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800000" az="6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timer">
                <a:extLst>
                  <a:ext uri="{FF2B5EF4-FFF2-40B4-BE49-F238E27FC236}">
                    <a16:creationId xmlns:a16="http://schemas.microsoft.com/office/drawing/2014/main" id="{7113C6D9-C687-816D-E897-75BFF11870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6488" y="1316736"/>
                <a:ext cx="2724912" cy="2724912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Shape 34"/>
          <p:cNvSpPr/>
          <p:nvPr/>
        </p:nvSpPr>
        <p:spPr>
          <a:xfrm>
            <a:off x="8142732" y="4219956"/>
            <a:ext cx="347472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101584" y="4169664"/>
            <a:ext cx="347472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165592" y="4183380"/>
            <a:ext cx="334670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ДАЁТ СЕБЕ 24 ЧАСА</a:t>
            </a:r>
            <a:endParaRPr lang="en-US" sz="770" dirty="0"/>
          </a:p>
        </p:txBody>
      </p:sp>
      <p:sp>
        <p:nvSpPr>
          <p:cNvPr id="44" name="Shape 37"/>
          <p:cNvSpPr/>
          <p:nvPr/>
        </p:nvSpPr>
        <p:spPr>
          <a:xfrm>
            <a:off x="832104" y="5504688"/>
            <a:ext cx="4736592" cy="603504"/>
          </a:xfrm>
          <a:prstGeom prst="roundRect">
            <a:avLst>
              <a:gd name="adj" fmla="val 6818"/>
            </a:avLst>
          </a:prstGeom>
          <a:solidFill>
            <a:srgbClr val="D9C8F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68096" y="5440680"/>
            <a:ext cx="4736592" cy="603504"/>
          </a:xfrm>
          <a:prstGeom prst="roundRect">
            <a:avLst>
              <a:gd name="adj" fmla="val 6818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46404" y="5372100"/>
            <a:ext cx="1415491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05256" y="5321808"/>
            <a:ext cx="1415491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969264" y="5335524"/>
            <a:ext cx="128747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ЧЕСТНАЯ ОГОВОРКА</a:t>
            </a:r>
            <a:endParaRPr lang="en-US" sz="720" dirty="0"/>
          </a:p>
        </p:txBody>
      </p:sp>
      <p:sp>
        <p:nvSpPr>
          <p:cNvPr id="49" name="Text 42"/>
          <p:cNvSpPr/>
          <p:nvPr/>
        </p:nvSpPr>
        <p:spPr>
          <a:xfrm>
            <a:off x="950976" y="563270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— рекомендация для проверки, не результат опроса.</a:t>
            </a:r>
            <a:endParaRPr lang="en-US" sz="1030" dirty="0"/>
          </a:p>
        </p:txBody>
      </p:sp>
      <p:sp>
        <p:nvSpPr>
          <p:cNvPr id="50" name="Text 43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практическая идея на основе [1, 2, 6]; эффективность ещё предстоит проверить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!!m-clipboard">
                <a:extLst>
                  <a:ext uri="{FF2B5EF4-FFF2-40B4-BE49-F238E27FC236}">
                    <a16:creationId xmlns:a16="http://schemas.microsoft.com/office/drawing/2014/main" id="{CEA52BFD-1712-C046-A786-2857B5C454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64408" y="1700784"/>
              <a:ext cx="2761488" cy="2761488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2761488" cy="2761488"/>
                    </a:xfrm>
                    <a:prstGeom prst="rect">
                      <a:avLst/>
                    </a:prstGeom>
                  </am3d:spPr>
                  <am3d:camera>
                    <am3d:pos x="0" y="0" z="57642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-116129" dz="-1254194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360000" az="6000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6148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!!m-clipboard">
                <a:extLst>
                  <a:ext uri="{FF2B5EF4-FFF2-40B4-BE49-F238E27FC236}">
                    <a16:creationId xmlns:a16="http://schemas.microsoft.com/office/drawing/2014/main" id="{CEA52BFD-1712-C046-A786-2857B5C454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64408" y="1700784"/>
                <a:ext cx="2761488" cy="2761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2" name="!!m-scales">
                <a:extLst>
                  <a:ext uri="{FF2B5EF4-FFF2-40B4-BE49-F238E27FC236}">
                    <a16:creationId xmlns:a16="http://schemas.microsoft.com/office/drawing/2014/main" id="{070F63A4-AFE8-F04B-9BD1-586D400398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618488"/>
              <a:ext cx="2816352" cy="2816352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2816352" cy="2816352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34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8163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2" name="!!m-scales">
                <a:extLst>
                  <a:ext uri="{FF2B5EF4-FFF2-40B4-BE49-F238E27FC236}">
                    <a16:creationId xmlns:a16="http://schemas.microsoft.com/office/drawing/2014/main" id="{070F63A4-AFE8-F04B-9BD1-586D400398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4615" y="1618488"/>
                <a:ext cx="2816352" cy="281635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9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 · ВЫВОДЫ И ОГРАНИЧЕНИЯ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9727387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400300" cy="45720"/>
          </a:xfrm>
          <a:custGeom>
            <a:avLst/>
            <a:gdLst/>
            <a:ahLst/>
            <a:cxnLst/>
            <a:rect l="l" t="t" r="r" b="b"/>
            <a:pathLst>
              <a:path w="2400300" h="45720">
                <a:moveTo>
                  <a:pt x="0" y="9144"/>
                </a:moveTo>
                <a:lnTo>
                  <a:pt x="672084" y="45720"/>
                </a:lnTo>
                <a:lnTo>
                  <a:pt x="1488186" y="0"/>
                </a:lnTo>
                <a:lnTo>
                  <a:pt x="240030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60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 ПОМОГАЕТ ПОНЯТЬ. НЕ ДОКАЗЫВАЕТ.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832104" y="2121408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2057400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50976" y="21762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САМООТЧЁТ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950976" y="2450592"/>
            <a:ext cx="6080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могут не помнить каждую покупку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" y="3145536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3081528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50976" y="320040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 ≥ 50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950976" y="3474720"/>
            <a:ext cx="6080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пилотная выборка не равна всем студентам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" y="4169664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" y="4105656"/>
            <a:ext cx="6565392" cy="804672"/>
          </a:xfrm>
          <a:prstGeom prst="roundRect">
            <a:avLst>
              <a:gd name="adj" fmla="val 5114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50976" y="422452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35" kern="0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КОРРЕЛЯЦИЯ ≠ ПРИЧИНА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950976" y="4498848"/>
            <a:ext cx="6080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одного среза проверяет связи, не причинность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32104" y="5358384"/>
            <a:ext cx="6565392" cy="713232"/>
          </a:xfrm>
          <a:prstGeom prst="roundRect">
            <a:avLst>
              <a:gd name="adj" fmla="val 5769"/>
            </a:avLst>
          </a:prstGeom>
          <a:solidFill>
            <a:srgbClr val="57BFB2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" y="5294376"/>
            <a:ext cx="6565392" cy="713232"/>
          </a:xfrm>
          <a:prstGeom prst="roundRect">
            <a:avLst>
              <a:gd name="adj" fmla="val 5769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46404" y="5225796"/>
            <a:ext cx="1344168" cy="228600"/>
          </a:xfrm>
          <a:prstGeom prst="roundRect">
            <a:avLst>
              <a:gd name="adj" fmla="val 10000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5256" y="5175504"/>
            <a:ext cx="1344168" cy="228600"/>
          </a:xfrm>
          <a:prstGeom prst="roundRect">
            <a:avLst>
              <a:gd name="adj" fmla="val 10000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9264" y="5189220"/>
            <a:ext cx="12161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ФИНАЛЬНЫЙ ТЕЗИС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50976" y="5486400"/>
            <a:ext cx="6199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60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ищем «виноватого». Ищем связи — и проверяем их честно.</a:t>
            </a:r>
            <a:endParaRPr lang="en-US" sz="1160" dirty="0"/>
          </a:p>
        </p:txBody>
      </p:sp>
      <p:pic>
        <p:nvPicPr>
          <p:cNvPr id="36" name="burst-9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778" y="932322"/>
            <a:ext cx="3548604" cy="3548604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8398764" y="1330452"/>
            <a:ext cx="2898648" cy="2898648"/>
          </a:xfrm>
          <a:prstGeom prst="roundRect">
            <a:avLst>
              <a:gd name="adj" fmla="val 1420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334756" y="1266444"/>
            <a:ext cx="2898648" cy="2898648"/>
          </a:xfrm>
          <a:prstGeom prst="roundRect">
            <a:avLst>
              <a:gd name="adj" fmla="val 1420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9" name="paper-shadow-9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193" y="3495203"/>
            <a:ext cx="2027773" cy="50694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scales">
                <a:extLst>
                  <a:ext uri="{FF2B5EF4-FFF2-40B4-BE49-F238E27FC236}">
                    <a16:creationId xmlns:a16="http://schemas.microsoft.com/office/drawing/2014/main" id="{57B4F536-8A1E-DC97-BD8E-5F036419C1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75904" y="1298448"/>
              <a:ext cx="2816352" cy="2816352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2816352" cy="2816352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-12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8163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scales">
                <a:extLst>
                  <a:ext uri="{FF2B5EF4-FFF2-40B4-BE49-F238E27FC236}">
                    <a16:creationId xmlns:a16="http://schemas.microsoft.com/office/drawing/2014/main" id="{57B4F536-8A1E-DC97-BD8E-5F036419C1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5904" y="1298448"/>
                <a:ext cx="2816352" cy="2816352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Shape 35"/>
          <p:cNvSpPr/>
          <p:nvPr/>
        </p:nvSpPr>
        <p:spPr>
          <a:xfrm>
            <a:off x="8069580" y="4302252"/>
            <a:ext cx="3493008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028432" y="4251960"/>
            <a:ext cx="3493008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092440" y="4265676"/>
            <a:ext cx="336499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ВЕСОМЫ — ДАННЫЕ, НЕ МЕМ</a:t>
            </a:r>
            <a:endParaRPr lang="en-US" sz="770" dirty="0"/>
          </a:p>
        </p:txBody>
      </p:sp>
      <p:sp>
        <p:nvSpPr>
          <p:cNvPr id="44" name="Text 38"/>
          <p:cNvSpPr/>
          <p:nvPr/>
        </p:nvSpPr>
        <p:spPr>
          <a:xfrm>
            <a:off x="694944" y="62362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10" kern="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ОПОРА: ограничения дизайна: самоотчёт, выборка, поперечное исследование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!!m-timer">
                <a:extLst>
                  <a:ext uri="{FF2B5EF4-FFF2-40B4-BE49-F238E27FC236}">
                    <a16:creationId xmlns:a16="http://schemas.microsoft.com/office/drawing/2014/main" id="{8A2B5EC8-5FFA-8548-53AC-7CA0A4C74F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27832" y="1636776"/>
              <a:ext cx="2724912" cy="2724912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2724912" cy="2724912"/>
                    </a:xfrm>
                    <a:prstGeom prst="rect">
                      <a:avLst/>
                    </a:prstGeom>
                  </am3d:spPr>
                  <am3d:camera>
                    <am3d:pos x="0" y="0" z="553936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683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6480000" az="6000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24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!!m-timer">
                <a:extLst>
                  <a:ext uri="{FF2B5EF4-FFF2-40B4-BE49-F238E27FC236}">
                    <a16:creationId xmlns:a16="http://schemas.microsoft.com/office/drawing/2014/main" id="{8A2B5EC8-5FFA-8548-53AC-7CA0A4C74F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227832" y="1636776"/>
                <a:ext cx="2724912" cy="2724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!!m-books">
                <a:extLst>
                  <a:ext uri="{FF2B5EF4-FFF2-40B4-BE49-F238E27FC236}">
                    <a16:creationId xmlns:a16="http://schemas.microsoft.com/office/drawing/2014/main" id="{C68B9B1A-7612-2B7C-9AD5-AE071DC75F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94615" y="1554480"/>
              <a:ext cx="2423160" cy="242316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2423160" cy="2423160"/>
                    </a:xfrm>
                    <a:prstGeom prst="rect">
                      <a:avLst/>
                    </a:prstGeom>
                  </am3d:spPr>
                  <am3d:camera>
                    <am3d:pos x="0" y="0" z="667556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2104" d="1000000"/>
                    <am3d:preTrans dx="79514" dy="-9883400" dz="-1727303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3000000" az="12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423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!!m-books">
                <a:extLst>
                  <a:ext uri="{FF2B5EF4-FFF2-40B4-BE49-F238E27FC236}">
                    <a16:creationId xmlns:a16="http://schemas.microsoft.com/office/drawing/2014/main" id="{C68B9B1A-7612-2B7C-9AD5-AE071DC75F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94615" y="1554480"/>
                <a:ext cx="2423160" cy="242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FA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10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" y="233172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94944" y="182880"/>
            <a:ext cx="2103120" cy="292608"/>
          </a:xfrm>
          <a:prstGeom prst="roundRect">
            <a:avLst>
              <a:gd name="adj" fmla="val 7813"/>
            </a:avLst>
          </a:prstGeom>
          <a:solidFill>
            <a:srgbClr val="E6373F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9659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КАШТАНСКИЙ РАЗБОР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2962656" y="228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55" kern="0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 · ИСТОЧНИКИ И ПРОВЕРЯЕМОСТЬ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5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704088"/>
            <a:ext cx="10808208" cy="91"/>
          </a:xfrm>
          <a:prstGeom prst="line">
            <a:avLst/>
          </a:prstGeom>
          <a:noFill/>
          <a:ln w="29210">
            <a:solidFill>
              <a:srgbClr val="E637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5932" y="187452"/>
            <a:ext cx="640080" cy="310896"/>
          </a:xfrm>
          <a:prstGeom prst="roundRect">
            <a:avLst>
              <a:gd name="adj" fmla="val 7353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44784" y="137160"/>
            <a:ext cx="640080" cy="310896"/>
          </a:xfrm>
          <a:prstGeom prst="roundRect">
            <a:avLst>
              <a:gd name="adj" fmla="val 7353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8792" y="150876"/>
            <a:ext cx="5120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/ 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652760" y="859536"/>
            <a:ext cx="640080" cy="45720"/>
          </a:xfrm>
          <a:custGeom>
            <a:avLst/>
            <a:gdLst/>
            <a:ahLst/>
            <a:cxnLst/>
            <a:rect l="l" t="t" r="r" b="b"/>
            <a:pathLst>
              <a:path w="640080" h="45720">
                <a:moveTo>
                  <a:pt x="0" y="36576"/>
                </a:moveTo>
                <a:lnTo>
                  <a:pt x="228600" y="0"/>
                </a:lnTo>
                <a:lnTo>
                  <a:pt x="429768" y="45720"/>
                </a:lnTo>
                <a:lnTo>
                  <a:pt x="640080" y="0"/>
                </a:lnTo>
              </a:path>
            </a:pathLst>
          </a:custGeom>
          <a:ln w="22860">
            <a:solidFill>
              <a:srgbClr val="2E70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" y="6455664"/>
            <a:ext cx="10808208" cy="91"/>
          </a:xfrm>
          <a:prstGeom prst="line">
            <a:avLst/>
          </a:prstGeom>
          <a:noFill/>
          <a:ln w="8255">
            <a:solidFill>
              <a:srgbClr val="17181C">
                <a:alpha val="3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54710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spc="2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МЕМЫ — ДЛЯ ИЛЛЮСТРАЦИИ. ВЫВОДЫ — ТОЛЬКО ПО ДАННЫМ.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0" y="65471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spc="40" kern="0" dirty="0">
                <a:solidFill>
                  <a:srgbClr val="5961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  ·  ПРОЕКТ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94944" y="1764792"/>
            <a:ext cx="2674620" cy="45720"/>
          </a:xfrm>
          <a:custGeom>
            <a:avLst/>
            <a:gdLst/>
            <a:ahLst/>
            <a:cxnLst/>
            <a:rect l="l" t="t" r="r" b="b"/>
            <a:pathLst>
              <a:path w="2674620" h="45720">
                <a:moveTo>
                  <a:pt x="0" y="9144"/>
                </a:moveTo>
                <a:lnTo>
                  <a:pt x="748894" y="45720"/>
                </a:lnTo>
                <a:lnTo>
                  <a:pt x="1658264" y="0"/>
                </a:lnTo>
                <a:lnTo>
                  <a:pt x="2674620" y="41148"/>
                </a:lnTo>
              </a:path>
            </a:pathLst>
          </a:custGeom>
          <a:ln w="107950">
            <a:solidFill>
              <a:srgbClr val="FFDD55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987552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2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НЕ «ПОВЕРЬ КАШТАНУ». ПРОВЕРЬ ИСТОЧНИКИ.</a:t>
            </a:r>
            <a:endParaRPr lang="en-US" sz="2420" dirty="0"/>
          </a:p>
        </p:txBody>
      </p:sp>
      <p:sp>
        <p:nvSpPr>
          <p:cNvPr id="18" name="Shape 15"/>
          <p:cNvSpPr/>
          <p:nvPr/>
        </p:nvSpPr>
        <p:spPr>
          <a:xfrm>
            <a:off x="813816" y="2057400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993392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7824" y="21396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252728" y="2103120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Rook, 1987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1252728" y="2359152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Buying Impulse · JCR 14(2)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813816" y="2990088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2926080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77824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52728" y="3035808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Beatty &amp; Ferrell, 1998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1252728" y="3291840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buying: Modeling its precursors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813816" y="3922776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3858768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77824" y="40050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252728" y="3968496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Verplanken &amp; Herabadi, 2001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1252728" y="4224528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differences in impulse buying tendency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813816" y="4855464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" y="4791456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77824" y="4937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252728" y="4901184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Rook &amp; Fisher, 1995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1252728" y="5157216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Normative influences on impulsive buying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4489704" y="2057400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25696" y="1993392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553712" y="21396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928616" y="2103120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Przybylski et al., 2013</a:t>
            </a:r>
            <a:endParaRPr lang="en-US" sz="760" dirty="0"/>
          </a:p>
        </p:txBody>
      </p:sp>
      <p:sp>
        <p:nvSpPr>
          <p:cNvPr id="42" name="Text 39"/>
          <p:cNvSpPr/>
          <p:nvPr/>
        </p:nvSpPr>
        <p:spPr>
          <a:xfrm>
            <a:off x="4928616" y="2359152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Motivational, emotional, behavioral correlates of FOMO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4489704" y="2990088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25696" y="2926080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553712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373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4928616" y="3035808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Soman, 2001</a:t>
            </a:r>
            <a:endParaRPr lang="en-US" sz="760" dirty="0"/>
          </a:p>
        </p:txBody>
      </p:sp>
      <p:sp>
        <p:nvSpPr>
          <p:cNvPr id="47" name="Text 44"/>
          <p:cNvSpPr/>
          <p:nvPr/>
        </p:nvSpPr>
        <p:spPr>
          <a:xfrm>
            <a:off x="4928616" y="3291840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of payment mechanism on spending behavior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4489704" y="3922776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25696" y="3858768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553712" y="40050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4928616" y="3968496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Tversky &amp; Kahneman, 1974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4928616" y="4224528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under uncertainty: Heuristics and biases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4489704" y="4855464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425696" y="4791456"/>
            <a:ext cx="3438144" cy="813816"/>
          </a:xfrm>
          <a:prstGeom prst="roundRect">
            <a:avLst>
              <a:gd name="adj" fmla="val 5056"/>
            </a:avLst>
          </a:prstGeom>
          <a:solidFill>
            <a:srgbClr val="FFFEF8"/>
          </a:solidFill>
          <a:ln w="1587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4553712" y="4937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70B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1250" dirty="0"/>
          </a:p>
        </p:txBody>
      </p:sp>
      <p:sp>
        <p:nvSpPr>
          <p:cNvPr id="56" name="Text 53"/>
          <p:cNvSpPr/>
          <p:nvPr/>
        </p:nvSpPr>
        <p:spPr>
          <a:xfrm>
            <a:off x="4928616" y="4901184"/>
            <a:ext cx="2761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Thaler, 1999</a:t>
            </a:r>
            <a:endParaRPr lang="en-US" sz="760" dirty="0"/>
          </a:p>
        </p:txBody>
      </p:sp>
      <p:sp>
        <p:nvSpPr>
          <p:cNvPr id="57" name="Text 54"/>
          <p:cNvSpPr/>
          <p:nvPr/>
        </p:nvSpPr>
        <p:spPr>
          <a:xfrm>
            <a:off x="4928616" y="5157216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accounting matters</a:t>
            </a:r>
            <a:endParaRPr lang="en-US" sz="820" dirty="0"/>
          </a:p>
        </p:txBody>
      </p:sp>
      <p:pic>
        <p:nvPicPr>
          <p:cNvPr id="58" name="burst-10" descr="/home/user/MyWorkAiBrain/presentations/impulse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99" y="1028471"/>
            <a:ext cx="2835097" cy="2835097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8682228" y="1266444"/>
            <a:ext cx="2505456" cy="2505456"/>
          </a:xfrm>
          <a:prstGeom prst="roundRect">
            <a:avLst>
              <a:gd name="adj" fmla="val 1642"/>
            </a:avLst>
          </a:prstGeom>
          <a:solidFill>
            <a:srgbClr val="FFDD55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618220" y="1202436"/>
            <a:ext cx="2505456" cy="2505456"/>
          </a:xfrm>
          <a:prstGeom prst="roundRect">
            <a:avLst>
              <a:gd name="adj" fmla="val 1642"/>
            </a:avLst>
          </a:prstGeom>
          <a:solidFill>
            <a:srgbClr val="FFFEF8"/>
          </a:solidFill>
          <a:ln w="1968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1" name="paper-shadow-10" descr="/home/user/MyWorkAiBrain/presentations/impulse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610" y="3124505"/>
            <a:ext cx="1744675" cy="43616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2" name="!!m-books">
                <a:extLst>
                  <a:ext uri="{FF2B5EF4-FFF2-40B4-BE49-F238E27FC236}">
                    <a16:creationId xmlns:a16="http://schemas.microsoft.com/office/drawing/2014/main" id="{90ED94A2-6FFA-4EB0-1EE8-432C79264A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59368" y="1234440"/>
              <a:ext cx="2423160" cy="242316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2423160" cy="2423160"/>
                    </a:xfrm>
                    <a:prstGeom prst="rect">
                      <a:avLst/>
                    </a:prstGeom>
                  </am3d:spPr>
                  <am3d:camera>
                    <am3d:pos x="0" y="0" z="667556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2104" d="1000000"/>
                    <am3d:preTrans dx="79514" dy="-9883400" dz="-1727303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1680000" az="12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423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2" name="!!m-books">
                <a:extLst>
                  <a:ext uri="{FF2B5EF4-FFF2-40B4-BE49-F238E27FC236}">
                    <a16:creationId xmlns:a16="http://schemas.microsoft.com/office/drawing/2014/main" id="{90ED94A2-6FFA-4EB0-1EE8-432C79264A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9368" y="1234440"/>
                <a:ext cx="2423160" cy="242316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Shape 57"/>
          <p:cNvSpPr/>
          <p:nvPr/>
        </p:nvSpPr>
        <p:spPr>
          <a:xfrm>
            <a:off x="8426196" y="3817620"/>
            <a:ext cx="2971800" cy="393192"/>
          </a:xfrm>
          <a:prstGeom prst="roundRect">
            <a:avLst>
              <a:gd name="adj" fmla="val 5814"/>
            </a:avLst>
          </a:prstGeom>
          <a:solidFill>
            <a:srgbClr val="17181C"/>
          </a:solidFill>
          <a:ln w="10160">
            <a:solidFill>
              <a:srgbClr val="17181C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8385048" y="3767328"/>
            <a:ext cx="2971800" cy="393192"/>
          </a:xfrm>
          <a:prstGeom prst="roundRect">
            <a:avLst>
              <a:gd name="adj" fmla="val 5814"/>
            </a:avLst>
          </a:prstGeom>
          <a:solidFill>
            <a:srgbClr val="FFDD55"/>
          </a:solidFill>
          <a:ln w="13335">
            <a:solidFill>
              <a:srgbClr val="17181C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8449056" y="3781044"/>
            <a:ext cx="284378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718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ИСТОЧНИКИ ПРОВЕРЕНЫ</a:t>
            </a:r>
            <a:endParaRPr lang="en-US" sz="770" dirty="0"/>
          </a:p>
        </p:txBody>
      </p:sp>
      <p:sp>
        <p:nvSpPr>
          <p:cNvPr id="66" name="Shape 60"/>
          <p:cNvSpPr/>
          <p:nvPr/>
        </p:nvSpPr>
        <p:spPr>
          <a:xfrm>
            <a:off x="8430768" y="4434840"/>
            <a:ext cx="3063240" cy="1737360"/>
          </a:xfrm>
          <a:prstGeom prst="roundRect">
            <a:avLst>
              <a:gd name="adj" fmla="val 2368"/>
            </a:avLst>
          </a:prstGeom>
          <a:solidFill>
            <a:srgbClr val="E6373F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366760" y="4370832"/>
            <a:ext cx="3063240" cy="1737360"/>
          </a:xfrm>
          <a:prstGeom prst="roundRect">
            <a:avLst>
              <a:gd name="adj" fmla="val 2368"/>
            </a:avLst>
          </a:prstGeom>
          <a:solidFill>
            <a:srgbClr val="FFFEF8"/>
          </a:solidFill>
          <a:ln w="17145">
            <a:solidFill>
              <a:srgbClr val="17181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8444484" y="4448556"/>
            <a:ext cx="2907792" cy="1251814"/>
          </a:xfrm>
          <a:prstGeom prst="rect">
            <a:avLst/>
          </a:prstGeom>
          <a:solidFill>
            <a:srgbClr val="FFFEF8"/>
          </a:solidFill>
          <a:ln w="5715">
            <a:solidFill>
              <a:srgbClr val="17181C"/>
            </a:solidFill>
            <a:prstDash val="solid"/>
          </a:ln>
        </p:spPr>
      </p:sp>
      <p:pic>
        <p:nvPicPr>
          <p:cNvPr id="69" name="original-meme-chestnut" descr="/home/user/MyWorkAiBrain/presentations/impulse/assets/memes/chestnut-photo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861" y="4448556"/>
            <a:ext cx="1873038" cy="1251814"/>
          </a:xfrm>
          <a:prstGeom prst="rect">
            <a:avLst/>
          </a:prstGeom>
        </p:spPr>
      </p:pic>
      <p:sp>
        <p:nvSpPr>
          <p:cNvPr id="70" name="Shape 63"/>
          <p:cNvSpPr/>
          <p:nvPr/>
        </p:nvSpPr>
        <p:spPr>
          <a:xfrm>
            <a:off x="8444484" y="5700370"/>
            <a:ext cx="2907792" cy="330098"/>
          </a:xfrm>
          <a:prstGeom prst="rect">
            <a:avLst/>
          </a:prstGeom>
          <a:solidFill>
            <a:srgbClr val="17181C"/>
          </a:solidFill>
          <a:ln/>
        </p:spPr>
      </p:sp>
      <p:sp>
        <p:nvSpPr>
          <p:cNvPr id="71" name="Text 64"/>
          <p:cNvSpPr/>
          <p:nvPr/>
        </p:nvSpPr>
        <p:spPr>
          <a:xfrm>
            <a:off x="8499348" y="5723230"/>
            <a:ext cx="2798064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FFFE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КАШТАН: «ССЫЛКИ ПРИЛОЖЕНЫ»</a:t>
            </a:r>
            <a:endParaRPr lang="en-US" sz="720" dirty="0"/>
          </a:p>
        </p:txBody>
      </p:sp>
      <p:sp>
        <p:nvSpPr>
          <p:cNvPr id="72" name="Text 65"/>
          <p:cNvSpPr/>
          <p:nvPr/>
        </p:nvSpPr>
        <p:spPr>
          <a:xfrm>
            <a:off x="777240" y="5934456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9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Полные DOI и карта утверждений по слайдам — в файле источников.</a:t>
            </a:r>
            <a:endParaRPr lang="en-US" sz="8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3" name="!!m-scales">
                <a:extLst>
                  <a:ext uri="{FF2B5EF4-FFF2-40B4-BE49-F238E27FC236}">
                    <a16:creationId xmlns:a16="http://schemas.microsoft.com/office/drawing/2014/main" id="{ACB5A9B4-5BA3-2E42-D42C-EF664278C2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319272" y="1618488"/>
              <a:ext cx="2816352" cy="2816352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2816352" cy="2816352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8163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3" name="!!m-scales">
                <a:extLst>
                  <a:ext uri="{FF2B5EF4-FFF2-40B4-BE49-F238E27FC236}">
                    <a16:creationId xmlns:a16="http://schemas.microsoft.com/office/drawing/2014/main" id="{ACB5A9B4-5BA3-2E42-D42C-EF664278C2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319272" y="1618488"/>
                <a:ext cx="2816352" cy="281635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только посмотрю — психология импульсивных трат</dc:title>
  <dc:subject>Мемный исследовательский план о психологии импульсивных трат</dc:subject>
  <dc:creator>MyWorkAiBrain</dc:creator>
  <cp:lastModifiedBy>MyWorkAiBrain</cp:lastModifiedBy>
  <cp:revision>1</cp:revision>
  <dcterms:created xsi:type="dcterms:W3CDTF">2026-10-11T21:32:53Z</dcterms:created>
  <dcterms:modified xsi:type="dcterms:W3CDTF">2026-10-11T21:32:53Z</dcterms:modified>
</cp:coreProperties>
</file>