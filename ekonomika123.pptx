
<file path=[Content_Types].xml><?xml version="1.0" encoding="utf-8"?>
<Types xmlns="http://schemas.openxmlformats.org/package/2006/content-types">
  <Default Extension="glb" ContentType="model/gltf.binary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Сегодня говорим о психологии импульсивных трат. В центре — знакомая сцена: собирался только посмотреть, а в корзине уже несколько вещей. Каштан здесь не научная переменная, а талисман проекта и намеренная отсылка к исходной презентации: оригинальная фотография каштанов сохранена, а рядом появился её 3D-герой. Мы не будем стыдить покупателя и сводить всё к «слабой воле». Посмотрим на сигналы среды, самоконтроль и то, как устроен момент оплаты. В конце предложим несколько способов создать паузу перед решением. Важно: результаты опроса пока не собраны; далее показаны план и гипотезы, а не готовые выводы.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исходной версии важность темы объяснялась тем, что покупки всё чаще начинаются в телефоне: подборка, пуш-уведомление, таймер, сохранённая карта, оплата частями. Мы сохраняем саму тему BNPL, но не переносим непроверенные цифры о рынке и законе как установленный факт. Для проекта важен более точный вопрос: какие ситуации участники сами связывают со спонтанными покупками? На картинке — мем из исходника про 106 рублей и пять маркетплейсов. Это смешная иллюстрация узнаваемого поведения, а не доказательство его распространённости. Исследование будет измерять ответы студентов, а не выдавать мем за статистику.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Важно различать незапланированную покупку и импульсивную. Незапланированная — это любая покупка, которой не было в исходном списке: например, вспомнил дома, что закончился чай. В исследованиях импульсивную покупку обычно описывают как внезапное сильное желание приобрести что-то, при котором обдумывание может сократиться. Это не означает, что каждая такая покупка вредна или что человека надо обвинять. Для анкеты нужно дать участникам одно и то же определение, иначе ответы окажутся несопоставимыми. Определение опирается на работы Рука и Верпланкен с Херабади; буквальную цитату не используем.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этом слайде — упрощённая рабочая схема, а не универсальный закон. Сначала появляется триггер — скидка, настроение, рекомендация или напоминание. Затем может возникнуть желание купить прямо сейчас. Быстрый checkout сокращает паузу, после которой человек иногда испытывает радость, иногда сожаление, а иногда не чувствует ничего особенного. Теория Дхолакиа рассматривает и ситуацию, и внутреннее желание, и сопротивление импульсу. Вопрос анкеты не будет звучать «вы безвольный?». Мы спросим, как часто покупки возникали внезапно и как часто человек позже сожалел о них. Мем с котом и списанием ста рублей сохранён из оригинала — он иллюстрирует узнаваемый момент, но ничего не доказывает.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выделяем несколько возможных сигналов среды, которые можно спросить в анкете: дефицит и таймеры, отзывы и ощущение «все уже купили», сравнение с чужими покупками, а также дистанция между решением и оплатой. Исследования дефицита и социального влияния помогают обосновать, почему такие сигналы стоит измерять, но не позволяют заранее обвинить конкретный интерфейс или доказать причину в нашем маленьком опросе. Мем про «инвестировала в серотонин» мы сохранили из исходника как юмористическую иллюстрацию покупки ради настроения. Это не медицинское объяснение и не буквальное измерение нейромедиаторов. В анкете фиксируем самоотчёт: что человек заметил, что купил и как потом оценил решение.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Целевая группа сохранена из исходного проекта: студенты вузов от восемнадцати до двадцати пяти лет. Планируем набрать не менее пятидесяти добровольцев; это целевой размер для учебного разведочного исследования, а не уже собранная выборка. Главный вопрос: какие ситуации и способы оплаты студенты сами связывают с незапланированными покупками? Анкета будет анонимной и добровольной. Не спрашиваем номер карты, точные банковские данные, имя или логин. Для учебной работы достаточно частоты самоотчётов и оценки ситуаций. Если опрос ещё не прошёл, на защите честно говорим «планируем» и не рисуем результаты заранее.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исходные гипотезы уточнены так, чтобы их можно было проверять вопросами анкеты. Первая: выраженность FOMO и склонность к импульсивным покупкам связаны с частотой незапланированных покупок и использованием оплаты частями. Вторая: социальное сравнение связано с самоотчётами о статусных покупках. Третья: финансовая грамотность может быть связана с более частым планированием бюджета, но мы не предполагаем, что знания полностью устраняют импульсы. Это именно гипотезы, а не результаты. Поскольку планируется однократный опрос, мы сможем говорить о связях в ответах, но не докажем, что один фактор вызвал другой.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План проекта превращаем в последовательность, у которой есть проверяемый результат на каждом шаге. Сначала изучаем литературу и выбираем определения. Затем составляем короткую анкету и проверяем, понятны ли вопросы нескольким добровольцам. После этого собираем ответы студентов, кодируем их без идентификаторов и считаем описательные показатели и простые связи. Наконец, делаем памятку о паузе перед покупкой. Мем из исходника про разные «банки» оставлен как лёгкая иллюстрация конфликта приоритетов, не как рекомендация тратить на одно или другое. В реальном опросе мы не просим раскрывать личные расходы; достаточно диапазонов и самооценок.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Практический результат — памятка не про запреты и не про стыд, а про возможность добавить несколько секунд на решение. Первый приём — отложить несрочную покупку в избранное и вернуться к ней завтра. Второй — посмотреть, не мешает ли сохранённая карта или автопокупка: если да, убрать быстрый сценарий. Третий — перед оплатой задать три вопроса: действительно ли вещь нужна, подходит ли она бюджету, купил бы я её без таймера и скидки? Это предложения проекта, а не обещание, что каждый приём сработает у всех. После сбора данных памятку можно обсудить со студентами и улучшить. Мем с деньгами из исходника остаётся визуальной шуткой, а не финансовым советом.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Подведём итог. Исходная презентация уже содержала удачную интонацию — мемы, каштан и узнаваемые ситуации с покупками. Мы сохранили эту интонацию, но уточнили определения, отделили мемы от данных, добавили проверяемые гипотезы, анонимный план опроса, ограничения и источники. Наш собственный вывод для проекта: разумный контроль — это не только «держи себя в руках», но и среда, в которой можно сделать паузу и проверить бюджет. Это предложение, не результат эксперимента. Каштан возвращает нас к исходному образу и закрывает чек. Спасибо за внимание; после опроса гипотезы нужно будет подтвердить, уточнить или отвергнуть.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Relationship Id="rIdM3d1" Type="http://schemas.microsoft.com/office/2017/06/relationships/model3d" Target="../media/model3d1.glb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2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Relationship Id="rIdM3d2" Type="http://schemas.microsoft.com/office/2017/06/relationships/model3d" Target="../media/model3d2.glb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3.png"/><Relationship Id="rId3" Type="http://schemas.openxmlformats.org/officeDocument/2006/relationships/image" Target="../media/image-1-4.png"/><Relationship Id="rId4" Type="http://schemas.openxmlformats.org/officeDocument/2006/relationships/image" Target="../media/image-2-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Relationship Id="rIdM3d3" Type="http://schemas.microsoft.com/office/2017/06/relationships/model3d" Target="../media/model3d3.glb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4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Relationship Id="rIdM3d4" Type="http://schemas.microsoft.com/office/2017/06/relationships/model3d" Target="../media/model3d4.glb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5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Relationship Id="rIdM3d5" Type="http://schemas.microsoft.com/office/2017/06/relationships/model3d" Target="../media/model3d5.glb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3.png"/><Relationship Id="rId3" Type="http://schemas.openxmlformats.org/officeDocument/2006/relationships/image" Target="../media/image-1-4.png"/><Relationship Id="rId4" Type="http://schemas.openxmlformats.org/officeDocument/2006/relationships/image" Target="../media/image-2-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Relationship Id="rIdM3d6" Type="http://schemas.microsoft.com/office/2017/06/relationships/model3d" Target="../media/model3d6.glb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3.png"/><Relationship Id="rId3" Type="http://schemas.openxmlformats.org/officeDocument/2006/relationships/image" Target="../media/image-1-4.png"/><Relationship Id="rId4" Type="http://schemas.openxmlformats.org/officeDocument/2006/relationships/image" Target="../media/image-2-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Relationship Id="rIdM3d7" Type="http://schemas.microsoft.com/office/2017/06/relationships/model3d" Target="../media/model3d7.glb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8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Relationship Id="rIdM3d8" Type="http://schemas.microsoft.com/office/2017/06/relationships/model3d" Target="../media/model3d8.glb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9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Relationship Id="rIdM3d9" Type="http://schemas.microsoft.com/office/2017/06/relationships/model3d" Target="../media/model3d9.glb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Relationship Id="rIdM3d10" Type="http://schemas.microsoft.com/office/2017/06/relationships/model3d" Target="../media/model3d10.glb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">
    <p:bg>
      <p:bgPr>
        <a:solidFill>
          <a:srgbClr val="F8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aper-bg" descr="/home/user/MyWorkAiBrain/presentations/impulse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brand-dot"/>
          <p:cNvSpPr/>
          <p:nvPr/>
        </p:nvSpPr>
        <p:spPr>
          <a:xfrm>
            <a:off x="713232" y="310896"/>
            <a:ext cx="128016" cy="128016"/>
          </a:xfrm>
          <a:prstGeom prst="ellipse">
            <a:avLst/>
          </a:prstGeom>
          <a:solidFill>
            <a:srgbClr val="E64D42"/>
          </a:solidFill>
          <a:ln/>
        </p:spPr>
      </p:sp>
      <p:sp>
        <p:nvSpPr>
          <p:cNvPr id="4" name="!!brand"/>
          <p:cNvSpPr/>
          <p:nvPr/>
        </p:nvSpPr>
        <p:spPr>
          <a:xfrm>
            <a:off x="969264" y="237744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ПСИХОЛОГИЯ ИМПУЛЬСИВНЫХ ТРАТ</a:t>
            </a:r>
            <a:endParaRPr lang="en-US" sz="900" dirty="0"/>
          </a:p>
        </p:txBody>
      </p:sp>
      <p:sp>
        <p:nvSpPr>
          <p:cNvPr id="5" name="!!section"/>
          <p:cNvSpPr/>
          <p:nvPr/>
        </p:nvSpPr>
        <p:spPr>
          <a:xfrm>
            <a:off x="8412480" y="2377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40" kern="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СТАРТ</a:t>
            </a:r>
            <a:endParaRPr lang="en-US" sz="900" dirty="0"/>
          </a:p>
        </p:txBody>
      </p:sp>
      <p:sp>
        <p:nvSpPr>
          <p:cNvPr id="6" name="!!page"/>
          <p:cNvSpPr/>
          <p:nvPr/>
        </p:nvSpPr>
        <p:spPr>
          <a:xfrm>
            <a:off x="10652760" y="2377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20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10</a:t>
            </a:r>
            <a:endParaRPr lang="en-US" sz="900" dirty="0"/>
          </a:p>
        </p:txBody>
      </p:sp>
      <p:sp>
        <p:nvSpPr>
          <p:cNvPr id="7" name="!!track"/>
          <p:cNvSpPr/>
          <p:nvPr/>
        </p:nvSpPr>
        <p:spPr>
          <a:xfrm>
            <a:off x="713232" y="630936"/>
            <a:ext cx="10762488" cy="22860"/>
          </a:xfrm>
          <a:prstGeom prst="rect">
            <a:avLst/>
          </a:prstGeom>
          <a:solidFill>
            <a:srgbClr val="D6D4CD"/>
          </a:solidFill>
          <a:ln/>
        </p:spPr>
      </p:sp>
      <p:sp>
        <p:nvSpPr>
          <p:cNvPr id="8" name="!!progress"/>
          <p:cNvSpPr/>
          <p:nvPr/>
        </p:nvSpPr>
        <p:spPr>
          <a:xfrm>
            <a:off x="713232" y="630936"/>
            <a:ext cx="1076249" cy="22860"/>
          </a:xfrm>
          <a:prstGeom prst="rect">
            <a:avLst/>
          </a:prstGeom>
          <a:solidFill>
            <a:srgbClr val="E64D42"/>
          </a:solidFill>
          <a:ln/>
        </p:spPr>
      </p:sp>
      <p:sp>
        <p:nvSpPr>
          <p:cNvPr id="9" name="!!footer-line"/>
          <p:cNvSpPr/>
          <p:nvPr/>
        </p:nvSpPr>
        <p:spPr>
          <a:xfrm>
            <a:off x="713232" y="6373368"/>
            <a:ext cx="10762488" cy="91"/>
          </a:xfrm>
          <a:prstGeom prst="line">
            <a:avLst/>
          </a:prstGeom>
          <a:noFill/>
          <a:ln w="8255">
            <a:solidFill>
              <a:srgbClr val="202A35">
                <a:alpha val="15000"/>
              </a:srgbClr>
            </a:solidFill>
            <a:prstDash val="solid"/>
          </a:ln>
        </p:spPr>
      </p:sp>
      <p:sp>
        <p:nvSpPr>
          <p:cNvPr id="10" name="!!footer"/>
          <p:cNvSpPr/>
          <p:nvPr/>
        </p:nvSpPr>
        <p:spPr>
          <a:xfrm>
            <a:off x="713232" y="646480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spc="60" kern="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УЧЕБНЫЙ ПРОЕКТ  ·  ПЛАН И ГИПОТЕЗЫ, НЕ РЕЗУЛЬТАТЫ ОПРОСА</a:t>
            </a:r>
            <a:endParaRPr lang="en-US" sz="800" dirty="0"/>
          </a:p>
        </p:txBody>
      </p:sp>
      <p:sp>
        <p:nvSpPr>
          <p:cNvPr id="11" name="!!year"/>
          <p:cNvSpPr/>
          <p:nvPr/>
        </p:nvSpPr>
        <p:spPr>
          <a:xfrm>
            <a:off x="10972800" y="64648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13232" y="1024128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spc="125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КОГДА ШЁЛ ТОЛЬКО ПОСМОТРЕТЬ</a:t>
            </a:r>
            <a:endParaRPr lang="en-US" sz="950" dirty="0"/>
          </a:p>
        </p:txBody>
      </p:sp>
      <p:sp>
        <p:nvSpPr>
          <p:cNvPr id="13" name="!!title"/>
          <p:cNvSpPr/>
          <p:nvPr/>
        </p:nvSpPr>
        <p:spPr>
          <a:xfrm>
            <a:off x="713232" y="1417320"/>
            <a:ext cx="6035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380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ПОКУПКА</a:t>
            </a:r>
            <a:endParaRPr lang="en-US" sz="3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380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АВТОПИЛОТЕ</a:t>
            </a:r>
            <a:endParaRPr lang="en-US" sz="3800" dirty="0"/>
          </a:p>
        </p:txBody>
      </p:sp>
      <p:sp>
        <p:nvSpPr>
          <p:cNvPr id="14" name="!!title-underline"/>
          <p:cNvSpPr/>
          <p:nvPr/>
        </p:nvSpPr>
        <p:spPr>
          <a:xfrm>
            <a:off x="713232" y="2807208"/>
            <a:ext cx="2011680" cy="13716"/>
          </a:xfrm>
          <a:prstGeom prst="line">
            <a:avLst/>
          </a:prstGeom>
          <a:noFill/>
          <a:ln w="29210">
            <a:solidFill>
              <a:srgbClr val="E64D4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768096" y="2839212"/>
            <a:ext cx="1614830" cy="9144"/>
          </a:xfrm>
          <a:prstGeom prst="line">
            <a:avLst/>
          </a:prstGeom>
          <a:noFill/>
          <a:ln w="11430">
            <a:solidFill>
              <a:srgbClr val="E64D42">
                <a:alpha val="58000"/>
              </a:srgbClr>
            </a:solidFill>
            <a:prstDash val="solid"/>
          </a:ln>
        </p:spPr>
      </p:sp>
      <p:sp>
        <p:nvSpPr>
          <p:cNvPr id="16" name="fx1_1_0"/>
          <p:cNvSpPr/>
          <p:nvPr/>
        </p:nvSpPr>
        <p:spPr>
          <a:xfrm>
            <a:off x="713232" y="3182112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мы берём лишнее — и как вернуть себе кнопку «пауза».</a:t>
            </a:r>
            <a:endParaRPr lang="en-US" sz="1900" dirty="0"/>
          </a:p>
        </p:txBody>
      </p:sp>
      <p:sp>
        <p:nvSpPr>
          <p:cNvPr id="17" name="fx1_2_1"/>
          <p:cNvSpPr/>
          <p:nvPr/>
        </p:nvSpPr>
        <p:spPr>
          <a:xfrm>
            <a:off x="713232" y="4160520"/>
            <a:ext cx="5166360" cy="347472"/>
          </a:xfrm>
          <a:prstGeom prst="roundRect">
            <a:avLst>
              <a:gd name="adj" fmla="val 42105"/>
            </a:avLst>
          </a:prstGeom>
          <a:solidFill>
            <a:srgbClr val="E64D42"/>
          </a:solidFill>
          <a:ln/>
        </p:spPr>
      </p:sp>
      <p:sp>
        <p:nvSpPr>
          <p:cNvPr id="18" name="fx1_2_2"/>
          <p:cNvSpPr/>
          <p:nvPr/>
        </p:nvSpPr>
        <p:spPr>
          <a:xfrm>
            <a:off x="804672" y="421081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КОГНИТИВНЫЕ ИСКАЖЕНИЯ  ·  САМОКОНТРОЛЬ  ·  ДЕНЬГИ</a:t>
            </a:r>
            <a:endParaRPr lang="en-US" sz="810" dirty="0"/>
          </a:p>
        </p:txBody>
      </p:sp>
      <p:sp>
        <p:nvSpPr>
          <p:cNvPr id="19" name="fx1_3_3"/>
          <p:cNvSpPr/>
          <p:nvPr/>
        </p:nvSpPr>
        <p:spPr>
          <a:xfrm>
            <a:off x="713232" y="4754880"/>
            <a:ext cx="4023360" cy="804672"/>
          </a:xfrm>
          <a:prstGeom prst="roundRect">
            <a:avLst>
              <a:gd name="adj" fmla="val 9091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E4D6C3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0" name="fx1_3_4"/>
          <p:cNvSpPr/>
          <p:nvPr/>
        </p:nvSpPr>
        <p:spPr>
          <a:xfrm>
            <a:off x="914400" y="496519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2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Я: «просто посмотрю»     Корзина: «принято»</a:t>
            </a:r>
            <a:endParaRPr lang="en-US" sz="1320" dirty="0"/>
          </a:p>
        </p:txBody>
      </p:sp>
      <p:sp>
        <p:nvSpPr>
          <p:cNvPr id="21" name="Shape 18"/>
          <p:cNvSpPr/>
          <p:nvPr/>
        </p:nvSpPr>
        <p:spPr>
          <a:xfrm>
            <a:off x="5047488" y="4114800"/>
            <a:ext cx="1938528" cy="1399032"/>
          </a:xfrm>
          <a:prstGeom prst="roundRect">
            <a:avLst>
              <a:gd name="adj" fmla="val 5229"/>
            </a:avLst>
          </a:prstGeom>
          <a:solidFill>
            <a:srgbClr val="FFFEFA">
              <a:alpha val="97000"/>
            </a:srgbClr>
          </a:solidFill>
          <a:ln w="9525">
            <a:solidFill>
              <a:srgbClr val="D2CCC1">
                <a:alpha val="96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 rot="-120000">
            <a:off x="5784129" y="4064508"/>
            <a:ext cx="445861" cy="128016"/>
          </a:xfrm>
          <a:prstGeom prst="rect">
            <a:avLst/>
          </a:prstGeom>
          <a:solidFill>
            <a:srgbClr val="EFCBA3">
              <a:alpha val="88000"/>
            </a:srgbClr>
          </a:solidFill>
          <a:ln/>
        </p:spPr>
      </p:sp>
      <p:pic>
        <p:nvPicPr>
          <p:cNvPr id="23" name="Image 1" descr="/home/user/MyWorkAiBrain/presentations/impulse/assets/chestnuts-origina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784" y="4197096"/>
            <a:ext cx="1773936" cy="1065276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129784" y="5248656"/>
            <a:ext cx="17739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 КАШТАНА ИЗ ОРИГИНАЛА</a:t>
            </a:r>
            <a:endParaRPr lang="en-US" sz="700" dirty="0"/>
          </a:p>
        </p:txBody>
      </p:sp>
      <p:pic>
        <p:nvPicPr>
          <p:cNvPr id="25" name="!!kashtan-glow" descr="/home/user/MyWorkAiBrain/presentations/impulse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026" y="418338"/>
            <a:ext cx="5207508" cy="5207508"/>
          </a:xfrm>
          <a:prstGeom prst="rect">
            <a:avLst/>
          </a:prstGeom>
        </p:spPr>
      </p:pic>
      <p:sp>
        <p:nvSpPr>
          <p:cNvPr id="26" name="!!kashtan-ring"/>
          <p:cNvSpPr/>
          <p:nvPr/>
        </p:nvSpPr>
        <p:spPr>
          <a:xfrm>
            <a:off x="7610094" y="962406"/>
            <a:ext cx="4119372" cy="4119372"/>
          </a:xfrm>
          <a:prstGeom prst="ellipse">
            <a:avLst/>
          </a:prstGeom>
          <a:ln w="11430">
            <a:solidFill>
              <a:srgbClr val="D28B43">
                <a:alpha val="24000"/>
              </a:srgbClr>
            </a:solidFill>
            <a:prstDash val="solid"/>
          </a:ln>
        </p:spPr>
      </p:sp>
      <p:pic>
        <p:nvPicPr>
          <p:cNvPr id="27" name="!!kashtan-shadow" descr="/home/user/MyWorkAiBrain/presentations/impulse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990" y="4343400"/>
            <a:ext cx="3497580" cy="73837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8" name="!!m-kashtan">
                <a:extLst>
                  <a:ext uri="{FF2B5EF4-FFF2-40B4-BE49-F238E27FC236}">
                    <a16:creationId xmlns:a16="http://schemas.microsoft.com/office/drawing/2014/main" id="{1A8936BA-E5CE-BC21-3434-3A5A3681E90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726680" y="1078992"/>
              <a:ext cx="3886200" cy="3886200"/>
            </p:xfrm>
            <a:graphic>
              <a:graphicData uri="http://schemas.microsoft.com/office/drawing/2017/model3d">
                <am3d:model3d r:embed="rIdM3d1">
                  <am3d:spPr>
                    <a:xfrm>
                      <a:off x="0" y="0"/>
                      <a:ext cx="3886200" cy="3886200"/>
                    </a:xfrm>
                    <a:prstGeom prst="rect">
                      <a:avLst/>
                    </a:prstGeom>
                  </am3d:spPr>
                  <am3d:camera>
                    <am3d:pos x="0" y="0" z="6385242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8604" d="1000000"/>
                    <am3d:preTrans dx="-1543452" dy="-5849741" dz="-128365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08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792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88620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8" name="!!m-kashtan">
                <a:extLst>
                  <a:ext uri="{FF2B5EF4-FFF2-40B4-BE49-F238E27FC236}">
                    <a16:creationId xmlns:a16="http://schemas.microsoft.com/office/drawing/2014/main" id="{1A8936BA-E5CE-BC21-3434-3A5A3681E90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726680" y="1078992"/>
                <a:ext cx="3886200" cy="3886200"/>
              </a:xfrm>
              <a:prstGeom prst="rect">
                <a:avLst/>
              </a:prstGeom>
            </p:spPr>
          </p:pic>
        </mc:Fallback>
      </mc:AlternateContent>
      <p:sp>
        <p:nvSpPr>
          <p:cNvPr id="29" name="Shape 22"/>
          <p:cNvSpPr/>
          <p:nvPr/>
        </p:nvSpPr>
        <p:spPr>
          <a:xfrm>
            <a:off x="8046720" y="4983480"/>
            <a:ext cx="3154680" cy="283464"/>
          </a:xfrm>
          <a:prstGeom prst="roundRect">
            <a:avLst>
              <a:gd name="adj" fmla="val 51613"/>
            </a:avLst>
          </a:prstGeom>
          <a:solidFill>
            <a:srgbClr val="202A35"/>
          </a:solidFill>
          <a:ln/>
        </p:spPr>
      </p:sp>
      <p:sp>
        <p:nvSpPr>
          <p:cNvPr id="30" name="Text 23"/>
          <p:cNvSpPr/>
          <p:nvPr/>
        </p:nvSpPr>
        <p:spPr>
          <a:xfrm>
            <a:off x="8138160" y="5033772"/>
            <a:ext cx="2971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ЗНАКОМЬТЕСЬ: КАШТАН</a:t>
            </a:r>
            <a:endParaRPr lang="en-US" sz="760" dirty="0"/>
          </a:p>
        </p:txBody>
      </p:sp>
      <p:sp>
        <p:nvSpPr>
          <p:cNvPr id="31" name="Text 24"/>
          <p:cNvSpPr/>
          <p:nvPr/>
        </p:nvSpPr>
        <p:spPr>
          <a:xfrm>
            <a:off x="7863840" y="941832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«Я только за каштанами»</a:t>
            </a:r>
            <a:endParaRPr lang="en-US" sz="960" dirty="0"/>
          </a:p>
        </p:txBody>
      </p:sp>
      <p:sp>
        <p:nvSpPr>
          <p:cNvPr id="32" name="fx1_4_5"/>
          <p:cNvSpPr/>
          <p:nvPr/>
        </p:nvSpPr>
        <p:spPr>
          <a:xfrm>
            <a:off x="713232" y="5641848"/>
            <a:ext cx="6400800" cy="521208"/>
          </a:xfrm>
          <a:prstGeom prst="roundRect">
            <a:avLst>
              <a:gd name="adj" fmla="val 14035"/>
            </a:avLst>
          </a:prstGeom>
          <a:solidFill>
            <a:srgbClr val="FFF6E8">
              <a:alpha val="97000"/>
            </a:srgbClr>
          </a:solidFill>
          <a:ln w="9525">
            <a:solidFill>
              <a:srgbClr val="E7C89C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3" name="fx1_4_6"/>
          <p:cNvSpPr/>
          <p:nvPr/>
        </p:nvSpPr>
        <p:spPr>
          <a:xfrm>
            <a:off x="713232" y="5733288"/>
            <a:ext cx="50292" cy="338328"/>
          </a:xfrm>
          <a:prstGeom prst="rect">
            <a:avLst/>
          </a:prstGeom>
          <a:solidFill>
            <a:srgbClr val="E64D42"/>
          </a:solidFill>
          <a:ln/>
        </p:spPr>
      </p:sp>
      <p:sp>
        <p:nvSpPr>
          <p:cNvPr id="34" name="fx1_4_7"/>
          <p:cNvSpPr/>
          <p:nvPr/>
        </p:nvSpPr>
        <p:spPr>
          <a:xfrm>
            <a:off x="914400" y="5532120"/>
            <a:ext cx="1170432" cy="228600"/>
          </a:xfrm>
          <a:prstGeom prst="roundRect">
            <a:avLst>
              <a:gd name="adj" fmla="val 48000"/>
            </a:avLst>
          </a:prstGeom>
          <a:solidFill>
            <a:srgbClr val="E64D42"/>
          </a:solidFill>
          <a:ln/>
        </p:spPr>
      </p:sp>
      <p:sp>
        <p:nvSpPr>
          <p:cNvPr id="35" name="fx1_4_8"/>
          <p:cNvSpPr/>
          <p:nvPr/>
        </p:nvSpPr>
        <p:spPr>
          <a:xfrm>
            <a:off x="987552" y="5541264"/>
            <a:ext cx="10332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ВАЖНО</a:t>
            </a:r>
            <a:endParaRPr lang="en-US" sz="750" dirty="0"/>
          </a:p>
        </p:txBody>
      </p:sp>
      <p:sp>
        <p:nvSpPr>
          <p:cNvPr id="36" name="fx1_4_9"/>
          <p:cNvSpPr/>
          <p:nvPr/>
        </p:nvSpPr>
        <p:spPr>
          <a:xfrm>
            <a:off x="941832" y="5815584"/>
            <a:ext cx="5989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40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проект-исследование: сначала проверим гипотезы — потом делаем выводы.</a:t>
            </a:r>
            <a:endParaRPr lang="en-US" sz="104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6" dur="4792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2">
    <p:bg>
      <p:bgPr>
        <a:solidFill>
          <a:srgbClr val="F8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aper-bg" descr="/home/user/MyWorkAiBrain/presentations/impulse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brand-dot"/>
          <p:cNvSpPr/>
          <p:nvPr/>
        </p:nvSpPr>
        <p:spPr>
          <a:xfrm>
            <a:off x="713232" y="310896"/>
            <a:ext cx="128016" cy="128016"/>
          </a:xfrm>
          <a:prstGeom prst="ellipse">
            <a:avLst/>
          </a:prstGeom>
          <a:solidFill>
            <a:srgbClr val="E64D42"/>
          </a:solidFill>
          <a:ln/>
        </p:spPr>
      </p:sp>
      <p:sp>
        <p:nvSpPr>
          <p:cNvPr id="4" name="!!brand"/>
          <p:cNvSpPr/>
          <p:nvPr/>
        </p:nvSpPr>
        <p:spPr>
          <a:xfrm>
            <a:off x="969264" y="237744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ПСИХОЛОГИЯ ИМПУЛЬСИВНЫХ ТРАТ</a:t>
            </a:r>
            <a:endParaRPr lang="en-US" sz="900" dirty="0"/>
          </a:p>
        </p:txBody>
      </p:sp>
      <p:sp>
        <p:nvSpPr>
          <p:cNvPr id="5" name="!!section"/>
          <p:cNvSpPr/>
          <p:nvPr/>
        </p:nvSpPr>
        <p:spPr>
          <a:xfrm>
            <a:off x="8412480" y="2377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40" kern="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КОНТЕКСТ</a:t>
            </a:r>
            <a:endParaRPr lang="en-US" sz="900" dirty="0"/>
          </a:p>
        </p:txBody>
      </p:sp>
      <p:sp>
        <p:nvSpPr>
          <p:cNvPr id="6" name="!!page"/>
          <p:cNvSpPr/>
          <p:nvPr/>
        </p:nvSpPr>
        <p:spPr>
          <a:xfrm>
            <a:off x="10652760" y="2377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20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10</a:t>
            </a:r>
            <a:endParaRPr lang="en-US" sz="900" dirty="0"/>
          </a:p>
        </p:txBody>
      </p:sp>
      <p:sp>
        <p:nvSpPr>
          <p:cNvPr id="7" name="!!track"/>
          <p:cNvSpPr/>
          <p:nvPr/>
        </p:nvSpPr>
        <p:spPr>
          <a:xfrm>
            <a:off x="713232" y="630936"/>
            <a:ext cx="10762488" cy="22860"/>
          </a:xfrm>
          <a:prstGeom prst="rect">
            <a:avLst/>
          </a:prstGeom>
          <a:solidFill>
            <a:srgbClr val="D6D4CD"/>
          </a:solidFill>
          <a:ln/>
        </p:spPr>
      </p:sp>
      <p:sp>
        <p:nvSpPr>
          <p:cNvPr id="8" name="!!progress"/>
          <p:cNvSpPr/>
          <p:nvPr/>
        </p:nvSpPr>
        <p:spPr>
          <a:xfrm>
            <a:off x="713232" y="630936"/>
            <a:ext cx="2152498" cy="22860"/>
          </a:xfrm>
          <a:prstGeom prst="rect">
            <a:avLst/>
          </a:prstGeom>
          <a:solidFill>
            <a:srgbClr val="E64D42"/>
          </a:solidFill>
          <a:ln/>
        </p:spPr>
      </p:sp>
      <p:sp>
        <p:nvSpPr>
          <p:cNvPr id="9" name="!!footer-line"/>
          <p:cNvSpPr/>
          <p:nvPr/>
        </p:nvSpPr>
        <p:spPr>
          <a:xfrm>
            <a:off x="713232" y="6373368"/>
            <a:ext cx="10762488" cy="91"/>
          </a:xfrm>
          <a:prstGeom prst="line">
            <a:avLst/>
          </a:prstGeom>
          <a:noFill/>
          <a:ln w="8255">
            <a:solidFill>
              <a:srgbClr val="202A35">
                <a:alpha val="15000"/>
              </a:srgbClr>
            </a:solidFill>
            <a:prstDash val="solid"/>
          </a:ln>
        </p:spPr>
      </p:sp>
      <p:sp>
        <p:nvSpPr>
          <p:cNvPr id="10" name="!!footer"/>
          <p:cNvSpPr/>
          <p:nvPr/>
        </p:nvSpPr>
        <p:spPr>
          <a:xfrm>
            <a:off x="713232" y="646480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spc="60" kern="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УЧЕБНЫЙ ПРОЕКТ  ·  ПЛАН И ГИПОТЕЗЫ, НЕ РЕЗУЛЬТАТЫ ОПРОСА</a:t>
            </a:r>
            <a:endParaRPr lang="en-US" sz="800" dirty="0"/>
          </a:p>
        </p:txBody>
      </p:sp>
      <p:sp>
        <p:nvSpPr>
          <p:cNvPr id="11" name="!!year"/>
          <p:cNvSpPr/>
          <p:nvPr/>
        </p:nvSpPr>
        <p:spPr>
          <a:xfrm>
            <a:off x="10972800" y="64648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800" dirty="0"/>
          </a:p>
        </p:txBody>
      </p:sp>
      <p:sp>
        <p:nvSpPr>
          <p:cNvPr id="12" name="!!title"/>
          <p:cNvSpPr/>
          <p:nvPr/>
        </p:nvSpPr>
        <p:spPr>
          <a:xfrm>
            <a:off x="713232" y="932688"/>
            <a:ext cx="6903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310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«Просто посмотрю» — и уже оплата</a:t>
            </a:r>
            <a:endParaRPr lang="en-US" sz="3100" dirty="0"/>
          </a:p>
        </p:txBody>
      </p:sp>
      <p:sp>
        <p:nvSpPr>
          <p:cNvPr id="13" name="!!title-underline"/>
          <p:cNvSpPr/>
          <p:nvPr/>
        </p:nvSpPr>
        <p:spPr>
          <a:xfrm>
            <a:off x="713232" y="1792224"/>
            <a:ext cx="1508760" cy="13716"/>
          </a:xfrm>
          <a:prstGeom prst="line">
            <a:avLst/>
          </a:prstGeom>
          <a:noFill/>
          <a:ln w="29210">
            <a:solidFill>
              <a:srgbClr val="E64D4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V="1">
            <a:off x="768096" y="1824228"/>
            <a:ext cx="1197407" cy="9144"/>
          </a:xfrm>
          <a:prstGeom prst="line">
            <a:avLst/>
          </a:prstGeom>
          <a:noFill/>
          <a:ln w="11430">
            <a:solidFill>
              <a:srgbClr val="E64D42">
                <a:alpha val="58000"/>
              </a:srgbClr>
            </a:solidFill>
            <a:prstDash val="solid"/>
          </a:ln>
        </p:spPr>
      </p:sp>
      <p:sp>
        <p:nvSpPr>
          <p:cNvPr id="15" name="fx2_1_0"/>
          <p:cNvSpPr/>
          <p:nvPr/>
        </p:nvSpPr>
        <p:spPr>
          <a:xfrm>
            <a:off x="713232" y="2103120"/>
            <a:ext cx="1965960" cy="1389888"/>
          </a:xfrm>
          <a:prstGeom prst="roundRect">
            <a:avLst>
              <a:gd name="adj" fmla="val 5263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D9D3C8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6" name="fx2_1_1"/>
          <p:cNvSpPr/>
          <p:nvPr/>
        </p:nvSpPr>
        <p:spPr>
          <a:xfrm>
            <a:off x="859536" y="2231136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E64D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17" name="fx2_1_2"/>
          <p:cNvSpPr/>
          <p:nvPr/>
        </p:nvSpPr>
        <p:spPr>
          <a:xfrm>
            <a:off x="1280160" y="2258568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СИГНАЛ</a:t>
            </a:r>
            <a:endParaRPr lang="en-US" sz="1200" dirty="0"/>
          </a:p>
        </p:txBody>
      </p:sp>
      <p:sp>
        <p:nvSpPr>
          <p:cNvPr id="18" name="fx2_1_3"/>
          <p:cNvSpPr/>
          <p:nvPr/>
        </p:nvSpPr>
        <p:spPr>
          <a:xfrm>
            <a:off x="877824" y="2697480"/>
            <a:ext cx="1645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Уведомление, подборка, яркая витрина</a:t>
            </a:r>
            <a:endParaRPr lang="en-US" sz="1050" dirty="0"/>
          </a:p>
        </p:txBody>
      </p:sp>
      <p:sp>
        <p:nvSpPr>
          <p:cNvPr id="19" name="fx2_2_4"/>
          <p:cNvSpPr/>
          <p:nvPr/>
        </p:nvSpPr>
        <p:spPr>
          <a:xfrm>
            <a:off x="2816352" y="2103120"/>
            <a:ext cx="1965960" cy="1389888"/>
          </a:xfrm>
          <a:prstGeom prst="roundRect">
            <a:avLst>
              <a:gd name="adj" fmla="val 5263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D9D3C8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0" name="fx2_2_5"/>
          <p:cNvSpPr/>
          <p:nvPr/>
        </p:nvSpPr>
        <p:spPr>
          <a:xfrm>
            <a:off x="2962656" y="2231136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E64D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21" name="fx2_2_6"/>
          <p:cNvSpPr/>
          <p:nvPr/>
        </p:nvSpPr>
        <p:spPr>
          <a:xfrm>
            <a:off x="3383280" y="2258568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ТОРОПЯТ</a:t>
            </a:r>
            <a:endParaRPr lang="en-US" sz="1200" dirty="0"/>
          </a:p>
        </p:txBody>
      </p:sp>
      <p:sp>
        <p:nvSpPr>
          <p:cNvPr id="22" name="fx2_2_7"/>
          <p:cNvSpPr/>
          <p:nvPr/>
        </p:nvSpPr>
        <p:spPr>
          <a:xfrm>
            <a:off x="2980944" y="2697480"/>
            <a:ext cx="1645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Таймер, «последний шанс», отзывы</a:t>
            </a:r>
            <a:endParaRPr lang="en-US" sz="1050" dirty="0"/>
          </a:p>
        </p:txBody>
      </p:sp>
      <p:sp>
        <p:nvSpPr>
          <p:cNvPr id="23" name="fx2_3_8"/>
          <p:cNvSpPr/>
          <p:nvPr/>
        </p:nvSpPr>
        <p:spPr>
          <a:xfrm>
            <a:off x="4919472" y="2103120"/>
            <a:ext cx="1965960" cy="1389888"/>
          </a:xfrm>
          <a:prstGeom prst="roundRect">
            <a:avLst>
              <a:gd name="adj" fmla="val 5263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D9D3C8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4" name="fx2_3_9"/>
          <p:cNvSpPr/>
          <p:nvPr/>
        </p:nvSpPr>
        <p:spPr>
          <a:xfrm>
            <a:off x="5065776" y="2231136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E64D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25" name="fx2_3_10"/>
          <p:cNvSpPr/>
          <p:nvPr/>
        </p:nvSpPr>
        <p:spPr>
          <a:xfrm>
            <a:off x="5486400" y="2258568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ОПЛАТА</a:t>
            </a:r>
            <a:endParaRPr lang="en-US" sz="1200" dirty="0"/>
          </a:p>
        </p:txBody>
      </p:sp>
      <p:sp>
        <p:nvSpPr>
          <p:cNvPr id="26" name="fx2_3_11"/>
          <p:cNvSpPr/>
          <p:nvPr/>
        </p:nvSpPr>
        <p:spPr>
          <a:xfrm>
            <a:off x="5084064" y="2697480"/>
            <a:ext cx="1645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Сохранённая карта или «частями»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13232" y="3822192"/>
            <a:ext cx="2578608" cy="2075688"/>
          </a:xfrm>
          <a:prstGeom prst="roundRect">
            <a:avLst>
              <a:gd name="adj" fmla="val 3524"/>
            </a:avLst>
          </a:prstGeom>
          <a:solidFill>
            <a:srgbClr val="FFFEFA">
              <a:alpha val="97000"/>
            </a:srgbClr>
          </a:solidFill>
          <a:ln w="9525">
            <a:solidFill>
              <a:srgbClr val="D2CCC1">
                <a:alpha val="96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 rot="-120000">
            <a:off x="1693103" y="3771900"/>
            <a:ext cx="593080" cy="128016"/>
          </a:xfrm>
          <a:prstGeom prst="rect">
            <a:avLst/>
          </a:prstGeom>
          <a:solidFill>
            <a:srgbClr val="F3D0C7">
              <a:alpha val="88000"/>
            </a:srgbClr>
          </a:solidFill>
          <a:ln/>
        </p:spPr>
      </p:sp>
      <p:pic>
        <p:nvPicPr>
          <p:cNvPr id="29" name="Image 1" descr="/home/user/MyWorkAiBrain/presentations/impulse/assets/meme-shopping-10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931920"/>
            <a:ext cx="2359152" cy="165506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822960" y="5586984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3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МЕМ ИЗ ИСХОДНОЙ ПРЕЗЕНТАЦИИ</a:t>
            </a:r>
            <a:endParaRPr lang="en-US" sz="730" dirty="0"/>
          </a:p>
        </p:txBody>
      </p:sp>
      <p:sp>
        <p:nvSpPr>
          <p:cNvPr id="31" name="fx2_4_12"/>
          <p:cNvSpPr/>
          <p:nvPr/>
        </p:nvSpPr>
        <p:spPr>
          <a:xfrm>
            <a:off x="3493008" y="3877056"/>
            <a:ext cx="3401568" cy="1170432"/>
          </a:xfrm>
          <a:prstGeom prst="roundRect">
            <a:avLst>
              <a:gd name="adj" fmla="val 6250"/>
            </a:avLst>
          </a:prstGeom>
          <a:solidFill>
            <a:srgbClr val="EAF1F3">
              <a:alpha val="97000"/>
            </a:srgbClr>
          </a:solidFill>
          <a:ln w="9525">
            <a:solidFill>
              <a:srgbClr val="B7CBD4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2" name="fx2_4_13"/>
          <p:cNvSpPr/>
          <p:nvPr/>
        </p:nvSpPr>
        <p:spPr>
          <a:xfrm>
            <a:off x="3694176" y="40690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spc="125" kern="0" dirty="0">
                <a:solidFill>
                  <a:srgbClr val="7399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ПРОВЕРЯЕМ</a:t>
            </a:r>
            <a:endParaRPr lang="en-US" sz="850" dirty="0"/>
          </a:p>
        </p:txBody>
      </p:sp>
      <p:sp>
        <p:nvSpPr>
          <p:cNvPr id="33" name="fx2_4_14"/>
          <p:cNvSpPr/>
          <p:nvPr/>
        </p:nvSpPr>
        <p:spPr>
          <a:xfrm>
            <a:off x="3694176" y="43891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Какие триггеры студенты замечают перед незапланированной покупкой?</a:t>
            </a:r>
            <a:endParaRPr lang="en-US" sz="1300" dirty="0"/>
          </a:p>
        </p:txBody>
      </p:sp>
      <p:sp>
        <p:nvSpPr>
          <p:cNvPr id="34" name="fx2_5_15"/>
          <p:cNvSpPr/>
          <p:nvPr/>
        </p:nvSpPr>
        <p:spPr>
          <a:xfrm>
            <a:off x="3493008" y="5276088"/>
            <a:ext cx="3401568" cy="640080"/>
          </a:xfrm>
          <a:prstGeom prst="roundRect">
            <a:avLst>
              <a:gd name="adj" fmla="val 11429"/>
            </a:avLst>
          </a:prstGeom>
          <a:solidFill>
            <a:srgbClr val="FFF6E8">
              <a:alpha val="97000"/>
            </a:srgbClr>
          </a:solidFill>
          <a:ln w="9525">
            <a:solidFill>
              <a:srgbClr val="E7C89C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5" name="fx2_5_16"/>
          <p:cNvSpPr/>
          <p:nvPr/>
        </p:nvSpPr>
        <p:spPr>
          <a:xfrm>
            <a:off x="3493008" y="5367528"/>
            <a:ext cx="50292" cy="457200"/>
          </a:xfrm>
          <a:prstGeom prst="rect">
            <a:avLst/>
          </a:prstGeom>
          <a:solidFill>
            <a:srgbClr val="E64D42"/>
          </a:solidFill>
          <a:ln/>
        </p:spPr>
      </p:sp>
      <p:sp>
        <p:nvSpPr>
          <p:cNvPr id="36" name="fx2_5_17"/>
          <p:cNvSpPr/>
          <p:nvPr/>
        </p:nvSpPr>
        <p:spPr>
          <a:xfrm>
            <a:off x="3694176" y="5166360"/>
            <a:ext cx="1783080" cy="228600"/>
          </a:xfrm>
          <a:prstGeom prst="roundRect">
            <a:avLst>
              <a:gd name="adj" fmla="val 48000"/>
            </a:avLst>
          </a:prstGeom>
          <a:solidFill>
            <a:srgbClr val="E64D42"/>
          </a:solidFill>
          <a:ln/>
        </p:spPr>
      </p:sp>
      <p:sp>
        <p:nvSpPr>
          <p:cNvPr id="37" name="fx2_5_18"/>
          <p:cNvSpPr/>
          <p:nvPr/>
        </p:nvSpPr>
        <p:spPr>
          <a:xfrm>
            <a:off x="3767328" y="5175504"/>
            <a:ext cx="16459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ЧЕСТНО ПРО ДАННЫЕ</a:t>
            </a:r>
            <a:endParaRPr lang="en-US" sz="750" dirty="0"/>
          </a:p>
        </p:txBody>
      </p:sp>
      <p:sp>
        <p:nvSpPr>
          <p:cNvPr id="38" name="fx2_5_19"/>
          <p:cNvSpPr/>
          <p:nvPr/>
        </p:nvSpPr>
        <p:spPr>
          <a:xfrm>
            <a:off x="3721608" y="5449824"/>
            <a:ext cx="2990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исходнике были цифры о BNPL. Без первоисточника мы не выдаём их за факт.</a:t>
            </a:r>
            <a:endParaRPr lang="en-US" sz="960" dirty="0"/>
          </a:p>
        </p:txBody>
      </p:sp>
      <p:pic>
        <p:nvPicPr>
          <p:cNvPr id="39" name="!!kashtan-glow" descr="/home/user/MyWorkAiBrain/presentations/impulse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4100" y="785012"/>
            <a:ext cx="4839919" cy="4839919"/>
          </a:xfrm>
          <a:prstGeom prst="rect">
            <a:avLst/>
          </a:prstGeom>
        </p:spPr>
      </p:pic>
      <p:sp>
        <p:nvSpPr>
          <p:cNvPr id="40" name="!!kashtan-ring"/>
          <p:cNvSpPr/>
          <p:nvPr/>
        </p:nvSpPr>
        <p:spPr>
          <a:xfrm>
            <a:off x="7709764" y="1290676"/>
            <a:ext cx="3828593" cy="3828593"/>
          </a:xfrm>
          <a:prstGeom prst="ellipse">
            <a:avLst/>
          </a:prstGeom>
          <a:ln w="11430">
            <a:solidFill>
              <a:srgbClr val="D28B43">
                <a:alpha val="24000"/>
              </a:srgbClr>
            </a:solidFill>
            <a:prstDash val="solid"/>
          </a:ln>
        </p:spPr>
      </p:sp>
      <p:pic>
        <p:nvPicPr>
          <p:cNvPr id="41" name="!!kashtan-shadow" descr="/home/user/MyWorkAiBrain/presentations/impulse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8714" y="4433011"/>
            <a:ext cx="3250692" cy="686257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2" name="!!m-kashtan">
                <a:extLst>
                  <a:ext uri="{FF2B5EF4-FFF2-40B4-BE49-F238E27FC236}">
                    <a16:creationId xmlns:a16="http://schemas.microsoft.com/office/drawing/2014/main" id="{F893BCAE-42B0-DCA0-B76A-11A542D6FAB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818120" y="1399032"/>
              <a:ext cx="3611880" cy="3611880"/>
            </p:xfrm>
            <a:graphic>
              <a:graphicData uri="http://schemas.microsoft.com/office/drawing/2017/model3d">
                <am3d:model3d r:embed="rIdM3d2">
                  <am3d:spPr>
                    <a:xfrm>
                      <a:off x="0" y="0"/>
                      <a:ext cx="3611880" cy="3611880"/>
                    </a:xfrm>
                    <a:prstGeom prst="rect">
                      <a:avLst/>
                    </a:prstGeom>
                  </am3d:spPr>
                  <am3d:camera>
                    <am3d:pos x="0" y="0" z="6385242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8604" d="1000000"/>
                    <am3d:preTrans dx="-1543452" dy="-5849741" dz="-128365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08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792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61188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2" name="!!m-kashtan">
                <a:extLst>
                  <a:ext uri="{FF2B5EF4-FFF2-40B4-BE49-F238E27FC236}">
                    <a16:creationId xmlns:a16="http://schemas.microsoft.com/office/drawing/2014/main" id="{F893BCAE-42B0-DCA0-B76A-11A542D6FAB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18120" y="1399032"/>
                <a:ext cx="3611880" cy="3611880"/>
              </a:xfrm>
              <a:prstGeom prst="rect">
                <a:avLst/>
              </a:prstGeom>
            </p:spPr>
          </p:pic>
        </mc:Fallback>
      </mc:AlternateContent>
      <p:sp>
        <p:nvSpPr>
          <p:cNvPr id="43" name="Shape 36"/>
          <p:cNvSpPr/>
          <p:nvPr/>
        </p:nvSpPr>
        <p:spPr>
          <a:xfrm>
            <a:off x="8138160" y="4974336"/>
            <a:ext cx="2926080" cy="283464"/>
          </a:xfrm>
          <a:prstGeom prst="roundRect">
            <a:avLst>
              <a:gd name="adj" fmla="val 51613"/>
            </a:avLst>
          </a:prstGeom>
          <a:solidFill>
            <a:srgbClr val="202A35"/>
          </a:solidFill>
          <a:ln/>
        </p:spPr>
      </p:sp>
      <p:sp>
        <p:nvSpPr>
          <p:cNvPr id="44" name="Text 37"/>
          <p:cNvSpPr/>
          <p:nvPr/>
        </p:nvSpPr>
        <p:spPr>
          <a:xfrm>
            <a:off x="8229600" y="5024628"/>
            <a:ext cx="2743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ПРОВЕРЯЕМ, НЕ ОБВИНЯЕМ</a:t>
            </a:r>
            <a:endParaRPr lang="en-US" sz="760" dirty="0"/>
          </a:p>
        </p:txBody>
      </p:sp>
      <p:sp>
        <p:nvSpPr>
          <p:cNvPr id="45" name="Text 38"/>
          <p:cNvSpPr/>
          <p:nvPr/>
        </p:nvSpPr>
        <p:spPr>
          <a:xfrm>
            <a:off x="7955280" y="126187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«Сначала избранное»</a:t>
            </a:r>
            <a:endParaRPr lang="en-US" sz="96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6" dur="4792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3">
    <p:bg>
      <p:bgPr>
        <a:solidFill>
          <a:srgbClr val="F8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aper-bg" descr="/home/user/MyWorkAiBrain/presentations/impulse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brand-dot"/>
          <p:cNvSpPr/>
          <p:nvPr/>
        </p:nvSpPr>
        <p:spPr>
          <a:xfrm>
            <a:off x="713232" y="310896"/>
            <a:ext cx="128016" cy="128016"/>
          </a:xfrm>
          <a:prstGeom prst="ellipse">
            <a:avLst/>
          </a:prstGeom>
          <a:solidFill>
            <a:srgbClr val="E64D42"/>
          </a:solidFill>
          <a:ln/>
        </p:spPr>
      </p:sp>
      <p:sp>
        <p:nvSpPr>
          <p:cNvPr id="4" name="!!brand"/>
          <p:cNvSpPr/>
          <p:nvPr/>
        </p:nvSpPr>
        <p:spPr>
          <a:xfrm>
            <a:off x="969264" y="237744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ПСИХОЛОГИЯ ИМПУЛЬСИВНЫХ ТРАТ</a:t>
            </a:r>
            <a:endParaRPr lang="en-US" sz="900" dirty="0"/>
          </a:p>
        </p:txBody>
      </p:sp>
      <p:sp>
        <p:nvSpPr>
          <p:cNvPr id="5" name="!!section"/>
          <p:cNvSpPr/>
          <p:nvPr/>
        </p:nvSpPr>
        <p:spPr>
          <a:xfrm>
            <a:off x="8412480" y="2377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40" kern="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ОПРЕДЕЛЕНИЕ</a:t>
            </a:r>
            <a:endParaRPr lang="en-US" sz="900" dirty="0"/>
          </a:p>
        </p:txBody>
      </p:sp>
      <p:sp>
        <p:nvSpPr>
          <p:cNvPr id="6" name="!!page"/>
          <p:cNvSpPr/>
          <p:nvPr/>
        </p:nvSpPr>
        <p:spPr>
          <a:xfrm>
            <a:off x="10652760" y="2377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20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10</a:t>
            </a:r>
            <a:endParaRPr lang="en-US" sz="900" dirty="0"/>
          </a:p>
        </p:txBody>
      </p:sp>
      <p:sp>
        <p:nvSpPr>
          <p:cNvPr id="7" name="!!track"/>
          <p:cNvSpPr/>
          <p:nvPr/>
        </p:nvSpPr>
        <p:spPr>
          <a:xfrm>
            <a:off x="713232" y="630936"/>
            <a:ext cx="10762488" cy="22860"/>
          </a:xfrm>
          <a:prstGeom prst="rect">
            <a:avLst/>
          </a:prstGeom>
          <a:solidFill>
            <a:srgbClr val="D6D4CD"/>
          </a:solidFill>
          <a:ln/>
        </p:spPr>
      </p:sp>
      <p:sp>
        <p:nvSpPr>
          <p:cNvPr id="8" name="!!progress"/>
          <p:cNvSpPr/>
          <p:nvPr/>
        </p:nvSpPr>
        <p:spPr>
          <a:xfrm>
            <a:off x="713232" y="630936"/>
            <a:ext cx="3228746" cy="22860"/>
          </a:xfrm>
          <a:prstGeom prst="rect">
            <a:avLst/>
          </a:prstGeom>
          <a:solidFill>
            <a:srgbClr val="E64D42"/>
          </a:solidFill>
          <a:ln/>
        </p:spPr>
      </p:sp>
      <p:sp>
        <p:nvSpPr>
          <p:cNvPr id="9" name="!!footer-line"/>
          <p:cNvSpPr/>
          <p:nvPr/>
        </p:nvSpPr>
        <p:spPr>
          <a:xfrm>
            <a:off x="713232" y="6373368"/>
            <a:ext cx="10762488" cy="91"/>
          </a:xfrm>
          <a:prstGeom prst="line">
            <a:avLst/>
          </a:prstGeom>
          <a:noFill/>
          <a:ln w="8255">
            <a:solidFill>
              <a:srgbClr val="202A35">
                <a:alpha val="15000"/>
              </a:srgbClr>
            </a:solidFill>
            <a:prstDash val="solid"/>
          </a:ln>
        </p:spPr>
      </p:sp>
      <p:sp>
        <p:nvSpPr>
          <p:cNvPr id="10" name="!!footer"/>
          <p:cNvSpPr/>
          <p:nvPr/>
        </p:nvSpPr>
        <p:spPr>
          <a:xfrm>
            <a:off x="713232" y="646480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spc="60" kern="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УЧЕБНЫЙ ПРОЕКТ  ·  ПЛАН И ГИПОТЕЗЫ, НЕ РЕЗУЛЬТАТЫ ОПРОСА</a:t>
            </a:r>
            <a:endParaRPr lang="en-US" sz="800" dirty="0"/>
          </a:p>
        </p:txBody>
      </p:sp>
      <p:sp>
        <p:nvSpPr>
          <p:cNvPr id="11" name="!!year"/>
          <p:cNvSpPr/>
          <p:nvPr/>
        </p:nvSpPr>
        <p:spPr>
          <a:xfrm>
            <a:off x="10972800" y="64648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800" dirty="0"/>
          </a:p>
        </p:txBody>
      </p:sp>
      <p:sp>
        <p:nvSpPr>
          <p:cNvPr id="12" name="!!title"/>
          <p:cNvSpPr/>
          <p:nvPr/>
        </p:nvSpPr>
        <p:spPr>
          <a:xfrm>
            <a:off x="713232" y="932688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320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Незапланированная ≠ импульсивная</a:t>
            </a:r>
            <a:endParaRPr lang="en-US" sz="3200" dirty="0"/>
          </a:p>
        </p:txBody>
      </p:sp>
      <p:sp>
        <p:nvSpPr>
          <p:cNvPr id="13" name="!!title-underline"/>
          <p:cNvSpPr/>
          <p:nvPr/>
        </p:nvSpPr>
        <p:spPr>
          <a:xfrm>
            <a:off x="713232" y="1792224"/>
            <a:ext cx="1645920" cy="13716"/>
          </a:xfrm>
          <a:prstGeom prst="line">
            <a:avLst/>
          </a:prstGeom>
          <a:noFill/>
          <a:ln w="29210">
            <a:solidFill>
              <a:srgbClr val="E64D4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V="1">
            <a:off x="768096" y="1824228"/>
            <a:ext cx="1311250" cy="9144"/>
          </a:xfrm>
          <a:prstGeom prst="line">
            <a:avLst/>
          </a:prstGeom>
          <a:noFill/>
          <a:ln w="11430">
            <a:solidFill>
              <a:srgbClr val="E64D42">
                <a:alpha val="58000"/>
              </a:srgbClr>
            </a:solidFill>
            <a:prstDash val="solid"/>
          </a:ln>
        </p:spPr>
      </p:sp>
      <p:sp>
        <p:nvSpPr>
          <p:cNvPr id="15" name="fx3_1_0"/>
          <p:cNvSpPr/>
          <p:nvPr/>
        </p:nvSpPr>
        <p:spPr>
          <a:xfrm>
            <a:off x="713232" y="2176272"/>
            <a:ext cx="1938528" cy="1536192"/>
          </a:xfrm>
          <a:prstGeom prst="roundRect">
            <a:avLst>
              <a:gd name="adj" fmla="val 4762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D9D3C8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6" name="fx3_1_1"/>
          <p:cNvSpPr/>
          <p:nvPr/>
        </p:nvSpPr>
        <p:spPr>
          <a:xfrm>
            <a:off x="859536" y="2304288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E64D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17" name="fx3_1_2"/>
          <p:cNvSpPr/>
          <p:nvPr/>
        </p:nvSpPr>
        <p:spPr>
          <a:xfrm>
            <a:off x="1280160" y="233172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1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ЗАПЛАНИРОВАНА</a:t>
            </a:r>
            <a:endParaRPr lang="en-US" sz="1110" dirty="0"/>
          </a:p>
        </p:txBody>
      </p:sp>
      <p:sp>
        <p:nvSpPr>
          <p:cNvPr id="18" name="fx3_1_3"/>
          <p:cNvSpPr/>
          <p:nvPr/>
        </p:nvSpPr>
        <p:spPr>
          <a:xfrm>
            <a:off x="877824" y="2770632"/>
            <a:ext cx="161848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2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списке до похода в магазин</a:t>
            </a:r>
            <a:endParaRPr lang="en-US" sz="1020" dirty="0"/>
          </a:p>
        </p:txBody>
      </p:sp>
      <p:sp>
        <p:nvSpPr>
          <p:cNvPr id="19" name="fx3_2_4"/>
          <p:cNvSpPr/>
          <p:nvPr/>
        </p:nvSpPr>
        <p:spPr>
          <a:xfrm>
            <a:off x="2788920" y="2176272"/>
            <a:ext cx="1938528" cy="1536192"/>
          </a:xfrm>
          <a:prstGeom prst="roundRect">
            <a:avLst>
              <a:gd name="adj" fmla="val 4762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D9D3C8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0" name="fx3_2_5"/>
          <p:cNvSpPr/>
          <p:nvPr/>
        </p:nvSpPr>
        <p:spPr>
          <a:xfrm>
            <a:off x="2935224" y="2304288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E64D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21" name="fx3_2_6"/>
          <p:cNvSpPr/>
          <p:nvPr/>
        </p:nvSpPr>
        <p:spPr>
          <a:xfrm>
            <a:off x="3355848" y="233172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4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ЗАПЛАНИРОВАНА</a:t>
            </a:r>
            <a:endParaRPr lang="en-US" sz="1040" dirty="0"/>
          </a:p>
        </p:txBody>
      </p:sp>
      <p:sp>
        <p:nvSpPr>
          <p:cNvPr id="22" name="fx3_2_7"/>
          <p:cNvSpPr/>
          <p:nvPr/>
        </p:nvSpPr>
        <p:spPr>
          <a:xfrm>
            <a:off x="2953512" y="2770632"/>
            <a:ext cx="161848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2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Вспомнил по пути: «а, ещё чай»</a:t>
            </a:r>
            <a:endParaRPr lang="en-US" sz="1020" dirty="0"/>
          </a:p>
        </p:txBody>
      </p:sp>
      <p:sp>
        <p:nvSpPr>
          <p:cNvPr id="23" name="fx3_3_8"/>
          <p:cNvSpPr/>
          <p:nvPr/>
        </p:nvSpPr>
        <p:spPr>
          <a:xfrm>
            <a:off x="4864608" y="2176272"/>
            <a:ext cx="1938528" cy="1536192"/>
          </a:xfrm>
          <a:prstGeom prst="roundRect">
            <a:avLst>
              <a:gd name="adj" fmla="val 4762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D9D3C8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4" name="fx3_3_9"/>
          <p:cNvSpPr/>
          <p:nvPr/>
        </p:nvSpPr>
        <p:spPr>
          <a:xfrm>
            <a:off x="5010912" y="2304288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E64D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25" name="fx3_3_10"/>
          <p:cNvSpPr/>
          <p:nvPr/>
        </p:nvSpPr>
        <p:spPr>
          <a:xfrm>
            <a:off x="5431536" y="233172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ИМПУЛЬСИВНАЯ</a:t>
            </a:r>
            <a:endParaRPr lang="en-US" sz="1080" dirty="0"/>
          </a:p>
        </p:txBody>
      </p:sp>
      <p:sp>
        <p:nvSpPr>
          <p:cNvPr id="26" name="fx3_3_11"/>
          <p:cNvSpPr/>
          <p:nvPr/>
        </p:nvSpPr>
        <p:spPr>
          <a:xfrm>
            <a:off x="5029200" y="2770632"/>
            <a:ext cx="161848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2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Сильное внезапное «хочу сейчас»</a:t>
            </a:r>
            <a:endParaRPr lang="en-US" sz="1020" dirty="0"/>
          </a:p>
        </p:txBody>
      </p:sp>
      <p:sp>
        <p:nvSpPr>
          <p:cNvPr id="27" name="fx3_4_12"/>
          <p:cNvSpPr/>
          <p:nvPr/>
        </p:nvSpPr>
        <p:spPr>
          <a:xfrm>
            <a:off x="713232" y="4114800"/>
            <a:ext cx="6089904" cy="786384"/>
          </a:xfrm>
          <a:prstGeom prst="roundRect">
            <a:avLst>
              <a:gd name="adj" fmla="val 9302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DED5C7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8" name="fx3_4_13"/>
          <p:cNvSpPr/>
          <p:nvPr/>
        </p:nvSpPr>
        <p:spPr>
          <a:xfrm>
            <a:off x="896112" y="427024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spc="125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РАБОЧЕЕ ОПРЕДЕЛЕНИЕ ДЛЯ АНКЕТЫ · [1, 2]</a:t>
            </a:r>
            <a:endParaRPr lang="en-US" sz="850" dirty="0"/>
          </a:p>
        </p:txBody>
      </p:sp>
      <p:sp>
        <p:nvSpPr>
          <p:cNvPr id="29" name="fx3_4_14"/>
          <p:cNvSpPr/>
          <p:nvPr/>
        </p:nvSpPr>
        <p:spPr>
          <a:xfrm>
            <a:off x="896112" y="4544568"/>
            <a:ext cx="5623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3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Внезапное сильное желание купить, при котором на обдумывание может оставаться меньше времени.</a:t>
            </a:r>
            <a:endParaRPr lang="en-US" sz="1130" dirty="0"/>
          </a:p>
        </p:txBody>
      </p:sp>
      <p:sp>
        <p:nvSpPr>
          <p:cNvPr id="30" name="fx3_5_15"/>
          <p:cNvSpPr/>
          <p:nvPr/>
        </p:nvSpPr>
        <p:spPr>
          <a:xfrm>
            <a:off x="713232" y="5285232"/>
            <a:ext cx="6089904" cy="713232"/>
          </a:xfrm>
          <a:prstGeom prst="roundRect">
            <a:avLst>
              <a:gd name="adj" fmla="val 10256"/>
            </a:avLst>
          </a:prstGeom>
          <a:solidFill>
            <a:srgbClr val="FFF6E8">
              <a:alpha val="97000"/>
            </a:srgbClr>
          </a:solidFill>
          <a:ln w="9525">
            <a:solidFill>
              <a:srgbClr val="E7C89C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1" name="fx3_5_16"/>
          <p:cNvSpPr/>
          <p:nvPr/>
        </p:nvSpPr>
        <p:spPr>
          <a:xfrm>
            <a:off x="713232" y="5376672"/>
            <a:ext cx="50292" cy="530352"/>
          </a:xfrm>
          <a:prstGeom prst="rect">
            <a:avLst/>
          </a:prstGeom>
          <a:solidFill>
            <a:srgbClr val="E64D42"/>
          </a:solidFill>
          <a:ln/>
        </p:spPr>
      </p:sp>
      <p:sp>
        <p:nvSpPr>
          <p:cNvPr id="32" name="fx3_5_17"/>
          <p:cNvSpPr/>
          <p:nvPr/>
        </p:nvSpPr>
        <p:spPr>
          <a:xfrm>
            <a:off x="914400" y="5175504"/>
            <a:ext cx="2148840" cy="228600"/>
          </a:xfrm>
          <a:prstGeom prst="roundRect">
            <a:avLst>
              <a:gd name="adj" fmla="val 48000"/>
            </a:avLst>
          </a:prstGeom>
          <a:solidFill>
            <a:srgbClr val="E64D42"/>
          </a:solidFill>
          <a:ln/>
        </p:spPr>
      </p:sp>
      <p:sp>
        <p:nvSpPr>
          <p:cNvPr id="33" name="fx3_5_18"/>
          <p:cNvSpPr/>
          <p:nvPr/>
        </p:nvSpPr>
        <p:spPr>
          <a:xfrm>
            <a:off x="987552" y="5184648"/>
            <a:ext cx="20116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КАШТАН СНЯЛ ОБВИНЕНИЕ</a:t>
            </a:r>
            <a:endParaRPr lang="en-US" sz="750" dirty="0"/>
          </a:p>
        </p:txBody>
      </p:sp>
      <p:sp>
        <p:nvSpPr>
          <p:cNvPr id="34" name="fx3_5_19"/>
          <p:cNvSpPr/>
          <p:nvPr/>
        </p:nvSpPr>
        <p:spPr>
          <a:xfrm>
            <a:off x="941832" y="5458968"/>
            <a:ext cx="5678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Импульс — описание ситуации и решения, а не диагноз и не «плохой характер».</a:t>
            </a:r>
            <a:endParaRPr lang="en-US" sz="1050" dirty="0"/>
          </a:p>
        </p:txBody>
      </p:sp>
      <p:pic>
        <p:nvPicPr>
          <p:cNvPr id="35" name="!!kashtan-glow" descr="/home/user/MyWorkAiBrain/presentations/impulse/assets/g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1916" y="835396"/>
            <a:ext cx="4803160" cy="4803160"/>
          </a:xfrm>
          <a:prstGeom prst="rect">
            <a:avLst/>
          </a:prstGeom>
        </p:spPr>
      </p:pic>
      <p:sp>
        <p:nvSpPr>
          <p:cNvPr id="36" name="!!kashtan-ring"/>
          <p:cNvSpPr/>
          <p:nvPr/>
        </p:nvSpPr>
        <p:spPr>
          <a:xfrm>
            <a:off x="7783739" y="1337219"/>
            <a:ext cx="3799515" cy="3799515"/>
          </a:xfrm>
          <a:prstGeom prst="ellipse">
            <a:avLst/>
          </a:prstGeom>
          <a:ln w="11430">
            <a:solidFill>
              <a:srgbClr val="D28B43">
                <a:alpha val="24000"/>
              </a:srgbClr>
            </a:solidFill>
            <a:prstDash val="solid"/>
          </a:ln>
        </p:spPr>
      </p:sp>
      <p:pic>
        <p:nvPicPr>
          <p:cNvPr id="37" name="!!kashtan-shadow" descr="/home/user/MyWorkAiBrain/presentations/impulse/assets/shad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0494" y="4455688"/>
            <a:ext cx="3226003" cy="681045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8" name="!!m-kashtan">
                <a:extLst>
                  <a:ext uri="{FF2B5EF4-FFF2-40B4-BE49-F238E27FC236}">
                    <a16:creationId xmlns:a16="http://schemas.microsoft.com/office/drawing/2014/main" id="{7E9208AF-73AA-6FF5-CBB0-D1EA62DEBB5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891272" y="1444752"/>
              <a:ext cx="3584448" cy="3584448"/>
            </p:xfrm>
            <a:graphic>
              <a:graphicData uri="http://schemas.microsoft.com/office/drawing/2017/model3d">
                <am3d:model3d r:embed="rIdM3d3">
                  <am3d:spPr>
                    <a:xfrm>
                      <a:off x="0" y="0"/>
                      <a:ext cx="3584448" cy="3584448"/>
                    </a:xfrm>
                    <a:prstGeom prst="rect">
                      <a:avLst/>
                    </a:prstGeom>
                  </am3d:spPr>
                  <am3d:camera>
                    <am3d:pos x="0" y="0" z="6385242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8604" d="1000000"/>
                    <am3d:preTrans dx="-1543452" dy="-5849741" dz="-128365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08000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792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58444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8" name="!!m-kashtan">
                <a:extLst>
                  <a:ext uri="{FF2B5EF4-FFF2-40B4-BE49-F238E27FC236}">
                    <a16:creationId xmlns:a16="http://schemas.microsoft.com/office/drawing/2014/main" id="{7E9208AF-73AA-6FF5-CBB0-D1EA62DEBB5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891272" y="1444752"/>
                <a:ext cx="3584448" cy="3584448"/>
              </a:xfrm>
              <a:prstGeom prst="rect">
                <a:avLst/>
              </a:prstGeom>
            </p:spPr>
          </p:pic>
        </mc:Fallback>
      </mc:AlternateContent>
      <p:sp>
        <p:nvSpPr>
          <p:cNvPr id="39" name="Shape 33"/>
          <p:cNvSpPr/>
          <p:nvPr/>
        </p:nvSpPr>
        <p:spPr>
          <a:xfrm>
            <a:off x="8211312" y="4992624"/>
            <a:ext cx="2971800" cy="283464"/>
          </a:xfrm>
          <a:prstGeom prst="roundRect">
            <a:avLst>
              <a:gd name="adj" fmla="val 51613"/>
            </a:avLst>
          </a:prstGeom>
          <a:solidFill>
            <a:srgbClr val="202A35"/>
          </a:solidFill>
          <a:ln/>
        </p:spPr>
      </p:sp>
      <p:sp>
        <p:nvSpPr>
          <p:cNvPr id="40" name="Text 34"/>
          <p:cNvSpPr/>
          <p:nvPr/>
        </p:nvSpPr>
        <p:spPr>
          <a:xfrm>
            <a:off x="8302752" y="5042916"/>
            <a:ext cx="2788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СНАЧАЛА ОПРЕДЕЛИМ ТЕРМИНЫ</a:t>
            </a:r>
            <a:endParaRPr lang="en-US" sz="760" dirty="0"/>
          </a:p>
        </p:txBody>
      </p:sp>
      <p:sp>
        <p:nvSpPr>
          <p:cNvPr id="41" name="Text 35"/>
          <p:cNvSpPr/>
          <p:nvPr/>
        </p:nvSpPr>
        <p:spPr>
          <a:xfrm>
            <a:off x="8028432" y="1307592"/>
            <a:ext cx="3310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«Список? Какой список?»</a:t>
            </a:r>
            <a:endParaRPr lang="en-US" sz="96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6" dur="4792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4">
    <p:bg>
      <p:bgPr>
        <a:solidFill>
          <a:srgbClr val="F8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aper-bg" descr="/home/user/MyWorkAiBrain/presentations/impulse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brand-dot"/>
          <p:cNvSpPr/>
          <p:nvPr/>
        </p:nvSpPr>
        <p:spPr>
          <a:xfrm>
            <a:off x="713232" y="310896"/>
            <a:ext cx="128016" cy="128016"/>
          </a:xfrm>
          <a:prstGeom prst="ellipse">
            <a:avLst/>
          </a:prstGeom>
          <a:solidFill>
            <a:srgbClr val="E64D42"/>
          </a:solidFill>
          <a:ln/>
        </p:spPr>
      </p:sp>
      <p:sp>
        <p:nvSpPr>
          <p:cNvPr id="4" name="!!brand"/>
          <p:cNvSpPr/>
          <p:nvPr/>
        </p:nvSpPr>
        <p:spPr>
          <a:xfrm>
            <a:off x="969264" y="237744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ПСИХОЛОГИЯ ИМПУЛЬСИВНЫХ ТРАТ</a:t>
            </a:r>
            <a:endParaRPr lang="en-US" sz="900" dirty="0"/>
          </a:p>
        </p:txBody>
      </p:sp>
      <p:sp>
        <p:nvSpPr>
          <p:cNvPr id="5" name="!!section"/>
          <p:cNvSpPr/>
          <p:nvPr/>
        </p:nvSpPr>
        <p:spPr>
          <a:xfrm>
            <a:off x="8412480" y="2377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40" kern="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МЕХАНИЗМ</a:t>
            </a:r>
            <a:endParaRPr lang="en-US" sz="900" dirty="0"/>
          </a:p>
        </p:txBody>
      </p:sp>
      <p:sp>
        <p:nvSpPr>
          <p:cNvPr id="6" name="!!page"/>
          <p:cNvSpPr/>
          <p:nvPr/>
        </p:nvSpPr>
        <p:spPr>
          <a:xfrm>
            <a:off x="10652760" y="2377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20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10</a:t>
            </a:r>
            <a:endParaRPr lang="en-US" sz="900" dirty="0"/>
          </a:p>
        </p:txBody>
      </p:sp>
      <p:sp>
        <p:nvSpPr>
          <p:cNvPr id="7" name="!!track"/>
          <p:cNvSpPr/>
          <p:nvPr/>
        </p:nvSpPr>
        <p:spPr>
          <a:xfrm>
            <a:off x="713232" y="630936"/>
            <a:ext cx="10762488" cy="22860"/>
          </a:xfrm>
          <a:prstGeom prst="rect">
            <a:avLst/>
          </a:prstGeom>
          <a:solidFill>
            <a:srgbClr val="D6D4CD"/>
          </a:solidFill>
          <a:ln/>
        </p:spPr>
      </p:sp>
      <p:sp>
        <p:nvSpPr>
          <p:cNvPr id="8" name="!!progress"/>
          <p:cNvSpPr/>
          <p:nvPr/>
        </p:nvSpPr>
        <p:spPr>
          <a:xfrm>
            <a:off x="713232" y="630936"/>
            <a:ext cx="4304995" cy="22860"/>
          </a:xfrm>
          <a:prstGeom prst="rect">
            <a:avLst/>
          </a:prstGeom>
          <a:solidFill>
            <a:srgbClr val="E64D42"/>
          </a:solidFill>
          <a:ln/>
        </p:spPr>
      </p:sp>
      <p:sp>
        <p:nvSpPr>
          <p:cNvPr id="9" name="!!footer-line"/>
          <p:cNvSpPr/>
          <p:nvPr/>
        </p:nvSpPr>
        <p:spPr>
          <a:xfrm>
            <a:off x="713232" y="6373368"/>
            <a:ext cx="10762488" cy="91"/>
          </a:xfrm>
          <a:prstGeom prst="line">
            <a:avLst/>
          </a:prstGeom>
          <a:noFill/>
          <a:ln w="8255">
            <a:solidFill>
              <a:srgbClr val="202A35">
                <a:alpha val="15000"/>
              </a:srgbClr>
            </a:solidFill>
            <a:prstDash val="solid"/>
          </a:ln>
        </p:spPr>
      </p:sp>
      <p:sp>
        <p:nvSpPr>
          <p:cNvPr id="10" name="!!footer"/>
          <p:cNvSpPr/>
          <p:nvPr/>
        </p:nvSpPr>
        <p:spPr>
          <a:xfrm>
            <a:off x="713232" y="646480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spc="60" kern="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УЧЕБНЫЙ ПРОЕКТ  ·  ПЛАН И ГИПОТЕЗЫ, НЕ РЕЗУЛЬТАТЫ ОПРОСА</a:t>
            </a:r>
            <a:endParaRPr lang="en-US" sz="800" dirty="0"/>
          </a:p>
        </p:txBody>
      </p:sp>
      <p:sp>
        <p:nvSpPr>
          <p:cNvPr id="11" name="!!year"/>
          <p:cNvSpPr/>
          <p:nvPr/>
        </p:nvSpPr>
        <p:spPr>
          <a:xfrm>
            <a:off x="10972800" y="64648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800" dirty="0"/>
          </a:p>
        </p:txBody>
      </p:sp>
      <p:sp>
        <p:nvSpPr>
          <p:cNvPr id="12" name="!!title"/>
          <p:cNvSpPr/>
          <p:nvPr/>
        </p:nvSpPr>
        <p:spPr>
          <a:xfrm>
            <a:off x="713232" y="932688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310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Петля: триггер → импульс → чек</a:t>
            </a:r>
            <a:endParaRPr lang="en-US" sz="3100" dirty="0"/>
          </a:p>
        </p:txBody>
      </p:sp>
      <p:sp>
        <p:nvSpPr>
          <p:cNvPr id="13" name="!!title-underline"/>
          <p:cNvSpPr/>
          <p:nvPr/>
        </p:nvSpPr>
        <p:spPr>
          <a:xfrm>
            <a:off x="713232" y="1792224"/>
            <a:ext cx="1298448" cy="13716"/>
          </a:xfrm>
          <a:prstGeom prst="line">
            <a:avLst/>
          </a:prstGeom>
          <a:noFill/>
          <a:ln w="29210">
            <a:solidFill>
              <a:srgbClr val="E64D4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V="1">
            <a:off x="768096" y="1824228"/>
            <a:ext cx="1022848" cy="9144"/>
          </a:xfrm>
          <a:prstGeom prst="line">
            <a:avLst/>
          </a:prstGeom>
          <a:noFill/>
          <a:ln w="11430">
            <a:solidFill>
              <a:srgbClr val="E64D42">
                <a:alpha val="58000"/>
              </a:srgbClr>
            </a:solidFill>
            <a:prstDash val="solid"/>
          </a:ln>
        </p:spPr>
      </p:sp>
      <p:sp>
        <p:nvSpPr>
          <p:cNvPr id="15" name="fx4_1_0"/>
          <p:cNvSpPr/>
          <p:nvPr/>
        </p:nvSpPr>
        <p:spPr>
          <a:xfrm>
            <a:off x="713232" y="2139696"/>
            <a:ext cx="1444752" cy="1417320"/>
          </a:xfrm>
          <a:prstGeom prst="roundRect">
            <a:avLst>
              <a:gd name="adj" fmla="val 5161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D9D3C8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6" name="fx4_1_1"/>
          <p:cNvSpPr/>
          <p:nvPr/>
        </p:nvSpPr>
        <p:spPr>
          <a:xfrm>
            <a:off x="859536" y="2267712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E64D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17" name="fx4_1_2"/>
          <p:cNvSpPr/>
          <p:nvPr/>
        </p:nvSpPr>
        <p:spPr>
          <a:xfrm>
            <a:off x="1280160" y="229514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6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ТРИГГЕР</a:t>
            </a:r>
            <a:endParaRPr lang="en-US" sz="1060" dirty="0"/>
          </a:p>
        </p:txBody>
      </p:sp>
      <p:sp>
        <p:nvSpPr>
          <p:cNvPr id="18" name="fx4_1_3"/>
          <p:cNvSpPr/>
          <p:nvPr/>
        </p:nvSpPr>
        <p:spPr>
          <a:xfrm>
            <a:off x="877824" y="2734056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Таймер / лента / настроение</a:t>
            </a:r>
            <a:endParaRPr lang="en-US" sz="940" dirty="0"/>
          </a:p>
        </p:txBody>
      </p:sp>
      <p:sp>
        <p:nvSpPr>
          <p:cNvPr id="19" name="fx4_2_4"/>
          <p:cNvSpPr/>
          <p:nvPr/>
        </p:nvSpPr>
        <p:spPr>
          <a:xfrm>
            <a:off x="2194560" y="2542032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E64D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fx4_2_5"/>
          <p:cNvSpPr/>
          <p:nvPr/>
        </p:nvSpPr>
        <p:spPr>
          <a:xfrm>
            <a:off x="2450592" y="2139696"/>
            <a:ext cx="1444752" cy="1417320"/>
          </a:xfrm>
          <a:prstGeom prst="roundRect">
            <a:avLst>
              <a:gd name="adj" fmla="val 5161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D9D3C8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1" name="fx4_2_6"/>
          <p:cNvSpPr/>
          <p:nvPr/>
        </p:nvSpPr>
        <p:spPr>
          <a:xfrm>
            <a:off x="2596896" y="2267712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E64D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22" name="fx4_2_7"/>
          <p:cNvSpPr/>
          <p:nvPr/>
        </p:nvSpPr>
        <p:spPr>
          <a:xfrm>
            <a:off x="3017520" y="229514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ХОЧУ</a:t>
            </a:r>
            <a:endParaRPr lang="en-US" sz="1080" dirty="0"/>
          </a:p>
        </p:txBody>
      </p:sp>
      <p:sp>
        <p:nvSpPr>
          <p:cNvPr id="23" name="fx4_2_8"/>
          <p:cNvSpPr/>
          <p:nvPr/>
        </p:nvSpPr>
        <p:spPr>
          <a:xfrm>
            <a:off x="2615184" y="2734056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«Надо взять сейчас»</a:t>
            </a:r>
            <a:endParaRPr lang="en-US" sz="960" dirty="0"/>
          </a:p>
        </p:txBody>
      </p:sp>
      <p:sp>
        <p:nvSpPr>
          <p:cNvPr id="24" name="fx4_3_9"/>
          <p:cNvSpPr/>
          <p:nvPr/>
        </p:nvSpPr>
        <p:spPr>
          <a:xfrm>
            <a:off x="3968496" y="2542032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E64D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fx4_3_10"/>
          <p:cNvSpPr/>
          <p:nvPr/>
        </p:nvSpPr>
        <p:spPr>
          <a:xfrm>
            <a:off x="4224528" y="2139696"/>
            <a:ext cx="1444752" cy="1417320"/>
          </a:xfrm>
          <a:prstGeom prst="roundRect">
            <a:avLst>
              <a:gd name="adj" fmla="val 5161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D9D3C8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6" name="fx4_3_11"/>
          <p:cNvSpPr/>
          <p:nvPr/>
        </p:nvSpPr>
        <p:spPr>
          <a:xfrm>
            <a:off x="4370832" y="2267712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E64D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27" name="fx4_3_12"/>
          <p:cNvSpPr/>
          <p:nvPr/>
        </p:nvSpPr>
        <p:spPr>
          <a:xfrm>
            <a:off x="4791456" y="229514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КЛИК</a:t>
            </a:r>
            <a:endParaRPr lang="en-US" sz="1080" dirty="0"/>
          </a:p>
        </p:txBody>
      </p:sp>
      <p:sp>
        <p:nvSpPr>
          <p:cNvPr id="28" name="fx4_3_13"/>
          <p:cNvSpPr/>
          <p:nvPr/>
        </p:nvSpPr>
        <p:spPr>
          <a:xfrm>
            <a:off x="4389120" y="2734056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4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Оплата почти без паузы</a:t>
            </a:r>
            <a:endParaRPr lang="en-US" sz="940" dirty="0"/>
          </a:p>
        </p:txBody>
      </p:sp>
      <p:sp>
        <p:nvSpPr>
          <p:cNvPr id="29" name="fx4_4_14"/>
          <p:cNvSpPr/>
          <p:nvPr/>
        </p:nvSpPr>
        <p:spPr>
          <a:xfrm>
            <a:off x="5742432" y="2542032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E64D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0" name="fx4_4_15"/>
          <p:cNvSpPr/>
          <p:nvPr/>
        </p:nvSpPr>
        <p:spPr>
          <a:xfrm>
            <a:off x="5998464" y="2139696"/>
            <a:ext cx="1444752" cy="1417320"/>
          </a:xfrm>
          <a:prstGeom prst="roundRect">
            <a:avLst>
              <a:gd name="adj" fmla="val 5161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D9D3C8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1" name="fx4_4_16"/>
          <p:cNvSpPr/>
          <p:nvPr/>
        </p:nvSpPr>
        <p:spPr>
          <a:xfrm>
            <a:off x="6144768" y="2267712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E64D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32" name="fx4_4_17"/>
          <p:cNvSpPr/>
          <p:nvPr/>
        </p:nvSpPr>
        <p:spPr>
          <a:xfrm>
            <a:off x="6565392" y="229514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ПОТОМ</a:t>
            </a:r>
            <a:endParaRPr lang="en-US" sz="1080" dirty="0"/>
          </a:p>
        </p:txBody>
      </p:sp>
      <p:sp>
        <p:nvSpPr>
          <p:cNvPr id="33" name="fx4_4_18"/>
          <p:cNvSpPr/>
          <p:nvPr/>
        </p:nvSpPr>
        <p:spPr>
          <a:xfrm>
            <a:off x="6163056" y="2734056"/>
            <a:ext cx="1124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«Зачем?»</a:t>
            </a:r>
            <a:endParaRPr lang="en-US" sz="960" dirty="0"/>
          </a:p>
        </p:txBody>
      </p:sp>
      <p:sp>
        <p:nvSpPr>
          <p:cNvPr id="34" name="fx4_5_19"/>
          <p:cNvSpPr/>
          <p:nvPr/>
        </p:nvSpPr>
        <p:spPr>
          <a:xfrm>
            <a:off x="713232" y="3886200"/>
            <a:ext cx="4261104" cy="978408"/>
          </a:xfrm>
          <a:prstGeom prst="roundRect">
            <a:avLst>
              <a:gd name="adj" fmla="val 7477"/>
            </a:avLst>
          </a:prstGeom>
          <a:solidFill>
            <a:srgbClr val="EAF1F3">
              <a:alpha val="97000"/>
            </a:srgbClr>
          </a:solidFill>
          <a:ln w="9525">
            <a:solidFill>
              <a:srgbClr val="B7CBD4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5" name="fx4_5_20"/>
          <p:cNvSpPr/>
          <p:nvPr/>
        </p:nvSpPr>
        <p:spPr>
          <a:xfrm>
            <a:off x="896112" y="405079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spc="125" kern="0" dirty="0">
                <a:solidFill>
                  <a:srgbClr val="7399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ДЛЯ ИССЛЕДОВАНИЯ · [3]</a:t>
            </a:r>
            <a:endParaRPr lang="en-US" sz="850" dirty="0"/>
          </a:p>
        </p:txBody>
      </p:sp>
      <p:sp>
        <p:nvSpPr>
          <p:cNvPr id="36" name="fx4_5_21"/>
          <p:cNvSpPr/>
          <p:nvPr/>
        </p:nvSpPr>
        <p:spPr>
          <a:xfrm>
            <a:off x="896112" y="4361688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4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и тот же триггер не приводит к покупке у каждого человека.</a:t>
            </a:r>
            <a:endParaRPr lang="en-US" sz="1140" dirty="0"/>
          </a:p>
        </p:txBody>
      </p:sp>
      <p:sp>
        <p:nvSpPr>
          <p:cNvPr id="37" name="Shape 34"/>
          <p:cNvSpPr/>
          <p:nvPr/>
        </p:nvSpPr>
        <p:spPr>
          <a:xfrm>
            <a:off x="5138928" y="3886200"/>
            <a:ext cx="2633472" cy="1938528"/>
          </a:xfrm>
          <a:prstGeom prst="roundRect">
            <a:avLst>
              <a:gd name="adj" fmla="val 3774"/>
            </a:avLst>
          </a:prstGeom>
          <a:solidFill>
            <a:srgbClr val="FFFEFA">
              <a:alpha val="97000"/>
            </a:srgbClr>
          </a:solidFill>
          <a:ln w="9525">
            <a:solidFill>
              <a:srgbClr val="D2CCC1">
                <a:alpha val="96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 rot="-120000">
            <a:off x="6139647" y="3835908"/>
            <a:ext cx="605699" cy="128016"/>
          </a:xfrm>
          <a:prstGeom prst="rect">
            <a:avLst/>
          </a:prstGeom>
          <a:solidFill>
            <a:srgbClr val="F3D0C7">
              <a:alpha val="88000"/>
            </a:srgbClr>
          </a:solidFill>
          <a:ln/>
        </p:spPr>
      </p:sp>
      <p:pic>
        <p:nvPicPr>
          <p:cNvPr id="39" name="Image 1" descr="/home/user/MyWorkAiBrain/presentations/impulse/assets/meme-charge-10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4005072"/>
            <a:ext cx="2395728" cy="150418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5257800" y="5513832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2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 ВАС СПИСАНО 100 РУБ» · МЕМ ИЗ ОРИГИНАЛА</a:t>
            </a:r>
            <a:endParaRPr lang="en-US" sz="720" dirty="0"/>
          </a:p>
        </p:txBody>
      </p:sp>
      <p:sp>
        <p:nvSpPr>
          <p:cNvPr id="41" name="fx4_6_22"/>
          <p:cNvSpPr/>
          <p:nvPr/>
        </p:nvSpPr>
        <p:spPr>
          <a:xfrm>
            <a:off x="713232" y="5276088"/>
            <a:ext cx="4261104" cy="713232"/>
          </a:xfrm>
          <a:prstGeom prst="roundRect">
            <a:avLst>
              <a:gd name="adj" fmla="val 10256"/>
            </a:avLst>
          </a:prstGeom>
          <a:solidFill>
            <a:srgbClr val="FFF6E8">
              <a:alpha val="97000"/>
            </a:srgbClr>
          </a:solidFill>
          <a:ln w="9525">
            <a:solidFill>
              <a:srgbClr val="E7C89C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2" name="fx4_6_23"/>
          <p:cNvSpPr/>
          <p:nvPr/>
        </p:nvSpPr>
        <p:spPr>
          <a:xfrm>
            <a:off x="713232" y="5367528"/>
            <a:ext cx="50292" cy="530352"/>
          </a:xfrm>
          <a:prstGeom prst="rect">
            <a:avLst/>
          </a:prstGeom>
          <a:solidFill>
            <a:srgbClr val="E64D42"/>
          </a:solidFill>
          <a:ln/>
        </p:spPr>
      </p:sp>
      <p:sp>
        <p:nvSpPr>
          <p:cNvPr id="43" name="fx4_6_24"/>
          <p:cNvSpPr/>
          <p:nvPr/>
        </p:nvSpPr>
        <p:spPr>
          <a:xfrm>
            <a:off x="914400" y="5166360"/>
            <a:ext cx="2057400" cy="228600"/>
          </a:xfrm>
          <a:prstGeom prst="roundRect">
            <a:avLst>
              <a:gd name="adj" fmla="val 48000"/>
            </a:avLst>
          </a:prstGeom>
          <a:solidFill>
            <a:srgbClr val="E64D42"/>
          </a:solidFill>
          <a:ln/>
        </p:spPr>
      </p:sp>
      <p:sp>
        <p:nvSpPr>
          <p:cNvPr id="44" name="fx4_6_25"/>
          <p:cNvSpPr/>
          <p:nvPr/>
        </p:nvSpPr>
        <p:spPr>
          <a:xfrm>
            <a:off x="987552" y="5175504"/>
            <a:ext cx="1920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МЕМ ≠ ДОКАЗАТЕЛЬСТВО</a:t>
            </a:r>
            <a:endParaRPr lang="en-US" sz="750" dirty="0"/>
          </a:p>
        </p:txBody>
      </p:sp>
      <p:sp>
        <p:nvSpPr>
          <p:cNvPr id="45" name="fx4_6_26"/>
          <p:cNvSpPr/>
          <p:nvPr/>
        </p:nvSpPr>
        <p:spPr>
          <a:xfrm>
            <a:off x="941832" y="5449824"/>
            <a:ext cx="3849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40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Наблюдаем паттерн; не клеим ярлык на человека.</a:t>
            </a:r>
            <a:endParaRPr lang="en-US" sz="1040" dirty="0"/>
          </a:p>
        </p:txBody>
      </p:sp>
      <p:pic>
        <p:nvPicPr>
          <p:cNvPr id="46" name="!!kashtan-glow" descr="/home/user/MyWorkAiBrain/presentations/impulse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1601" y="811073"/>
            <a:ext cx="4778654" cy="4778654"/>
          </a:xfrm>
          <a:prstGeom prst="rect">
            <a:avLst/>
          </a:prstGeom>
        </p:spPr>
      </p:pic>
      <p:sp>
        <p:nvSpPr>
          <p:cNvPr id="47" name="!!kashtan-ring"/>
          <p:cNvSpPr/>
          <p:nvPr/>
        </p:nvSpPr>
        <p:spPr>
          <a:xfrm>
            <a:off x="7820863" y="1310335"/>
            <a:ext cx="3780130" cy="3780130"/>
          </a:xfrm>
          <a:prstGeom prst="ellipse">
            <a:avLst/>
          </a:prstGeom>
          <a:ln w="11430">
            <a:solidFill>
              <a:srgbClr val="D28B43">
                <a:alpha val="24000"/>
              </a:srgbClr>
            </a:solidFill>
            <a:prstDash val="solid"/>
          </a:ln>
        </p:spPr>
      </p:sp>
      <p:pic>
        <p:nvPicPr>
          <p:cNvPr id="48" name="!!kashtan-shadow" descr="/home/user/MyWorkAiBrain/presentations/impulse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6156" y="4412894"/>
            <a:ext cx="3209544" cy="67757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9" name="!!m-kashtan">
                <a:extLst>
                  <a:ext uri="{FF2B5EF4-FFF2-40B4-BE49-F238E27FC236}">
                    <a16:creationId xmlns:a16="http://schemas.microsoft.com/office/drawing/2014/main" id="{B61059EE-227D-2F5E-774D-6697358EE44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927848" y="1417320"/>
              <a:ext cx="3566160" cy="3566160"/>
            </p:xfrm>
            <a:graphic>
              <a:graphicData uri="http://schemas.microsoft.com/office/drawing/2017/model3d">
                <am3d:model3d r:embed="rIdM3d4">
                  <am3d:spPr>
                    <a:xfrm>
                      <a:off x="0" y="0"/>
                      <a:ext cx="3566160" cy="3566160"/>
                    </a:xfrm>
                    <a:prstGeom prst="rect">
                      <a:avLst/>
                    </a:prstGeom>
                  </am3d:spPr>
                  <am3d:camera>
                    <am3d:pos x="0" y="0" z="6385242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8604" d="1000000"/>
                    <am3d:preTrans dx="-1543452" dy="-5849741" dz="-128365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08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792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56616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9" name="!!m-kashtan">
                <a:extLst>
                  <a:ext uri="{FF2B5EF4-FFF2-40B4-BE49-F238E27FC236}">
                    <a16:creationId xmlns:a16="http://schemas.microsoft.com/office/drawing/2014/main" id="{B61059EE-227D-2F5E-774D-6697358EE44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927848" y="1417320"/>
                <a:ext cx="3566160" cy="3566160"/>
              </a:xfrm>
              <a:prstGeom prst="rect">
                <a:avLst/>
              </a:prstGeom>
            </p:spPr>
          </p:pic>
        </mc:Fallback>
      </mc:AlternateContent>
      <p:sp>
        <p:nvSpPr>
          <p:cNvPr id="50" name="Shape 43"/>
          <p:cNvSpPr/>
          <p:nvPr/>
        </p:nvSpPr>
        <p:spPr>
          <a:xfrm>
            <a:off x="8247888" y="4946904"/>
            <a:ext cx="3200400" cy="283464"/>
          </a:xfrm>
          <a:prstGeom prst="roundRect">
            <a:avLst>
              <a:gd name="adj" fmla="val 51613"/>
            </a:avLst>
          </a:prstGeom>
          <a:solidFill>
            <a:srgbClr val="202A35"/>
          </a:solidFill>
          <a:ln/>
        </p:spPr>
      </p:sp>
      <p:sp>
        <p:nvSpPr>
          <p:cNvPr id="51" name="Text 44"/>
          <p:cNvSpPr/>
          <p:nvPr/>
        </p:nvSpPr>
        <p:spPr>
          <a:xfrm>
            <a:off x="8339328" y="4997196"/>
            <a:ext cx="3017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ПАУЗА МЕЖДУ «ХОЧУ» И «ОПЛАТИТЬ»</a:t>
            </a:r>
            <a:endParaRPr lang="en-US" sz="760" dirty="0"/>
          </a:p>
        </p:txBody>
      </p:sp>
      <p:sp>
        <p:nvSpPr>
          <p:cNvPr id="52" name="Text 45"/>
          <p:cNvSpPr/>
          <p:nvPr/>
        </p:nvSpPr>
        <p:spPr>
          <a:xfrm>
            <a:off x="8065008" y="128016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«Чек уже в чате»</a:t>
            </a:r>
            <a:endParaRPr lang="en-US" sz="96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1" dur="4792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41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5">
    <p:bg>
      <p:bgPr>
        <a:solidFill>
          <a:srgbClr val="F8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aper-bg" descr="/home/user/MyWorkAiBrain/presentations/impulse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brand-dot"/>
          <p:cNvSpPr/>
          <p:nvPr/>
        </p:nvSpPr>
        <p:spPr>
          <a:xfrm>
            <a:off x="713232" y="310896"/>
            <a:ext cx="128016" cy="128016"/>
          </a:xfrm>
          <a:prstGeom prst="ellipse">
            <a:avLst/>
          </a:prstGeom>
          <a:solidFill>
            <a:srgbClr val="E64D42"/>
          </a:solidFill>
          <a:ln/>
        </p:spPr>
      </p:sp>
      <p:sp>
        <p:nvSpPr>
          <p:cNvPr id="4" name="!!brand"/>
          <p:cNvSpPr/>
          <p:nvPr/>
        </p:nvSpPr>
        <p:spPr>
          <a:xfrm>
            <a:off x="969264" y="237744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ПСИХОЛОГИЯ ИМПУЛЬСИВНЫХ ТРАТ</a:t>
            </a:r>
            <a:endParaRPr lang="en-US" sz="900" dirty="0"/>
          </a:p>
        </p:txBody>
      </p:sp>
      <p:sp>
        <p:nvSpPr>
          <p:cNvPr id="5" name="!!section"/>
          <p:cNvSpPr/>
          <p:nvPr/>
        </p:nvSpPr>
        <p:spPr>
          <a:xfrm>
            <a:off x="8412480" y="2377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40" kern="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ТРИГГЕРЫ</a:t>
            </a:r>
            <a:endParaRPr lang="en-US" sz="900" dirty="0"/>
          </a:p>
        </p:txBody>
      </p:sp>
      <p:sp>
        <p:nvSpPr>
          <p:cNvPr id="6" name="!!page"/>
          <p:cNvSpPr/>
          <p:nvPr/>
        </p:nvSpPr>
        <p:spPr>
          <a:xfrm>
            <a:off x="10652760" y="2377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20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10</a:t>
            </a:r>
            <a:endParaRPr lang="en-US" sz="900" dirty="0"/>
          </a:p>
        </p:txBody>
      </p:sp>
      <p:sp>
        <p:nvSpPr>
          <p:cNvPr id="7" name="!!track"/>
          <p:cNvSpPr/>
          <p:nvPr/>
        </p:nvSpPr>
        <p:spPr>
          <a:xfrm>
            <a:off x="713232" y="630936"/>
            <a:ext cx="10762488" cy="22860"/>
          </a:xfrm>
          <a:prstGeom prst="rect">
            <a:avLst/>
          </a:prstGeom>
          <a:solidFill>
            <a:srgbClr val="D6D4CD"/>
          </a:solidFill>
          <a:ln/>
        </p:spPr>
      </p:sp>
      <p:sp>
        <p:nvSpPr>
          <p:cNvPr id="8" name="!!progress"/>
          <p:cNvSpPr/>
          <p:nvPr/>
        </p:nvSpPr>
        <p:spPr>
          <a:xfrm>
            <a:off x="713232" y="630936"/>
            <a:ext cx="5381244" cy="22860"/>
          </a:xfrm>
          <a:prstGeom prst="rect">
            <a:avLst/>
          </a:prstGeom>
          <a:solidFill>
            <a:srgbClr val="E64D42"/>
          </a:solidFill>
          <a:ln/>
        </p:spPr>
      </p:sp>
      <p:sp>
        <p:nvSpPr>
          <p:cNvPr id="9" name="!!footer-line"/>
          <p:cNvSpPr/>
          <p:nvPr/>
        </p:nvSpPr>
        <p:spPr>
          <a:xfrm>
            <a:off x="713232" y="6373368"/>
            <a:ext cx="10762488" cy="91"/>
          </a:xfrm>
          <a:prstGeom prst="line">
            <a:avLst/>
          </a:prstGeom>
          <a:noFill/>
          <a:ln w="8255">
            <a:solidFill>
              <a:srgbClr val="202A35">
                <a:alpha val="15000"/>
              </a:srgbClr>
            </a:solidFill>
            <a:prstDash val="solid"/>
          </a:ln>
        </p:spPr>
      </p:sp>
      <p:sp>
        <p:nvSpPr>
          <p:cNvPr id="10" name="!!footer"/>
          <p:cNvSpPr/>
          <p:nvPr/>
        </p:nvSpPr>
        <p:spPr>
          <a:xfrm>
            <a:off x="713232" y="646480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spc="60" kern="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УЧЕБНЫЙ ПРОЕКТ  ·  ПЛАН И ГИПОТЕЗЫ, НЕ РЕЗУЛЬТАТЫ ОПРОСА</a:t>
            </a:r>
            <a:endParaRPr lang="en-US" sz="800" dirty="0"/>
          </a:p>
        </p:txBody>
      </p:sp>
      <p:sp>
        <p:nvSpPr>
          <p:cNvPr id="11" name="!!year"/>
          <p:cNvSpPr/>
          <p:nvPr/>
        </p:nvSpPr>
        <p:spPr>
          <a:xfrm>
            <a:off x="10972800" y="64648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800" dirty="0"/>
          </a:p>
        </p:txBody>
      </p:sp>
      <p:sp>
        <p:nvSpPr>
          <p:cNvPr id="12" name="!!title"/>
          <p:cNvSpPr/>
          <p:nvPr/>
        </p:nvSpPr>
        <p:spPr>
          <a:xfrm>
            <a:off x="713232" y="932688"/>
            <a:ext cx="6903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310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Витрина нажимает на разные кнопки</a:t>
            </a:r>
            <a:endParaRPr lang="en-US" sz="3100" dirty="0"/>
          </a:p>
        </p:txBody>
      </p:sp>
      <p:sp>
        <p:nvSpPr>
          <p:cNvPr id="13" name="!!title-underline"/>
          <p:cNvSpPr/>
          <p:nvPr/>
        </p:nvSpPr>
        <p:spPr>
          <a:xfrm>
            <a:off x="713232" y="1792224"/>
            <a:ext cx="1417320" cy="13716"/>
          </a:xfrm>
          <a:prstGeom prst="line">
            <a:avLst/>
          </a:prstGeom>
          <a:noFill/>
          <a:ln w="29210">
            <a:solidFill>
              <a:srgbClr val="E64D4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V="1">
            <a:off x="768096" y="1824228"/>
            <a:ext cx="1121512" cy="9144"/>
          </a:xfrm>
          <a:prstGeom prst="line">
            <a:avLst/>
          </a:prstGeom>
          <a:noFill/>
          <a:ln w="11430">
            <a:solidFill>
              <a:srgbClr val="E64D42">
                <a:alpha val="58000"/>
              </a:srgbClr>
            </a:solidFill>
            <a:prstDash val="solid"/>
          </a:ln>
        </p:spPr>
      </p:sp>
      <p:sp>
        <p:nvSpPr>
          <p:cNvPr id="15" name="fx5_1_0"/>
          <p:cNvSpPr/>
          <p:nvPr/>
        </p:nvSpPr>
        <p:spPr>
          <a:xfrm>
            <a:off x="713232" y="2103120"/>
            <a:ext cx="2944368" cy="1188720"/>
          </a:xfrm>
          <a:prstGeom prst="roundRect">
            <a:avLst>
              <a:gd name="adj" fmla="val 6154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D9D3C8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6" name="fx5_1_1"/>
          <p:cNvSpPr/>
          <p:nvPr/>
        </p:nvSpPr>
        <p:spPr>
          <a:xfrm>
            <a:off x="859536" y="2231136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E64D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17" name="fx5_1_2"/>
          <p:cNvSpPr/>
          <p:nvPr/>
        </p:nvSpPr>
        <p:spPr>
          <a:xfrm>
            <a:off x="1280160" y="225856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1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ДЕФИЦИТ / СРОЧНОСТЬ</a:t>
            </a:r>
            <a:endParaRPr lang="en-US" sz="1110" dirty="0"/>
          </a:p>
        </p:txBody>
      </p:sp>
      <p:sp>
        <p:nvSpPr>
          <p:cNvPr id="18" name="fx5_1_3"/>
          <p:cNvSpPr/>
          <p:nvPr/>
        </p:nvSpPr>
        <p:spPr>
          <a:xfrm>
            <a:off x="877824" y="2697480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Таймер, «осталось 2 штуки» · [5]</a:t>
            </a:r>
            <a:endParaRPr lang="en-US" sz="1000" dirty="0"/>
          </a:p>
        </p:txBody>
      </p:sp>
      <p:sp>
        <p:nvSpPr>
          <p:cNvPr id="19" name="fx5_2_4"/>
          <p:cNvSpPr/>
          <p:nvPr/>
        </p:nvSpPr>
        <p:spPr>
          <a:xfrm>
            <a:off x="3822192" y="2103120"/>
            <a:ext cx="2944368" cy="1188720"/>
          </a:xfrm>
          <a:prstGeom prst="roundRect">
            <a:avLst>
              <a:gd name="adj" fmla="val 6154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D9D3C8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0" name="fx5_2_5"/>
          <p:cNvSpPr/>
          <p:nvPr/>
        </p:nvSpPr>
        <p:spPr>
          <a:xfrm>
            <a:off x="3968496" y="2231136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E64D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21" name="fx5_2_6"/>
          <p:cNvSpPr/>
          <p:nvPr/>
        </p:nvSpPr>
        <p:spPr>
          <a:xfrm>
            <a:off x="4389120" y="225856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СОЦИАЛЬНОЕ ДОКАЗАТЕЛЬСТВО</a:t>
            </a:r>
            <a:endParaRPr lang="en-US" sz="1000" dirty="0"/>
          </a:p>
        </p:txBody>
      </p:sp>
      <p:sp>
        <p:nvSpPr>
          <p:cNvPr id="22" name="fx5_2_7"/>
          <p:cNvSpPr/>
          <p:nvPr/>
        </p:nvSpPr>
        <p:spPr>
          <a:xfrm>
            <a:off x="3986784" y="2697480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Отзывы, счётчик покупок · [6]</a:t>
            </a:r>
            <a:endParaRPr lang="en-US" sz="1000" dirty="0"/>
          </a:p>
        </p:txBody>
      </p:sp>
      <p:sp>
        <p:nvSpPr>
          <p:cNvPr id="23" name="fx5_3_8"/>
          <p:cNvSpPr/>
          <p:nvPr/>
        </p:nvSpPr>
        <p:spPr>
          <a:xfrm>
            <a:off x="713232" y="3520440"/>
            <a:ext cx="2944368" cy="1188720"/>
          </a:xfrm>
          <a:prstGeom prst="roundRect">
            <a:avLst>
              <a:gd name="adj" fmla="val 6154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D9D3C8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4" name="fx5_3_9"/>
          <p:cNvSpPr/>
          <p:nvPr/>
        </p:nvSpPr>
        <p:spPr>
          <a:xfrm>
            <a:off x="859536" y="3648456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E64D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25" name="fx5_3_10"/>
          <p:cNvSpPr/>
          <p:nvPr/>
        </p:nvSpPr>
        <p:spPr>
          <a:xfrm>
            <a:off x="1280160" y="367588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FOMO / СРАВНЕНИЕ</a:t>
            </a:r>
            <a:endParaRPr lang="en-US" sz="1070" dirty="0"/>
          </a:p>
        </p:txBody>
      </p:sp>
      <p:sp>
        <p:nvSpPr>
          <p:cNvPr id="26" name="fx5_3_11"/>
          <p:cNvSpPr/>
          <p:nvPr/>
        </p:nvSpPr>
        <p:spPr>
          <a:xfrm>
            <a:off x="877824" y="4114800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«Все уже взяли» · [7]</a:t>
            </a:r>
            <a:endParaRPr lang="en-US" sz="1000" dirty="0"/>
          </a:p>
        </p:txBody>
      </p:sp>
      <p:sp>
        <p:nvSpPr>
          <p:cNvPr id="27" name="fx5_4_12"/>
          <p:cNvSpPr/>
          <p:nvPr/>
        </p:nvSpPr>
        <p:spPr>
          <a:xfrm>
            <a:off x="3822192" y="3520440"/>
            <a:ext cx="2944368" cy="1188720"/>
          </a:xfrm>
          <a:prstGeom prst="roundRect">
            <a:avLst>
              <a:gd name="adj" fmla="val 6154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D9D3C8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8" name="fx5_4_13"/>
          <p:cNvSpPr/>
          <p:nvPr/>
        </p:nvSpPr>
        <p:spPr>
          <a:xfrm>
            <a:off x="3968496" y="3648456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E64D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29" name="fx5_4_14"/>
          <p:cNvSpPr/>
          <p:nvPr/>
        </p:nvSpPr>
        <p:spPr>
          <a:xfrm>
            <a:off x="4389120" y="367588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ОПЛАТА / ФРЕЙМИНГ</a:t>
            </a:r>
            <a:endParaRPr lang="en-US" sz="1050" dirty="0"/>
          </a:p>
        </p:txBody>
      </p:sp>
      <p:sp>
        <p:nvSpPr>
          <p:cNvPr id="30" name="fx5_4_15"/>
          <p:cNvSpPr/>
          <p:nvPr/>
        </p:nvSpPr>
        <p:spPr>
          <a:xfrm>
            <a:off x="3986784" y="4114800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Карта, «частями», цена со скидкой · [4, 8]</a:t>
            </a:r>
            <a:endParaRPr lang="en-US" sz="980" dirty="0"/>
          </a:p>
        </p:txBody>
      </p:sp>
      <p:sp>
        <p:nvSpPr>
          <p:cNvPr id="31" name="Shape 28"/>
          <p:cNvSpPr/>
          <p:nvPr/>
        </p:nvSpPr>
        <p:spPr>
          <a:xfrm>
            <a:off x="5175504" y="4892040"/>
            <a:ext cx="1591056" cy="1243584"/>
          </a:xfrm>
          <a:prstGeom prst="roundRect">
            <a:avLst>
              <a:gd name="adj" fmla="val 5882"/>
            </a:avLst>
          </a:prstGeom>
          <a:solidFill>
            <a:srgbClr val="FFFEFA">
              <a:alpha val="97000"/>
            </a:srgbClr>
          </a:solidFill>
          <a:ln w="9525">
            <a:solidFill>
              <a:srgbClr val="D2CCC1">
                <a:alpha val="96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 rot="-120000">
            <a:off x="5780105" y="4841748"/>
            <a:ext cx="365943" cy="128016"/>
          </a:xfrm>
          <a:prstGeom prst="rect">
            <a:avLst/>
          </a:prstGeom>
          <a:solidFill>
            <a:srgbClr val="EACEEB">
              <a:alpha val="88000"/>
            </a:srgbClr>
          </a:solidFill>
          <a:ln/>
        </p:spPr>
      </p:sp>
      <p:pic>
        <p:nvPicPr>
          <p:cNvPr id="33" name="Image 1" descr="/home/user/MyWorkAiBrain/presentations/impulse/assets/meme-seroton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656" y="4965192"/>
            <a:ext cx="1444752" cy="923544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5248656" y="5870448"/>
            <a:ext cx="14447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64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МЕМ ИЗ ИСХОДНИКА — НЕ ДИАГНОЗ</a:t>
            </a:r>
            <a:endParaRPr lang="en-US" sz="640" dirty="0"/>
          </a:p>
        </p:txBody>
      </p:sp>
      <p:sp>
        <p:nvSpPr>
          <p:cNvPr id="35" name="fx5_5_16"/>
          <p:cNvSpPr/>
          <p:nvPr/>
        </p:nvSpPr>
        <p:spPr>
          <a:xfrm>
            <a:off x="713232" y="5074920"/>
            <a:ext cx="4251960" cy="896112"/>
          </a:xfrm>
          <a:prstGeom prst="roundRect">
            <a:avLst>
              <a:gd name="adj" fmla="val 8163"/>
            </a:avLst>
          </a:prstGeom>
          <a:solidFill>
            <a:srgbClr val="FFF6E8">
              <a:alpha val="97000"/>
            </a:srgbClr>
          </a:solidFill>
          <a:ln w="9525">
            <a:solidFill>
              <a:srgbClr val="E7C89C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6" name="fx5_5_17"/>
          <p:cNvSpPr/>
          <p:nvPr/>
        </p:nvSpPr>
        <p:spPr>
          <a:xfrm>
            <a:off x="713232" y="5166360"/>
            <a:ext cx="50292" cy="713232"/>
          </a:xfrm>
          <a:prstGeom prst="rect">
            <a:avLst/>
          </a:prstGeom>
          <a:solidFill>
            <a:srgbClr val="E64D42"/>
          </a:solidFill>
          <a:ln/>
        </p:spPr>
      </p:sp>
      <p:sp>
        <p:nvSpPr>
          <p:cNvPr id="37" name="fx5_5_18"/>
          <p:cNvSpPr/>
          <p:nvPr/>
        </p:nvSpPr>
        <p:spPr>
          <a:xfrm>
            <a:off x="914400" y="4965192"/>
            <a:ext cx="2057400" cy="228600"/>
          </a:xfrm>
          <a:prstGeom prst="roundRect">
            <a:avLst>
              <a:gd name="adj" fmla="val 48000"/>
            </a:avLst>
          </a:prstGeom>
          <a:solidFill>
            <a:srgbClr val="E64D42"/>
          </a:solidFill>
          <a:ln/>
        </p:spPr>
      </p:sp>
      <p:sp>
        <p:nvSpPr>
          <p:cNvPr id="38" name="fx5_5_19"/>
          <p:cNvSpPr/>
          <p:nvPr/>
        </p:nvSpPr>
        <p:spPr>
          <a:xfrm>
            <a:off x="987552" y="4974336"/>
            <a:ext cx="1920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ПУТАЕМ С ПРИЧИНОЙ</a:t>
            </a:r>
            <a:endParaRPr lang="en-US" sz="750" dirty="0"/>
          </a:p>
        </p:txBody>
      </p:sp>
      <p:sp>
        <p:nvSpPr>
          <p:cNvPr id="39" name="fx5_5_20"/>
          <p:cNvSpPr/>
          <p:nvPr/>
        </p:nvSpPr>
        <p:spPr>
          <a:xfrm>
            <a:off x="941832" y="5248656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40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Триггеры — переменные исследования, а не ярлыки вроде «шопоголик».</a:t>
            </a:r>
            <a:endParaRPr lang="en-US" sz="1040" dirty="0"/>
          </a:p>
        </p:txBody>
      </p:sp>
      <p:pic>
        <p:nvPicPr>
          <p:cNvPr id="40" name="!!kashtan-glow" descr="/home/user/MyWorkAiBrain/presentations/impulse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02" y="809518"/>
            <a:ext cx="4790907" cy="4790907"/>
          </a:xfrm>
          <a:prstGeom prst="rect">
            <a:avLst/>
          </a:prstGeom>
        </p:spPr>
      </p:pic>
      <p:sp>
        <p:nvSpPr>
          <p:cNvPr id="41" name="!!kashtan-ring"/>
          <p:cNvSpPr/>
          <p:nvPr/>
        </p:nvSpPr>
        <p:spPr>
          <a:xfrm>
            <a:off x="7811445" y="1310061"/>
            <a:ext cx="3789822" cy="3789822"/>
          </a:xfrm>
          <a:prstGeom prst="ellipse">
            <a:avLst/>
          </a:prstGeom>
          <a:ln w="11430">
            <a:solidFill>
              <a:srgbClr val="D28B43">
                <a:alpha val="24000"/>
              </a:srgbClr>
            </a:solidFill>
            <a:prstDash val="solid"/>
          </a:ln>
        </p:spPr>
      </p:sp>
      <p:pic>
        <p:nvPicPr>
          <p:cNvPr id="42" name="!!kashtan-shadow" descr="/home/user/MyWorkAiBrain/presentations/impulse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469" y="4420575"/>
            <a:ext cx="3217774" cy="67930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3" name="!!m-kashtan">
                <a:extLst>
                  <a:ext uri="{FF2B5EF4-FFF2-40B4-BE49-F238E27FC236}">
                    <a16:creationId xmlns:a16="http://schemas.microsoft.com/office/drawing/2014/main" id="{3E2C5590-5C92-FC19-4C76-9E4D6C74E75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918704" y="1417320"/>
              <a:ext cx="3575304" cy="3575304"/>
            </p:xfrm>
            <a:graphic>
              <a:graphicData uri="http://schemas.microsoft.com/office/drawing/2017/model3d">
                <am3d:model3d r:embed="rIdM3d5">
                  <am3d:spPr>
                    <a:xfrm>
                      <a:off x="0" y="0"/>
                      <a:ext cx="3575304" cy="3575304"/>
                    </a:xfrm>
                    <a:prstGeom prst="rect">
                      <a:avLst/>
                    </a:prstGeom>
                  </am3d:spPr>
                  <am3d:camera>
                    <am3d:pos x="0" y="0" z="6385242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8604" d="1000000"/>
                    <am3d:preTrans dx="-1543452" dy="-5849741" dz="-128365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08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792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57530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3" name="!!m-kashtan">
                <a:extLst>
                  <a:ext uri="{FF2B5EF4-FFF2-40B4-BE49-F238E27FC236}">
                    <a16:creationId xmlns:a16="http://schemas.microsoft.com/office/drawing/2014/main" id="{3E2C5590-5C92-FC19-4C76-9E4D6C74E75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918704" y="1417320"/>
                <a:ext cx="3575304" cy="3575304"/>
              </a:xfrm>
              <a:prstGeom prst="rect">
                <a:avLst/>
              </a:prstGeom>
            </p:spPr>
          </p:pic>
        </mc:Fallback>
      </mc:AlternateContent>
      <p:sp>
        <p:nvSpPr>
          <p:cNvPr id="44" name="Shape 37"/>
          <p:cNvSpPr/>
          <p:nvPr/>
        </p:nvSpPr>
        <p:spPr>
          <a:xfrm>
            <a:off x="8238744" y="4956048"/>
            <a:ext cx="2880360" cy="283464"/>
          </a:xfrm>
          <a:prstGeom prst="roundRect">
            <a:avLst>
              <a:gd name="adj" fmla="val 51613"/>
            </a:avLst>
          </a:prstGeom>
          <a:solidFill>
            <a:srgbClr val="202A35"/>
          </a:solidFill>
          <a:ln/>
        </p:spPr>
      </p:sp>
      <p:sp>
        <p:nvSpPr>
          <p:cNvPr id="45" name="Text 38"/>
          <p:cNvSpPr/>
          <p:nvPr/>
        </p:nvSpPr>
        <p:spPr>
          <a:xfrm>
            <a:off x="8330184" y="5006340"/>
            <a:ext cx="2697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 ТРИГГЕРЫ</a:t>
            </a:r>
            <a:endParaRPr lang="en-US" sz="760" dirty="0"/>
          </a:p>
        </p:txBody>
      </p:sp>
      <p:sp>
        <p:nvSpPr>
          <p:cNvPr id="46" name="Text 39"/>
          <p:cNvSpPr/>
          <p:nvPr/>
        </p:nvSpPr>
        <p:spPr>
          <a:xfrm>
            <a:off x="8055864" y="1280160"/>
            <a:ext cx="3300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«Акция заканчивается… когда?»</a:t>
            </a:r>
            <a:endParaRPr lang="en-US" sz="96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1" dur="4792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6">
    <p:bg>
      <p:bgPr>
        <a:solidFill>
          <a:srgbClr val="F8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aper-bg" descr="/home/user/MyWorkAiBrain/presentations/impulse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brand-dot"/>
          <p:cNvSpPr/>
          <p:nvPr/>
        </p:nvSpPr>
        <p:spPr>
          <a:xfrm>
            <a:off x="713232" y="310896"/>
            <a:ext cx="128016" cy="128016"/>
          </a:xfrm>
          <a:prstGeom prst="ellipse">
            <a:avLst/>
          </a:prstGeom>
          <a:solidFill>
            <a:srgbClr val="E64D42"/>
          </a:solidFill>
          <a:ln/>
        </p:spPr>
      </p:sp>
      <p:sp>
        <p:nvSpPr>
          <p:cNvPr id="4" name="!!brand"/>
          <p:cNvSpPr/>
          <p:nvPr/>
        </p:nvSpPr>
        <p:spPr>
          <a:xfrm>
            <a:off x="969264" y="237744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ПСИХОЛОГИЯ ИМПУЛЬСИВНЫХ ТРАТ</a:t>
            </a:r>
            <a:endParaRPr lang="en-US" sz="900" dirty="0"/>
          </a:p>
        </p:txBody>
      </p:sp>
      <p:sp>
        <p:nvSpPr>
          <p:cNvPr id="5" name="!!section"/>
          <p:cNvSpPr/>
          <p:nvPr/>
        </p:nvSpPr>
        <p:spPr>
          <a:xfrm>
            <a:off x="8412480" y="2377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40" kern="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</a:t>
            </a:r>
            <a:endParaRPr lang="en-US" sz="900" dirty="0"/>
          </a:p>
        </p:txBody>
      </p:sp>
      <p:sp>
        <p:nvSpPr>
          <p:cNvPr id="6" name="!!page"/>
          <p:cNvSpPr/>
          <p:nvPr/>
        </p:nvSpPr>
        <p:spPr>
          <a:xfrm>
            <a:off x="10652760" y="2377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20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10</a:t>
            </a:r>
            <a:endParaRPr lang="en-US" sz="900" dirty="0"/>
          </a:p>
        </p:txBody>
      </p:sp>
      <p:sp>
        <p:nvSpPr>
          <p:cNvPr id="7" name="!!track"/>
          <p:cNvSpPr/>
          <p:nvPr/>
        </p:nvSpPr>
        <p:spPr>
          <a:xfrm>
            <a:off x="713232" y="630936"/>
            <a:ext cx="10762488" cy="22860"/>
          </a:xfrm>
          <a:prstGeom prst="rect">
            <a:avLst/>
          </a:prstGeom>
          <a:solidFill>
            <a:srgbClr val="D6D4CD"/>
          </a:solidFill>
          <a:ln/>
        </p:spPr>
      </p:sp>
      <p:sp>
        <p:nvSpPr>
          <p:cNvPr id="8" name="!!progress"/>
          <p:cNvSpPr/>
          <p:nvPr/>
        </p:nvSpPr>
        <p:spPr>
          <a:xfrm>
            <a:off x="713232" y="630936"/>
            <a:ext cx="6457493" cy="22860"/>
          </a:xfrm>
          <a:prstGeom prst="rect">
            <a:avLst/>
          </a:prstGeom>
          <a:solidFill>
            <a:srgbClr val="E64D42"/>
          </a:solidFill>
          <a:ln/>
        </p:spPr>
      </p:sp>
      <p:sp>
        <p:nvSpPr>
          <p:cNvPr id="9" name="!!footer-line"/>
          <p:cNvSpPr/>
          <p:nvPr/>
        </p:nvSpPr>
        <p:spPr>
          <a:xfrm>
            <a:off x="713232" y="6373368"/>
            <a:ext cx="10762488" cy="91"/>
          </a:xfrm>
          <a:prstGeom prst="line">
            <a:avLst/>
          </a:prstGeom>
          <a:noFill/>
          <a:ln w="8255">
            <a:solidFill>
              <a:srgbClr val="202A35">
                <a:alpha val="15000"/>
              </a:srgbClr>
            </a:solidFill>
            <a:prstDash val="solid"/>
          </a:ln>
        </p:spPr>
      </p:sp>
      <p:sp>
        <p:nvSpPr>
          <p:cNvPr id="10" name="!!footer"/>
          <p:cNvSpPr/>
          <p:nvPr/>
        </p:nvSpPr>
        <p:spPr>
          <a:xfrm>
            <a:off x="713232" y="646480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spc="60" kern="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УЧЕБНЫЙ ПРОЕКТ  ·  ПЛАН И ГИПОТЕЗЫ, НЕ РЕЗУЛЬТАТЫ ОПРОСА</a:t>
            </a:r>
            <a:endParaRPr lang="en-US" sz="800" dirty="0"/>
          </a:p>
        </p:txBody>
      </p:sp>
      <p:sp>
        <p:nvSpPr>
          <p:cNvPr id="11" name="!!year"/>
          <p:cNvSpPr/>
          <p:nvPr/>
        </p:nvSpPr>
        <p:spPr>
          <a:xfrm>
            <a:off x="10972800" y="64648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800" dirty="0"/>
          </a:p>
        </p:txBody>
      </p:sp>
      <p:sp>
        <p:nvSpPr>
          <p:cNvPr id="12" name="!!title"/>
          <p:cNvSpPr/>
          <p:nvPr/>
        </p:nvSpPr>
        <p:spPr>
          <a:xfrm>
            <a:off x="713232" y="932688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320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Кого и о чём мы спрашиваем?</a:t>
            </a:r>
            <a:endParaRPr lang="en-US" sz="3200" dirty="0"/>
          </a:p>
        </p:txBody>
      </p:sp>
      <p:sp>
        <p:nvSpPr>
          <p:cNvPr id="13" name="!!title-underline"/>
          <p:cNvSpPr/>
          <p:nvPr/>
        </p:nvSpPr>
        <p:spPr>
          <a:xfrm>
            <a:off x="713232" y="1792224"/>
            <a:ext cx="1417320" cy="13716"/>
          </a:xfrm>
          <a:prstGeom prst="line">
            <a:avLst/>
          </a:prstGeom>
          <a:noFill/>
          <a:ln w="29210">
            <a:solidFill>
              <a:srgbClr val="E64D4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V="1">
            <a:off x="768096" y="1824228"/>
            <a:ext cx="1121512" cy="9144"/>
          </a:xfrm>
          <a:prstGeom prst="line">
            <a:avLst/>
          </a:prstGeom>
          <a:noFill/>
          <a:ln w="11430">
            <a:solidFill>
              <a:srgbClr val="E64D42">
                <a:alpha val="58000"/>
              </a:srgbClr>
            </a:solidFill>
            <a:prstDash val="solid"/>
          </a:ln>
        </p:spPr>
      </p:sp>
      <p:sp>
        <p:nvSpPr>
          <p:cNvPr id="15" name="fx6_1_0"/>
          <p:cNvSpPr/>
          <p:nvPr/>
        </p:nvSpPr>
        <p:spPr>
          <a:xfrm>
            <a:off x="713232" y="2084832"/>
            <a:ext cx="6217920" cy="1033272"/>
          </a:xfrm>
          <a:prstGeom prst="roundRect">
            <a:avLst>
              <a:gd name="adj" fmla="val 7080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D8D2C8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6" name="fx6_1_1"/>
          <p:cNvSpPr/>
          <p:nvPr/>
        </p:nvSpPr>
        <p:spPr>
          <a:xfrm>
            <a:off x="914400" y="226771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spc="125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ИССЛЕДОВАТЕЛЬСКИЙ ВОПРОС</a:t>
            </a:r>
            <a:endParaRPr lang="en-US" sz="850" dirty="0"/>
          </a:p>
        </p:txBody>
      </p:sp>
      <p:sp>
        <p:nvSpPr>
          <p:cNvPr id="17" name="fx6_1_2"/>
          <p:cNvSpPr/>
          <p:nvPr/>
        </p:nvSpPr>
        <p:spPr>
          <a:xfrm>
            <a:off x="914400" y="2578608"/>
            <a:ext cx="577900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Какие триггеры студенты связывают со спонтанными тратами — и что помогает им остановиться?</a:t>
            </a:r>
            <a:endParaRPr lang="en-US" sz="1300" dirty="0"/>
          </a:p>
        </p:txBody>
      </p:sp>
      <p:sp>
        <p:nvSpPr>
          <p:cNvPr id="18" name="fx6_2_3"/>
          <p:cNvSpPr/>
          <p:nvPr/>
        </p:nvSpPr>
        <p:spPr>
          <a:xfrm>
            <a:off x="713232" y="3410712"/>
            <a:ext cx="2907792" cy="1143000"/>
          </a:xfrm>
          <a:prstGeom prst="roundRect">
            <a:avLst>
              <a:gd name="adj" fmla="val 6400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D9D3C8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9" name="fx6_2_4"/>
          <p:cNvSpPr/>
          <p:nvPr/>
        </p:nvSpPr>
        <p:spPr>
          <a:xfrm>
            <a:off x="859536" y="3538728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E64D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20" name="fx6_2_5"/>
          <p:cNvSpPr/>
          <p:nvPr/>
        </p:nvSpPr>
        <p:spPr>
          <a:xfrm>
            <a:off x="1280160" y="3566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</a:t>
            </a:r>
            <a:endParaRPr lang="en-US" sz="1150" dirty="0"/>
          </a:p>
        </p:txBody>
      </p:sp>
      <p:sp>
        <p:nvSpPr>
          <p:cNvPr id="21" name="fx6_2_6"/>
          <p:cNvSpPr/>
          <p:nvPr/>
        </p:nvSpPr>
        <p:spPr>
          <a:xfrm>
            <a:off x="877824" y="400507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7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Студенты вузов · 18–25 лет</a:t>
            </a:r>
            <a:endParaRPr lang="en-US" sz="1070" dirty="0"/>
          </a:p>
        </p:txBody>
      </p:sp>
      <p:sp>
        <p:nvSpPr>
          <p:cNvPr id="22" name="fx6_3_7"/>
          <p:cNvSpPr/>
          <p:nvPr/>
        </p:nvSpPr>
        <p:spPr>
          <a:xfrm>
            <a:off x="3822192" y="3410712"/>
            <a:ext cx="2907792" cy="1143000"/>
          </a:xfrm>
          <a:prstGeom prst="roundRect">
            <a:avLst>
              <a:gd name="adj" fmla="val 6400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D9D3C8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3" name="fx6_3_8"/>
          <p:cNvSpPr/>
          <p:nvPr/>
        </p:nvSpPr>
        <p:spPr>
          <a:xfrm>
            <a:off x="3968496" y="3538728"/>
            <a:ext cx="347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E64D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24" name="fx6_3_9"/>
          <p:cNvSpPr/>
          <p:nvPr/>
        </p:nvSpPr>
        <p:spPr>
          <a:xfrm>
            <a:off x="4389120" y="3566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СКОЛЬКО</a:t>
            </a:r>
            <a:endParaRPr lang="en-US" sz="1150" dirty="0"/>
          </a:p>
        </p:txBody>
      </p:sp>
      <p:sp>
        <p:nvSpPr>
          <p:cNvPr id="25" name="fx6_3_10"/>
          <p:cNvSpPr/>
          <p:nvPr/>
        </p:nvSpPr>
        <p:spPr>
          <a:xfrm>
            <a:off x="3986784" y="400507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7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Планируемый набор: N ≥ 50</a:t>
            </a:r>
            <a:endParaRPr lang="en-US" sz="1070" dirty="0"/>
          </a:p>
        </p:txBody>
      </p:sp>
      <p:sp>
        <p:nvSpPr>
          <p:cNvPr id="26" name="fx6_4_11"/>
          <p:cNvSpPr/>
          <p:nvPr/>
        </p:nvSpPr>
        <p:spPr>
          <a:xfrm>
            <a:off x="713232" y="4818888"/>
            <a:ext cx="6217920" cy="676656"/>
          </a:xfrm>
          <a:prstGeom prst="roundRect">
            <a:avLst>
              <a:gd name="adj" fmla="val 10811"/>
            </a:avLst>
          </a:prstGeom>
          <a:solidFill>
            <a:srgbClr val="EAF1F3">
              <a:alpha val="97000"/>
            </a:srgbClr>
          </a:solidFill>
          <a:ln w="9525">
            <a:solidFill>
              <a:srgbClr val="B7CBD4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7" name="fx6_4_12"/>
          <p:cNvSpPr/>
          <p:nvPr/>
        </p:nvSpPr>
        <p:spPr>
          <a:xfrm>
            <a:off x="914400" y="49651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spc="125" kern="0" dirty="0">
                <a:solidFill>
                  <a:srgbClr val="7399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ФОРМАТ</a:t>
            </a:r>
            <a:endParaRPr lang="en-US" sz="850" dirty="0"/>
          </a:p>
        </p:txBody>
      </p:sp>
      <p:sp>
        <p:nvSpPr>
          <p:cNvPr id="28" name="fx6_4_13"/>
          <p:cNvSpPr/>
          <p:nvPr/>
        </p:nvSpPr>
        <p:spPr>
          <a:xfrm>
            <a:off x="1856232" y="4956048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Анонимный добровольный онлайн-опрос · без ФИО, логинов и данных банковской карты.</a:t>
            </a:r>
            <a:endParaRPr lang="en-US" sz="1070" dirty="0"/>
          </a:p>
        </p:txBody>
      </p:sp>
      <p:sp>
        <p:nvSpPr>
          <p:cNvPr id="29" name="fx6_5_14"/>
          <p:cNvSpPr/>
          <p:nvPr/>
        </p:nvSpPr>
        <p:spPr>
          <a:xfrm>
            <a:off x="713232" y="5660136"/>
            <a:ext cx="6217920" cy="475488"/>
          </a:xfrm>
          <a:prstGeom prst="roundRect">
            <a:avLst>
              <a:gd name="adj" fmla="val 15385"/>
            </a:avLst>
          </a:prstGeom>
          <a:solidFill>
            <a:srgbClr val="FFF6E8">
              <a:alpha val="97000"/>
            </a:srgbClr>
          </a:solidFill>
          <a:ln w="9525">
            <a:solidFill>
              <a:srgbClr val="E7C89C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0" name="fx6_5_15"/>
          <p:cNvSpPr/>
          <p:nvPr/>
        </p:nvSpPr>
        <p:spPr>
          <a:xfrm>
            <a:off x="713232" y="5751576"/>
            <a:ext cx="50292" cy="292608"/>
          </a:xfrm>
          <a:prstGeom prst="rect">
            <a:avLst/>
          </a:prstGeom>
          <a:solidFill>
            <a:srgbClr val="E64D42"/>
          </a:solidFill>
          <a:ln/>
        </p:spPr>
      </p:sp>
      <p:sp>
        <p:nvSpPr>
          <p:cNvPr id="31" name="fx6_5_16"/>
          <p:cNvSpPr/>
          <p:nvPr/>
        </p:nvSpPr>
        <p:spPr>
          <a:xfrm>
            <a:off x="914400" y="5550408"/>
            <a:ext cx="2148840" cy="228600"/>
          </a:xfrm>
          <a:prstGeom prst="roundRect">
            <a:avLst>
              <a:gd name="adj" fmla="val 48000"/>
            </a:avLst>
          </a:prstGeom>
          <a:solidFill>
            <a:srgbClr val="E64D42"/>
          </a:solidFill>
          <a:ln/>
        </p:spPr>
      </p:sp>
      <p:sp>
        <p:nvSpPr>
          <p:cNvPr id="32" name="fx6_5_17"/>
          <p:cNvSpPr/>
          <p:nvPr/>
        </p:nvSpPr>
        <p:spPr>
          <a:xfrm>
            <a:off x="987552" y="5559552"/>
            <a:ext cx="20116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ВЫДУМАННЫХ ДАННЫХ</a:t>
            </a:r>
            <a:endParaRPr lang="en-US" sz="750" dirty="0"/>
          </a:p>
        </p:txBody>
      </p:sp>
      <p:sp>
        <p:nvSpPr>
          <p:cNvPr id="33" name="fx6_5_18"/>
          <p:cNvSpPr/>
          <p:nvPr/>
        </p:nvSpPr>
        <p:spPr>
          <a:xfrm>
            <a:off x="941832" y="5833872"/>
            <a:ext cx="5806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70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≥ 50 — цель набора, не число уже опрошенных.</a:t>
            </a:r>
            <a:endParaRPr lang="en-US" sz="970" dirty="0"/>
          </a:p>
        </p:txBody>
      </p:sp>
      <p:pic>
        <p:nvPicPr>
          <p:cNvPr id="34" name="!!kashtan-glow" descr="/home/user/MyWorkAiBrain/presentations/impulse/assets/g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9190" y="809518"/>
            <a:ext cx="4790907" cy="4790907"/>
          </a:xfrm>
          <a:prstGeom prst="rect">
            <a:avLst/>
          </a:prstGeom>
        </p:spPr>
      </p:pic>
      <p:sp>
        <p:nvSpPr>
          <p:cNvPr id="35" name="!!kashtan-ring"/>
          <p:cNvSpPr/>
          <p:nvPr/>
        </p:nvSpPr>
        <p:spPr>
          <a:xfrm>
            <a:off x="7829733" y="1310061"/>
            <a:ext cx="3789822" cy="3789822"/>
          </a:xfrm>
          <a:prstGeom prst="ellipse">
            <a:avLst/>
          </a:prstGeom>
          <a:ln w="11430">
            <a:solidFill>
              <a:srgbClr val="D28B43">
                <a:alpha val="24000"/>
              </a:srgbClr>
            </a:solidFill>
            <a:prstDash val="solid"/>
          </a:ln>
        </p:spPr>
      </p:sp>
      <p:pic>
        <p:nvPicPr>
          <p:cNvPr id="36" name="!!kashtan-shadow" descr="/home/user/MyWorkAiBrain/presentations/impulse/assets/shad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757" y="4420575"/>
            <a:ext cx="3217774" cy="67930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7" name="!!m-kashtan">
                <a:extLst>
                  <a:ext uri="{FF2B5EF4-FFF2-40B4-BE49-F238E27FC236}">
                    <a16:creationId xmlns:a16="http://schemas.microsoft.com/office/drawing/2014/main" id="{4EE8222E-EEA5-A3F0-F6B9-925A4BE0A00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936992" y="1417320"/>
              <a:ext cx="3575304" cy="3575304"/>
            </p:xfrm>
            <a:graphic>
              <a:graphicData uri="http://schemas.microsoft.com/office/drawing/2017/model3d">
                <am3d:model3d r:embed="rIdM3d6">
                  <am3d:spPr>
                    <a:xfrm>
                      <a:off x="0" y="0"/>
                      <a:ext cx="3575304" cy="3575304"/>
                    </a:xfrm>
                    <a:prstGeom prst="rect">
                      <a:avLst/>
                    </a:prstGeom>
                  </am3d:spPr>
                  <am3d:camera>
                    <am3d:pos x="0" y="0" z="6385242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8604" d="1000000"/>
                    <am3d:preTrans dx="-1543452" dy="-5849741" dz="-128365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08000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792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57530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7" name="!!m-kashtan">
                <a:extLst>
                  <a:ext uri="{FF2B5EF4-FFF2-40B4-BE49-F238E27FC236}">
                    <a16:creationId xmlns:a16="http://schemas.microsoft.com/office/drawing/2014/main" id="{4EE8222E-EEA5-A3F0-F6B9-925A4BE0A00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936992" y="1417320"/>
                <a:ext cx="3575304" cy="3575304"/>
              </a:xfrm>
              <a:prstGeom prst="rect">
                <a:avLst/>
              </a:prstGeom>
            </p:spPr>
          </p:pic>
        </mc:Fallback>
      </mc:AlternateContent>
      <p:sp>
        <p:nvSpPr>
          <p:cNvPr id="38" name="Shape 32"/>
          <p:cNvSpPr/>
          <p:nvPr/>
        </p:nvSpPr>
        <p:spPr>
          <a:xfrm>
            <a:off x="8257032" y="4956048"/>
            <a:ext cx="2926080" cy="283464"/>
          </a:xfrm>
          <a:prstGeom prst="roundRect">
            <a:avLst>
              <a:gd name="adj" fmla="val 51613"/>
            </a:avLst>
          </a:prstGeom>
          <a:solidFill>
            <a:srgbClr val="202A35"/>
          </a:solidFill>
          <a:ln/>
        </p:spPr>
      </p:sp>
      <p:sp>
        <p:nvSpPr>
          <p:cNvPr id="39" name="Text 33"/>
          <p:cNvSpPr/>
          <p:nvPr/>
        </p:nvSpPr>
        <p:spPr>
          <a:xfrm>
            <a:off x="8348472" y="5006340"/>
            <a:ext cx="2743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АНОНИМНО И ДОБРОВОЛЬНО</a:t>
            </a:r>
            <a:endParaRPr lang="en-US" sz="760" dirty="0"/>
          </a:p>
        </p:txBody>
      </p:sp>
      <p:sp>
        <p:nvSpPr>
          <p:cNvPr id="40" name="Text 34"/>
          <p:cNvSpPr/>
          <p:nvPr/>
        </p:nvSpPr>
        <p:spPr>
          <a:xfrm>
            <a:off x="8074152" y="1280160"/>
            <a:ext cx="3300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«Личные данные? Не, спасибо»</a:t>
            </a:r>
            <a:endParaRPr lang="en-US" sz="96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1" dur="4792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7">
    <p:bg>
      <p:bgPr>
        <a:solidFill>
          <a:srgbClr val="F8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aper-bg" descr="/home/user/MyWorkAiBrain/presentations/impulse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brand-dot"/>
          <p:cNvSpPr/>
          <p:nvPr/>
        </p:nvSpPr>
        <p:spPr>
          <a:xfrm>
            <a:off x="713232" y="310896"/>
            <a:ext cx="128016" cy="128016"/>
          </a:xfrm>
          <a:prstGeom prst="ellipse">
            <a:avLst/>
          </a:prstGeom>
          <a:solidFill>
            <a:srgbClr val="E64D42"/>
          </a:solidFill>
          <a:ln/>
        </p:spPr>
      </p:sp>
      <p:sp>
        <p:nvSpPr>
          <p:cNvPr id="4" name="!!brand"/>
          <p:cNvSpPr/>
          <p:nvPr/>
        </p:nvSpPr>
        <p:spPr>
          <a:xfrm>
            <a:off x="969264" y="237744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ПСИХОЛОГИЯ ИМПУЛЬСИВНЫХ ТРАТ</a:t>
            </a:r>
            <a:endParaRPr lang="en-US" sz="900" dirty="0"/>
          </a:p>
        </p:txBody>
      </p:sp>
      <p:sp>
        <p:nvSpPr>
          <p:cNvPr id="5" name="!!section"/>
          <p:cNvSpPr/>
          <p:nvPr/>
        </p:nvSpPr>
        <p:spPr>
          <a:xfrm>
            <a:off x="8412480" y="2377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40" kern="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ГИПОТЕЗЫ</a:t>
            </a:r>
            <a:endParaRPr lang="en-US" sz="900" dirty="0"/>
          </a:p>
        </p:txBody>
      </p:sp>
      <p:sp>
        <p:nvSpPr>
          <p:cNvPr id="6" name="!!page"/>
          <p:cNvSpPr/>
          <p:nvPr/>
        </p:nvSpPr>
        <p:spPr>
          <a:xfrm>
            <a:off x="10652760" y="2377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20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10</a:t>
            </a:r>
            <a:endParaRPr lang="en-US" sz="900" dirty="0"/>
          </a:p>
        </p:txBody>
      </p:sp>
      <p:sp>
        <p:nvSpPr>
          <p:cNvPr id="7" name="!!track"/>
          <p:cNvSpPr/>
          <p:nvPr/>
        </p:nvSpPr>
        <p:spPr>
          <a:xfrm>
            <a:off x="713232" y="630936"/>
            <a:ext cx="10762488" cy="22860"/>
          </a:xfrm>
          <a:prstGeom prst="rect">
            <a:avLst/>
          </a:prstGeom>
          <a:solidFill>
            <a:srgbClr val="D6D4CD"/>
          </a:solidFill>
          <a:ln/>
        </p:spPr>
      </p:sp>
      <p:sp>
        <p:nvSpPr>
          <p:cNvPr id="8" name="!!progress"/>
          <p:cNvSpPr/>
          <p:nvPr/>
        </p:nvSpPr>
        <p:spPr>
          <a:xfrm>
            <a:off x="713232" y="630936"/>
            <a:ext cx="7533742" cy="22860"/>
          </a:xfrm>
          <a:prstGeom prst="rect">
            <a:avLst/>
          </a:prstGeom>
          <a:solidFill>
            <a:srgbClr val="E64D42"/>
          </a:solidFill>
          <a:ln/>
        </p:spPr>
      </p:sp>
      <p:sp>
        <p:nvSpPr>
          <p:cNvPr id="9" name="!!footer-line"/>
          <p:cNvSpPr/>
          <p:nvPr/>
        </p:nvSpPr>
        <p:spPr>
          <a:xfrm>
            <a:off x="713232" y="6373368"/>
            <a:ext cx="10762488" cy="91"/>
          </a:xfrm>
          <a:prstGeom prst="line">
            <a:avLst/>
          </a:prstGeom>
          <a:noFill/>
          <a:ln w="8255">
            <a:solidFill>
              <a:srgbClr val="202A35">
                <a:alpha val="15000"/>
              </a:srgbClr>
            </a:solidFill>
            <a:prstDash val="solid"/>
          </a:ln>
        </p:spPr>
      </p:sp>
      <p:sp>
        <p:nvSpPr>
          <p:cNvPr id="10" name="!!footer"/>
          <p:cNvSpPr/>
          <p:nvPr/>
        </p:nvSpPr>
        <p:spPr>
          <a:xfrm>
            <a:off x="713232" y="646480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spc="60" kern="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УЧЕБНЫЙ ПРОЕКТ  ·  ПЛАН И ГИПОТЕЗЫ, НЕ РЕЗУЛЬТАТЫ ОПРОСА</a:t>
            </a:r>
            <a:endParaRPr lang="en-US" sz="800" dirty="0"/>
          </a:p>
        </p:txBody>
      </p:sp>
      <p:sp>
        <p:nvSpPr>
          <p:cNvPr id="11" name="!!year"/>
          <p:cNvSpPr/>
          <p:nvPr/>
        </p:nvSpPr>
        <p:spPr>
          <a:xfrm>
            <a:off x="10972800" y="64648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800" dirty="0"/>
          </a:p>
        </p:txBody>
      </p:sp>
      <p:sp>
        <p:nvSpPr>
          <p:cNvPr id="12" name="!!title"/>
          <p:cNvSpPr/>
          <p:nvPr/>
        </p:nvSpPr>
        <p:spPr>
          <a:xfrm>
            <a:off x="713232" y="932688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310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Гипотезы: ищем связи, не виноватых</a:t>
            </a:r>
            <a:endParaRPr lang="en-US" sz="3100" dirty="0"/>
          </a:p>
        </p:txBody>
      </p:sp>
      <p:sp>
        <p:nvSpPr>
          <p:cNvPr id="13" name="!!title-underline"/>
          <p:cNvSpPr/>
          <p:nvPr/>
        </p:nvSpPr>
        <p:spPr>
          <a:xfrm>
            <a:off x="713232" y="1792224"/>
            <a:ext cx="1645920" cy="13716"/>
          </a:xfrm>
          <a:prstGeom prst="line">
            <a:avLst/>
          </a:prstGeom>
          <a:noFill/>
          <a:ln w="29210">
            <a:solidFill>
              <a:srgbClr val="E64D4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V="1">
            <a:off x="768096" y="1824228"/>
            <a:ext cx="1311250" cy="9144"/>
          </a:xfrm>
          <a:prstGeom prst="line">
            <a:avLst/>
          </a:prstGeom>
          <a:noFill/>
          <a:ln w="11430">
            <a:solidFill>
              <a:srgbClr val="E64D42">
                <a:alpha val="58000"/>
              </a:srgbClr>
            </a:solidFill>
            <a:prstDash val="solid"/>
          </a:ln>
        </p:spPr>
      </p:sp>
      <p:sp>
        <p:nvSpPr>
          <p:cNvPr id="15" name="fx7_1_0"/>
          <p:cNvSpPr/>
          <p:nvPr/>
        </p:nvSpPr>
        <p:spPr>
          <a:xfrm>
            <a:off x="713232" y="2103120"/>
            <a:ext cx="6400800" cy="749808"/>
          </a:xfrm>
          <a:prstGeom prst="roundRect">
            <a:avLst>
              <a:gd name="adj" fmla="val 9756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DAD2C6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6" name="fx7_1_1"/>
          <p:cNvSpPr/>
          <p:nvPr/>
        </p:nvSpPr>
        <p:spPr>
          <a:xfrm>
            <a:off x="877824" y="2276856"/>
            <a:ext cx="51206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E64D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n-US" sz="1900" dirty="0"/>
          </a:p>
        </p:txBody>
      </p:sp>
      <p:sp>
        <p:nvSpPr>
          <p:cNvPr id="17" name="fx7_1_2"/>
          <p:cNvSpPr/>
          <p:nvPr/>
        </p:nvSpPr>
        <p:spPr>
          <a:xfrm>
            <a:off x="1481328" y="2212848"/>
            <a:ext cx="5376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9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FOMO / импульсивность связаны с более частыми незапланированными покупками.</a:t>
            </a:r>
            <a:endParaRPr lang="en-US" sz="1190" dirty="0"/>
          </a:p>
        </p:txBody>
      </p:sp>
      <p:sp>
        <p:nvSpPr>
          <p:cNvPr id="18" name="fx7_1_3"/>
          <p:cNvSpPr/>
          <p:nvPr/>
        </p:nvSpPr>
        <p:spPr>
          <a:xfrm>
            <a:off x="1481328" y="2551176"/>
            <a:ext cx="5413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Переменные: частота, FOMO, оплата частями.</a:t>
            </a:r>
            <a:endParaRPr lang="en-US" sz="950" dirty="0"/>
          </a:p>
        </p:txBody>
      </p:sp>
      <p:sp>
        <p:nvSpPr>
          <p:cNvPr id="19" name="fx7_2_4"/>
          <p:cNvSpPr/>
          <p:nvPr/>
        </p:nvSpPr>
        <p:spPr>
          <a:xfrm>
            <a:off x="713232" y="3017520"/>
            <a:ext cx="6400800" cy="749808"/>
          </a:xfrm>
          <a:prstGeom prst="roundRect">
            <a:avLst>
              <a:gd name="adj" fmla="val 9756"/>
            </a:avLst>
          </a:prstGeom>
          <a:solidFill>
            <a:srgbClr val="FFF8EF">
              <a:alpha val="97000"/>
            </a:srgbClr>
          </a:solidFill>
          <a:ln w="9525">
            <a:solidFill>
              <a:srgbClr val="DAD2C6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0" name="fx7_2_5"/>
          <p:cNvSpPr/>
          <p:nvPr/>
        </p:nvSpPr>
        <p:spPr>
          <a:xfrm>
            <a:off x="877824" y="3191256"/>
            <a:ext cx="51206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E64D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n-US" sz="1900" dirty="0"/>
          </a:p>
        </p:txBody>
      </p:sp>
      <p:sp>
        <p:nvSpPr>
          <p:cNvPr id="21" name="fx7_2_6"/>
          <p:cNvSpPr/>
          <p:nvPr/>
        </p:nvSpPr>
        <p:spPr>
          <a:xfrm>
            <a:off x="1481328" y="3127248"/>
            <a:ext cx="5376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9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Социальное сравнение связано с большим числом статусных покупок.</a:t>
            </a:r>
            <a:endParaRPr lang="en-US" sz="1190" dirty="0"/>
          </a:p>
        </p:txBody>
      </p:sp>
      <p:sp>
        <p:nvSpPr>
          <p:cNvPr id="22" name="fx7_2_7"/>
          <p:cNvSpPr/>
          <p:nvPr/>
        </p:nvSpPr>
        <p:spPr>
          <a:xfrm>
            <a:off x="1481328" y="3465576"/>
            <a:ext cx="5413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Переменные: сравнение, категории покупок.</a:t>
            </a:r>
            <a:endParaRPr lang="en-US" sz="950" dirty="0"/>
          </a:p>
        </p:txBody>
      </p:sp>
      <p:sp>
        <p:nvSpPr>
          <p:cNvPr id="23" name="fx7_3_8"/>
          <p:cNvSpPr/>
          <p:nvPr/>
        </p:nvSpPr>
        <p:spPr>
          <a:xfrm>
            <a:off x="713232" y="3931920"/>
            <a:ext cx="6400800" cy="749808"/>
          </a:xfrm>
          <a:prstGeom prst="roundRect">
            <a:avLst>
              <a:gd name="adj" fmla="val 9756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DAD2C6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4" name="fx7_3_9"/>
          <p:cNvSpPr/>
          <p:nvPr/>
        </p:nvSpPr>
        <p:spPr>
          <a:xfrm>
            <a:off x="877824" y="4105656"/>
            <a:ext cx="51206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E64D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n-US" sz="1900" dirty="0"/>
          </a:p>
        </p:txBody>
      </p:sp>
      <p:sp>
        <p:nvSpPr>
          <p:cNvPr id="25" name="fx7_3_10"/>
          <p:cNvSpPr/>
          <p:nvPr/>
        </p:nvSpPr>
        <p:spPr>
          <a:xfrm>
            <a:off x="1481328" y="4041648"/>
            <a:ext cx="5376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9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Финансовая грамотность связана с планированием, но не гарантирует «иммунитет».</a:t>
            </a:r>
            <a:endParaRPr lang="en-US" sz="1190" dirty="0"/>
          </a:p>
        </p:txBody>
      </p:sp>
      <p:sp>
        <p:nvSpPr>
          <p:cNvPr id="26" name="fx7_3_11"/>
          <p:cNvSpPr/>
          <p:nvPr/>
        </p:nvSpPr>
        <p:spPr>
          <a:xfrm>
            <a:off x="1481328" y="4379976"/>
            <a:ext cx="5413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Переменные: самопроверка знаний, бюджет, импульс.</a:t>
            </a:r>
            <a:endParaRPr lang="en-US" sz="950" dirty="0"/>
          </a:p>
        </p:txBody>
      </p:sp>
      <p:sp>
        <p:nvSpPr>
          <p:cNvPr id="27" name="fx7_4_12"/>
          <p:cNvSpPr/>
          <p:nvPr/>
        </p:nvSpPr>
        <p:spPr>
          <a:xfrm>
            <a:off x="713232" y="5065776"/>
            <a:ext cx="6400800" cy="594360"/>
          </a:xfrm>
          <a:prstGeom prst="roundRect">
            <a:avLst>
              <a:gd name="adj" fmla="val 12308"/>
            </a:avLst>
          </a:prstGeom>
          <a:solidFill>
            <a:srgbClr val="EAF1F3">
              <a:alpha val="97000"/>
            </a:srgbClr>
          </a:solidFill>
          <a:ln w="9525">
            <a:solidFill>
              <a:srgbClr val="B7CBD4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8" name="fx7_4_13"/>
          <p:cNvSpPr/>
          <p:nvPr/>
        </p:nvSpPr>
        <p:spPr>
          <a:xfrm>
            <a:off x="896112" y="5202936"/>
            <a:ext cx="1353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spc="125" kern="0" dirty="0">
                <a:solidFill>
                  <a:srgbClr val="7399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ПРОВЕРЯЕМ</a:t>
            </a:r>
            <a:endParaRPr lang="en-US" sz="850" dirty="0"/>
          </a:p>
        </p:txBody>
      </p:sp>
      <p:sp>
        <p:nvSpPr>
          <p:cNvPr id="29" name="fx7_4_14"/>
          <p:cNvSpPr/>
          <p:nvPr/>
        </p:nvSpPr>
        <p:spPr>
          <a:xfrm>
            <a:off x="2313432" y="5193792"/>
            <a:ext cx="4553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Частоты и связи рангов (например, Спирмен). Поперечный опрос не доказывает причинность.</a:t>
            </a:r>
            <a:endParaRPr lang="en-US" sz="1000" dirty="0"/>
          </a:p>
        </p:txBody>
      </p:sp>
      <p:sp>
        <p:nvSpPr>
          <p:cNvPr id="30" name="fx7_5_15"/>
          <p:cNvSpPr/>
          <p:nvPr/>
        </p:nvSpPr>
        <p:spPr>
          <a:xfrm>
            <a:off x="713232" y="5760720"/>
            <a:ext cx="6400800" cy="384048"/>
          </a:xfrm>
          <a:prstGeom prst="roundRect">
            <a:avLst>
              <a:gd name="adj" fmla="val 19048"/>
            </a:avLst>
          </a:prstGeom>
          <a:solidFill>
            <a:srgbClr val="FFF6E8">
              <a:alpha val="97000"/>
            </a:srgbClr>
          </a:solidFill>
          <a:ln w="9525">
            <a:solidFill>
              <a:srgbClr val="E7C89C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1" name="fx7_5_16"/>
          <p:cNvSpPr/>
          <p:nvPr/>
        </p:nvSpPr>
        <p:spPr>
          <a:xfrm>
            <a:off x="713232" y="5852160"/>
            <a:ext cx="50292" cy="201168"/>
          </a:xfrm>
          <a:prstGeom prst="rect">
            <a:avLst/>
          </a:prstGeom>
          <a:solidFill>
            <a:srgbClr val="E64D42"/>
          </a:solidFill>
          <a:ln/>
        </p:spPr>
      </p:sp>
      <p:sp>
        <p:nvSpPr>
          <p:cNvPr id="32" name="fx7_5_17"/>
          <p:cNvSpPr/>
          <p:nvPr/>
        </p:nvSpPr>
        <p:spPr>
          <a:xfrm>
            <a:off x="914400" y="5650992"/>
            <a:ext cx="1691640" cy="228600"/>
          </a:xfrm>
          <a:prstGeom prst="roundRect">
            <a:avLst>
              <a:gd name="adj" fmla="val 48000"/>
            </a:avLst>
          </a:prstGeom>
          <a:solidFill>
            <a:srgbClr val="E64D42"/>
          </a:solidFill>
          <a:ln/>
        </p:spPr>
      </p:sp>
      <p:sp>
        <p:nvSpPr>
          <p:cNvPr id="33" name="fx7_5_18"/>
          <p:cNvSpPr/>
          <p:nvPr/>
        </p:nvSpPr>
        <p:spPr>
          <a:xfrm>
            <a:off x="987552" y="5660136"/>
            <a:ext cx="15544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ГИПОТЕЗА ≠ ВЫВОД</a:t>
            </a:r>
            <a:endParaRPr lang="en-US" sz="750" dirty="0"/>
          </a:p>
        </p:txBody>
      </p:sp>
      <p:sp>
        <p:nvSpPr>
          <p:cNvPr id="34" name="fx7_5_19"/>
          <p:cNvSpPr/>
          <p:nvPr/>
        </p:nvSpPr>
        <p:spPr>
          <a:xfrm>
            <a:off x="941832" y="5934456"/>
            <a:ext cx="5989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сбора ответов ни одну H1–H3 нельзя объявлять подтверждённой.</a:t>
            </a:r>
            <a:endParaRPr lang="en-US" sz="930" dirty="0"/>
          </a:p>
        </p:txBody>
      </p:sp>
      <p:pic>
        <p:nvPicPr>
          <p:cNvPr id="35" name="!!kashtan-glow" descr="/home/user/MyWorkAiBrain/presentations/impulse/assets/g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9190" y="809518"/>
            <a:ext cx="4790907" cy="4790907"/>
          </a:xfrm>
          <a:prstGeom prst="rect">
            <a:avLst/>
          </a:prstGeom>
        </p:spPr>
      </p:pic>
      <p:sp>
        <p:nvSpPr>
          <p:cNvPr id="36" name="!!kashtan-ring"/>
          <p:cNvSpPr/>
          <p:nvPr/>
        </p:nvSpPr>
        <p:spPr>
          <a:xfrm>
            <a:off x="7829733" y="1310061"/>
            <a:ext cx="3789822" cy="3789822"/>
          </a:xfrm>
          <a:prstGeom prst="ellipse">
            <a:avLst/>
          </a:prstGeom>
          <a:ln w="11430">
            <a:solidFill>
              <a:srgbClr val="D28B43">
                <a:alpha val="24000"/>
              </a:srgbClr>
            </a:solidFill>
            <a:prstDash val="solid"/>
          </a:ln>
        </p:spPr>
      </p:sp>
      <p:pic>
        <p:nvPicPr>
          <p:cNvPr id="37" name="!!kashtan-shadow" descr="/home/user/MyWorkAiBrain/presentations/impulse/assets/shad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757" y="4420575"/>
            <a:ext cx="3217774" cy="67930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8" name="!!m-kashtan">
                <a:extLst>
                  <a:ext uri="{FF2B5EF4-FFF2-40B4-BE49-F238E27FC236}">
                    <a16:creationId xmlns:a16="http://schemas.microsoft.com/office/drawing/2014/main" id="{FF9DB6B8-680D-9C14-04B5-9F373B691BC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936992" y="1417320"/>
              <a:ext cx="3575304" cy="3575304"/>
            </p:xfrm>
            <a:graphic>
              <a:graphicData uri="http://schemas.microsoft.com/office/drawing/2017/model3d">
                <am3d:model3d r:embed="rIdM3d7">
                  <am3d:spPr>
                    <a:xfrm>
                      <a:off x="0" y="0"/>
                      <a:ext cx="3575304" cy="3575304"/>
                    </a:xfrm>
                    <a:prstGeom prst="rect">
                      <a:avLst/>
                    </a:prstGeom>
                  </am3d:spPr>
                  <am3d:camera>
                    <am3d:pos x="0" y="0" z="6385242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8604" d="1000000"/>
                    <am3d:preTrans dx="-1543452" dy="-5849741" dz="-128365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080000" az="0"/>
                    <am3d:postTrans dx="0" dy="0" dz="0"/>
                  </am3d:trans>
                  <am3d:raster rName="Office3DRenderer" rVer="16.0.8326">
                    <am3d:blip r:embed="rId4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792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57530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8" name="!!m-kashtan">
                <a:extLst>
                  <a:ext uri="{FF2B5EF4-FFF2-40B4-BE49-F238E27FC236}">
                    <a16:creationId xmlns:a16="http://schemas.microsoft.com/office/drawing/2014/main" id="{FF9DB6B8-680D-9C14-04B5-9F373B691BC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936992" y="1417320"/>
                <a:ext cx="3575304" cy="3575304"/>
              </a:xfrm>
              <a:prstGeom prst="rect">
                <a:avLst/>
              </a:prstGeom>
            </p:spPr>
          </p:pic>
        </mc:Fallback>
      </mc:AlternateContent>
      <p:sp>
        <p:nvSpPr>
          <p:cNvPr id="39" name="Shape 33"/>
          <p:cNvSpPr/>
          <p:nvPr/>
        </p:nvSpPr>
        <p:spPr>
          <a:xfrm>
            <a:off x="8257032" y="4956048"/>
            <a:ext cx="3063240" cy="283464"/>
          </a:xfrm>
          <a:prstGeom prst="roundRect">
            <a:avLst>
              <a:gd name="adj" fmla="val 51613"/>
            </a:avLst>
          </a:prstGeom>
          <a:solidFill>
            <a:srgbClr val="202A35"/>
          </a:solidFill>
          <a:ln/>
        </p:spPr>
      </p:sp>
      <p:sp>
        <p:nvSpPr>
          <p:cNvPr id="40" name="Text 34"/>
          <p:cNvSpPr/>
          <p:nvPr/>
        </p:nvSpPr>
        <p:spPr>
          <a:xfrm>
            <a:off x="8348472" y="5006340"/>
            <a:ext cx="2880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ПРИДУМЫВАЕМ РЕЗУЛЬТАТЫ</a:t>
            </a:r>
            <a:endParaRPr lang="en-US" sz="760" dirty="0"/>
          </a:p>
        </p:txBody>
      </p:sp>
      <p:sp>
        <p:nvSpPr>
          <p:cNvPr id="41" name="Text 35"/>
          <p:cNvSpPr/>
          <p:nvPr/>
        </p:nvSpPr>
        <p:spPr>
          <a:xfrm>
            <a:off x="8074152" y="1280160"/>
            <a:ext cx="3300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«Сначала данные, потом выводы»</a:t>
            </a:r>
            <a:endParaRPr lang="en-US" sz="96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06" dur="4792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8">
    <p:bg>
      <p:bgPr>
        <a:solidFill>
          <a:srgbClr val="F8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aper-bg" descr="/home/user/MyWorkAiBrain/presentations/impulse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brand-dot"/>
          <p:cNvSpPr/>
          <p:nvPr/>
        </p:nvSpPr>
        <p:spPr>
          <a:xfrm>
            <a:off x="713232" y="310896"/>
            <a:ext cx="128016" cy="128016"/>
          </a:xfrm>
          <a:prstGeom prst="ellipse">
            <a:avLst/>
          </a:prstGeom>
          <a:solidFill>
            <a:srgbClr val="E64D42"/>
          </a:solidFill>
          <a:ln/>
        </p:spPr>
      </p:sp>
      <p:sp>
        <p:nvSpPr>
          <p:cNvPr id="4" name="!!brand"/>
          <p:cNvSpPr/>
          <p:nvPr/>
        </p:nvSpPr>
        <p:spPr>
          <a:xfrm>
            <a:off x="969264" y="237744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ПСИХОЛОГИЯ ИМПУЛЬСИВНЫХ ТРАТ</a:t>
            </a:r>
            <a:endParaRPr lang="en-US" sz="900" dirty="0"/>
          </a:p>
        </p:txBody>
      </p:sp>
      <p:sp>
        <p:nvSpPr>
          <p:cNvPr id="5" name="!!section"/>
          <p:cNvSpPr/>
          <p:nvPr/>
        </p:nvSpPr>
        <p:spPr>
          <a:xfrm>
            <a:off x="8412480" y="2377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40" kern="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</a:t>
            </a:r>
            <a:endParaRPr lang="en-US" sz="900" dirty="0"/>
          </a:p>
        </p:txBody>
      </p:sp>
      <p:sp>
        <p:nvSpPr>
          <p:cNvPr id="6" name="!!page"/>
          <p:cNvSpPr/>
          <p:nvPr/>
        </p:nvSpPr>
        <p:spPr>
          <a:xfrm>
            <a:off x="10652760" y="2377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20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10</a:t>
            </a:r>
            <a:endParaRPr lang="en-US" sz="900" dirty="0"/>
          </a:p>
        </p:txBody>
      </p:sp>
      <p:sp>
        <p:nvSpPr>
          <p:cNvPr id="7" name="!!track"/>
          <p:cNvSpPr/>
          <p:nvPr/>
        </p:nvSpPr>
        <p:spPr>
          <a:xfrm>
            <a:off x="713232" y="630936"/>
            <a:ext cx="10762488" cy="22860"/>
          </a:xfrm>
          <a:prstGeom prst="rect">
            <a:avLst/>
          </a:prstGeom>
          <a:solidFill>
            <a:srgbClr val="D6D4CD"/>
          </a:solidFill>
          <a:ln/>
        </p:spPr>
      </p:sp>
      <p:sp>
        <p:nvSpPr>
          <p:cNvPr id="8" name="!!progress"/>
          <p:cNvSpPr/>
          <p:nvPr/>
        </p:nvSpPr>
        <p:spPr>
          <a:xfrm>
            <a:off x="713232" y="630936"/>
            <a:ext cx="8609990" cy="22860"/>
          </a:xfrm>
          <a:prstGeom prst="rect">
            <a:avLst/>
          </a:prstGeom>
          <a:solidFill>
            <a:srgbClr val="E64D42"/>
          </a:solidFill>
          <a:ln/>
        </p:spPr>
      </p:sp>
      <p:sp>
        <p:nvSpPr>
          <p:cNvPr id="9" name="!!footer-line"/>
          <p:cNvSpPr/>
          <p:nvPr/>
        </p:nvSpPr>
        <p:spPr>
          <a:xfrm>
            <a:off x="713232" y="6373368"/>
            <a:ext cx="10762488" cy="91"/>
          </a:xfrm>
          <a:prstGeom prst="line">
            <a:avLst/>
          </a:prstGeom>
          <a:noFill/>
          <a:ln w="8255">
            <a:solidFill>
              <a:srgbClr val="202A35">
                <a:alpha val="15000"/>
              </a:srgbClr>
            </a:solidFill>
            <a:prstDash val="solid"/>
          </a:ln>
        </p:spPr>
      </p:sp>
      <p:sp>
        <p:nvSpPr>
          <p:cNvPr id="10" name="!!footer"/>
          <p:cNvSpPr/>
          <p:nvPr/>
        </p:nvSpPr>
        <p:spPr>
          <a:xfrm>
            <a:off x="713232" y="646480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spc="60" kern="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УЧЕБНЫЙ ПРОЕКТ  ·  ПЛАН И ГИПОТЕЗЫ, НЕ РЕЗУЛЬТАТЫ ОПРОСА</a:t>
            </a:r>
            <a:endParaRPr lang="en-US" sz="800" dirty="0"/>
          </a:p>
        </p:txBody>
      </p:sp>
      <p:sp>
        <p:nvSpPr>
          <p:cNvPr id="11" name="!!year"/>
          <p:cNvSpPr/>
          <p:nvPr/>
        </p:nvSpPr>
        <p:spPr>
          <a:xfrm>
            <a:off x="10972800" y="64648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800" dirty="0"/>
          </a:p>
        </p:txBody>
      </p:sp>
      <p:sp>
        <p:nvSpPr>
          <p:cNvPr id="12" name="!!title"/>
          <p:cNvSpPr/>
          <p:nvPr/>
        </p:nvSpPr>
        <p:spPr>
          <a:xfrm>
            <a:off x="713232" y="932688"/>
            <a:ext cx="6903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320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План: от анкеты до памятки</a:t>
            </a:r>
            <a:endParaRPr lang="en-US" sz="3200" dirty="0"/>
          </a:p>
        </p:txBody>
      </p:sp>
      <p:sp>
        <p:nvSpPr>
          <p:cNvPr id="13" name="!!title-underline"/>
          <p:cNvSpPr/>
          <p:nvPr/>
        </p:nvSpPr>
        <p:spPr>
          <a:xfrm>
            <a:off x="713232" y="1792224"/>
            <a:ext cx="1316736" cy="13716"/>
          </a:xfrm>
          <a:prstGeom prst="line">
            <a:avLst/>
          </a:prstGeom>
          <a:noFill/>
          <a:ln w="29210">
            <a:solidFill>
              <a:srgbClr val="E64D4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V="1">
            <a:off x="768096" y="1824228"/>
            <a:ext cx="1038027" cy="9144"/>
          </a:xfrm>
          <a:prstGeom prst="line">
            <a:avLst/>
          </a:prstGeom>
          <a:noFill/>
          <a:ln w="11430">
            <a:solidFill>
              <a:srgbClr val="E64D42">
                <a:alpha val="58000"/>
              </a:srgbClr>
            </a:solidFill>
            <a:prstDash val="solid"/>
          </a:ln>
        </p:spPr>
      </p:sp>
      <p:sp>
        <p:nvSpPr>
          <p:cNvPr id="15" name="fx8_1_0"/>
          <p:cNvSpPr/>
          <p:nvPr/>
        </p:nvSpPr>
        <p:spPr>
          <a:xfrm>
            <a:off x="877824" y="2103120"/>
            <a:ext cx="256032" cy="256032"/>
          </a:xfrm>
          <a:prstGeom prst="ellipse">
            <a:avLst/>
          </a:prstGeom>
          <a:solidFill>
            <a:srgbClr val="E64D42"/>
          </a:solidFill>
          <a:ln/>
        </p:spPr>
      </p:sp>
      <p:sp>
        <p:nvSpPr>
          <p:cNvPr id="16" name="fx8_1_1"/>
          <p:cNvSpPr/>
          <p:nvPr/>
        </p:nvSpPr>
        <p:spPr>
          <a:xfrm>
            <a:off x="1005840" y="2340864"/>
            <a:ext cx="91" cy="329184"/>
          </a:xfrm>
          <a:prstGeom prst="line">
            <a:avLst/>
          </a:prstGeom>
          <a:noFill/>
          <a:ln w="19050">
            <a:solidFill>
              <a:srgbClr val="CFBFB1"/>
            </a:solidFill>
            <a:prstDash val="solid"/>
          </a:ln>
        </p:spPr>
      </p:sp>
      <p:sp>
        <p:nvSpPr>
          <p:cNvPr id="17" name="fx8_1_2"/>
          <p:cNvSpPr/>
          <p:nvPr/>
        </p:nvSpPr>
        <p:spPr>
          <a:xfrm>
            <a:off x="1280160" y="2075688"/>
            <a:ext cx="4206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18" name="fx8_1_3"/>
          <p:cNvSpPr/>
          <p:nvPr/>
        </p:nvSpPr>
        <p:spPr>
          <a:xfrm>
            <a:off x="1737360" y="2066544"/>
            <a:ext cx="13533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4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Теория</a:t>
            </a:r>
            <a:endParaRPr lang="en-US" sz="1240" dirty="0"/>
          </a:p>
        </p:txBody>
      </p:sp>
      <p:sp>
        <p:nvSpPr>
          <p:cNvPr id="19" name="fx8_1_4"/>
          <p:cNvSpPr/>
          <p:nvPr/>
        </p:nvSpPr>
        <p:spPr>
          <a:xfrm>
            <a:off x="3154680" y="2084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3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Термины, триггеры, границы исследования</a:t>
            </a:r>
            <a:endParaRPr lang="en-US" sz="1030" dirty="0"/>
          </a:p>
        </p:txBody>
      </p:sp>
      <p:sp>
        <p:nvSpPr>
          <p:cNvPr id="20" name="fx8_2_5"/>
          <p:cNvSpPr/>
          <p:nvPr/>
        </p:nvSpPr>
        <p:spPr>
          <a:xfrm>
            <a:off x="877824" y="2670048"/>
            <a:ext cx="256032" cy="256032"/>
          </a:xfrm>
          <a:prstGeom prst="ellipse">
            <a:avLst/>
          </a:prstGeom>
          <a:solidFill>
            <a:srgbClr val="E64D42"/>
          </a:solidFill>
          <a:ln/>
        </p:spPr>
      </p:sp>
      <p:sp>
        <p:nvSpPr>
          <p:cNvPr id="21" name="fx8_2_6"/>
          <p:cNvSpPr/>
          <p:nvPr/>
        </p:nvSpPr>
        <p:spPr>
          <a:xfrm>
            <a:off x="1005840" y="2907792"/>
            <a:ext cx="91" cy="329184"/>
          </a:xfrm>
          <a:prstGeom prst="line">
            <a:avLst/>
          </a:prstGeom>
          <a:noFill/>
          <a:ln w="19050">
            <a:solidFill>
              <a:srgbClr val="CFBFB1"/>
            </a:solidFill>
            <a:prstDash val="solid"/>
          </a:ln>
        </p:spPr>
      </p:sp>
      <p:sp>
        <p:nvSpPr>
          <p:cNvPr id="22" name="fx8_2_7"/>
          <p:cNvSpPr/>
          <p:nvPr/>
        </p:nvSpPr>
        <p:spPr>
          <a:xfrm>
            <a:off x="1280160" y="2642616"/>
            <a:ext cx="4206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23" name="fx8_2_8"/>
          <p:cNvSpPr/>
          <p:nvPr/>
        </p:nvSpPr>
        <p:spPr>
          <a:xfrm>
            <a:off x="1737360" y="2633472"/>
            <a:ext cx="13533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4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Анкета</a:t>
            </a:r>
            <a:endParaRPr lang="en-US" sz="1240" dirty="0"/>
          </a:p>
        </p:txBody>
      </p:sp>
      <p:sp>
        <p:nvSpPr>
          <p:cNvPr id="24" name="fx8_2_9"/>
          <p:cNvSpPr/>
          <p:nvPr/>
        </p:nvSpPr>
        <p:spPr>
          <a:xfrm>
            <a:off x="3154680" y="265176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3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Короткие вопросы + проверка формулировок</a:t>
            </a:r>
            <a:endParaRPr lang="en-US" sz="1030" dirty="0"/>
          </a:p>
        </p:txBody>
      </p:sp>
      <p:sp>
        <p:nvSpPr>
          <p:cNvPr id="25" name="fx8_3_10"/>
          <p:cNvSpPr/>
          <p:nvPr/>
        </p:nvSpPr>
        <p:spPr>
          <a:xfrm>
            <a:off x="877824" y="3236976"/>
            <a:ext cx="256032" cy="256032"/>
          </a:xfrm>
          <a:prstGeom prst="ellipse">
            <a:avLst/>
          </a:prstGeom>
          <a:solidFill>
            <a:srgbClr val="E64D42"/>
          </a:solidFill>
          <a:ln/>
        </p:spPr>
      </p:sp>
      <p:sp>
        <p:nvSpPr>
          <p:cNvPr id="26" name="fx8_3_11"/>
          <p:cNvSpPr/>
          <p:nvPr/>
        </p:nvSpPr>
        <p:spPr>
          <a:xfrm>
            <a:off x="1005840" y="3474720"/>
            <a:ext cx="91" cy="329184"/>
          </a:xfrm>
          <a:prstGeom prst="line">
            <a:avLst/>
          </a:prstGeom>
          <a:noFill/>
          <a:ln w="19050">
            <a:solidFill>
              <a:srgbClr val="CFBFB1"/>
            </a:solidFill>
            <a:prstDash val="solid"/>
          </a:ln>
        </p:spPr>
      </p:sp>
      <p:sp>
        <p:nvSpPr>
          <p:cNvPr id="27" name="fx8_3_12"/>
          <p:cNvSpPr/>
          <p:nvPr/>
        </p:nvSpPr>
        <p:spPr>
          <a:xfrm>
            <a:off x="1280160" y="3209544"/>
            <a:ext cx="4206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28" name="fx8_3_13"/>
          <p:cNvSpPr/>
          <p:nvPr/>
        </p:nvSpPr>
        <p:spPr>
          <a:xfrm>
            <a:off x="1737360" y="3200400"/>
            <a:ext cx="13533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4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</a:t>
            </a:r>
            <a:endParaRPr lang="en-US" sz="1240" dirty="0"/>
          </a:p>
        </p:txBody>
      </p:sp>
      <p:sp>
        <p:nvSpPr>
          <p:cNvPr id="29" name="fx8_3_14"/>
          <p:cNvSpPr/>
          <p:nvPr/>
        </p:nvSpPr>
        <p:spPr>
          <a:xfrm>
            <a:off x="3154680" y="32186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3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Добровольные ответы студентов 18–25</a:t>
            </a:r>
            <a:endParaRPr lang="en-US" sz="1030" dirty="0"/>
          </a:p>
        </p:txBody>
      </p:sp>
      <p:sp>
        <p:nvSpPr>
          <p:cNvPr id="30" name="fx8_4_15"/>
          <p:cNvSpPr/>
          <p:nvPr/>
        </p:nvSpPr>
        <p:spPr>
          <a:xfrm>
            <a:off x="877824" y="3803904"/>
            <a:ext cx="256032" cy="256032"/>
          </a:xfrm>
          <a:prstGeom prst="ellipse">
            <a:avLst/>
          </a:prstGeom>
          <a:solidFill>
            <a:srgbClr val="E64D42"/>
          </a:solidFill>
          <a:ln/>
        </p:spPr>
      </p:sp>
      <p:sp>
        <p:nvSpPr>
          <p:cNvPr id="31" name="fx8_4_16"/>
          <p:cNvSpPr/>
          <p:nvPr/>
        </p:nvSpPr>
        <p:spPr>
          <a:xfrm>
            <a:off x="1005840" y="4041648"/>
            <a:ext cx="91" cy="329184"/>
          </a:xfrm>
          <a:prstGeom prst="line">
            <a:avLst/>
          </a:prstGeom>
          <a:noFill/>
          <a:ln w="19050">
            <a:solidFill>
              <a:srgbClr val="CFBFB1"/>
            </a:solidFill>
            <a:prstDash val="solid"/>
          </a:ln>
        </p:spPr>
      </p:sp>
      <p:sp>
        <p:nvSpPr>
          <p:cNvPr id="32" name="fx8_4_17"/>
          <p:cNvSpPr/>
          <p:nvPr/>
        </p:nvSpPr>
        <p:spPr>
          <a:xfrm>
            <a:off x="1280160" y="3776472"/>
            <a:ext cx="4206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33" name="fx8_4_18"/>
          <p:cNvSpPr/>
          <p:nvPr/>
        </p:nvSpPr>
        <p:spPr>
          <a:xfrm>
            <a:off x="1737360" y="3767328"/>
            <a:ext cx="13533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4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</a:t>
            </a:r>
            <a:endParaRPr lang="en-US" sz="1240" dirty="0"/>
          </a:p>
        </p:txBody>
      </p:sp>
      <p:sp>
        <p:nvSpPr>
          <p:cNvPr id="34" name="fx8_4_19"/>
          <p:cNvSpPr/>
          <p:nvPr/>
        </p:nvSpPr>
        <p:spPr>
          <a:xfrm>
            <a:off x="3154680" y="3785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3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Частоты, описательная статистика, связи</a:t>
            </a:r>
            <a:endParaRPr lang="en-US" sz="1030" dirty="0"/>
          </a:p>
        </p:txBody>
      </p:sp>
      <p:sp>
        <p:nvSpPr>
          <p:cNvPr id="35" name="fx8_5_20"/>
          <p:cNvSpPr/>
          <p:nvPr/>
        </p:nvSpPr>
        <p:spPr>
          <a:xfrm>
            <a:off x="877824" y="4370832"/>
            <a:ext cx="256032" cy="256032"/>
          </a:xfrm>
          <a:prstGeom prst="ellipse">
            <a:avLst/>
          </a:prstGeom>
          <a:solidFill>
            <a:srgbClr val="3D8560"/>
          </a:solidFill>
          <a:ln/>
        </p:spPr>
      </p:sp>
      <p:sp>
        <p:nvSpPr>
          <p:cNvPr id="36" name="fx8_5_21"/>
          <p:cNvSpPr/>
          <p:nvPr/>
        </p:nvSpPr>
        <p:spPr>
          <a:xfrm>
            <a:off x="1280160" y="4343400"/>
            <a:ext cx="4206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37" name="fx8_5_22"/>
          <p:cNvSpPr/>
          <p:nvPr/>
        </p:nvSpPr>
        <p:spPr>
          <a:xfrm>
            <a:off x="1737360" y="4334256"/>
            <a:ext cx="13533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4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Памятка</a:t>
            </a:r>
            <a:endParaRPr lang="en-US" sz="1240" dirty="0"/>
          </a:p>
        </p:txBody>
      </p:sp>
      <p:sp>
        <p:nvSpPr>
          <p:cNvPr id="38" name="fx8_5_23"/>
          <p:cNvSpPr/>
          <p:nvPr/>
        </p:nvSpPr>
        <p:spPr>
          <a:xfrm>
            <a:off x="3154680" y="435254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3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Пауза, бюджет, осознанный checkout</a:t>
            </a:r>
            <a:endParaRPr lang="en-US" sz="1030" dirty="0"/>
          </a:p>
        </p:txBody>
      </p:sp>
      <p:sp>
        <p:nvSpPr>
          <p:cNvPr id="39" name="Shape 36"/>
          <p:cNvSpPr/>
          <p:nvPr/>
        </p:nvSpPr>
        <p:spPr>
          <a:xfrm>
            <a:off x="5650992" y="4379976"/>
            <a:ext cx="1444752" cy="1572768"/>
          </a:xfrm>
          <a:prstGeom prst="roundRect">
            <a:avLst>
              <a:gd name="adj" fmla="val 5063"/>
            </a:avLst>
          </a:prstGeom>
          <a:solidFill>
            <a:srgbClr val="FFFEFA">
              <a:alpha val="97000"/>
            </a:srgbClr>
          </a:solidFill>
          <a:ln w="9525">
            <a:solidFill>
              <a:srgbClr val="D2CCC1">
                <a:alpha val="96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 rot="-120000">
            <a:off x="6199998" y="4329684"/>
            <a:ext cx="332293" cy="128016"/>
          </a:xfrm>
          <a:prstGeom prst="rect">
            <a:avLst/>
          </a:prstGeom>
          <a:solidFill>
            <a:srgbClr val="D7E7D4">
              <a:alpha val="88000"/>
            </a:srgbClr>
          </a:solidFill>
          <a:ln/>
        </p:spPr>
      </p:sp>
      <p:pic>
        <p:nvPicPr>
          <p:cNvPr id="41" name="Image 1" descr="/home/user/MyWorkAiBrain/presentations/impulse/assets/meme-budget-ja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144" y="4453128"/>
            <a:ext cx="1298448" cy="1234440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5724144" y="5669280"/>
            <a:ext cx="12984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61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БЮДЖЕТНЫЙ МЕМ ИЗ ОРИГИНАЛА</a:t>
            </a:r>
            <a:endParaRPr lang="en-US" sz="610" dirty="0"/>
          </a:p>
        </p:txBody>
      </p:sp>
      <p:sp>
        <p:nvSpPr>
          <p:cNvPr id="43" name="fx8_6_24"/>
          <p:cNvSpPr/>
          <p:nvPr/>
        </p:nvSpPr>
        <p:spPr>
          <a:xfrm>
            <a:off x="713232" y="5221224"/>
            <a:ext cx="4535424" cy="868680"/>
          </a:xfrm>
          <a:prstGeom prst="roundRect">
            <a:avLst>
              <a:gd name="adj" fmla="val 8421"/>
            </a:avLst>
          </a:prstGeom>
          <a:solidFill>
            <a:srgbClr val="FFF6E8">
              <a:alpha val="97000"/>
            </a:srgbClr>
          </a:solidFill>
          <a:ln w="9525">
            <a:solidFill>
              <a:srgbClr val="E7C89C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44" name="fx8_6_25"/>
          <p:cNvSpPr/>
          <p:nvPr/>
        </p:nvSpPr>
        <p:spPr>
          <a:xfrm>
            <a:off x="713232" y="5312664"/>
            <a:ext cx="50292" cy="685800"/>
          </a:xfrm>
          <a:prstGeom prst="rect">
            <a:avLst/>
          </a:prstGeom>
          <a:solidFill>
            <a:srgbClr val="E64D42"/>
          </a:solidFill>
          <a:ln/>
        </p:spPr>
      </p:sp>
      <p:sp>
        <p:nvSpPr>
          <p:cNvPr id="45" name="fx8_6_26"/>
          <p:cNvSpPr/>
          <p:nvPr/>
        </p:nvSpPr>
        <p:spPr>
          <a:xfrm>
            <a:off x="914400" y="5111496"/>
            <a:ext cx="1874520" cy="228600"/>
          </a:xfrm>
          <a:prstGeom prst="roundRect">
            <a:avLst>
              <a:gd name="adj" fmla="val 48000"/>
            </a:avLst>
          </a:prstGeom>
          <a:solidFill>
            <a:srgbClr val="E64D42"/>
          </a:solidFill>
          <a:ln/>
        </p:spPr>
      </p:sp>
      <p:sp>
        <p:nvSpPr>
          <p:cNvPr id="46" name="fx8_6_27"/>
          <p:cNvSpPr/>
          <p:nvPr/>
        </p:nvSpPr>
        <p:spPr>
          <a:xfrm>
            <a:off x="987552" y="5120640"/>
            <a:ext cx="1737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ЭТИКА ПРЕЖДЕ ВСЕГО</a:t>
            </a:r>
            <a:endParaRPr lang="en-US" sz="750" dirty="0"/>
          </a:p>
        </p:txBody>
      </p:sp>
      <p:sp>
        <p:nvSpPr>
          <p:cNvPr id="47" name="fx8_6_28"/>
          <p:cNvSpPr/>
          <p:nvPr/>
        </p:nvSpPr>
        <p:spPr>
          <a:xfrm>
            <a:off x="941832" y="5394960"/>
            <a:ext cx="41239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Собираем минимум данных: никакой банковской тайны в анкете.</a:t>
            </a:r>
            <a:endParaRPr lang="en-US" sz="1020" dirty="0"/>
          </a:p>
        </p:txBody>
      </p:sp>
      <p:pic>
        <p:nvPicPr>
          <p:cNvPr id="48" name="!!kashtan-glow" descr="/home/user/MyWorkAiBrain/presentations/impulse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190" y="809518"/>
            <a:ext cx="4790907" cy="4790907"/>
          </a:xfrm>
          <a:prstGeom prst="rect">
            <a:avLst/>
          </a:prstGeom>
        </p:spPr>
      </p:pic>
      <p:sp>
        <p:nvSpPr>
          <p:cNvPr id="49" name="!!kashtan-ring"/>
          <p:cNvSpPr/>
          <p:nvPr/>
        </p:nvSpPr>
        <p:spPr>
          <a:xfrm>
            <a:off x="7829733" y="1310061"/>
            <a:ext cx="3789822" cy="3789822"/>
          </a:xfrm>
          <a:prstGeom prst="ellipse">
            <a:avLst/>
          </a:prstGeom>
          <a:ln w="11430">
            <a:solidFill>
              <a:srgbClr val="D28B43">
                <a:alpha val="24000"/>
              </a:srgbClr>
            </a:solidFill>
            <a:prstDash val="solid"/>
          </a:ln>
        </p:spPr>
      </p:sp>
      <p:pic>
        <p:nvPicPr>
          <p:cNvPr id="50" name="!!kashtan-shadow" descr="/home/user/MyWorkAiBrain/presentations/impulse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5757" y="4420575"/>
            <a:ext cx="3217774" cy="67930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1" name="!!m-kashtan">
                <a:extLst>
                  <a:ext uri="{FF2B5EF4-FFF2-40B4-BE49-F238E27FC236}">
                    <a16:creationId xmlns:a16="http://schemas.microsoft.com/office/drawing/2014/main" id="{19652C8B-E6EC-7780-3FA9-0B6D9FDF934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936992" y="1417320"/>
              <a:ext cx="3575304" cy="3575304"/>
            </p:xfrm>
            <a:graphic>
              <a:graphicData uri="http://schemas.microsoft.com/office/drawing/2017/model3d">
                <am3d:model3d r:embed="rIdM3d8">
                  <am3d:spPr>
                    <a:xfrm>
                      <a:off x="0" y="0"/>
                      <a:ext cx="3575304" cy="3575304"/>
                    </a:xfrm>
                    <a:prstGeom prst="rect">
                      <a:avLst/>
                    </a:prstGeom>
                  </am3d:spPr>
                  <am3d:camera>
                    <am3d:pos x="0" y="0" z="6385242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8604" d="1000000"/>
                    <am3d:preTrans dx="-1543452" dy="-5849741" dz="-128365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08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792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57530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1" name="!!m-kashtan">
                <a:extLst>
                  <a:ext uri="{FF2B5EF4-FFF2-40B4-BE49-F238E27FC236}">
                    <a16:creationId xmlns:a16="http://schemas.microsoft.com/office/drawing/2014/main" id="{19652C8B-E6EC-7780-3FA9-0B6D9FDF934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936992" y="1417320"/>
                <a:ext cx="3575304" cy="3575304"/>
              </a:xfrm>
              <a:prstGeom prst="rect">
                <a:avLst/>
              </a:prstGeom>
            </p:spPr>
          </p:pic>
        </mc:Fallback>
      </mc:AlternateContent>
      <p:sp>
        <p:nvSpPr>
          <p:cNvPr id="52" name="Shape 45"/>
          <p:cNvSpPr/>
          <p:nvPr/>
        </p:nvSpPr>
        <p:spPr>
          <a:xfrm>
            <a:off x="8257032" y="4956048"/>
            <a:ext cx="3017520" cy="283464"/>
          </a:xfrm>
          <a:prstGeom prst="roundRect">
            <a:avLst>
              <a:gd name="adj" fmla="val 51613"/>
            </a:avLst>
          </a:prstGeom>
          <a:solidFill>
            <a:srgbClr val="202A35"/>
          </a:solidFill>
          <a:ln/>
        </p:spPr>
      </p:sp>
      <p:sp>
        <p:nvSpPr>
          <p:cNvPr id="53" name="Text 46"/>
          <p:cNvSpPr/>
          <p:nvPr/>
        </p:nvSpPr>
        <p:spPr>
          <a:xfrm>
            <a:off x="8348472" y="5006340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ШАГОВ · 1 ЧЕСТНЫЙ ВЫВОД</a:t>
            </a:r>
            <a:endParaRPr lang="en-US" sz="760" dirty="0"/>
          </a:p>
        </p:txBody>
      </p:sp>
      <p:sp>
        <p:nvSpPr>
          <p:cNvPr id="54" name="Text 47"/>
          <p:cNvSpPr/>
          <p:nvPr/>
        </p:nvSpPr>
        <p:spPr>
          <a:xfrm>
            <a:off x="8074152" y="1280160"/>
            <a:ext cx="3300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«Без личных данных, пожалуйста»</a:t>
            </a:r>
            <a:endParaRPr lang="en-US" sz="96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7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7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7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7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70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42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700" decel="100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51" dur="4792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3" grpId="0" animBg="1"/>
      <p:bldP spid="44" grpId="0" animBg="1"/>
      <p:bldP spid="45" grpId="0" animBg="1"/>
      <p:bldP spid="46" grpId="0" animBg="1"/>
      <p:bldP spid="4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9">
    <p:bg>
      <p:bgPr>
        <a:solidFill>
          <a:srgbClr val="F8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aper-bg" descr="/home/user/MyWorkAiBrain/presentations/impulse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brand-dot"/>
          <p:cNvSpPr/>
          <p:nvPr/>
        </p:nvSpPr>
        <p:spPr>
          <a:xfrm>
            <a:off x="713232" y="310896"/>
            <a:ext cx="128016" cy="128016"/>
          </a:xfrm>
          <a:prstGeom prst="ellipse">
            <a:avLst/>
          </a:prstGeom>
          <a:solidFill>
            <a:srgbClr val="E64D42"/>
          </a:solidFill>
          <a:ln/>
        </p:spPr>
      </p:sp>
      <p:sp>
        <p:nvSpPr>
          <p:cNvPr id="4" name="!!brand"/>
          <p:cNvSpPr/>
          <p:nvPr/>
        </p:nvSpPr>
        <p:spPr>
          <a:xfrm>
            <a:off x="969264" y="237744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ПСИХОЛОГИЯ ИМПУЛЬСИВНЫХ ТРАТ</a:t>
            </a:r>
            <a:endParaRPr lang="en-US" sz="900" dirty="0"/>
          </a:p>
        </p:txBody>
      </p:sp>
      <p:sp>
        <p:nvSpPr>
          <p:cNvPr id="5" name="!!section"/>
          <p:cNvSpPr/>
          <p:nvPr/>
        </p:nvSpPr>
        <p:spPr>
          <a:xfrm>
            <a:off x="8412480" y="2377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40" kern="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ПАМЯТКА</a:t>
            </a:r>
            <a:endParaRPr lang="en-US" sz="900" dirty="0"/>
          </a:p>
        </p:txBody>
      </p:sp>
      <p:sp>
        <p:nvSpPr>
          <p:cNvPr id="6" name="!!page"/>
          <p:cNvSpPr/>
          <p:nvPr/>
        </p:nvSpPr>
        <p:spPr>
          <a:xfrm>
            <a:off x="10652760" y="2377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20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10</a:t>
            </a:r>
            <a:endParaRPr lang="en-US" sz="900" dirty="0"/>
          </a:p>
        </p:txBody>
      </p:sp>
      <p:sp>
        <p:nvSpPr>
          <p:cNvPr id="7" name="!!track"/>
          <p:cNvSpPr/>
          <p:nvPr/>
        </p:nvSpPr>
        <p:spPr>
          <a:xfrm>
            <a:off x="713232" y="630936"/>
            <a:ext cx="10762488" cy="22860"/>
          </a:xfrm>
          <a:prstGeom prst="rect">
            <a:avLst/>
          </a:prstGeom>
          <a:solidFill>
            <a:srgbClr val="D6D4CD"/>
          </a:solidFill>
          <a:ln/>
        </p:spPr>
      </p:sp>
      <p:sp>
        <p:nvSpPr>
          <p:cNvPr id="8" name="!!progress"/>
          <p:cNvSpPr/>
          <p:nvPr/>
        </p:nvSpPr>
        <p:spPr>
          <a:xfrm>
            <a:off x="713232" y="630936"/>
            <a:ext cx="9686239" cy="22860"/>
          </a:xfrm>
          <a:prstGeom prst="rect">
            <a:avLst/>
          </a:prstGeom>
          <a:solidFill>
            <a:srgbClr val="E64D42"/>
          </a:solidFill>
          <a:ln/>
        </p:spPr>
      </p:sp>
      <p:sp>
        <p:nvSpPr>
          <p:cNvPr id="9" name="!!footer-line"/>
          <p:cNvSpPr/>
          <p:nvPr/>
        </p:nvSpPr>
        <p:spPr>
          <a:xfrm>
            <a:off x="713232" y="6373368"/>
            <a:ext cx="10762488" cy="91"/>
          </a:xfrm>
          <a:prstGeom prst="line">
            <a:avLst/>
          </a:prstGeom>
          <a:noFill/>
          <a:ln w="8255">
            <a:solidFill>
              <a:srgbClr val="202A35">
                <a:alpha val="15000"/>
              </a:srgbClr>
            </a:solidFill>
            <a:prstDash val="solid"/>
          </a:ln>
        </p:spPr>
      </p:sp>
      <p:sp>
        <p:nvSpPr>
          <p:cNvPr id="10" name="!!footer"/>
          <p:cNvSpPr/>
          <p:nvPr/>
        </p:nvSpPr>
        <p:spPr>
          <a:xfrm>
            <a:off x="713232" y="646480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spc="60" kern="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УЧЕБНЫЙ ПРОЕКТ  ·  ПЛАН И ГИПОТЕЗЫ, НЕ РЕЗУЛЬТАТЫ ОПРОСА</a:t>
            </a:r>
            <a:endParaRPr lang="en-US" sz="800" dirty="0"/>
          </a:p>
        </p:txBody>
      </p:sp>
      <p:sp>
        <p:nvSpPr>
          <p:cNvPr id="11" name="!!year"/>
          <p:cNvSpPr/>
          <p:nvPr/>
        </p:nvSpPr>
        <p:spPr>
          <a:xfrm>
            <a:off x="10972800" y="64648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800" dirty="0"/>
          </a:p>
        </p:txBody>
      </p:sp>
      <p:sp>
        <p:nvSpPr>
          <p:cNvPr id="12" name="!!title"/>
          <p:cNvSpPr/>
          <p:nvPr/>
        </p:nvSpPr>
        <p:spPr>
          <a:xfrm>
            <a:off x="713232" y="932688"/>
            <a:ext cx="6903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330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Пауза вместо чувства вины</a:t>
            </a:r>
            <a:endParaRPr lang="en-US" sz="3300" dirty="0"/>
          </a:p>
        </p:txBody>
      </p:sp>
      <p:sp>
        <p:nvSpPr>
          <p:cNvPr id="13" name="!!title-underline"/>
          <p:cNvSpPr/>
          <p:nvPr/>
        </p:nvSpPr>
        <p:spPr>
          <a:xfrm>
            <a:off x="713232" y="1792224"/>
            <a:ext cx="1261872" cy="13716"/>
          </a:xfrm>
          <a:prstGeom prst="line">
            <a:avLst/>
          </a:prstGeom>
          <a:noFill/>
          <a:ln w="29210">
            <a:solidFill>
              <a:srgbClr val="E64D4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V="1">
            <a:off x="768096" y="1824228"/>
            <a:ext cx="992490" cy="9144"/>
          </a:xfrm>
          <a:prstGeom prst="line">
            <a:avLst/>
          </a:prstGeom>
          <a:noFill/>
          <a:ln w="11430">
            <a:solidFill>
              <a:srgbClr val="E64D42">
                <a:alpha val="58000"/>
              </a:srgbClr>
            </a:solidFill>
            <a:prstDash val="solid"/>
          </a:ln>
        </p:spPr>
      </p:sp>
      <p:sp>
        <p:nvSpPr>
          <p:cNvPr id="15" name="fx9_1_0"/>
          <p:cNvSpPr/>
          <p:nvPr/>
        </p:nvSpPr>
        <p:spPr>
          <a:xfrm>
            <a:off x="713232" y="2048256"/>
            <a:ext cx="6272784" cy="749808"/>
          </a:xfrm>
          <a:prstGeom prst="roundRect">
            <a:avLst>
              <a:gd name="adj" fmla="val 9756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DAD2C6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6" name="fx9_1_1"/>
          <p:cNvSpPr/>
          <p:nvPr/>
        </p:nvSpPr>
        <p:spPr>
          <a:xfrm>
            <a:off x="859536" y="2258568"/>
            <a:ext cx="1298448" cy="292608"/>
          </a:xfrm>
          <a:prstGeom prst="roundRect">
            <a:avLst>
              <a:gd name="adj" fmla="val 50000"/>
            </a:avLst>
          </a:prstGeom>
          <a:solidFill>
            <a:srgbClr val="E64D42"/>
          </a:solidFill>
          <a:ln/>
        </p:spPr>
      </p:sp>
      <p:sp>
        <p:nvSpPr>
          <p:cNvPr id="17" name="fx9_1_2"/>
          <p:cNvSpPr/>
          <p:nvPr/>
        </p:nvSpPr>
        <p:spPr>
          <a:xfrm>
            <a:off x="950976" y="2308860"/>
            <a:ext cx="1115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СОХРАНИ</a:t>
            </a:r>
            <a:endParaRPr lang="en-US" sz="770" dirty="0"/>
          </a:p>
        </p:txBody>
      </p:sp>
      <p:sp>
        <p:nvSpPr>
          <p:cNvPr id="18" name="fx9_1_3"/>
          <p:cNvSpPr/>
          <p:nvPr/>
        </p:nvSpPr>
        <p:spPr>
          <a:xfrm>
            <a:off x="2322576" y="2212848"/>
            <a:ext cx="4425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4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Положи несрочную вещь в избранное. Вернись завтра.</a:t>
            </a:r>
            <a:endParaRPr lang="en-US" sz="1140" dirty="0"/>
          </a:p>
        </p:txBody>
      </p:sp>
      <p:sp>
        <p:nvSpPr>
          <p:cNvPr id="19" name="fx9_2_4"/>
          <p:cNvSpPr/>
          <p:nvPr/>
        </p:nvSpPr>
        <p:spPr>
          <a:xfrm>
            <a:off x="713232" y="2980944"/>
            <a:ext cx="6272784" cy="749808"/>
          </a:xfrm>
          <a:prstGeom prst="roundRect">
            <a:avLst>
              <a:gd name="adj" fmla="val 9756"/>
            </a:avLst>
          </a:prstGeom>
          <a:solidFill>
            <a:srgbClr val="FFF6E8">
              <a:alpha val="97000"/>
            </a:srgbClr>
          </a:solidFill>
          <a:ln w="9525">
            <a:solidFill>
              <a:srgbClr val="DAD2C6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0" name="fx9_2_5"/>
          <p:cNvSpPr/>
          <p:nvPr/>
        </p:nvSpPr>
        <p:spPr>
          <a:xfrm>
            <a:off x="859536" y="3191256"/>
            <a:ext cx="1298448" cy="292608"/>
          </a:xfrm>
          <a:prstGeom prst="roundRect">
            <a:avLst>
              <a:gd name="adj" fmla="val 50000"/>
            </a:avLst>
          </a:prstGeom>
          <a:solidFill>
            <a:srgbClr val="D28B43"/>
          </a:solidFill>
          <a:ln/>
        </p:spPr>
      </p:sp>
      <p:sp>
        <p:nvSpPr>
          <p:cNvPr id="21" name="fx9_2_6"/>
          <p:cNvSpPr/>
          <p:nvPr/>
        </p:nvSpPr>
        <p:spPr>
          <a:xfrm>
            <a:off x="950976" y="3241548"/>
            <a:ext cx="1115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ДОБАВЬ ТРЕНИЕ</a:t>
            </a:r>
            <a:endParaRPr lang="en-US" sz="770" dirty="0"/>
          </a:p>
        </p:txBody>
      </p:sp>
      <p:sp>
        <p:nvSpPr>
          <p:cNvPr id="22" name="fx9_2_7"/>
          <p:cNvSpPr/>
          <p:nvPr/>
        </p:nvSpPr>
        <p:spPr>
          <a:xfrm>
            <a:off x="2322576" y="3145536"/>
            <a:ext cx="4425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4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быстрый checkout мешает — убери сохранённую карту.</a:t>
            </a:r>
            <a:endParaRPr lang="en-US" sz="1140" dirty="0"/>
          </a:p>
        </p:txBody>
      </p:sp>
      <p:sp>
        <p:nvSpPr>
          <p:cNvPr id="23" name="fx9_3_8"/>
          <p:cNvSpPr/>
          <p:nvPr/>
        </p:nvSpPr>
        <p:spPr>
          <a:xfrm>
            <a:off x="713232" y="3913632"/>
            <a:ext cx="6272784" cy="749808"/>
          </a:xfrm>
          <a:prstGeom prst="roundRect">
            <a:avLst>
              <a:gd name="adj" fmla="val 9756"/>
            </a:avLst>
          </a:prstGeom>
          <a:solidFill>
            <a:srgbClr val="FFFDF8">
              <a:alpha val="97000"/>
            </a:srgbClr>
          </a:solidFill>
          <a:ln w="9525">
            <a:solidFill>
              <a:srgbClr val="DAD2C6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4" name="fx9_3_9"/>
          <p:cNvSpPr/>
          <p:nvPr/>
        </p:nvSpPr>
        <p:spPr>
          <a:xfrm>
            <a:off x="859536" y="4123944"/>
            <a:ext cx="1298448" cy="292608"/>
          </a:xfrm>
          <a:prstGeom prst="roundRect">
            <a:avLst>
              <a:gd name="adj" fmla="val 50000"/>
            </a:avLst>
          </a:prstGeom>
          <a:solidFill>
            <a:srgbClr val="E64D42"/>
          </a:solidFill>
          <a:ln/>
        </p:spPr>
      </p:sp>
      <p:sp>
        <p:nvSpPr>
          <p:cNvPr id="25" name="fx9_3_10"/>
          <p:cNvSpPr/>
          <p:nvPr/>
        </p:nvSpPr>
        <p:spPr>
          <a:xfrm>
            <a:off x="950976" y="4174236"/>
            <a:ext cx="1115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СПРОСИ СЕБЯ</a:t>
            </a:r>
            <a:endParaRPr lang="en-US" sz="770" dirty="0"/>
          </a:p>
        </p:txBody>
      </p:sp>
      <p:sp>
        <p:nvSpPr>
          <p:cNvPr id="26" name="fx9_3_11"/>
          <p:cNvSpPr/>
          <p:nvPr/>
        </p:nvSpPr>
        <p:spPr>
          <a:xfrm>
            <a:off x="2322576" y="4078224"/>
            <a:ext cx="4425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4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Нужно? В бюджете? Взял(а) бы без таймера и скидки?</a:t>
            </a:r>
            <a:endParaRPr lang="en-US" sz="1140" dirty="0"/>
          </a:p>
        </p:txBody>
      </p:sp>
      <p:sp>
        <p:nvSpPr>
          <p:cNvPr id="27" name="Shape 24"/>
          <p:cNvSpPr/>
          <p:nvPr/>
        </p:nvSpPr>
        <p:spPr>
          <a:xfrm>
            <a:off x="5413248" y="4974336"/>
            <a:ext cx="1627632" cy="1143000"/>
          </a:xfrm>
          <a:prstGeom prst="roundRect">
            <a:avLst>
              <a:gd name="adj" fmla="val 6400"/>
            </a:avLst>
          </a:prstGeom>
          <a:solidFill>
            <a:srgbClr val="FFFEFA">
              <a:alpha val="97000"/>
            </a:srgbClr>
          </a:solidFill>
          <a:ln w="9525">
            <a:solidFill>
              <a:srgbClr val="D2CCC1">
                <a:alpha val="96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 rot="-120000">
            <a:off x="6031748" y="4924044"/>
            <a:ext cx="374355" cy="128016"/>
          </a:xfrm>
          <a:prstGeom prst="rect">
            <a:avLst/>
          </a:prstGeom>
          <a:solidFill>
            <a:srgbClr val="F3D0C7">
              <a:alpha val="88000"/>
            </a:srgbClr>
          </a:solidFill>
          <a:ln/>
        </p:spPr>
      </p:sp>
      <p:pic>
        <p:nvPicPr>
          <p:cNvPr id="29" name="Image 1" descr="/home/user/MyWorkAiBrain/presentations/impulse/assets/meme-money-fal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5047488"/>
            <a:ext cx="1481328" cy="78638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5486400" y="5815584"/>
            <a:ext cx="14813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9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ДЕНЬГИ ПАДАЮТ, БЮДЖЕТ ПЛАЧЕТ · МЕМ ИЗ ОРИГИНАЛА</a:t>
            </a:r>
            <a:endParaRPr lang="en-US" sz="590" dirty="0"/>
          </a:p>
        </p:txBody>
      </p:sp>
      <p:sp>
        <p:nvSpPr>
          <p:cNvPr id="31" name="fx9_5_12"/>
          <p:cNvSpPr/>
          <p:nvPr/>
        </p:nvSpPr>
        <p:spPr>
          <a:xfrm>
            <a:off x="713232" y="5074920"/>
            <a:ext cx="4334256" cy="859536"/>
          </a:xfrm>
          <a:prstGeom prst="roundRect">
            <a:avLst>
              <a:gd name="adj" fmla="val 8511"/>
            </a:avLst>
          </a:prstGeom>
          <a:solidFill>
            <a:srgbClr val="FFF6E8">
              <a:alpha val="97000"/>
            </a:srgbClr>
          </a:solidFill>
          <a:ln w="9525">
            <a:solidFill>
              <a:srgbClr val="E7C89C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2" name="fx9_5_13"/>
          <p:cNvSpPr/>
          <p:nvPr/>
        </p:nvSpPr>
        <p:spPr>
          <a:xfrm>
            <a:off x="713232" y="5166360"/>
            <a:ext cx="50292" cy="676656"/>
          </a:xfrm>
          <a:prstGeom prst="rect">
            <a:avLst/>
          </a:prstGeom>
          <a:solidFill>
            <a:srgbClr val="E64D42"/>
          </a:solidFill>
          <a:ln/>
        </p:spPr>
      </p:sp>
      <p:sp>
        <p:nvSpPr>
          <p:cNvPr id="33" name="fx9_5_14"/>
          <p:cNvSpPr/>
          <p:nvPr/>
        </p:nvSpPr>
        <p:spPr>
          <a:xfrm>
            <a:off x="914400" y="4965192"/>
            <a:ext cx="1325880" cy="228600"/>
          </a:xfrm>
          <a:prstGeom prst="roundRect">
            <a:avLst>
              <a:gd name="adj" fmla="val 48000"/>
            </a:avLst>
          </a:prstGeom>
          <a:solidFill>
            <a:srgbClr val="E64D42"/>
          </a:solidFill>
          <a:ln/>
        </p:spPr>
      </p:sp>
      <p:sp>
        <p:nvSpPr>
          <p:cNvPr id="34" name="fx9_5_15"/>
          <p:cNvSpPr/>
          <p:nvPr/>
        </p:nvSpPr>
        <p:spPr>
          <a:xfrm>
            <a:off x="987552" y="4974336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 ПАМЯТКИ</a:t>
            </a:r>
            <a:endParaRPr lang="en-US" sz="750" dirty="0"/>
          </a:p>
        </p:txBody>
      </p:sp>
      <p:sp>
        <p:nvSpPr>
          <p:cNvPr id="35" name="fx9_5_16"/>
          <p:cNvSpPr/>
          <p:nvPr/>
        </p:nvSpPr>
        <p:spPr>
          <a:xfrm>
            <a:off x="941832" y="5248656"/>
            <a:ext cx="39227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запрет, а небольшая пауза возвращает выбор покупателю.</a:t>
            </a:r>
            <a:endParaRPr lang="en-US" sz="1050" dirty="0"/>
          </a:p>
        </p:txBody>
      </p:sp>
      <p:pic>
        <p:nvPicPr>
          <p:cNvPr id="36" name="!!kashtan-glow" descr="/home/user/MyWorkAiBrain/presentations/impulse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190" y="809518"/>
            <a:ext cx="4790907" cy="4790907"/>
          </a:xfrm>
          <a:prstGeom prst="rect">
            <a:avLst/>
          </a:prstGeom>
        </p:spPr>
      </p:pic>
      <p:sp>
        <p:nvSpPr>
          <p:cNvPr id="37" name="!!kashtan-ring"/>
          <p:cNvSpPr/>
          <p:nvPr/>
        </p:nvSpPr>
        <p:spPr>
          <a:xfrm>
            <a:off x="7829733" y="1310061"/>
            <a:ext cx="3789822" cy="3789822"/>
          </a:xfrm>
          <a:prstGeom prst="ellipse">
            <a:avLst/>
          </a:prstGeom>
          <a:ln w="11430">
            <a:solidFill>
              <a:srgbClr val="D28B43">
                <a:alpha val="24000"/>
              </a:srgbClr>
            </a:solidFill>
            <a:prstDash val="solid"/>
          </a:ln>
        </p:spPr>
      </p:sp>
      <p:pic>
        <p:nvPicPr>
          <p:cNvPr id="38" name="!!kashtan-shadow" descr="/home/user/MyWorkAiBrain/presentations/impulse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5757" y="4420575"/>
            <a:ext cx="3217774" cy="679308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9" name="!!m-kashtan">
                <a:extLst>
                  <a:ext uri="{FF2B5EF4-FFF2-40B4-BE49-F238E27FC236}">
                    <a16:creationId xmlns:a16="http://schemas.microsoft.com/office/drawing/2014/main" id="{1A86875C-8273-74A3-276F-F179F7159564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7936992" y="1417320"/>
              <a:ext cx="3575304" cy="3575304"/>
            </p:xfrm>
            <a:graphic>
              <a:graphicData uri="http://schemas.microsoft.com/office/drawing/2017/model3d">
                <am3d:model3d r:embed="rIdM3d9">
                  <am3d:spPr>
                    <a:xfrm>
                      <a:off x="0" y="0"/>
                      <a:ext cx="3575304" cy="3575304"/>
                    </a:xfrm>
                    <a:prstGeom prst="rect">
                      <a:avLst/>
                    </a:prstGeom>
                  </am3d:spPr>
                  <am3d:camera>
                    <am3d:pos x="0" y="0" z="6385242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8604" d="1000000"/>
                    <am3d:preTrans dx="-1543452" dy="-5849741" dz="-128365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08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792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357530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9" name="!!m-kashtan">
                <a:extLst>
                  <a:ext uri="{FF2B5EF4-FFF2-40B4-BE49-F238E27FC236}">
                    <a16:creationId xmlns:a16="http://schemas.microsoft.com/office/drawing/2014/main" id="{1A86875C-8273-74A3-276F-F179F715956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936992" y="1417320"/>
                <a:ext cx="3575304" cy="3575304"/>
              </a:xfrm>
              <a:prstGeom prst="rect">
                <a:avLst/>
              </a:prstGeom>
            </p:spPr>
          </p:pic>
        </mc:Fallback>
      </mc:AlternateContent>
      <p:sp>
        <p:nvSpPr>
          <p:cNvPr id="40" name="Shape 33"/>
          <p:cNvSpPr/>
          <p:nvPr/>
        </p:nvSpPr>
        <p:spPr>
          <a:xfrm>
            <a:off x="8257032" y="4956048"/>
            <a:ext cx="2514600" cy="283464"/>
          </a:xfrm>
          <a:prstGeom prst="roundRect">
            <a:avLst>
              <a:gd name="adj" fmla="val 51613"/>
            </a:avLst>
          </a:prstGeom>
          <a:solidFill>
            <a:srgbClr val="202A35"/>
          </a:solidFill>
          <a:ln/>
        </p:spPr>
      </p:sp>
      <p:sp>
        <p:nvSpPr>
          <p:cNvPr id="41" name="Text 34"/>
          <p:cNvSpPr/>
          <p:nvPr/>
        </p:nvSpPr>
        <p:spPr>
          <a:xfrm>
            <a:off x="8348472" y="5006340"/>
            <a:ext cx="2331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ЗАПРЕТ, А ПАУЗА</a:t>
            </a:r>
            <a:endParaRPr lang="en-US" sz="760" dirty="0"/>
          </a:p>
        </p:txBody>
      </p:sp>
      <p:sp>
        <p:nvSpPr>
          <p:cNvPr id="42" name="Text 35"/>
          <p:cNvSpPr/>
          <p:nvPr/>
        </p:nvSpPr>
        <p:spPr>
          <a:xfrm>
            <a:off x="8074152" y="1280160"/>
            <a:ext cx="3300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«В избранное — и завтра решим»</a:t>
            </a:r>
            <a:endParaRPr lang="en-US" sz="96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7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7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1" dur="4792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m3d="http://schemas.microsoft.com/office/drawing/2017/model3d" mc:Ignorable="am3d">
  <p:cSld name="Slide 10">
    <p:bg>
      <p:bgPr>
        <a:solidFill>
          <a:srgbClr val="F8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paper-bg" descr="/home/user/MyWorkAiBrain/presentations/impulse/assets/stage-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brand-dot"/>
          <p:cNvSpPr/>
          <p:nvPr/>
        </p:nvSpPr>
        <p:spPr>
          <a:xfrm>
            <a:off x="713232" y="310896"/>
            <a:ext cx="128016" cy="128016"/>
          </a:xfrm>
          <a:prstGeom prst="ellipse">
            <a:avLst/>
          </a:prstGeom>
          <a:solidFill>
            <a:srgbClr val="E64D42"/>
          </a:solidFill>
          <a:ln/>
        </p:spPr>
      </p:sp>
      <p:sp>
        <p:nvSpPr>
          <p:cNvPr id="4" name="!!brand"/>
          <p:cNvSpPr/>
          <p:nvPr/>
        </p:nvSpPr>
        <p:spPr>
          <a:xfrm>
            <a:off x="969264" y="237744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spc="180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ПСИХОЛОГИЯ ИМПУЛЬСИВНЫХ ТРАТ</a:t>
            </a:r>
            <a:endParaRPr lang="en-US" sz="900" dirty="0"/>
          </a:p>
        </p:txBody>
      </p:sp>
      <p:sp>
        <p:nvSpPr>
          <p:cNvPr id="5" name="!!section"/>
          <p:cNvSpPr/>
          <p:nvPr/>
        </p:nvSpPr>
        <p:spPr>
          <a:xfrm>
            <a:off x="8412480" y="2377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40" kern="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</a:t>
            </a:r>
            <a:endParaRPr lang="en-US" sz="900" dirty="0"/>
          </a:p>
        </p:txBody>
      </p:sp>
      <p:sp>
        <p:nvSpPr>
          <p:cNvPr id="6" name="!!page"/>
          <p:cNvSpPr/>
          <p:nvPr/>
        </p:nvSpPr>
        <p:spPr>
          <a:xfrm>
            <a:off x="10652760" y="2377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spc="120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900" dirty="0"/>
          </a:p>
        </p:txBody>
      </p:sp>
      <p:sp>
        <p:nvSpPr>
          <p:cNvPr id="7" name="!!track"/>
          <p:cNvSpPr/>
          <p:nvPr/>
        </p:nvSpPr>
        <p:spPr>
          <a:xfrm>
            <a:off x="713232" y="630936"/>
            <a:ext cx="10762488" cy="22860"/>
          </a:xfrm>
          <a:prstGeom prst="rect">
            <a:avLst/>
          </a:prstGeom>
          <a:solidFill>
            <a:srgbClr val="D6D4CD"/>
          </a:solidFill>
          <a:ln/>
        </p:spPr>
      </p:sp>
      <p:sp>
        <p:nvSpPr>
          <p:cNvPr id="8" name="!!progress"/>
          <p:cNvSpPr/>
          <p:nvPr/>
        </p:nvSpPr>
        <p:spPr>
          <a:xfrm>
            <a:off x="713232" y="630936"/>
            <a:ext cx="10762488" cy="22860"/>
          </a:xfrm>
          <a:prstGeom prst="rect">
            <a:avLst/>
          </a:prstGeom>
          <a:solidFill>
            <a:srgbClr val="E64D42"/>
          </a:solidFill>
          <a:ln/>
        </p:spPr>
      </p:sp>
      <p:sp>
        <p:nvSpPr>
          <p:cNvPr id="9" name="!!footer-line"/>
          <p:cNvSpPr/>
          <p:nvPr/>
        </p:nvSpPr>
        <p:spPr>
          <a:xfrm>
            <a:off x="713232" y="6373368"/>
            <a:ext cx="10762488" cy="91"/>
          </a:xfrm>
          <a:prstGeom prst="line">
            <a:avLst/>
          </a:prstGeom>
          <a:noFill/>
          <a:ln w="8255">
            <a:solidFill>
              <a:srgbClr val="202A35">
                <a:alpha val="15000"/>
              </a:srgbClr>
            </a:solidFill>
            <a:prstDash val="solid"/>
          </a:ln>
        </p:spPr>
      </p:sp>
      <p:sp>
        <p:nvSpPr>
          <p:cNvPr id="10" name="!!footer"/>
          <p:cNvSpPr/>
          <p:nvPr/>
        </p:nvSpPr>
        <p:spPr>
          <a:xfrm>
            <a:off x="713232" y="6464808"/>
            <a:ext cx="7498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spc="60" kern="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УЧЕБНЫЙ ПРОЕКТ  ·  ПЛАН И ГИПОТЕЗЫ, НЕ РЕЗУЛЬТАТЫ ОПРОСА</a:t>
            </a:r>
            <a:endParaRPr lang="en-US" sz="800" dirty="0"/>
          </a:p>
        </p:txBody>
      </p:sp>
      <p:sp>
        <p:nvSpPr>
          <p:cNvPr id="11" name="!!year"/>
          <p:cNvSpPr/>
          <p:nvPr/>
        </p:nvSpPr>
        <p:spPr>
          <a:xfrm>
            <a:off x="10972800" y="646480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800" dirty="0"/>
          </a:p>
        </p:txBody>
      </p:sp>
      <p:sp>
        <p:nvSpPr>
          <p:cNvPr id="12" name="!!title"/>
          <p:cNvSpPr/>
          <p:nvPr/>
        </p:nvSpPr>
        <p:spPr>
          <a:xfrm>
            <a:off x="713232" y="932688"/>
            <a:ext cx="6537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320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Каштан проверил чек.</a:t>
            </a:r>
            <a:endParaRPr lang="en-US" sz="32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320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Теперь — ваш ход.</a:t>
            </a:r>
            <a:endParaRPr lang="en-US" sz="3200" dirty="0"/>
          </a:p>
        </p:txBody>
      </p:sp>
      <p:sp>
        <p:nvSpPr>
          <p:cNvPr id="13" name="!!title-underline"/>
          <p:cNvSpPr/>
          <p:nvPr/>
        </p:nvSpPr>
        <p:spPr>
          <a:xfrm>
            <a:off x="713232" y="2240280"/>
            <a:ext cx="1325880" cy="13716"/>
          </a:xfrm>
          <a:prstGeom prst="line">
            <a:avLst/>
          </a:prstGeom>
          <a:noFill/>
          <a:ln w="29210">
            <a:solidFill>
              <a:srgbClr val="E64D4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V="1">
            <a:off x="768096" y="2272284"/>
            <a:ext cx="1045616" cy="9144"/>
          </a:xfrm>
          <a:prstGeom prst="line">
            <a:avLst/>
          </a:prstGeom>
          <a:noFill/>
          <a:ln w="11430">
            <a:solidFill>
              <a:srgbClr val="E64D42">
                <a:alpha val="58000"/>
              </a:srgbClr>
            </a:solidFill>
            <a:prstDash val="solid"/>
          </a:ln>
        </p:spPr>
      </p:sp>
      <p:sp>
        <p:nvSpPr>
          <p:cNvPr id="15" name="fx10_1_0"/>
          <p:cNvSpPr/>
          <p:nvPr/>
        </p:nvSpPr>
        <p:spPr>
          <a:xfrm>
            <a:off x="713232" y="2679192"/>
            <a:ext cx="6419088" cy="850392"/>
          </a:xfrm>
          <a:prstGeom prst="roundRect">
            <a:avLst>
              <a:gd name="adj" fmla="val 8602"/>
            </a:avLst>
          </a:prstGeom>
          <a:solidFill>
            <a:srgbClr val="FFF6E8">
              <a:alpha val="97000"/>
            </a:srgbClr>
          </a:solidFill>
          <a:ln w="9525">
            <a:solidFill>
              <a:srgbClr val="E7C89C">
                <a:alpha val="90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16" name="fx10_1_1"/>
          <p:cNvSpPr/>
          <p:nvPr/>
        </p:nvSpPr>
        <p:spPr>
          <a:xfrm>
            <a:off x="896112" y="28346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spc="125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 ВЫВОД ДЛЯ ПРОЕКТА</a:t>
            </a:r>
            <a:endParaRPr lang="en-US" sz="850" dirty="0"/>
          </a:p>
        </p:txBody>
      </p:sp>
      <p:sp>
        <p:nvSpPr>
          <p:cNvPr id="17" name="fx10_1_2"/>
          <p:cNvSpPr/>
          <p:nvPr/>
        </p:nvSpPr>
        <p:spPr>
          <a:xfrm>
            <a:off x="896112" y="3127248"/>
            <a:ext cx="5989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Контроль — это не стыд, а понятный бюджет + пауза + меньше кнопок «купить сейчас».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13232" y="3730752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20" b="1" spc="100" kern="0" dirty="0">
                <a:solidFill>
                  <a:srgbClr val="B935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 · КЛЮЧЕВЫЕ РАБОТЫ</a:t>
            </a:r>
            <a:endParaRPr lang="en-US" sz="820" dirty="0"/>
          </a:p>
        </p:txBody>
      </p:sp>
      <p:sp>
        <p:nvSpPr>
          <p:cNvPr id="19" name="fx10_2_3"/>
          <p:cNvSpPr/>
          <p:nvPr/>
        </p:nvSpPr>
        <p:spPr>
          <a:xfrm>
            <a:off x="713232" y="397764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3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Rook (1987), The Buying Impulse. J. Consumer Research, 14(2), 189–199.</a:t>
            </a:r>
            <a:endParaRPr lang="en-US" sz="730" dirty="0"/>
          </a:p>
        </p:txBody>
      </p:sp>
      <p:sp>
        <p:nvSpPr>
          <p:cNvPr id="20" name="fx10_2_4"/>
          <p:cNvSpPr/>
          <p:nvPr/>
        </p:nvSpPr>
        <p:spPr>
          <a:xfrm>
            <a:off x="713232" y="421538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3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Verplanken &amp; Herabadi (2001), Impulse buying tendency. Eur. J. Personality, 15(S1), S71–S83.</a:t>
            </a:r>
            <a:endParaRPr lang="en-US" sz="730" dirty="0"/>
          </a:p>
        </p:txBody>
      </p:sp>
      <p:sp>
        <p:nvSpPr>
          <p:cNvPr id="21" name="fx10_2_5"/>
          <p:cNvSpPr/>
          <p:nvPr/>
        </p:nvSpPr>
        <p:spPr>
          <a:xfrm>
            <a:off x="713232" y="44531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3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Dholakia (2000), Temptation and resistance. Psychology &amp; Marketing, 17(11), 955–982.</a:t>
            </a:r>
            <a:endParaRPr lang="en-US" sz="730" dirty="0"/>
          </a:p>
        </p:txBody>
      </p:sp>
      <p:sp>
        <p:nvSpPr>
          <p:cNvPr id="22" name="fx10_3_6"/>
          <p:cNvSpPr/>
          <p:nvPr/>
        </p:nvSpPr>
        <p:spPr>
          <a:xfrm>
            <a:off x="713232" y="469087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3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 Soman (2001), Payment mechanism and spending. J. Consumer Research, 27(4), 460–474.</a:t>
            </a:r>
            <a:endParaRPr lang="en-US" sz="730" dirty="0"/>
          </a:p>
        </p:txBody>
      </p:sp>
      <p:sp>
        <p:nvSpPr>
          <p:cNvPr id="23" name="fx10_3_7"/>
          <p:cNvSpPr/>
          <p:nvPr/>
        </p:nvSpPr>
        <p:spPr>
          <a:xfrm>
            <a:off x="713232" y="492861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3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 Aggarwal et al. (2011), Scarcity messages. Journal of Advertising, 40(3), 19–30.</a:t>
            </a:r>
            <a:endParaRPr lang="en-US" sz="730" dirty="0"/>
          </a:p>
        </p:txBody>
      </p:sp>
      <p:sp>
        <p:nvSpPr>
          <p:cNvPr id="24" name="fx10_3_8"/>
          <p:cNvSpPr/>
          <p:nvPr/>
        </p:nvSpPr>
        <p:spPr>
          <a:xfrm>
            <a:off x="713232" y="516636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3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 Cialdini (2009), Influence: Science and Practice, 5th ed. · [7] Przybylski et al. (2013), FoMO.</a:t>
            </a:r>
            <a:endParaRPr lang="en-US" sz="730" dirty="0"/>
          </a:p>
        </p:txBody>
      </p:sp>
      <p:sp>
        <p:nvSpPr>
          <p:cNvPr id="25" name="fx10_4_9"/>
          <p:cNvSpPr/>
          <p:nvPr/>
        </p:nvSpPr>
        <p:spPr>
          <a:xfrm>
            <a:off x="713232" y="54041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3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[8] Tversky &amp; Kahneman (1981), The framing of decisions. Science, 211(4481), 453–458.</a:t>
            </a:r>
            <a:endParaRPr lang="en-US" sz="730" dirty="0"/>
          </a:p>
        </p:txBody>
      </p:sp>
      <p:sp>
        <p:nvSpPr>
          <p:cNvPr id="26" name="Shape 23"/>
          <p:cNvSpPr/>
          <p:nvPr/>
        </p:nvSpPr>
        <p:spPr>
          <a:xfrm>
            <a:off x="7205472" y="4846320"/>
            <a:ext cx="1600200" cy="1188720"/>
          </a:xfrm>
          <a:prstGeom prst="roundRect">
            <a:avLst>
              <a:gd name="adj" fmla="val 6154"/>
            </a:avLst>
          </a:prstGeom>
          <a:solidFill>
            <a:srgbClr val="FFFEFA">
              <a:alpha val="97000"/>
            </a:srgbClr>
          </a:solidFill>
          <a:ln w="9525">
            <a:solidFill>
              <a:srgbClr val="D2CCC1">
                <a:alpha val="96000"/>
              </a:srgbClr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 rot="-120000">
            <a:off x="7813548" y="4796028"/>
            <a:ext cx="368046" cy="128016"/>
          </a:xfrm>
          <a:prstGeom prst="rect">
            <a:avLst/>
          </a:prstGeom>
          <a:solidFill>
            <a:srgbClr val="EFCBA3">
              <a:alpha val="88000"/>
            </a:srgbClr>
          </a:solidFill>
          <a:ln/>
        </p:spPr>
      </p:sp>
      <p:pic>
        <p:nvPicPr>
          <p:cNvPr id="28" name="Image 1" descr="/home/user/MyWorkAiBrain/presentations/impulse/assets/chestnuts-origina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8624" y="4919472"/>
            <a:ext cx="1453896" cy="877824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278624" y="5779008"/>
            <a:ext cx="1453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90" dirty="0">
                <a:solidFill>
                  <a:srgbClr val="647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КАШТАН ИЗ ОРИГИНАЛЬНОГО ФАЙЛА</a:t>
            </a:r>
            <a:endParaRPr lang="en-US" sz="590" dirty="0"/>
          </a:p>
        </p:txBody>
      </p:sp>
      <p:pic>
        <p:nvPicPr>
          <p:cNvPr id="30" name="!!kashtan-glow" descr="/home/user/MyWorkAiBrain/presentations/impulse/assets/g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5899" y="858987"/>
            <a:ext cx="3896441" cy="3896441"/>
          </a:xfrm>
          <a:prstGeom prst="rect">
            <a:avLst/>
          </a:prstGeom>
        </p:spPr>
      </p:pic>
      <p:sp>
        <p:nvSpPr>
          <p:cNvPr id="31" name="!!kashtan-ring"/>
          <p:cNvSpPr/>
          <p:nvPr/>
        </p:nvSpPr>
        <p:spPr>
          <a:xfrm>
            <a:off x="8562990" y="1266078"/>
            <a:ext cx="3082260" cy="3082260"/>
          </a:xfrm>
          <a:prstGeom prst="ellipse">
            <a:avLst/>
          </a:prstGeom>
          <a:ln w="11430">
            <a:solidFill>
              <a:srgbClr val="D28B43">
                <a:alpha val="24000"/>
              </a:srgbClr>
            </a:solidFill>
            <a:prstDash val="solid"/>
          </a:ln>
        </p:spPr>
      </p:sp>
      <p:pic>
        <p:nvPicPr>
          <p:cNvPr id="32" name="!!kashtan-shadow" descr="/home/user/MyWorkAiBrain/presentations/impulse/assets/shad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5614" y="3795857"/>
            <a:ext cx="2617013" cy="55248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3" name="!!m-kashtan">
                <a:extLst>
                  <a:ext uri="{FF2B5EF4-FFF2-40B4-BE49-F238E27FC236}">
                    <a16:creationId xmlns:a16="http://schemas.microsoft.com/office/drawing/2014/main" id="{81B60725-66C8-0F55-0111-E0A9D26D40B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8650224" y="1353312"/>
              <a:ext cx="2907792" cy="2907792"/>
            </p:xfrm>
            <a:graphic>
              <a:graphicData uri="http://schemas.microsoft.com/office/drawing/2017/model3d">
                <am3d:model3d r:embed="rIdM3d10">
                  <am3d:spPr>
                    <a:xfrm>
                      <a:off x="0" y="0"/>
                      <a:ext cx="2907792" cy="2907792"/>
                    </a:xfrm>
                    <a:prstGeom prst="rect">
                      <a:avLst/>
                    </a:prstGeom>
                  </am3d:spPr>
                  <am3d:camera>
                    <am3d:pos x="0" y="0" z="6385242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38604" d="1000000"/>
                    <am3d:preTrans dx="-1543452" dy="-5849741" dz="-128365"/>
                    <am3d:scale>
                      <am3d:sx n="1000000" d="1000000"/>
                      <am3d:sy n="1000000" d="1000000"/>
                      <am3d:sz n="1000000" d="1000000"/>
                    </am3d:scale>
                    <am3d:rot ax="600000" ay="-1080000" az="0"/>
                    <am3d:postTrans dx="0" dy="0" dz="0"/>
                  </am3d:trans>
                  <am3d:raster rName="Office3DRenderer" rVer="16.0.8326">
                    <am3d:blip r:embed="rId5"/>
                  </am3d:raster>
                  <am3d:extLst>
                    <a:ext uri="{9A65AA19-BECB-4387-8358-8AD5134E1D82}">
                      <a3danim:embedAnim xmlns:a3danim="http://schemas.microsoft.com/office/drawing/2018/animation/model3d" animId="0">
                        <a3danim:animPr length="4792" count="indefinite"/>
                      </a3danim:embedAnim>
                    </a:ext>
                    <a:ext uri="{E9DE012E-A134-456F-84FE-255F9AAD75C6}">
                      <a3danim:posterFrame xmlns:a3danim="http://schemas.microsoft.com/office/drawing/2018/animation/model3d" animId="0"/>
                    </a:ext>
                  </am3d:extLst>
                  <am3d:objViewport viewportSz="290779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3" name="!!m-kashtan">
                <a:extLst>
                  <a:ext uri="{FF2B5EF4-FFF2-40B4-BE49-F238E27FC236}">
                    <a16:creationId xmlns:a16="http://schemas.microsoft.com/office/drawing/2014/main" id="{81B60725-66C8-0F55-0111-E0A9D26D40B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650224" y="1353312"/>
                <a:ext cx="2907792" cy="2907792"/>
              </a:xfrm>
              <a:prstGeom prst="rect">
                <a:avLst/>
              </a:prstGeom>
            </p:spPr>
          </p:pic>
        </mc:Fallback>
      </mc:AlternateContent>
      <p:sp>
        <p:nvSpPr>
          <p:cNvPr id="34" name="Shape 27"/>
          <p:cNvSpPr/>
          <p:nvPr/>
        </p:nvSpPr>
        <p:spPr>
          <a:xfrm>
            <a:off x="8970264" y="4224528"/>
            <a:ext cx="1554480" cy="283464"/>
          </a:xfrm>
          <a:prstGeom prst="roundRect">
            <a:avLst>
              <a:gd name="adj" fmla="val 51613"/>
            </a:avLst>
          </a:prstGeom>
          <a:solidFill>
            <a:srgbClr val="202A35"/>
          </a:solidFill>
          <a:ln/>
        </p:spPr>
      </p:sp>
      <p:sp>
        <p:nvSpPr>
          <p:cNvPr id="35" name="Text 28"/>
          <p:cNvSpPr/>
          <p:nvPr/>
        </p:nvSpPr>
        <p:spPr>
          <a:xfrm>
            <a:off x="9061704" y="4274820"/>
            <a:ext cx="1371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СПАСИБО!</a:t>
            </a:r>
            <a:endParaRPr lang="en-US" sz="760" dirty="0"/>
          </a:p>
        </p:txBody>
      </p:sp>
      <p:sp>
        <p:nvSpPr>
          <p:cNvPr id="36" name="Text 29"/>
          <p:cNvSpPr/>
          <p:nvPr/>
        </p:nvSpPr>
        <p:spPr>
          <a:xfrm>
            <a:off x="8787384" y="1216152"/>
            <a:ext cx="2633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" b="1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«Пауза. Потом покупка.»</a:t>
            </a:r>
            <a:endParaRPr lang="en-US" sz="960" dirty="0"/>
          </a:p>
        </p:txBody>
      </p:sp>
      <p:sp>
        <p:nvSpPr>
          <p:cNvPr id="37" name="fx10_5_10"/>
          <p:cNvSpPr/>
          <p:nvPr/>
        </p:nvSpPr>
        <p:spPr>
          <a:xfrm>
            <a:off x="713232" y="5870448"/>
            <a:ext cx="6217920" cy="438912"/>
          </a:xfrm>
          <a:prstGeom prst="roundRect">
            <a:avLst>
              <a:gd name="adj" fmla="val 16667"/>
            </a:avLst>
          </a:prstGeom>
          <a:solidFill>
            <a:srgbClr val="FFF6E8">
              <a:alpha val="97000"/>
            </a:srgbClr>
          </a:solidFill>
          <a:ln w="9525">
            <a:solidFill>
              <a:srgbClr val="E7C89C"/>
            </a:solidFill>
            <a:prstDash val="solid"/>
          </a:ln>
          <a:effectLst>
            <a:outerShdw sx="100000" sy="100000" kx="0" ky="0" algn="bl" rotWithShape="0" blurRad="228600" dist="76200" dir="5400000">
              <a:srgbClr val="000000">
                <a:alpha val="45000"/>
              </a:srgbClr>
            </a:outerShdw>
          </a:effectLst>
        </p:spPr>
      </p:sp>
      <p:sp>
        <p:nvSpPr>
          <p:cNvPr id="38" name="fx10_5_11"/>
          <p:cNvSpPr/>
          <p:nvPr/>
        </p:nvSpPr>
        <p:spPr>
          <a:xfrm>
            <a:off x="713232" y="5961888"/>
            <a:ext cx="50292" cy="256032"/>
          </a:xfrm>
          <a:prstGeom prst="rect">
            <a:avLst/>
          </a:prstGeom>
          <a:solidFill>
            <a:srgbClr val="E64D42"/>
          </a:solidFill>
          <a:ln/>
        </p:spPr>
      </p:sp>
      <p:sp>
        <p:nvSpPr>
          <p:cNvPr id="39" name="fx10_5_12"/>
          <p:cNvSpPr/>
          <p:nvPr/>
        </p:nvSpPr>
        <p:spPr>
          <a:xfrm>
            <a:off x="914400" y="5760720"/>
            <a:ext cx="1965960" cy="228600"/>
          </a:xfrm>
          <a:prstGeom prst="roundRect">
            <a:avLst>
              <a:gd name="adj" fmla="val 48000"/>
            </a:avLst>
          </a:prstGeom>
          <a:solidFill>
            <a:srgbClr val="E64D42"/>
          </a:solidFill>
          <a:ln/>
        </p:spPr>
      </p:sp>
      <p:sp>
        <p:nvSpPr>
          <p:cNvPr id="40" name="fx10_5_13"/>
          <p:cNvSpPr/>
          <p:nvPr/>
        </p:nvSpPr>
        <p:spPr>
          <a:xfrm>
            <a:off x="987552" y="5769864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5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ПРОДОЛЖАЕТСЯ</a:t>
            </a:r>
            <a:endParaRPr lang="en-US" sz="750" dirty="0"/>
          </a:p>
        </p:txBody>
      </p:sp>
      <p:sp>
        <p:nvSpPr>
          <p:cNvPr id="41" name="fx10_5_14"/>
          <p:cNvSpPr/>
          <p:nvPr/>
        </p:nvSpPr>
        <p:spPr>
          <a:xfrm>
            <a:off x="941832" y="6044184"/>
            <a:ext cx="5806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0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Сначала соберём ответы — затем сообщим результаты.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7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7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6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7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7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100" presetClass="emph" presetSubtype="1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81" dur="4792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embedded1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MyWorkAiBrain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Покупка на автопилоте — психология импульсивных трат</dc:title>
  <dc:subject>Психология импульсивных трат; исходный мем-стиль и каштан сохранены</dc:subject>
  <dc:creator>MyWorkAiBrain — учебный проект</dc:creator>
  <cp:lastModifiedBy>MyWorkAiBrain — учебный проект</cp:lastModifiedBy>
  <cp:revision>1</cp:revision>
  <dcterms:created xsi:type="dcterms:W3CDTF">2026-10-11T21:40:27Z</dcterms:created>
  <dcterms:modified xsi:type="dcterms:W3CDTF">2026-10-11T21:40:27Z</dcterms:modified>
</cp:coreProperties>
</file>