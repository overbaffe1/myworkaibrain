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4" r:id="rId7"/>
    <p:sldId id="263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Arial Black" panose="020B0A04020102020204" pitchFamily="34" charset="0"/>
      <p:bold r:id="rId10"/>
    </p:embeddedFont>
    <p:embeddedFont>
      <p:font typeface="Arial MT Pro" panose="020B0604020202020204" charset="0"/>
      <p:regular r:id="rId11"/>
    </p:embeddedFont>
    <p:embeddedFont>
      <p:font typeface="Arial MT Pro Bold" panose="020B060402020202020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8" autoAdjust="0"/>
    <p:restoredTop sz="94580" autoAdjust="0"/>
  </p:normalViewPr>
  <p:slideViewPr>
    <p:cSldViewPr>
      <p:cViewPr>
        <p:scale>
          <a:sx n="52" d="100"/>
          <a:sy n="52" d="100"/>
        </p:scale>
        <p:origin x="36" y="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17:11:27.80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17:11:27.80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</inkml:brush>
  </inkml:definitions>
  <inkml:trace contextRef="#ctx0" brushRef="#br0">1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svg"/><Relationship Id="rId9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6587083" y="-6604017"/>
            <a:ext cx="5394724" cy="18602759"/>
          </a:xfrm>
          <a:custGeom>
            <a:avLst/>
            <a:gdLst/>
            <a:ahLst/>
            <a:cxnLst/>
            <a:rect l="l" t="t" r="r" b="b"/>
            <a:pathLst>
              <a:path w="5394724" h="18602759">
                <a:moveTo>
                  <a:pt x="0" y="0"/>
                </a:moveTo>
                <a:lnTo>
                  <a:pt x="5394724" y="0"/>
                </a:lnTo>
                <a:lnTo>
                  <a:pt x="5394724" y="18602759"/>
                </a:lnTo>
                <a:lnTo>
                  <a:pt x="0" y="18602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4399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7" name="TextBox 7"/>
          <p:cNvSpPr txBox="1"/>
          <p:nvPr/>
        </p:nvSpPr>
        <p:spPr>
          <a:xfrm>
            <a:off x="586706" y="7419516"/>
            <a:ext cx="14500894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6600" b="1" spc="-150" dirty="0">
                <a:solidFill>
                  <a:srgbClr val="FFFFFF"/>
                </a:solidFill>
                <a:latin typeface="Arial Black" panose="020B0604020202020204" pitchFamily="34" charset="0"/>
                <a:ea typeface="Apple SD Gothic Neo Heavy" panose="02000300000000000000" pitchFamily="2" charset="-127"/>
                <a:cs typeface="Arial Black" panose="020B0604020202020204" pitchFamily="34" charset="0"/>
                <a:sym typeface="Anton"/>
              </a:rPr>
              <a:t>ПСИХОЛОГИЯ ИМПУЛЬСИВНЫХ ТРАТ</a:t>
            </a:r>
          </a:p>
          <a:p>
            <a:r>
              <a:rPr lang="ru-RU" sz="6600" b="1" spc="-150" dirty="0">
                <a:solidFill>
                  <a:srgbClr val="FFFFFF"/>
                </a:solidFill>
                <a:latin typeface="Arial Black" panose="020B0604020202020204" pitchFamily="34" charset="0"/>
                <a:ea typeface="Apple SD Gothic Neo Heavy" panose="02000300000000000000" pitchFamily="2" charset="-127"/>
                <a:cs typeface="Arial Black" panose="020B0604020202020204" pitchFamily="34" charset="0"/>
                <a:sym typeface="Anton"/>
              </a:rPr>
              <a:t> </a:t>
            </a:r>
            <a:endParaRPr lang="en-US" sz="6600" b="1" spc="-150" dirty="0">
              <a:solidFill>
                <a:srgbClr val="FFFFFF"/>
              </a:solidFill>
              <a:latin typeface="Arial Black" panose="020B0604020202020204" pitchFamily="34" charset="0"/>
              <a:ea typeface="Apple SD Gothic Neo Heavy" panose="02000300000000000000" pitchFamily="2" charset="-127"/>
              <a:cs typeface="Arial Black" panose="020B0604020202020204" pitchFamily="34" charset="0"/>
              <a:sym typeface="Anto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8DA78-FEC9-4AC2-7B3C-B5B7AABF25F7}"/>
              </a:ext>
            </a:extLst>
          </p:cNvPr>
          <p:cNvSpPr txBox="1"/>
          <p:nvPr/>
        </p:nvSpPr>
        <p:spPr>
          <a:xfrm>
            <a:off x="586706" y="435204"/>
            <a:ext cx="131487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b="1" spc="-150" dirty="0">
                <a:solidFill>
                  <a:srgbClr val="194276"/>
                </a:solidFill>
                <a:latin typeface="Arial Black" panose="020B0604020202020204" pitchFamily="34" charset="0"/>
                <a:ea typeface="Apple SD Gothic Neo Heavy" panose="02000300000000000000" pitchFamily="2" charset="-127"/>
                <a:cs typeface="Arial Black" panose="020B0604020202020204" pitchFamily="34" charset="0"/>
                <a:sym typeface="Anton"/>
              </a:rPr>
              <a:t>ПОЧЕМУ МЫ </a:t>
            </a:r>
          </a:p>
          <a:p>
            <a:r>
              <a:rPr lang="ru-RU" sz="9600" b="1" spc="-150" dirty="0">
                <a:solidFill>
                  <a:srgbClr val="194276"/>
                </a:solidFill>
                <a:latin typeface="Arial Black" panose="020B0604020202020204" pitchFamily="34" charset="0"/>
                <a:ea typeface="Apple SD Gothic Neo Heavy" panose="02000300000000000000" pitchFamily="2" charset="-127"/>
                <a:cs typeface="Arial Black" panose="020B0604020202020204" pitchFamily="34" charset="0"/>
                <a:sym typeface="Anton"/>
              </a:rPr>
              <a:t>ПОКУПАЕМ НЕНУЖНОЕ: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FA59BEC-CE07-EAEA-2331-048738CB9A4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74" y="-73085"/>
            <a:ext cx="8858251" cy="590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-447939" y="9303269"/>
            <a:ext cx="11734668" cy="1002781"/>
          </a:xfrm>
          <a:custGeom>
            <a:avLst/>
            <a:gdLst/>
            <a:ahLst/>
            <a:cxnLst/>
            <a:rect l="l" t="t" r="r" b="b"/>
            <a:pathLst>
              <a:path w="11734668" h="1002781">
                <a:moveTo>
                  <a:pt x="11734668" y="0"/>
                </a:moveTo>
                <a:lnTo>
                  <a:pt x="0" y="0"/>
                </a:lnTo>
                <a:lnTo>
                  <a:pt x="0" y="1002781"/>
                </a:lnTo>
                <a:lnTo>
                  <a:pt x="11734668" y="1002781"/>
                </a:lnTo>
                <a:lnTo>
                  <a:pt x="117346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10926">
            <a:off x="11283243" y="2525461"/>
            <a:ext cx="12352120" cy="8229600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3" name="Freeform 13"/>
          <p:cNvSpPr/>
          <p:nvPr/>
        </p:nvSpPr>
        <p:spPr>
          <a:xfrm>
            <a:off x="11042555" y="9617528"/>
            <a:ext cx="4715968" cy="600214"/>
          </a:xfrm>
          <a:custGeom>
            <a:avLst/>
            <a:gdLst/>
            <a:ahLst/>
            <a:cxnLst/>
            <a:rect l="l" t="t" r="r" b="b"/>
            <a:pathLst>
              <a:path w="4715968" h="600214">
                <a:moveTo>
                  <a:pt x="0" y="0"/>
                </a:moveTo>
                <a:lnTo>
                  <a:pt x="4715968" y="0"/>
                </a:lnTo>
                <a:lnTo>
                  <a:pt x="4715968" y="600214"/>
                </a:lnTo>
                <a:lnTo>
                  <a:pt x="0" y="600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4" name="TextBox 14"/>
          <p:cNvSpPr txBox="1"/>
          <p:nvPr/>
        </p:nvSpPr>
        <p:spPr>
          <a:xfrm>
            <a:off x="900365" y="461699"/>
            <a:ext cx="1648726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8000" b="1" spc="-389" dirty="0">
                <a:solidFill>
                  <a:srgbClr val="FFFFFF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ПОЧЕМУ ЭТО ВАЖНО </a:t>
            </a:r>
            <a:endParaRPr lang="en-US" sz="8000" b="1" spc="-389" dirty="0">
              <a:solidFill>
                <a:srgbClr val="FFFFFF"/>
              </a:solidFill>
              <a:latin typeface="Arial Black" panose="020B0604020202020204" pitchFamily="34" charset="0"/>
              <a:ea typeface="Anton"/>
              <a:cs typeface="Arial Black" panose="020B0604020202020204" pitchFamily="34" charset="0"/>
              <a:sym typeface="Anton"/>
            </a:endParaRPr>
          </a:p>
        </p:txBody>
      </p:sp>
      <p:sp>
        <p:nvSpPr>
          <p:cNvPr id="15" name="Freeform 15"/>
          <p:cNvSpPr/>
          <p:nvPr/>
        </p:nvSpPr>
        <p:spPr>
          <a:xfrm rot="143510">
            <a:off x="316126" y="1474180"/>
            <a:ext cx="5618411" cy="422244"/>
          </a:xfrm>
          <a:custGeom>
            <a:avLst/>
            <a:gdLst/>
            <a:ahLst/>
            <a:cxnLst/>
            <a:rect l="l" t="t" r="r" b="b"/>
            <a:pathLst>
              <a:path w="5618411" h="422244">
                <a:moveTo>
                  <a:pt x="0" y="0"/>
                </a:moveTo>
                <a:lnTo>
                  <a:pt x="5618412" y="0"/>
                </a:lnTo>
                <a:lnTo>
                  <a:pt x="5618412" y="422245"/>
                </a:lnTo>
                <a:lnTo>
                  <a:pt x="0" y="42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7" name="TextBox 17"/>
          <p:cNvSpPr txBox="1"/>
          <p:nvPr/>
        </p:nvSpPr>
        <p:spPr>
          <a:xfrm>
            <a:off x="335163" y="1880632"/>
            <a:ext cx="10584883" cy="7971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BNPL </a:t>
            </a:r>
            <a:r>
              <a:rPr lang="ru-RU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в России: 940 млрд руб. В 2025 г. — ×2,5 к 2024 году; прогноз на 2026 г. ≈1,25 трлн руб.;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С 01.04.2026 — новый ФЗ № 283-ФЗ о рассрочке: государство регулирует «спонтанные долги»;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Инфляция + высокая ключевая ставка → незапланированные траты бьют по бюджету;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Маркетплейсы, доставка и реклама снижают «порог» покупки до 2 кликов;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ru-RU" sz="36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Финансовая грамотность не защищает от искажений: знания ≠ рациональные решения.</a:t>
            </a:r>
          </a:p>
          <a:p>
            <a:pPr algn="l">
              <a:lnSpc>
                <a:spcPts val="1600"/>
              </a:lnSpc>
            </a:pPr>
            <a:endParaRPr lang="en-US" sz="1600" b="1" spc="-32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41134" y="6069654"/>
            <a:ext cx="3899751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endParaRPr lang="en-US" sz="1600" spc="-32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5219A7C-69A3-B90D-7DCA-BCF8816FD06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705" y="2578254"/>
            <a:ext cx="6445295" cy="52017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86E59FF0-72D9-37CF-67C6-3F7597A716DC}"/>
                  </a:ext>
                </a:extLst>
              </p14:cNvPr>
              <p14:cNvContentPartPr/>
              <p14:nvPr/>
            </p14:nvContentPartPr>
            <p14:xfrm>
              <a:off x="13018360" y="11151480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86E59FF0-72D9-37CF-67C6-3F7597A716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64720" y="1104384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1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22310" y="591428"/>
            <a:ext cx="1065864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8000" b="1" spc="-440" dirty="0">
                <a:solidFill>
                  <a:srgbClr val="194176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ЦЕЛЬ ПРОЕКТА</a:t>
            </a:r>
          </a:p>
        </p:txBody>
      </p:sp>
      <p:sp>
        <p:nvSpPr>
          <p:cNvPr id="8" name="Freeform 8"/>
          <p:cNvSpPr/>
          <p:nvPr/>
        </p:nvSpPr>
        <p:spPr>
          <a:xfrm>
            <a:off x="7605240" y="2013004"/>
            <a:ext cx="8610600" cy="326359"/>
          </a:xfrm>
          <a:custGeom>
            <a:avLst/>
            <a:gdLst/>
            <a:ahLst/>
            <a:cxnLst/>
            <a:rect l="l" t="t" r="r" b="b"/>
            <a:pathLst>
              <a:path w="7315200" h="582284">
                <a:moveTo>
                  <a:pt x="0" y="0"/>
                </a:moveTo>
                <a:lnTo>
                  <a:pt x="7315200" y="0"/>
                </a:lnTo>
                <a:lnTo>
                  <a:pt x="7315200" y="582284"/>
                </a:lnTo>
                <a:lnTo>
                  <a:pt x="0" y="582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grpSp>
        <p:nvGrpSpPr>
          <p:cNvPr id="34" name="Group 4">
            <a:extLst>
              <a:ext uri="{FF2B5EF4-FFF2-40B4-BE49-F238E27FC236}">
                <a16:creationId xmlns:a16="http://schemas.microsoft.com/office/drawing/2014/main" id="{BB1FE0ED-C9FA-38D4-E939-E5D5D7DB061B}"/>
              </a:ext>
            </a:extLst>
          </p:cNvPr>
          <p:cNvGrpSpPr/>
          <p:nvPr/>
        </p:nvGrpSpPr>
        <p:grpSpPr>
          <a:xfrm>
            <a:off x="-37103" y="-220680"/>
            <a:ext cx="5560605" cy="10507680"/>
            <a:chOff x="0" y="0"/>
            <a:chExt cx="2487451" cy="1779656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F3266BA9-DA53-6DFD-EAD5-44EC4C027700}"/>
                </a:ext>
              </a:extLst>
            </p:cNvPr>
            <p:cNvSpPr/>
            <p:nvPr/>
          </p:nvSpPr>
          <p:spPr>
            <a:xfrm>
              <a:off x="0" y="0"/>
              <a:ext cx="2487451" cy="1779656"/>
            </a:xfrm>
            <a:custGeom>
              <a:avLst/>
              <a:gdLst/>
              <a:ahLst/>
              <a:cxnLst/>
              <a:rect l="l" t="t" r="r" b="b"/>
              <a:pathLst>
                <a:path w="2487451" h="1779656">
                  <a:moveTo>
                    <a:pt x="0" y="0"/>
                  </a:moveTo>
                  <a:lnTo>
                    <a:pt x="2487451" y="0"/>
                  </a:lnTo>
                  <a:lnTo>
                    <a:pt x="2487451" y="1779656"/>
                  </a:lnTo>
                  <a:lnTo>
                    <a:pt x="0" y="1779656"/>
                  </a:lnTo>
                  <a:close/>
                </a:path>
              </a:pathLst>
            </a:custGeom>
            <a:solidFill>
              <a:srgbClr val="194176"/>
            </a:solidFill>
            <a:ln w="9525" cap="sq">
              <a:solidFill>
                <a:srgbClr val="779ACA"/>
              </a:solidFill>
              <a:prstDash val="solid"/>
              <a:miter/>
            </a:ln>
          </p:spPr>
        </p:sp>
        <p:sp>
          <p:nvSpPr>
            <p:cNvPr id="36" name="TextBox 6">
              <a:extLst>
                <a:ext uri="{FF2B5EF4-FFF2-40B4-BE49-F238E27FC236}">
                  <a16:creationId xmlns:a16="http://schemas.microsoft.com/office/drawing/2014/main" id="{648DB7D8-EAA4-010E-95A2-B417AA42B1BE}"/>
                </a:ext>
              </a:extLst>
            </p:cNvPr>
            <p:cNvSpPr txBox="1"/>
            <p:nvPr/>
          </p:nvSpPr>
          <p:spPr>
            <a:xfrm>
              <a:off x="0" y="-57150"/>
              <a:ext cx="2487451" cy="1836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05051" y="2573214"/>
            <a:ext cx="11201400" cy="7162481"/>
            <a:chOff x="0" y="0"/>
            <a:chExt cx="1503533" cy="2061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3533" cy="206139"/>
            </a:xfrm>
            <a:custGeom>
              <a:avLst/>
              <a:gdLst/>
              <a:ahLst/>
              <a:cxnLst/>
              <a:rect l="l" t="t" r="r" b="b"/>
              <a:pathLst>
                <a:path w="1503533" h="206139">
                  <a:moveTo>
                    <a:pt x="0" y="0"/>
                  </a:moveTo>
                  <a:lnTo>
                    <a:pt x="1503533" y="0"/>
                  </a:lnTo>
                  <a:lnTo>
                    <a:pt x="1503533" y="206139"/>
                  </a:lnTo>
                  <a:lnTo>
                    <a:pt x="0" y="20613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194176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03533" cy="263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647105" y="2890668"/>
            <a:ext cx="1076839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ru-RU" sz="4800" b="1" dirty="0">
                <a:solidFill>
                  <a:srgbClr val="1941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Изучить психологические механизмы импульсивных покупок (когнитивные искажения, самоконтроль) и их влияние на финансовое поведение студентов и разработать памятку, как сократить незапланированные расходы.</a:t>
            </a:r>
          </a:p>
          <a:p>
            <a:pPr algn="l"/>
            <a:endParaRPr lang="en-US" sz="4400" b="1" dirty="0">
              <a:solidFill>
                <a:srgbClr val="194176"/>
              </a:solidFill>
              <a:latin typeface="Arial Black" panose="020B0604020202020204" pitchFamily="34" charset="0"/>
              <a:ea typeface="Arial MT Pro Bold"/>
              <a:cs typeface="Arial Black" panose="020B0604020202020204" pitchFamily="34" charset="0"/>
              <a:sym typeface="Arial MT Pro Bold"/>
            </a:endParaRPr>
          </a:p>
        </p:txBody>
      </p:sp>
      <p:sp>
        <p:nvSpPr>
          <p:cNvPr id="30" name="TextBox 30"/>
          <p:cNvSpPr txBox="1"/>
          <p:nvPr/>
        </p:nvSpPr>
        <p:spPr>
          <a:xfrm rot="152044">
            <a:off x="11514859" y="8645760"/>
            <a:ext cx="5605374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endParaRPr lang="ru-RU" sz="1600" b="1" spc="-32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2B81E108-A2A7-45D8-88E2-1A4289543C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80" y="2890668"/>
            <a:ext cx="1707648" cy="1707648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44512C67-BDA7-9B8E-3DD1-676B305DFE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059" y="1281152"/>
            <a:ext cx="1209883" cy="1209883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95C6D8F-B292-C136-C098-DACD37D8C59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08" y="1300483"/>
            <a:ext cx="1373562" cy="1373562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D02BAABA-1155-E609-54BE-E9BBACB4185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1" t="20453" r="29710" b="16410"/>
          <a:stretch/>
        </p:blipFill>
        <p:spPr>
          <a:xfrm>
            <a:off x="3678292" y="2947038"/>
            <a:ext cx="1098193" cy="1724419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F7D3CCA-515A-EAF7-AD8A-B18F0944E87E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8979"/>
            <a:ext cx="5560605" cy="536802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982EFA5-C7CB-A39B-36E8-3B47AF3EF507}"/>
              </a:ext>
            </a:extLst>
          </p:cNvPr>
          <p:cNvSpPr txBox="1"/>
          <p:nvPr/>
        </p:nvSpPr>
        <p:spPr>
          <a:xfrm>
            <a:off x="-18552" y="107125"/>
            <a:ext cx="55606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С ЭТОГО ДНЯ БРОСАЮ ЛЕГКИЙ ДОФАМИН</a:t>
            </a:r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48B2BDB0-02FB-3ED7-6839-B9C8529D2CC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0" r="17320"/>
          <a:stretch/>
        </p:blipFill>
        <p:spPr>
          <a:xfrm>
            <a:off x="3634407" y="1166666"/>
            <a:ext cx="1020696" cy="1592857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6AFAD1A1-3726-5380-47C9-343F230C5B37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r="26144"/>
          <a:stretch/>
        </p:blipFill>
        <p:spPr>
          <a:xfrm>
            <a:off x="2211488" y="2675612"/>
            <a:ext cx="1124750" cy="205879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/>
          <p:nvPr/>
        </p:nvGrpSpPr>
        <p:grpSpPr>
          <a:xfrm rot="21449917">
            <a:off x="12134636" y="1857065"/>
            <a:ext cx="4382029" cy="6388050"/>
            <a:chOff x="0" y="-48454"/>
            <a:chExt cx="1388982" cy="1782634"/>
          </a:xfrm>
        </p:grpSpPr>
        <p:sp>
          <p:nvSpPr>
            <p:cNvPr id="6" name="Freeform 6"/>
            <p:cNvSpPr/>
            <p:nvPr/>
          </p:nvSpPr>
          <p:spPr>
            <a:xfrm>
              <a:off x="82473" y="-48454"/>
              <a:ext cx="1306509" cy="1734180"/>
            </a:xfrm>
            <a:custGeom>
              <a:avLst/>
              <a:gdLst/>
              <a:ahLst/>
              <a:cxnLst/>
              <a:rect l="l" t="t" r="r" b="b"/>
              <a:pathLst>
                <a:path w="1306509" h="1734180">
                  <a:moveTo>
                    <a:pt x="0" y="0"/>
                  </a:moveTo>
                  <a:lnTo>
                    <a:pt x="1306509" y="0"/>
                  </a:lnTo>
                  <a:lnTo>
                    <a:pt x="1306509" y="1734180"/>
                  </a:lnTo>
                  <a:lnTo>
                    <a:pt x="0" y="173418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06509" cy="1743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57833" y="-464250"/>
            <a:ext cx="11607744" cy="263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75"/>
              </a:lnSpc>
            </a:pPr>
            <a:r>
              <a:rPr lang="ru-RU" sz="9600" b="1" spc="-453" dirty="0">
                <a:solidFill>
                  <a:srgbClr val="FFFFFF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ЗАДАЧИ</a:t>
            </a:r>
            <a:r>
              <a:rPr lang="ru-RU" sz="21586" spc="-45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 lang="en-US" sz="21586" spc="-453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9F3F09C-455E-AEF2-9127-90D2AB4983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4" r="15789"/>
          <a:stretch/>
        </p:blipFill>
        <p:spPr>
          <a:xfrm rot="21410414">
            <a:off x="12249697" y="1683171"/>
            <a:ext cx="4347780" cy="6381064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14161821" y="7644733"/>
            <a:ext cx="3591892" cy="914300"/>
          </a:xfrm>
          <a:custGeom>
            <a:avLst/>
            <a:gdLst/>
            <a:ahLst/>
            <a:cxnLst/>
            <a:rect l="l" t="t" r="r" b="b"/>
            <a:pathLst>
              <a:path w="3591892" h="914300">
                <a:moveTo>
                  <a:pt x="0" y="0"/>
                </a:moveTo>
                <a:lnTo>
                  <a:pt x="3591892" y="0"/>
                </a:lnTo>
                <a:lnTo>
                  <a:pt x="3591892" y="914300"/>
                </a:lnTo>
                <a:lnTo>
                  <a:pt x="0" y="914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6" name="Freeform 16"/>
          <p:cNvSpPr/>
          <p:nvPr/>
        </p:nvSpPr>
        <p:spPr>
          <a:xfrm>
            <a:off x="11245984" y="1390390"/>
            <a:ext cx="1456173" cy="1072107"/>
          </a:xfrm>
          <a:custGeom>
            <a:avLst/>
            <a:gdLst/>
            <a:ahLst/>
            <a:cxnLst/>
            <a:rect l="l" t="t" r="r" b="b"/>
            <a:pathLst>
              <a:path w="1456173" h="1072107">
                <a:moveTo>
                  <a:pt x="0" y="0"/>
                </a:moveTo>
                <a:lnTo>
                  <a:pt x="1456173" y="0"/>
                </a:lnTo>
                <a:lnTo>
                  <a:pt x="1456173" y="1072108"/>
                </a:lnTo>
                <a:lnTo>
                  <a:pt x="0" y="107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21" name="TextBox 21"/>
          <p:cNvSpPr txBox="1"/>
          <p:nvPr/>
        </p:nvSpPr>
        <p:spPr>
          <a:xfrm>
            <a:off x="355253" y="1915209"/>
            <a:ext cx="11064807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Изучить теорию: когнитивные искажения, поведенческая экономика;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Проанализировать новости: </a:t>
            </a:r>
            <a:r>
              <a:rPr lang="en-US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BNPL, </a:t>
            </a: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кредиты, «</a:t>
            </a:r>
            <a:r>
              <a:rPr lang="ru-RU" sz="4000" b="1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шопинг-ловушки</a:t>
            </a: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»;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Разработать анкету исследования;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Провести опрос студентов (18–25 лет, </a:t>
            </a:r>
            <a:r>
              <a:rPr lang="en-US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N ≥ 50);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Проверить гипотезы статистически;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ru-RU" sz="4000" b="1" spc="-32" dirty="0">
                <a:solidFill>
                  <a:srgbClr val="FFFFFF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Сделать памятку «Как не купить ненужное».</a:t>
            </a:r>
          </a:p>
          <a:p>
            <a:pPr lvl="0"/>
            <a:endParaRPr lang="en-US" sz="1600" b="1" spc="-32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A6AA723-D8DC-8BA1-647B-2176CA50628C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8930">
            <a:off x="12270351" y="3252607"/>
            <a:ext cx="4266699" cy="336115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</p:sp>
      <p:sp>
        <p:nvSpPr>
          <p:cNvPr id="3" name="Freeform 3"/>
          <p:cNvSpPr/>
          <p:nvPr/>
        </p:nvSpPr>
        <p:spPr>
          <a:xfrm rot="16200000">
            <a:off x="247650" y="-1466853"/>
            <a:ext cx="10477501" cy="13411201"/>
          </a:xfrm>
          <a:custGeom>
            <a:avLst/>
            <a:gdLst/>
            <a:ahLst/>
            <a:cxnLst/>
            <a:rect l="l" t="t" r="r" b="b"/>
            <a:pathLst>
              <a:path w="10719565" h="9460016">
                <a:moveTo>
                  <a:pt x="0" y="0"/>
                </a:moveTo>
                <a:lnTo>
                  <a:pt x="10719565" y="0"/>
                </a:lnTo>
                <a:lnTo>
                  <a:pt x="10719565" y="9460016"/>
                </a:lnTo>
                <a:lnTo>
                  <a:pt x="0" y="9460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23" name="TextBox 23"/>
          <p:cNvSpPr txBox="1"/>
          <p:nvPr/>
        </p:nvSpPr>
        <p:spPr>
          <a:xfrm>
            <a:off x="1009181" y="1866900"/>
            <a:ext cx="10204374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H1. </a:t>
            </a:r>
            <a:r>
              <a:rPr lang="ru-RU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Чем выше </a:t>
            </a:r>
            <a:r>
              <a:rPr lang="en-US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FOMO </a:t>
            </a:r>
            <a:r>
              <a:rPr lang="ru-RU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и импульсивность → тем больше незапланированных покупок и покупок в рассрочку;</a:t>
            </a:r>
          </a:p>
          <a:p>
            <a:pPr algn="l"/>
            <a:r>
              <a:rPr lang="en-US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H2. </a:t>
            </a:r>
            <a:r>
              <a:rPr lang="ru-RU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Социальное сравнение и «потребление на показ» → больше статусных покупок (распродажи, советы блогеров);</a:t>
            </a:r>
          </a:p>
          <a:p>
            <a:pPr algn="l"/>
            <a:r>
              <a:rPr lang="en-US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H3. </a:t>
            </a:r>
            <a:r>
              <a:rPr lang="ru-RU" sz="4000" b="1" spc="-32" dirty="0">
                <a:solidFill>
                  <a:srgbClr val="194276"/>
                </a:solidFill>
                <a:latin typeface="Arial Black" panose="020B0604020202020204" pitchFamily="34" charset="0"/>
                <a:ea typeface="Arial MT Pro Bold"/>
                <a:cs typeface="Arial Black" panose="020B0604020202020204" pitchFamily="34" charset="0"/>
                <a:sym typeface="Arial MT Pro Bold"/>
              </a:rPr>
              <a:t>Финансовая грамотность снижает, но НЕ устраняет влияние искажений — защищает осведомлённость о них </a:t>
            </a:r>
            <a:endParaRPr lang="en-US" sz="4000" b="1" spc="-32" dirty="0">
              <a:solidFill>
                <a:srgbClr val="194276"/>
              </a:solidFill>
              <a:latin typeface="Arial Black" panose="020B0604020202020204" pitchFamily="34" charset="0"/>
              <a:ea typeface="Arial MT Pro Bold"/>
              <a:cs typeface="Arial Black" panose="020B0604020202020204" pitchFamily="34" charset="0"/>
              <a:sym typeface="Arial MT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7026" y="419100"/>
            <a:ext cx="851284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37" dirty="0">
                <a:solidFill>
                  <a:srgbClr val="194176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ГИПОТЕЗЫ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E7ECCF4-9975-A8D7-A5EB-E35D825F3DC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155" y="2705100"/>
            <a:ext cx="6248400" cy="445464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-447939" y="8929873"/>
            <a:ext cx="19267538" cy="1376175"/>
          </a:xfrm>
          <a:custGeom>
            <a:avLst/>
            <a:gdLst/>
            <a:ahLst/>
            <a:cxnLst/>
            <a:rect l="l" t="t" r="r" b="b"/>
            <a:pathLst>
              <a:path w="11734668" h="1002781">
                <a:moveTo>
                  <a:pt x="11734668" y="0"/>
                </a:moveTo>
                <a:lnTo>
                  <a:pt x="0" y="0"/>
                </a:lnTo>
                <a:lnTo>
                  <a:pt x="0" y="1002781"/>
                </a:lnTo>
                <a:lnTo>
                  <a:pt x="11734668" y="1002781"/>
                </a:lnTo>
                <a:lnTo>
                  <a:pt x="117346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00365" y="461699"/>
            <a:ext cx="1648726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8000" b="1" spc="-389" dirty="0">
                <a:solidFill>
                  <a:srgbClr val="FFFFFF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ЦЕЛЕВАЯ АУДИТОРИЯ  </a:t>
            </a:r>
            <a:endParaRPr lang="en-US" sz="8000" b="1" spc="-389" dirty="0">
              <a:solidFill>
                <a:srgbClr val="FFFFFF"/>
              </a:solidFill>
              <a:latin typeface="Arial Black" panose="020B0604020202020204" pitchFamily="34" charset="0"/>
              <a:ea typeface="Anton"/>
              <a:cs typeface="Arial Black" panose="020B0604020202020204" pitchFamily="34" charset="0"/>
              <a:sym typeface="Anton"/>
            </a:endParaRPr>
          </a:p>
        </p:txBody>
      </p:sp>
      <p:sp>
        <p:nvSpPr>
          <p:cNvPr id="15" name="Freeform 15"/>
          <p:cNvSpPr/>
          <p:nvPr/>
        </p:nvSpPr>
        <p:spPr>
          <a:xfrm rot="143510">
            <a:off x="316126" y="1474180"/>
            <a:ext cx="5618411" cy="422244"/>
          </a:xfrm>
          <a:custGeom>
            <a:avLst/>
            <a:gdLst/>
            <a:ahLst/>
            <a:cxnLst/>
            <a:rect l="l" t="t" r="r" b="b"/>
            <a:pathLst>
              <a:path w="5618411" h="422244">
                <a:moveTo>
                  <a:pt x="0" y="0"/>
                </a:moveTo>
                <a:lnTo>
                  <a:pt x="5618412" y="0"/>
                </a:lnTo>
                <a:lnTo>
                  <a:pt x="5618412" y="422245"/>
                </a:lnTo>
                <a:lnTo>
                  <a:pt x="0" y="422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7" name="TextBox 17"/>
          <p:cNvSpPr txBox="1"/>
          <p:nvPr/>
        </p:nvSpPr>
        <p:spPr>
          <a:xfrm>
            <a:off x="483072" y="2288381"/>
            <a:ext cx="10584883" cy="5632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ru-RU" sz="44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Изучаем: студенты вузов 18–25 лет (маркетплейсы, соцсети, </a:t>
            </a:r>
            <a:r>
              <a:rPr lang="en-US" sz="4400" b="1" spc="-32" dirty="0" err="1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bnpl</a:t>
            </a:r>
            <a:r>
              <a:rPr lang="en-US" sz="44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 — </a:t>
            </a:r>
            <a:r>
              <a:rPr lang="ru-RU" sz="44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максимальный риск);</a:t>
            </a:r>
          </a:p>
          <a:p>
            <a:pPr algn="l"/>
            <a:endParaRPr lang="ru-RU" sz="4400" b="1" spc="-32" dirty="0">
              <a:solidFill>
                <a:srgbClr val="FFFFFF"/>
              </a:solidFill>
              <a:latin typeface="Arial" panose="020B0604020202020204" pitchFamily="34" charset="0"/>
              <a:ea typeface="Arial MT Pro Bold"/>
              <a:cs typeface="Arial" panose="020B0604020202020204" pitchFamily="34" charset="0"/>
              <a:sym typeface="Arial MT Pro Bold"/>
            </a:endParaRPr>
          </a:p>
          <a:p>
            <a:pPr algn="l"/>
            <a:r>
              <a:rPr lang="ru-RU" sz="4400" b="1" spc="-32" dirty="0">
                <a:solidFill>
                  <a:srgbClr val="FFFFFF"/>
                </a:solidFill>
                <a:latin typeface="Arial" panose="020B0604020202020204" pitchFamily="34" charset="0"/>
                <a:ea typeface="Arial MT Pro Bold"/>
                <a:cs typeface="Arial" panose="020B0604020202020204" pitchFamily="34" charset="0"/>
                <a:sym typeface="Arial MT Pro Bold"/>
              </a:rPr>
              <a:t>Адресаты результатов: студенты; преподаватели и центры финансовой грамотности; программы просвещения.</a:t>
            </a:r>
          </a:p>
          <a:p>
            <a:pPr algn="l">
              <a:lnSpc>
                <a:spcPts val="1600"/>
              </a:lnSpc>
            </a:pPr>
            <a:endParaRPr lang="en-US" sz="1600" b="1" spc="-32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41134" y="6069654"/>
            <a:ext cx="3899751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endParaRPr lang="en-US" sz="1600" spc="-32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86E59FF0-72D9-37CF-67C6-3F7597A716DC}"/>
                  </a:ext>
                </a:extLst>
              </p14:cNvPr>
              <p14:cNvContentPartPr/>
              <p14:nvPr/>
            </p14:nvContentPartPr>
            <p14:xfrm>
              <a:off x="13018360" y="11151480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86E59FF0-72D9-37CF-67C6-3F7597A716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64360" y="11043480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0E48F-39A5-CC79-B540-5CFBB71C75A3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0212" y="2412012"/>
            <a:ext cx="5663187" cy="514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7325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31796" y="-3891449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60" b="-6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77082" y="2781300"/>
            <a:ext cx="11653071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9600" b="1" dirty="0">
                <a:solidFill>
                  <a:srgbClr val="FFFFFF"/>
                </a:solidFill>
                <a:latin typeface="Arial Black" panose="020B0604020202020204" pitchFamily="34" charset="0"/>
                <a:ea typeface="Anton"/>
                <a:cs typeface="Arial Black" panose="020B0604020202020204" pitchFamily="34" charset="0"/>
                <a:sym typeface="Anton"/>
              </a:rPr>
              <a:t>СПАСИБО ЗА ВНИМАНИЕ</a:t>
            </a:r>
            <a:endParaRPr lang="en-US" sz="9600" b="1" dirty="0">
              <a:solidFill>
                <a:srgbClr val="FFFFFF"/>
              </a:solidFill>
              <a:latin typeface="Arial Black" panose="020B0604020202020204" pitchFamily="34" charset="0"/>
              <a:ea typeface="Anton"/>
              <a:cs typeface="Arial Black" panose="020B0604020202020204" pitchFamily="34" charset="0"/>
              <a:sym typeface="Anton"/>
            </a:endParaRPr>
          </a:p>
        </p:txBody>
      </p:sp>
      <p:sp>
        <p:nvSpPr>
          <p:cNvPr id="18" name="Freeform 18"/>
          <p:cNvSpPr/>
          <p:nvPr/>
        </p:nvSpPr>
        <p:spPr>
          <a:xfrm rot="-5400000">
            <a:off x="-4803696" y="4694646"/>
            <a:ext cx="10505101" cy="897709"/>
          </a:xfrm>
          <a:custGeom>
            <a:avLst/>
            <a:gdLst/>
            <a:ahLst/>
            <a:cxnLst/>
            <a:rect l="l" t="t" r="r" b="b"/>
            <a:pathLst>
              <a:path w="10505101" h="897709">
                <a:moveTo>
                  <a:pt x="0" y="0"/>
                </a:moveTo>
                <a:lnTo>
                  <a:pt x="10505101" y="0"/>
                </a:lnTo>
                <a:lnTo>
                  <a:pt x="10505101" y="897708"/>
                </a:lnTo>
                <a:lnTo>
                  <a:pt x="0" y="897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5400000" flipH="1" flipV="1">
            <a:off x="12596120" y="4694646"/>
            <a:ext cx="10505101" cy="897709"/>
          </a:xfrm>
          <a:custGeom>
            <a:avLst/>
            <a:gdLst/>
            <a:ahLst/>
            <a:cxnLst/>
            <a:rect l="l" t="t" r="r" b="b"/>
            <a:pathLst>
              <a:path w="10505101" h="897709">
                <a:moveTo>
                  <a:pt x="10505101" y="897708"/>
                </a:moveTo>
                <a:lnTo>
                  <a:pt x="0" y="897708"/>
                </a:lnTo>
                <a:lnTo>
                  <a:pt x="0" y="0"/>
                </a:lnTo>
                <a:lnTo>
                  <a:pt x="10505101" y="0"/>
                </a:lnTo>
                <a:lnTo>
                  <a:pt x="10505101" y="89770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4258A7B-2648-DD21-3C89-9102B2BAE518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060" y="2046109"/>
            <a:ext cx="5819312" cy="581931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266</Words>
  <Application>Microsoft Office PowerPoint</Application>
  <PresentationFormat>Произвольный</PresentationFormat>
  <Paragraphs>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 Black</vt:lpstr>
      <vt:lpstr>Arial</vt:lpstr>
      <vt:lpstr>Anton</vt:lpstr>
      <vt:lpstr>Arial MT Pro</vt:lpstr>
      <vt:lpstr>Calibri</vt:lpstr>
      <vt:lpstr>Arial MT Pro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and Red Modern Inflation Presentation</dc:title>
  <dc:creator>Дракула</dc:creator>
  <cp:lastModifiedBy>Владислав Шишнев</cp:lastModifiedBy>
  <cp:revision>3</cp:revision>
  <dcterms:created xsi:type="dcterms:W3CDTF">2006-08-16T00:00:00Z</dcterms:created>
  <dcterms:modified xsi:type="dcterms:W3CDTF">2026-10-11T19:09:21Z</dcterms:modified>
  <dc:identifier>DAHXtw7ZaeM</dc:identifier>
</cp:coreProperties>
</file>